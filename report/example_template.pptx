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6" r:id="rId1"/>
  </p:sldMasterIdLst>
  <p:notesMasterIdLst>
    <p:notesMasterId r:id="rId47"/>
  </p:notesMasterIdLst>
  <p:sldIdLst>
    <p:sldId id="406" r:id="rId2"/>
    <p:sldId id="413" r:id="rId3"/>
    <p:sldId id="521" r:id="rId4"/>
    <p:sldId id="525" r:id="rId5"/>
    <p:sldId id="526" r:id="rId6"/>
    <p:sldId id="527" r:id="rId7"/>
    <p:sldId id="599" r:id="rId8"/>
    <p:sldId id="598" r:id="rId9"/>
    <p:sldId id="600" r:id="rId10"/>
    <p:sldId id="542" r:id="rId11"/>
    <p:sldId id="544" r:id="rId12"/>
    <p:sldId id="533" r:id="rId13"/>
    <p:sldId id="568" r:id="rId14"/>
    <p:sldId id="567" r:id="rId15"/>
    <p:sldId id="570" r:id="rId16"/>
    <p:sldId id="569" r:id="rId17"/>
    <p:sldId id="545" r:id="rId18"/>
    <p:sldId id="551" r:id="rId19"/>
    <p:sldId id="529" r:id="rId20"/>
    <p:sldId id="571" r:id="rId21"/>
    <p:sldId id="573" r:id="rId22"/>
    <p:sldId id="572" r:id="rId23"/>
    <p:sldId id="576" r:id="rId24"/>
    <p:sldId id="577" r:id="rId25"/>
    <p:sldId id="547" r:id="rId26"/>
    <p:sldId id="552" r:id="rId27"/>
    <p:sldId id="530" r:id="rId28"/>
    <p:sldId id="578" r:id="rId29"/>
    <p:sldId id="583" r:id="rId30"/>
    <p:sldId id="584" r:id="rId31"/>
    <p:sldId id="585" r:id="rId32"/>
    <p:sldId id="586" r:id="rId33"/>
    <p:sldId id="549" r:id="rId34"/>
    <p:sldId id="553" r:id="rId35"/>
    <p:sldId id="531" r:id="rId36"/>
    <p:sldId id="590" r:id="rId37"/>
    <p:sldId id="588" r:id="rId38"/>
    <p:sldId id="591" r:id="rId39"/>
    <p:sldId id="554" r:id="rId40"/>
    <p:sldId id="558" r:id="rId41"/>
    <p:sldId id="532" r:id="rId42"/>
    <p:sldId id="592" r:id="rId43"/>
    <p:sldId id="593" r:id="rId44"/>
    <p:sldId id="594" r:id="rId45"/>
    <p:sldId id="410" r:id="rId4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204" autoAdjust="0"/>
    <p:restoredTop sz="94610"/>
  </p:normalViewPr>
  <p:slideViewPr>
    <p:cSldViewPr snapToGrid="0" snapToObjects="1">
      <p:cViewPr varScale="1">
        <p:scale>
          <a:sx n="80" d="100"/>
          <a:sy n="80" d="100"/>
        </p:scale>
        <p:origin x="773"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hạm Hoàng Phát" userId="db628644e7623889" providerId="LiveId" clId="{7341D1A6-E360-4A96-BE7A-F717D0E3AD72}"/>
    <pc:docChg chg="undo custSel addSld delSld modSld sldOrd">
      <pc:chgData name="Phạm Hoàng Phát" userId="db628644e7623889" providerId="LiveId" clId="{7341D1A6-E360-4A96-BE7A-F717D0E3AD72}" dt="2026-10-03T06:12:25.652" v="294"/>
      <pc:docMkLst>
        <pc:docMk/>
      </pc:docMkLst>
      <pc:sldChg chg="del">
        <pc:chgData name="Phạm Hoàng Phát" userId="db628644e7623889" providerId="LiveId" clId="{7341D1A6-E360-4A96-BE7A-F717D0E3AD72}" dt="2026-09-29T17:10:06.020" v="18"/>
        <pc:sldMkLst>
          <pc:docMk/>
          <pc:sldMk cId="3000471518" sldId="419"/>
        </pc:sldMkLst>
      </pc:sldChg>
      <pc:sldChg chg="del">
        <pc:chgData name="Phạm Hoàng Phát" userId="db628644e7623889" providerId="LiveId" clId="{7341D1A6-E360-4A96-BE7A-F717D0E3AD72}" dt="2026-09-29T17:10:25.890" v="27"/>
        <pc:sldMkLst>
          <pc:docMk/>
          <pc:sldMk cId="920373139" sldId="425"/>
        </pc:sldMkLst>
      </pc:sldChg>
      <pc:sldChg chg="del">
        <pc:chgData name="Phạm Hoàng Phát" userId="db628644e7623889" providerId="LiveId" clId="{7341D1A6-E360-4A96-BE7A-F717D0E3AD72}" dt="2026-09-29T17:10:31.134" v="29"/>
        <pc:sldMkLst>
          <pc:docMk/>
          <pc:sldMk cId="2859173469" sldId="429"/>
        </pc:sldMkLst>
      </pc:sldChg>
      <pc:sldChg chg="del">
        <pc:chgData name="Phạm Hoàng Phát" userId="db628644e7623889" providerId="LiveId" clId="{7341D1A6-E360-4A96-BE7A-F717D0E3AD72}" dt="2026-09-29T17:10:36.249" v="31"/>
        <pc:sldMkLst>
          <pc:docMk/>
          <pc:sldMk cId="695634994" sldId="432"/>
        </pc:sldMkLst>
      </pc:sldChg>
      <pc:sldChg chg="del">
        <pc:chgData name="Phạm Hoàng Phát" userId="db628644e7623889" providerId="LiveId" clId="{7341D1A6-E360-4A96-BE7A-F717D0E3AD72}" dt="2026-09-29T17:10:41.373" v="33"/>
        <pc:sldMkLst>
          <pc:docMk/>
          <pc:sldMk cId="3553919012" sldId="435"/>
        </pc:sldMkLst>
      </pc:sldChg>
      <pc:sldChg chg="del">
        <pc:chgData name="Phạm Hoàng Phát" userId="db628644e7623889" providerId="LiveId" clId="{7341D1A6-E360-4A96-BE7A-F717D0E3AD72}" dt="2026-09-29T17:10:20.688" v="25"/>
        <pc:sldMkLst>
          <pc:docMk/>
          <pc:sldMk cId="828602394" sldId="450"/>
        </pc:sldMkLst>
      </pc:sldChg>
      <pc:sldChg chg="modSp del mod">
        <pc:chgData name="Phạm Hoàng Phát" userId="db628644e7623889" providerId="LiveId" clId="{7341D1A6-E360-4A96-BE7A-F717D0E3AD72}" dt="2026-09-29T17:08:38.136" v="10"/>
        <pc:sldMkLst>
          <pc:docMk/>
          <pc:sldMk cId="2138783971" sldId="453"/>
        </pc:sldMkLst>
        <pc:spChg chg="mod">
          <ac:chgData name="Phạm Hoàng Phát" userId="db628644e7623889" providerId="LiveId" clId="{7341D1A6-E360-4A96-BE7A-F717D0E3AD72}" dt="2026-09-29T17:04:36.566" v="5" actId="403"/>
          <ac:spMkLst>
            <pc:docMk/>
            <pc:sldMk cId="2138783971" sldId="453"/>
            <ac:spMk id="12" creationId="{00000000-0000-0000-0000-000000000000}"/>
          </ac:spMkLst>
        </pc:spChg>
      </pc:sldChg>
      <pc:sldChg chg="del">
        <pc:chgData name="Phạm Hoàng Phát" userId="db628644e7623889" providerId="LiveId" clId="{7341D1A6-E360-4A96-BE7A-F717D0E3AD72}" dt="2026-09-29T17:12:38.397" v="51"/>
        <pc:sldMkLst>
          <pc:docMk/>
          <pc:sldMk cId="24764295" sldId="454"/>
        </pc:sldMkLst>
      </pc:sldChg>
      <pc:sldChg chg="del">
        <pc:chgData name="Phạm Hoàng Phát" userId="db628644e7623889" providerId="LiveId" clId="{7341D1A6-E360-4A96-BE7A-F717D0E3AD72}" dt="2026-09-29T17:13:14.901" v="57"/>
        <pc:sldMkLst>
          <pc:docMk/>
          <pc:sldMk cId="3942582169" sldId="456"/>
        </pc:sldMkLst>
      </pc:sldChg>
      <pc:sldChg chg="del">
        <pc:chgData name="Phạm Hoàng Phát" userId="db628644e7623889" providerId="LiveId" clId="{7341D1A6-E360-4A96-BE7A-F717D0E3AD72}" dt="2026-09-29T17:13:27.276" v="61"/>
        <pc:sldMkLst>
          <pc:docMk/>
          <pc:sldMk cId="4107562361" sldId="457"/>
        </pc:sldMkLst>
      </pc:sldChg>
      <pc:sldChg chg="del">
        <pc:chgData name="Phạm Hoàng Phát" userId="db628644e7623889" providerId="LiveId" clId="{7341D1A6-E360-4A96-BE7A-F717D0E3AD72}" dt="2026-09-29T17:13:36.414" v="65"/>
        <pc:sldMkLst>
          <pc:docMk/>
          <pc:sldMk cId="103000650" sldId="459"/>
        </pc:sldMkLst>
      </pc:sldChg>
      <pc:sldChg chg="del">
        <pc:chgData name="Phạm Hoàng Phát" userId="db628644e7623889" providerId="LiveId" clId="{7341D1A6-E360-4A96-BE7A-F717D0E3AD72}" dt="2026-09-29T17:15:47.025" v="85"/>
        <pc:sldMkLst>
          <pc:docMk/>
          <pc:sldMk cId="123154219" sldId="463"/>
        </pc:sldMkLst>
      </pc:sldChg>
      <pc:sldChg chg="del">
        <pc:chgData name="Phạm Hoàng Phát" userId="db628644e7623889" providerId="LiveId" clId="{7341D1A6-E360-4A96-BE7A-F717D0E3AD72}" dt="2026-09-29T17:16:27.126" v="89"/>
        <pc:sldMkLst>
          <pc:docMk/>
          <pc:sldMk cId="2603032471" sldId="465"/>
        </pc:sldMkLst>
      </pc:sldChg>
      <pc:sldChg chg="del">
        <pc:chgData name="Phạm Hoàng Phát" userId="db628644e7623889" providerId="LiveId" clId="{7341D1A6-E360-4A96-BE7A-F717D0E3AD72}" dt="2026-09-29T17:16:34.789" v="91"/>
        <pc:sldMkLst>
          <pc:docMk/>
          <pc:sldMk cId="1143082058" sldId="466"/>
        </pc:sldMkLst>
      </pc:sldChg>
      <pc:sldChg chg="del">
        <pc:chgData name="Phạm Hoàng Phát" userId="db628644e7623889" providerId="LiveId" clId="{7341D1A6-E360-4A96-BE7A-F717D0E3AD72}" dt="2026-09-29T17:18:44.148" v="101"/>
        <pc:sldMkLst>
          <pc:docMk/>
          <pc:sldMk cId="61935311" sldId="472"/>
        </pc:sldMkLst>
      </pc:sldChg>
      <pc:sldChg chg="del">
        <pc:chgData name="Phạm Hoàng Phát" userId="db628644e7623889" providerId="LiveId" clId="{7341D1A6-E360-4A96-BE7A-F717D0E3AD72}" dt="2026-09-29T17:19:01.727" v="107"/>
        <pc:sldMkLst>
          <pc:docMk/>
          <pc:sldMk cId="3175832251" sldId="473"/>
        </pc:sldMkLst>
      </pc:sldChg>
      <pc:sldChg chg="del">
        <pc:chgData name="Phạm Hoàng Phát" userId="db628644e7623889" providerId="LiveId" clId="{7341D1A6-E360-4A96-BE7A-F717D0E3AD72}" dt="2026-09-29T17:19:01.674" v="105"/>
        <pc:sldMkLst>
          <pc:docMk/>
          <pc:sldMk cId="1781450972" sldId="474"/>
        </pc:sldMkLst>
      </pc:sldChg>
      <pc:sldChg chg="del">
        <pc:chgData name="Phạm Hoàng Phát" userId="db628644e7623889" providerId="LiveId" clId="{7341D1A6-E360-4A96-BE7A-F717D0E3AD72}" dt="2026-09-29T17:18:44.802" v="103"/>
        <pc:sldMkLst>
          <pc:docMk/>
          <pc:sldMk cId="6286573" sldId="477"/>
        </pc:sldMkLst>
      </pc:sldChg>
      <pc:sldChg chg="del">
        <pc:chgData name="Phạm Hoàng Phát" userId="db628644e7623889" providerId="LiveId" clId="{7341D1A6-E360-4A96-BE7A-F717D0E3AD72}" dt="2026-09-29T17:19:11.264" v="109"/>
        <pc:sldMkLst>
          <pc:docMk/>
          <pc:sldMk cId="2857657205" sldId="482"/>
        </pc:sldMkLst>
      </pc:sldChg>
      <pc:sldChg chg="del">
        <pc:chgData name="Phạm Hoàng Phát" userId="db628644e7623889" providerId="LiveId" clId="{7341D1A6-E360-4A96-BE7A-F717D0E3AD72}" dt="2026-09-29T17:19:18.708" v="113"/>
        <pc:sldMkLst>
          <pc:docMk/>
          <pc:sldMk cId="1872236841" sldId="483"/>
        </pc:sldMkLst>
      </pc:sldChg>
      <pc:sldChg chg="del">
        <pc:chgData name="Phạm Hoàng Phát" userId="db628644e7623889" providerId="LiveId" clId="{7341D1A6-E360-4A96-BE7A-F717D0E3AD72}" dt="2026-09-29T17:19:11.813" v="111"/>
        <pc:sldMkLst>
          <pc:docMk/>
          <pc:sldMk cId="4284198679" sldId="484"/>
        </pc:sldMkLst>
      </pc:sldChg>
      <pc:sldChg chg="del">
        <pc:chgData name="Phạm Hoàng Phát" userId="db628644e7623889" providerId="LiveId" clId="{7341D1A6-E360-4A96-BE7A-F717D0E3AD72}" dt="2026-09-29T17:20:22.587" v="115"/>
        <pc:sldMkLst>
          <pc:docMk/>
          <pc:sldMk cId="367820973" sldId="485"/>
        </pc:sldMkLst>
      </pc:sldChg>
      <pc:sldChg chg="del">
        <pc:chgData name="Phạm Hoàng Phát" userId="db628644e7623889" providerId="LiveId" clId="{7341D1A6-E360-4A96-BE7A-F717D0E3AD72}" dt="2026-09-29T17:20:29.021" v="117"/>
        <pc:sldMkLst>
          <pc:docMk/>
          <pc:sldMk cId="3559942084" sldId="486"/>
        </pc:sldMkLst>
      </pc:sldChg>
      <pc:sldChg chg="del">
        <pc:chgData name="Phạm Hoàng Phát" userId="db628644e7623889" providerId="LiveId" clId="{7341D1A6-E360-4A96-BE7A-F717D0E3AD72}" dt="2026-09-29T17:21:12.421" v="123"/>
        <pc:sldMkLst>
          <pc:docMk/>
          <pc:sldMk cId="1209320235" sldId="491"/>
        </pc:sldMkLst>
      </pc:sldChg>
      <pc:sldChg chg="del">
        <pc:chgData name="Phạm Hoàng Phát" userId="db628644e7623889" providerId="LiveId" clId="{7341D1A6-E360-4A96-BE7A-F717D0E3AD72}" dt="2026-09-29T17:21:20.007" v="125"/>
        <pc:sldMkLst>
          <pc:docMk/>
          <pc:sldMk cId="3481592582" sldId="492"/>
        </pc:sldMkLst>
      </pc:sldChg>
      <pc:sldChg chg="del">
        <pc:chgData name="Phạm Hoàng Phát" userId="db628644e7623889" providerId="LiveId" clId="{7341D1A6-E360-4A96-BE7A-F717D0E3AD72}" dt="2026-09-29T17:21:26.248" v="127"/>
        <pc:sldMkLst>
          <pc:docMk/>
          <pc:sldMk cId="112618344" sldId="493"/>
        </pc:sldMkLst>
      </pc:sldChg>
      <pc:sldChg chg="del">
        <pc:chgData name="Phạm Hoàng Phát" userId="db628644e7623889" providerId="LiveId" clId="{7341D1A6-E360-4A96-BE7A-F717D0E3AD72}" dt="2026-09-29T17:21:35.564" v="129"/>
        <pc:sldMkLst>
          <pc:docMk/>
          <pc:sldMk cId="2914368265" sldId="494"/>
        </pc:sldMkLst>
      </pc:sldChg>
      <pc:sldChg chg="del">
        <pc:chgData name="Phạm Hoàng Phát" userId="db628644e7623889" providerId="LiveId" clId="{7341D1A6-E360-4A96-BE7A-F717D0E3AD72}" dt="2026-09-29T17:21:41.787" v="131"/>
        <pc:sldMkLst>
          <pc:docMk/>
          <pc:sldMk cId="1905641412" sldId="495"/>
        </pc:sldMkLst>
      </pc:sldChg>
      <pc:sldChg chg="del">
        <pc:chgData name="Phạm Hoàng Phát" userId="db628644e7623889" providerId="LiveId" clId="{7341D1A6-E360-4A96-BE7A-F717D0E3AD72}" dt="2026-09-29T17:22:37.778" v="141"/>
        <pc:sldMkLst>
          <pc:docMk/>
          <pc:sldMk cId="378591820" sldId="505"/>
        </pc:sldMkLst>
      </pc:sldChg>
      <pc:sldChg chg="del">
        <pc:chgData name="Phạm Hoàng Phát" userId="db628644e7623889" providerId="LiveId" clId="{7341D1A6-E360-4A96-BE7A-F717D0E3AD72}" dt="2026-09-29T17:22:52.617" v="145"/>
        <pc:sldMkLst>
          <pc:docMk/>
          <pc:sldMk cId="1710344691" sldId="506"/>
        </pc:sldMkLst>
      </pc:sldChg>
      <pc:sldChg chg="del">
        <pc:chgData name="Phạm Hoàng Phát" userId="db628644e7623889" providerId="LiveId" clId="{7341D1A6-E360-4A96-BE7A-F717D0E3AD72}" dt="2026-09-29T17:22:44.984" v="143"/>
        <pc:sldMkLst>
          <pc:docMk/>
          <pc:sldMk cId="1565861111" sldId="507"/>
        </pc:sldMkLst>
      </pc:sldChg>
      <pc:sldChg chg="del">
        <pc:chgData name="Phạm Hoàng Phát" userId="db628644e7623889" providerId="LiveId" clId="{7341D1A6-E360-4A96-BE7A-F717D0E3AD72}" dt="2026-09-29T17:14:16.416" v="75"/>
        <pc:sldMkLst>
          <pc:docMk/>
          <pc:sldMk cId="2894953747" sldId="510"/>
        </pc:sldMkLst>
      </pc:sldChg>
      <pc:sldChg chg="del">
        <pc:chgData name="Phạm Hoàng Phát" userId="db628644e7623889" providerId="LiveId" clId="{7341D1A6-E360-4A96-BE7A-F717D0E3AD72}" dt="2026-09-29T17:24:00.247" v="151"/>
        <pc:sldMkLst>
          <pc:docMk/>
          <pc:sldMk cId="2163611232" sldId="517"/>
        </pc:sldMkLst>
      </pc:sldChg>
      <pc:sldChg chg="del">
        <pc:chgData name="Phạm Hoàng Phát" userId="db628644e7623889" providerId="LiveId" clId="{7341D1A6-E360-4A96-BE7A-F717D0E3AD72}" dt="2026-09-29T17:24:07.765" v="153"/>
        <pc:sldMkLst>
          <pc:docMk/>
          <pc:sldMk cId="503628798" sldId="518"/>
        </pc:sldMkLst>
      </pc:sldChg>
      <pc:sldChg chg="del">
        <pc:chgData name="Phạm Hoàng Phát" userId="db628644e7623889" providerId="LiveId" clId="{7341D1A6-E360-4A96-BE7A-F717D0E3AD72}" dt="2026-09-29T17:24:15.645" v="155"/>
        <pc:sldMkLst>
          <pc:docMk/>
          <pc:sldMk cId="2388499951" sldId="519"/>
        </pc:sldMkLst>
      </pc:sldChg>
      <pc:sldChg chg="del">
        <pc:chgData name="Phạm Hoàng Phát" userId="db628644e7623889" providerId="LiveId" clId="{7341D1A6-E360-4A96-BE7A-F717D0E3AD72}" dt="2026-09-29T17:07:39.761" v="7"/>
        <pc:sldMkLst>
          <pc:docMk/>
          <pc:sldMk cId="2025129872" sldId="520"/>
        </pc:sldMkLst>
      </pc:sldChg>
      <pc:sldChg chg="add">
        <pc:chgData name="Phạm Hoàng Phát" userId="db628644e7623889" providerId="LiveId" clId="{7341D1A6-E360-4A96-BE7A-F717D0E3AD72}" dt="2026-09-29T17:07:39.755" v="6"/>
        <pc:sldMkLst>
          <pc:docMk/>
          <pc:sldMk cId="1458833830" sldId="521"/>
        </pc:sldMkLst>
      </pc:sldChg>
      <pc:sldChg chg="add del">
        <pc:chgData name="Phạm Hoàng Phát" userId="db628644e7623889" providerId="LiveId" clId="{7341D1A6-E360-4A96-BE7A-F717D0E3AD72}" dt="2026-09-29T17:08:51.572" v="12"/>
        <pc:sldMkLst>
          <pc:docMk/>
          <pc:sldMk cId="3839584070" sldId="522"/>
        </pc:sldMkLst>
      </pc:sldChg>
      <pc:sldChg chg="add del">
        <pc:chgData name="Phạm Hoàng Phát" userId="db628644e7623889" providerId="LiveId" clId="{7341D1A6-E360-4A96-BE7A-F717D0E3AD72}" dt="2026-09-29T17:09:25.776" v="14"/>
        <pc:sldMkLst>
          <pc:docMk/>
          <pc:sldMk cId="515285699" sldId="523"/>
        </pc:sldMkLst>
      </pc:sldChg>
      <pc:sldChg chg="add del">
        <pc:chgData name="Phạm Hoàng Phát" userId="db628644e7623889" providerId="LiveId" clId="{7341D1A6-E360-4A96-BE7A-F717D0E3AD72}" dt="2026-09-29T17:09:26.985" v="16"/>
        <pc:sldMkLst>
          <pc:docMk/>
          <pc:sldMk cId="264343166" sldId="524"/>
        </pc:sldMkLst>
      </pc:sldChg>
      <pc:sldChg chg="add">
        <pc:chgData name="Phạm Hoàng Phát" userId="db628644e7623889" providerId="LiveId" clId="{7341D1A6-E360-4A96-BE7A-F717D0E3AD72}" dt="2026-09-29T17:09:25.761" v="13"/>
        <pc:sldMkLst>
          <pc:docMk/>
          <pc:sldMk cId="2485130174" sldId="525"/>
        </pc:sldMkLst>
      </pc:sldChg>
      <pc:sldChg chg="add">
        <pc:chgData name="Phạm Hoàng Phát" userId="db628644e7623889" providerId="LiveId" clId="{7341D1A6-E360-4A96-BE7A-F717D0E3AD72}" dt="2026-09-29T17:09:26.981" v="15"/>
        <pc:sldMkLst>
          <pc:docMk/>
          <pc:sldMk cId="1600300892" sldId="526"/>
        </pc:sldMkLst>
      </pc:sldChg>
      <pc:sldChg chg="modSp add mod">
        <pc:chgData name="Phạm Hoàng Phát" userId="db628644e7623889" providerId="LiveId" clId="{7341D1A6-E360-4A96-BE7A-F717D0E3AD72}" dt="2026-09-29T17:28:33.011" v="160" actId="113"/>
        <pc:sldMkLst>
          <pc:docMk/>
          <pc:sldMk cId="4178845663" sldId="527"/>
        </pc:sldMkLst>
        <pc:graphicFrameChg chg="modGraphic">
          <ac:chgData name="Phạm Hoàng Phát" userId="db628644e7623889" providerId="LiveId" clId="{7341D1A6-E360-4A96-BE7A-F717D0E3AD72}" dt="2026-09-29T17:28:33.011" v="160" actId="113"/>
          <ac:graphicFrameMkLst>
            <pc:docMk/>
            <pc:sldMk cId="4178845663" sldId="527"/>
            <ac:graphicFrameMk id="4" creationId="{0A17796F-F492-49B9-8DD2-937FE895C43C}"/>
          </ac:graphicFrameMkLst>
        </pc:graphicFrameChg>
      </pc:sldChg>
      <pc:sldChg chg="add del">
        <pc:chgData name="Phạm Hoàng Phát" userId="db628644e7623889" providerId="LiveId" clId="{7341D1A6-E360-4A96-BE7A-F717D0E3AD72}" dt="2026-09-29T17:11:12.414" v="35"/>
        <pc:sldMkLst>
          <pc:docMk/>
          <pc:sldMk cId="2655139032" sldId="528"/>
        </pc:sldMkLst>
      </pc:sldChg>
      <pc:sldChg chg="modSp add mod">
        <pc:chgData name="Phạm Hoàng Phát" userId="db628644e7623889" providerId="LiveId" clId="{7341D1A6-E360-4A96-BE7A-F717D0E3AD72}" dt="2026-09-29T17:29:53.925" v="169" actId="14734"/>
        <pc:sldMkLst>
          <pc:docMk/>
          <pc:sldMk cId="1856688806" sldId="529"/>
        </pc:sldMkLst>
        <pc:graphicFrameChg chg="modGraphic">
          <ac:chgData name="Phạm Hoàng Phát" userId="db628644e7623889" providerId="LiveId" clId="{7341D1A6-E360-4A96-BE7A-F717D0E3AD72}" dt="2026-09-29T17:29:53.925" v="169" actId="14734"/>
          <ac:graphicFrameMkLst>
            <pc:docMk/>
            <pc:sldMk cId="1856688806" sldId="529"/>
            <ac:graphicFrameMk id="4" creationId="{880FA268-4B10-4079-9464-54292272FAB7}"/>
          </ac:graphicFrameMkLst>
        </pc:graphicFrameChg>
      </pc:sldChg>
      <pc:sldChg chg="modSp add mod">
        <pc:chgData name="Phạm Hoàng Phát" userId="db628644e7623889" providerId="LiveId" clId="{7341D1A6-E360-4A96-BE7A-F717D0E3AD72}" dt="2026-09-29T17:34:10.672" v="218" actId="14734"/>
        <pc:sldMkLst>
          <pc:docMk/>
          <pc:sldMk cId="2399816513" sldId="530"/>
        </pc:sldMkLst>
        <pc:graphicFrameChg chg="modGraphic">
          <ac:chgData name="Phạm Hoàng Phát" userId="db628644e7623889" providerId="LiveId" clId="{7341D1A6-E360-4A96-BE7A-F717D0E3AD72}" dt="2026-09-29T17:34:10.672" v="218" actId="14734"/>
          <ac:graphicFrameMkLst>
            <pc:docMk/>
            <pc:sldMk cId="2399816513" sldId="530"/>
            <ac:graphicFrameMk id="4" creationId="{9EFDD4B2-7E20-474F-B700-5D85CC3D67E8}"/>
          </ac:graphicFrameMkLst>
        </pc:graphicFrameChg>
      </pc:sldChg>
      <pc:sldChg chg="modSp add mod">
        <pc:chgData name="Phạm Hoàng Phát" userId="db628644e7623889" providerId="LiveId" clId="{7341D1A6-E360-4A96-BE7A-F717D0E3AD72}" dt="2026-09-29T17:31:03.165" v="183" actId="14734"/>
        <pc:sldMkLst>
          <pc:docMk/>
          <pc:sldMk cId="2459201132" sldId="531"/>
        </pc:sldMkLst>
        <pc:graphicFrameChg chg="modGraphic">
          <ac:chgData name="Phạm Hoàng Phát" userId="db628644e7623889" providerId="LiveId" clId="{7341D1A6-E360-4A96-BE7A-F717D0E3AD72}" dt="2026-09-29T17:31:03.165" v="183" actId="14734"/>
          <ac:graphicFrameMkLst>
            <pc:docMk/>
            <pc:sldMk cId="2459201132" sldId="531"/>
            <ac:graphicFrameMk id="4" creationId="{4A70D4CF-45AE-4322-A953-ED00C33DF20B}"/>
          </ac:graphicFrameMkLst>
        </pc:graphicFrameChg>
      </pc:sldChg>
      <pc:sldChg chg="modSp add mod">
        <pc:chgData name="Phạm Hoàng Phát" userId="db628644e7623889" providerId="LiveId" clId="{7341D1A6-E360-4A96-BE7A-F717D0E3AD72}" dt="2026-09-29T17:30:37.210" v="180" actId="14734"/>
        <pc:sldMkLst>
          <pc:docMk/>
          <pc:sldMk cId="2978857243" sldId="532"/>
        </pc:sldMkLst>
        <pc:graphicFrameChg chg="modGraphic">
          <ac:chgData name="Phạm Hoàng Phát" userId="db628644e7623889" providerId="LiveId" clId="{7341D1A6-E360-4A96-BE7A-F717D0E3AD72}" dt="2026-09-29T17:30:37.210" v="180" actId="14734"/>
          <ac:graphicFrameMkLst>
            <pc:docMk/>
            <pc:sldMk cId="2978857243" sldId="532"/>
            <ac:graphicFrameMk id="4" creationId="{DEC0C31B-3E2D-49D5-99D5-AF8D7D2797D7}"/>
          </ac:graphicFrameMkLst>
        </pc:graphicFrameChg>
      </pc:sldChg>
      <pc:sldChg chg="modSp add mod">
        <pc:chgData name="Phạm Hoàng Phát" userId="db628644e7623889" providerId="LiveId" clId="{7341D1A6-E360-4A96-BE7A-F717D0E3AD72}" dt="2026-09-29T17:29:41.330" v="168" actId="404"/>
        <pc:sldMkLst>
          <pc:docMk/>
          <pc:sldMk cId="2536295685" sldId="533"/>
        </pc:sldMkLst>
        <pc:graphicFrameChg chg="modGraphic">
          <ac:chgData name="Phạm Hoàng Phát" userId="db628644e7623889" providerId="LiveId" clId="{7341D1A6-E360-4A96-BE7A-F717D0E3AD72}" dt="2026-09-29T17:29:41.330" v="168" actId="404"/>
          <ac:graphicFrameMkLst>
            <pc:docMk/>
            <pc:sldMk cId="2536295685" sldId="533"/>
            <ac:graphicFrameMk id="7" creationId="{49A1C391-4D3A-4F06-A839-248902D3CE3B}"/>
          </ac:graphicFrameMkLst>
        </pc:graphicFrameChg>
      </pc:sldChg>
      <pc:sldChg chg="add del">
        <pc:chgData name="Phạm Hoàng Phát" userId="db628644e7623889" providerId="LiveId" clId="{7341D1A6-E360-4A96-BE7A-F717D0E3AD72}" dt="2026-09-29T17:12:41.898" v="53"/>
        <pc:sldMkLst>
          <pc:docMk/>
          <pc:sldMk cId="2451704683" sldId="534"/>
        </pc:sldMkLst>
      </pc:sldChg>
      <pc:sldChg chg="add del">
        <pc:chgData name="Phạm Hoàng Phát" userId="db628644e7623889" providerId="LiveId" clId="{7341D1A6-E360-4A96-BE7A-F717D0E3AD72}" dt="2026-09-29T17:13:18.831" v="59"/>
        <pc:sldMkLst>
          <pc:docMk/>
          <pc:sldMk cId="3248444984" sldId="535"/>
        </pc:sldMkLst>
      </pc:sldChg>
      <pc:sldChg chg="add del">
        <pc:chgData name="Phạm Hoàng Phát" userId="db628644e7623889" providerId="LiveId" clId="{7341D1A6-E360-4A96-BE7A-F717D0E3AD72}" dt="2026-09-29T17:12:17.311" v="47"/>
        <pc:sldMkLst>
          <pc:docMk/>
          <pc:sldMk cId="3516686832" sldId="536"/>
        </pc:sldMkLst>
      </pc:sldChg>
      <pc:sldChg chg="add del">
        <pc:chgData name="Phạm Hoàng Phát" userId="db628644e7623889" providerId="LiveId" clId="{7341D1A6-E360-4A96-BE7A-F717D0E3AD72}" dt="2026-09-29T17:12:17.316" v="48"/>
        <pc:sldMkLst>
          <pc:docMk/>
          <pc:sldMk cId="2189820061" sldId="537"/>
        </pc:sldMkLst>
      </pc:sldChg>
      <pc:sldChg chg="add del">
        <pc:chgData name="Phạm Hoàng Phát" userId="db628644e7623889" providerId="LiveId" clId="{7341D1A6-E360-4A96-BE7A-F717D0E3AD72}" dt="2026-09-29T17:12:17.320" v="49"/>
        <pc:sldMkLst>
          <pc:docMk/>
          <pc:sldMk cId="1657488274" sldId="538"/>
        </pc:sldMkLst>
      </pc:sldChg>
      <pc:sldChg chg="add del">
        <pc:chgData name="Phạm Hoàng Phát" userId="db628644e7623889" providerId="LiveId" clId="{7341D1A6-E360-4A96-BE7A-F717D0E3AD72}" dt="2026-09-29T17:13:31.261" v="63"/>
        <pc:sldMkLst>
          <pc:docMk/>
          <pc:sldMk cId="1098030653" sldId="539"/>
        </pc:sldMkLst>
      </pc:sldChg>
      <pc:sldChg chg="add del">
        <pc:chgData name="Phạm Hoàng Phát" userId="db628644e7623889" providerId="LiveId" clId="{7341D1A6-E360-4A96-BE7A-F717D0E3AD72}" dt="2026-09-29T17:13:40.339" v="67"/>
        <pc:sldMkLst>
          <pc:docMk/>
          <pc:sldMk cId="131059919" sldId="540"/>
        </pc:sldMkLst>
      </pc:sldChg>
      <pc:sldChg chg="add del">
        <pc:chgData name="Phạm Hoàng Phát" userId="db628644e7623889" providerId="LiveId" clId="{7341D1A6-E360-4A96-BE7A-F717D0E3AD72}" dt="2026-09-29T17:14:19.848" v="77"/>
        <pc:sldMkLst>
          <pc:docMk/>
          <pc:sldMk cId="3009558344" sldId="541"/>
        </pc:sldMkLst>
      </pc:sldChg>
      <pc:sldChg chg="add">
        <pc:chgData name="Phạm Hoàng Phát" userId="db628644e7623889" providerId="LiveId" clId="{7341D1A6-E360-4A96-BE7A-F717D0E3AD72}" dt="2026-09-29T17:12:38.376" v="50"/>
        <pc:sldMkLst>
          <pc:docMk/>
          <pc:sldMk cId="3968714819" sldId="542"/>
        </pc:sldMkLst>
      </pc:sldChg>
      <pc:sldChg chg="add del">
        <pc:chgData name="Phạm Hoàng Phát" userId="db628644e7623889" providerId="LiveId" clId="{7341D1A6-E360-4A96-BE7A-F717D0E3AD72}" dt="2026-09-29T17:13:01.756" v="55"/>
        <pc:sldMkLst>
          <pc:docMk/>
          <pc:sldMk cId="1658939222" sldId="543"/>
        </pc:sldMkLst>
      </pc:sldChg>
      <pc:sldChg chg="add ord">
        <pc:chgData name="Phạm Hoàng Phát" userId="db628644e7623889" providerId="LiveId" clId="{7341D1A6-E360-4A96-BE7A-F717D0E3AD72}" dt="2026-10-03T06:12:25.652" v="294"/>
        <pc:sldMkLst>
          <pc:docMk/>
          <pc:sldMk cId="1364631814" sldId="544"/>
        </pc:sldMkLst>
      </pc:sldChg>
      <pc:sldChg chg="add">
        <pc:chgData name="Phạm Hoàng Phát" userId="db628644e7623889" providerId="LiveId" clId="{7341D1A6-E360-4A96-BE7A-F717D0E3AD72}" dt="2026-09-29T17:13:14.895" v="56"/>
        <pc:sldMkLst>
          <pc:docMk/>
          <pc:sldMk cId="258142264" sldId="545"/>
        </pc:sldMkLst>
      </pc:sldChg>
      <pc:sldChg chg="add del">
        <pc:chgData name="Phạm Hoàng Phát" userId="db628644e7623889" providerId="LiveId" clId="{7341D1A6-E360-4A96-BE7A-F717D0E3AD72}" dt="2026-09-29T17:13:56.951" v="69"/>
        <pc:sldMkLst>
          <pc:docMk/>
          <pc:sldMk cId="402899625" sldId="546"/>
        </pc:sldMkLst>
      </pc:sldChg>
      <pc:sldChg chg="add">
        <pc:chgData name="Phạm Hoàng Phát" userId="db628644e7623889" providerId="LiveId" clId="{7341D1A6-E360-4A96-BE7A-F717D0E3AD72}" dt="2026-09-29T17:13:27.270" v="60"/>
        <pc:sldMkLst>
          <pc:docMk/>
          <pc:sldMk cId="1888191154" sldId="547"/>
        </pc:sldMkLst>
      </pc:sldChg>
      <pc:sldChg chg="add del">
        <pc:chgData name="Phạm Hoàng Phát" userId="db628644e7623889" providerId="LiveId" clId="{7341D1A6-E360-4A96-BE7A-F717D0E3AD72}" dt="2026-09-29T17:13:57.079" v="71"/>
        <pc:sldMkLst>
          <pc:docMk/>
          <pc:sldMk cId="3670452318" sldId="548"/>
        </pc:sldMkLst>
      </pc:sldChg>
      <pc:sldChg chg="add">
        <pc:chgData name="Phạm Hoàng Phát" userId="db628644e7623889" providerId="LiveId" clId="{7341D1A6-E360-4A96-BE7A-F717D0E3AD72}" dt="2026-09-29T17:13:36.409" v="64"/>
        <pc:sldMkLst>
          <pc:docMk/>
          <pc:sldMk cId="1759681261" sldId="549"/>
        </pc:sldMkLst>
      </pc:sldChg>
      <pc:sldChg chg="add del">
        <pc:chgData name="Phạm Hoàng Phát" userId="db628644e7623889" providerId="LiveId" clId="{7341D1A6-E360-4A96-BE7A-F717D0E3AD72}" dt="2026-09-29T17:13:58.432" v="73"/>
        <pc:sldMkLst>
          <pc:docMk/>
          <pc:sldMk cId="2806699637" sldId="550"/>
        </pc:sldMkLst>
      </pc:sldChg>
      <pc:sldChg chg="add">
        <pc:chgData name="Phạm Hoàng Phát" userId="db628644e7623889" providerId="LiveId" clId="{7341D1A6-E360-4A96-BE7A-F717D0E3AD72}" dt="2026-09-29T17:13:56.946" v="68"/>
        <pc:sldMkLst>
          <pc:docMk/>
          <pc:sldMk cId="744892671" sldId="551"/>
        </pc:sldMkLst>
      </pc:sldChg>
      <pc:sldChg chg="add">
        <pc:chgData name="Phạm Hoàng Phát" userId="db628644e7623889" providerId="LiveId" clId="{7341D1A6-E360-4A96-BE7A-F717D0E3AD72}" dt="2026-09-29T17:13:57.073" v="70"/>
        <pc:sldMkLst>
          <pc:docMk/>
          <pc:sldMk cId="1089497569" sldId="552"/>
        </pc:sldMkLst>
      </pc:sldChg>
      <pc:sldChg chg="add">
        <pc:chgData name="Phạm Hoàng Phát" userId="db628644e7623889" providerId="LiveId" clId="{7341D1A6-E360-4A96-BE7A-F717D0E3AD72}" dt="2026-09-29T17:13:58.427" v="72"/>
        <pc:sldMkLst>
          <pc:docMk/>
          <pc:sldMk cId="2314513823" sldId="553"/>
        </pc:sldMkLst>
      </pc:sldChg>
      <pc:sldChg chg="add">
        <pc:chgData name="Phạm Hoàng Phát" userId="db628644e7623889" providerId="LiveId" clId="{7341D1A6-E360-4A96-BE7A-F717D0E3AD72}" dt="2026-09-29T17:14:16.411" v="74"/>
        <pc:sldMkLst>
          <pc:docMk/>
          <pc:sldMk cId="3400768376" sldId="554"/>
        </pc:sldMkLst>
      </pc:sldChg>
      <pc:sldChg chg="add del">
        <pc:chgData name="Phạm Hoàng Phát" userId="db628644e7623889" providerId="LiveId" clId="{7341D1A6-E360-4A96-BE7A-F717D0E3AD72}" dt="2026-09-29T17:14:29.617" v="79"/>
        <pc:sldMkLst>
          <pc:docMk/>
          <pc:sldMk cId="718484164" sldId="555"/>
        </pc:sldMkLst>
      </pc:sldChg>
      <pc:sldChg chg="add del">
        <pc:chgData name="Phạm Hoàng Phát" userId="db628644e7623889" providerId="LiveId" clId="{7341D1A6-E360-4A96-BE7A-F717D0E3AD72}" dt="2026-09-29T17:14:44.950" v="81"/>
        <pc:sldMkLst>
          <pc:docMk/>
          <pc:sldMk cId="1515418683" sldId="556"/>
        </pc:sldMkLst>
      </pc:sldChg>
      <pc:sldChg chg="add del">
        <pc:chgData name="Phạm Hoàng Phát" userId="db628644e7623889" providerId="LiveId" clId="{7341D1A6-E360-4A96-BE7A-F717D0E3AD72}" dt="2026-09-29T17:14:58.421" v="83"/>
        <pc:sldMkLst>
          <pc:docMk/>
          <pc:sldMk cId="325637851" sldId="557"/>
        </pc:sldMkLst>
      </pc:sldChg>
      <pc:sldChg chg="add">
        <pc:chgData name="Phạm Hoàng Phát" userId="db628644e7623889" providerId="LiveId" clId="{7341D1A6-E360-4A96-BE7A-F717D0E3AD72}" dt="2026-09-29T17:14:58.414" v="82"/>
        <pc:sldMkLst>
          <pc:docMk/>
          <pc:sldMk cId="3376265708" sldId="558"/>
        </pc:sldMkLst>
      </pc:sldChg>
      <pc:sldChg chg="add del">
        <pc:chgData name="Phạm Hoàng Phát" userId="db628644e7623889" providerId="LiveId" clId="{7341D1A6-E360-4A96-BE7A-F717D0E3AD72}" dt="2026-09-29T17:16:04.707" v="87"/>
        <pc:sldMkLst>
          <pc:docMk/>
          <pc:sldMk cId="3396160842" sldId="559"/>
        </pc:sldMkLst>
      </pc:sldChg>
      <pc:sldChg chg="add del">
        <pc:chgData name="Phạm Hoàng Phát" userId="db628644e7623889" providerId="LiveId" clId="{7341D1A6-E360-4A96-BE7A-F717D0E3AD72}" dt="2026-09-29T17:18:09.893" v="95"/>
        <pc:sldMkLst>
          <pc:docMk/>
          <pc:sldMk cId="767068088" sldId="560"/>
        </pc:sldMkLst>
      </pc:sldChg>
      <pc:sldChg chg="add del">
        <pc:chgData name="Phạm Hoàng Phát" userId="db628644e7623889" providerId="LiveId" clId="{7341D1A6-E360-4A96-BE7A-F717D0E3AD72}" dt="2026-09-29T17:18:19.465" v="97"/>
        <pc:sldMkLst>
          <pc:docMk/>
          <pc:sldMk cId="538596574" sldId="561"/>
        </pc:sldMkLst>
      </pc:sldChg>
      <pc:sldChg chg="add del">
        <pc:chgData name="Phạm Hoàng Phát" userId="db628644e7623889" providerId="LiveId" clId="{7341D1A6-E360-4A96-BE7A-F717D0E3AD72}" dt="2026-09-29T17:17:06.824" v="93"/>
        <pc:sldMkLst>
          <pc:docMk/>
          <pc:sldMk cId="3795403341" sldId="562"/>
        </pc:sldMkLst>
      </pc:sldChg>
      <pc:sldChg chg="add del">
        <pc:chgData name="Phạm Hoàng Phát" userId="db628644e7623889" providerId="LiveId" clId="{7341D1A6-E360-4A96-BE7A-F717D0E3AD72}" dt="2026-09-29T17:18:34.589" v="99"/>
        <pc:sldMkLst>
          <pc:docMk/>
          <pc:sldMk cId="1516182638" sldId="563"/>
        </pc:sldMkLst>
      </pc:sldChg>
      <pc:sldChg chg="modSp add del mod">
        <pc:chgData name="Phạm Hoàng Phát" userId="db628644e7623889" providerId="LiveId" clId="{7341D1A6-E360-4A96-BE7A-F717D0E3AD72}" dt="2026-09-29T17:36:17.757" v="232"/>
        <pc:sldMkLst>
          <pc:docMk/>
          <pc:sldMk cId="1112042015" sldId="564"/>
        </pc:sldMkLst>
        <pc:spChg chg="mod">
          <ac:chgData name="Phạm Hoàng Phát" userId="db628644e7623889" providerId="LiveId" clId="{7341D1A6-E360-4A96-BE7A-F717D0E3AD72}" dt="2026-09-29T17:31:43.700" v="187" actId="207"/>
          <ac:spMkLst>
            <pc:docMk/>
            <pc:sldMk cId="1112042015" sldId="564"/>
            <ac:spMk id="205" creationId="{00000000-0000-0000-0000-000000000000}"/>
          </ac:spMkLst>
        </pc:spChg>
      </pc:sldChg>
      <pc:sldChg chg="modSp add del mod">
        <pc:chgData name="Phạm Hoàng Phát" userId="db628644e7623889" providerId="LiveId" clId="{7341D1A6-E360-4A96-BE7A-F717D0E3AD72}" dt="2026-09-29T17:36:19.013" v="234"/>
        <pc:sldMkLst>
          <pc:docMk/>
          <pc:sldMk cId="145405316" sldId="565"/>
        </pc:sldMkLst>
        <pc:spChg chg="mod">
          <ac:chgData name="Phạm Hoàng Phát" userId="db628644e7623889" providerId="LiveId" clId="{7341D1A6-E360-4A96-BE7A-F717D0E3AD72}" dt="2026-09-29T17:31:58.317" v="190" actId="207"/>
          <ac:spMkLst>
            <pc:docMk/>
            <pc:sldMk cId="145405316" sldId="565"/>
            <ac:spMk id="205" creationId="{00000000-0000-0000-0000-000000000000}"/>
          </ac:spMkLst>
        </pc:spChg>
      </pc:sldChg>
      <pc:sldChg chg="addSp modSp add del mod">
        <pc:chgData name="Phạm Hoàng Phát" userId="db628644e7623889" providerId="LiveId" clId="{7341D1A6-E360-4A96-BE7A-F717D0E3AD72}" dt="2026-09-29T17:36:20.992" v="236"/>
        <pc:sldMkLst>
          <pc:docMk/>
          <pc:sldMk cId="4010204315" sldId="566"/>
        </pc:sldMkLst>
        <pc:spChg chg="add mod">
          <ac:chgData name="Phạm Hoàng Phát" userId="db628644e7623889" providerId="LiveId" clId="{7341D1A6-E360-4A96-BE7A-F717D0E3AD72}" dt="2026-09-29T17:32:02.834" v="192" actId="571"/>
          <ac:spMkLst>
            <pc:docMk/>
            <pc:sldMk cId="4010204315" sldId="566"/>
            <ac:spMk id="4" creationId="{D7596C5A-186A-AB4F-ADBD-26AB9A61D49C}"/>
          </ac:spMkLst>
        </pc:spChg>
        <pc:spChg chg="mod">
          <ac:chgData name="Phạm Hoàng Phát" userId="db628644e7623889" providerId="LiveId" clId="{7341D1A6-E360-4A96-BE7A-F717D0E3AD72}" dt="2026-09-29T17:32:08.417" v="195" actId="207"/>
          <ac:spMkLst>
            <pc:docMk/>
            <pc:sldMk cId="4010204315" sldId="566"/>
            <ac:spMk id="205" creationId="{00000000-0000-0000-0000-000000000000}"/>
          </ac:spMkLst>
        </pc:spChg>
      </pc:sldChg>
      <pc:sldChg chg="modSp add mod">
        <pc:chgData name="Phạm Hoàng Phát" userId="db628644e7623889" providerId="LiveId" clId="{7341D1A6-E360-4A96-BE7A-F717D0E3AD72}" dt="2026-09-29T17:36:25.213" v="237" actId="113"/>
        <pc:sldMkLst>
          <pc:docMk/>
          <pc:sldMk cId="2772468046" sldId="567"/>
        </pc:sldMkLst>
        <pc:spChg chg="mod">
          <ac:chgData name="Phạm Hoàng Phát" userId="db628644e7623889" providerId="LiveId" clId="{7341D1A6-E360-4A96-BE7A-F717D0E3AD72}" dt="2026-09-29T17:36:25.213" v="237" actId="113"/>
          <ac:spMkLst>
            <pc:docMk/>
            <pc:sldMk cId="2772468046" sldId="567"/>
            <ac:spMk id="205" creationId="{00000000-0000-0000-0000-000000000000}"/>
          </ac:spMkLst>
        </pc:spChg>
      </pc:sldChg>
      <pc:sldChg chg="modSp add mod">
        <pc:chgData name="Phạm Hoàng Phát" userId="db628644e7623889" providerId="LiveId" clId="{7341D1A6-E360-4A96-BE7A-F717D0E3AD72}" dt="2026-09-29T17:36:11.683" v="230" actId="113"/>
        <pc:sldMkLst>
          <pc:docMk/>
          <pc:sldMk cId="1337089951" sldId="568"/>
        </pc:sldMkLst>
        <pc:spChg chg="mod">
          <ac:chgData name="Phạm Hoàng Phát" userId="db628644e7623889" providerId="LiveId" clId="{7341D1A6-E360-4A96-BE7A-F717D0E3AD72}" dt="2026-09-29T17:36:11.683" v="230" actId="113"/>
          <ac:spMkLst>
            <pc:docMk/>
            <pc:sldMk cId="1337089951" sldId="568"/>
            <ac:spMk id="205" creationId="{00000000-0000-0000-0000-000000000000}"/>
          </ac:spMkLst>
        </pc:spChg>
      </pc:sldChg>
      <pc:sldChg chg="modSp add mod">
        <pc:chgData name="Phạm Hoàng Phát" userId="db628644e7623889" providerId="LiveId" clId="{7341D1A6-E360-4A96-BE7A-F717D0E3AD72}" dt="2026-09-29T17:36:44.605" v="239" actId="113"/>
        <pc:sldMkLst>
          <pc:docMk/>
          <pc:sldMk cId="3467963620" sldId="569"/>
        </pc:sldMkLst>
        <pc:spChg chg="mod">
          <ac:chgData name="Phạm Hoàng Phát" userId="db628644e7623889" providerId="LiveId" clId="{7341D1A6-E360-4A96-BE7A-F717D0E3AD72}" dt="2026-09-29T17:36:44.605" v="239" actId="113"/>
          <ac:spMkLst>
            <pc:docMk/>
            <pc:sldMk cId="3467963620" sldId="569"/>
            <ac:spMk id="205" creationId="{00000000-0000-0000-0000-000000000000}"/>
          </ac:spMkLst>
        </pc:spChg>
      </pc:sldChg>
      <pc:sldChg chg="modSp add mod">
        <pc:chgData name="Phạm Hoàng Phát" userId="db628644e7623889" providerId="LiveId" clId="{7341D1A6-E360-4A96-BE7A-F717D0E3AD72}" dt="2026-09-29T17:36:34.358" v="238" actId="113"/>
        <pc:sldMkLst>
          <pc:docMk/>
          <pc:sldMk cId="3628519759" sldId="570"/>
        </pc:sldMkLst>
        <pc:spChg chg="mod">
          <ac:chgData name="Phạm Hoàng Phát" userId="db628644e7623889" providerId="LiveId" clId="{7341D1A6-E360-4A96-BE7A-F717D0E3AD72}" dt="2026-09-29T17:36:34.358" v="238" actId="113"/>
          <ac:spMkLst>
            <pc:docMk/>
            <pc:sldMk cId="3628519759" sldId="570"/>
            <ac:spMk id="205" creationId="{00000000-0000-0000-0000-000000000000}"/>
          </ac:spMkLst>
        </pc:spChg>
      </pc:sldChg>
      <pc:sldChg chg="addSp delSp modSp add mod">
        <pc:chgData name="Phạm Hoàng Phát" userId="db628644e7623889" providerId="LiveId" clId="{7341D1A6-E360-4A96-BE7A-F717D0E3AD72}" dt="2026-09-29T17:36:55.340" v="246" actId="113"/>
        <pc:sldMkLst>
          <pc:docMk/>
          <pc:sldMk cId="1191915965" sldId="571"/>
        </pc:sldMkLst>
        <pc:spChg chg="add mod">
          <ac:chgData name="Phạm Hoàng Phát" userId="db628644e7623889" providerId="LiveId" clId="{7341D1A6-E360-4A96-BE7A-F717D0E3AD72}" dt="2026-09-29T17:33:24.072" v="203" actId="571"/>
          <ac:spMkLst>
            <pc:docMk/>
            <pc:sldMk cId="1191915965" sldId="571"/>
            <ac:spMk id="4" creationId="{80927570-F4AD-07C0-F018-3317A720D67B}"/>
          </ac:spMkLst>
        </pc:spChg>
        <pc:spChg chg="del mod">
          <ac:chgData name="Phạm Hoàng Phát" userId="db628644e7623889" providerId="LiveId" clId="{7341D1A6-E360-4A96-BE7A-F717D0E3AD72}" dt="2026-09-29T17:30:06.550" v="173" actId="478"/>
          <ac:spMkLst>
            <pc:docMk/>
            <pc:sldMk cId="1191915965" sldId="571"/>
            <ac:spMk id="28" creationId="{00000000-0000-0000-0000-000000000000}"/>
          </ac:spMkLst>
        </pc:spChg>
        <pc:spChg chg="mod">
          <ac:chgData name="Phạm Hoàng Phát" userId="db628644e7623889" providerId="LiveId" clId="{7341D1A6-E360-4A96-BE7A-F717D0E3AD72}" dt="2026-09-29T17:36:55.340" v="246" actId="113"/>
          <ac:spMkLst>
            <pc:docMk/>
            <pc:sldMk cId="1191915965" sldId="571"/>
            <ac:spMk id="205" creationId="{00000000-0000-0000-0000-000000000000}"/>
          </ac:spMkLst>
        </pc:spChg>
        <pc:spChg chg="del">
          <ac:chgData name="Phạm Hoàng Phát" userId="db628644e7623889" providerId="LiveId" clId="{7341D1A6-E360-4A96-BE7A-F717D0E3AD72}" dt="2026-09-29T17:30:05.308" v="171" actId="478"/>
          <ac:spMkLst>
            <pc:docMk/>
            <pc:sldMk cId="1191915965" sldId="571"/>
            <ac:spMk id="910" creationId="{00000000-0000-0000-0000-000000000000}"/>
          </ac:spMkLst>
        </pc:spChg>
        <pc:picChg chg="del">
          <ac:chgData name="Phạm Hoàng Phát" userId="db628644e7623889" providerId="LiveId" clId="{7341D1A6-E360-4A96-BE7A-F717D0E3AD72}" dt="2026-09-29T17:30:04.891" v="170" actId="478"/>
          <ac:picMkLst>
            <pc:docMk/>
            <pc:sldMk cId="1191915965" sldId="571"/>
            <ac:picMk id="29" creationId="{00000000-0000-0000-0000-000000000000}"/>
          </ac:picMkLst>
        </pc:picChg>
      </pc:sldChg>
      <pc:sldChg chg="modSp add mod">
        <pc:chgData name="Phạm Hoàng Phát" userId="db628644e7623889" providerId="LiveId" clId="{7341D1A6-E360-4A96-BE7A-F717D0E3AD72}" dt="2026-09-29T17:37:09.194" v="248" actId="113"/>
        <pc:sldMkLst>
          <pc:docMk/>
          <pc:sldMk cId="786096637" sldId="572"/>
        </pc:sldMkLst>
        <pc:spChg chg="mod">
          <ac:chgData name="Phạm Hoàng Phát" userId="db628644e7623889" providerId="LiveId" clId="{7341D1A6-E360-4A96-BE7A-F717D0E3AD72}" dt="2026-09-29T17:37:09.194" v="248" actId="113"/>
          <ac:spMkLst>
            <pc:docMk/>
            <pc:sldMk cId="786096637" sldId="572"/>
            <ac:spMk id="205" creationId="{00000000-0000-0000-0000-000000000000}"/>
          </ac:spMkLst>
        </pc:spChg>
      </pc:sldChg>
      <pc:sldChg chg="modSp add mod">
        <pc:chgData name="Phạm Hoàng Phát" userId="db628644e7623889" providerId="LiveId" clId="{7341D1A6-E360-4A96-BE7A-F717D0E3AD72}" dt="2026-09-29T17:37:02.074" v="247" actId="113"/>
        <pc:sldMkLst>
          <pc:docMk/>
          <pc:sldMk cId="2919688981" sldId="573"/>
        </pc:sldMkLst>
        <pc:spChg chg="mod">
          <ac:chgData name="Phạm Hoàng Phát" userId="db628644e7623889" providerId="LiveId" clId="{7341D1A6-E360-4A96-BE7A-F717D0E3AD72}" dt="2026-09-29T17:37:02.074" v="247" actId="113"/>
          <ac:spMkLst>
            <pc:docMk/>
            <pc:sldMk cId="2919688981" sldId="573"/>
            <ac:spMk id="205" creationId="{00000000-0000-0000-0000-000000000000}"/>
          </ac:spMkLst>
        </pc:spChg>
      </pc:sldChg>
      <pc:sldChg chg="add del">
        <pc:chgData name="Phạm Hoàng Phát" userId="db628644e7623889" providerId="LiveId" clId="{7341D1A6-E360-4A96-BE7A-F717D0E3AD72}" dt="2026-09-29T17:20:51.199" v="119"/>
        <pc:sldMkLst>
          <pc:docMk/>
          <pc:sldMk cId="1257391220" sldId="574"/>
        </pc:sldMkLst>
      </pc:sldChg>
      <pc:sldChg chg="add del">
        <pc:chgData name="Phạm Hoàng Phát" userId="db628644e7623889" providerId="LiveId" clId="{7341D1A6-E360-4A96-BE7A-F717D0E3AD72}" dt="2026-09-29T17:20:59.324" v="121"/>
        <pc:sldMkLst>
          <pc:docMk/>
          <pc:sldMk cId="4197967483" sldId="575"/>
        </pc:sldMkLst>
      </pc:sldChg>
      <pc:sldChg chg="modSp add mod">
        <pc:chgData name="Phạm Hoàng Phát" userId="db628644e7623889" providerId="LiveId" clId="{7341D1A6-E360-4A96-BE7A-F717D0E3AD72}" dt="2026-09-29T17:37:25.434" v="251" actId="113"/>
        <pc:sldMkLst>
          <pc:docMk/>
          <pc:sldMk cId="461111885" sldId="576"/>
        </pc:sldMkLst>
        <pc:spChg chg="mod">
          <ac:chgData name="Phạm Hoàng Phát" userId="db628644e7623889" providerId="LiveId" clId="{7341D1A6-E360-4A96-BE7A-F717D0E3AD72}" dt="2026-09-29T17:37:25.434" v="251" actId="113"/>
          <ac:spMkLst>
            <pc:docMk/>
            <pc:sldMk cId="461111885" sldId="576"/>
            <ac:spMk id="205" creationId="{00000000-0000-0000-0000-000000000000}"/>
          </ac:spMkLst>
        </pc:spChg>
      </pc:sldChg>
      <pc:sldChg chg="modSp add mod">
        <pc:chgData name="Phạm Hoàng Phát" userId="db628644e7623889" providerId="LiveId" clId="{7341D1A6-E360-4A96-BE7A-F717D0E3AD72}" dt="2026-09-29T17:37:30.376" v="252" actId="113"/>
        <pc:sldMkLst>
          <pc:docMk/>
          <pc:sldMk cId="4109048431" sldId="577"/>
        </pc:sldMkLst>
        <pc:spChg chg="mod">
          <ac:chgData name="Phạm Hoàng Phát" userId="db628644e7623889" providerId="LiveId" clId="{7341D1A6-E360-4A96-BE7A-F717D0E3AD72}" dt="2026-09-29T17:37:30.376" v="252" actId="113"/>
          <ac:spMkLst>
            <pc:docMk/>
            <pc:sldMk cId="4109048431" sldId="577"/>
            <ac:spMk id="205" creationId="{00000000-0000-0000-0000-000000000000}"/>
          </ac:spMkLst>
        </pc:spChg>
      </pc:sldChg>
      <pc:sldChg chg="delSp modSp add mod">
        <pc:chgData name="Phạm Hoàng Phát" userId="db628644e7623889" providerId="LiveId" clId="{7341D1A6-E360-4A96-BE7A-F717D0E3AD72}" dt="2026-09-29T17:37:43.187" v="253" actId="113"/>
        <pc:sldMkLst>
          <pc:docMk/>
          <pc:sldMk cId="3799101118" sldId="578"/>
        </pc:sldMkLst>
        <pc:spChg chg="del mod">
          <ac:chgData name="Phạm Hoàng Phát" userId="db628644e7623889" providerId="LiveId" clId="{7341D1A6-E360-4A96-BE7A-F717D0E3AD72}" dt="2026-09-29T17:30:17.663" v="177" actId="478"/>
          <ac:spMkLst>
            <pc:docMk/>
            <pc:sldMk cId="3799101118" sldId="578"/>
            <ac:spMk id="28" creationId="{00000000-0000-0000-0000-000000000000}"/>
          </ac:spMkLst>
        </pc:spChg>
        <pc:spChg chg="mod">
          <ac:chgData name="Phạm Hoàng Phát" userId="db628644e7623889" providerId="LiveId" clId="{7341D1A6-E360-4A96-BE7A-F717D0E3AD72}" dt="2026-09-29T17:37:43.187" v="253" actId="113"/>
          <ac:spMkLst>
            <pc:docMk/>
            <pc:sldMk cId="3799101118" sldId="578"/>
            <ac:spMk id="205" creationId="{00000000-0000-0000-0000-000000000000}"/>
          </ac:spMkLst>
        </pc:spChg>
        <pc:spChg chg="del">
          <ac:chgData name="Phạm Hoàng Phát" userId="db628644e7623889" providerId="LiveId" clId="{7341D1A6-E360-4A96-BE7A-F717D0E3AD72}" dt="2026-09-29T17:30:17.274" v="176" actId="478"/>
          <ac:spMkLst>
            <pc:docMk/>
            <pc:sldMk cId="3799101118" sldId="578"/>
            <ac:spMk id="910" creationId="{00000000-0000-0000-0000-000000000000}"/>
          </ac:spMkLst>
        </pc:spChg>
        <pc:picChg chg="del">
          <ac:chgData name="Phạm Hoàng Phát" userId="db628644e7623889" providerId="LiveId" clId="{7341D1A6-E360-4A96-BE7A-F717D0E3AD72}" dt="2026-09-29T17:30:15.070" v="174" actId="478"/>
          <ac:picMkLst>
            <pc:docMk/>
            <pc:sldMk cId="3799101118" sldId="578"/>
            <ac:picMk id="29" creationId="{00000000-0000-0000-0000-000000000000}"/>
          </ac:picMkLst>
        </pc:picChg>
      </pc:sldChg>
      <pc:sldChg chg="add del">
        <pc:chgData name="Phạm Hoàng Phát" userId="db628644e7623889" providerId="LiveId" clId="{7341D1A6-E360-4A96-BE7A-F717D0E3AD72}" dt="2026-09-29T17:22:06.005" v="133"/>
        <pc:sldMkLst>
          <pc:docMk/>
          <pc:sldMk cId="1855834204" sldId="579"/>
        </pc:sldMkLst>
      </pc:sldChg>
      <pc:sldChg chg="add del">
        <pc:chgData name="Phạm Hoàng Phát" userId="db628644e7623889" providerId="LiveId" clId="{7341D1A6-E360-4A96-BE7A-F717D0E3AD72}" dt="2026-09-29T17:22:12.423" v="135"/>
        <pc:sldMkLst>
          <pc:docMk/>
          <pc:sldMk cId="4141629948" sldId="580"/>
        </pc:sldMkLst>
      </pc:sldChg>
      <pc:sldChg chg="add del">
        <pc:chgData name="Phạm Hoàng Phát" userId="db628644e7623889" providerId="LiveId" clId="{7341D1A6-E360-4A96-BE7A-F717D0E3AD72}" dt="2026-09-29T17:22:19.433" v="137"/>
        <pc:sldMkLst>
          <pc:docMk/>
          <pc:sldMk cId="2571930118" sldId="581"/>
        </pc:sldMkLst>
      </pc:sldChg>
      <pc:sldChg chg="add del">
        <pc:chgData name="Phạm Hoàng Phát" userId="db628644e7623889" providerId="LiveId" clId="{7341D1A6-E360-4A96-BE7A-F717D0E3AD72}" dt="2026-09-29T17:22:26.602" v="139"/>
        <pc:sldMkLst>
          <pc:docMk/>
          <pc:sldMk cId="3808825714" sldId="582"/>
        </pc:sldMkLst>
      </pc:sldChg>
      <pc:sldChg chg="modSp add mod">
        <pc:chgData name="Phạm Hoàng Phát" userId="db628644e7623889" providerId="LiveId" clId="{7341D1A6-E360-4A96-BE7A-F717D0E3AD72}" dt="2026-09-29T17:37:46.331" v="255" actId="113"/>
        <pc:sldMkLst>
          <pc:docMk/>
          <pc:sldMk cId="1175446459" sldId="583"/>
        </pc:sldMkLst>
        <pc:spChg chg="mod">
          <ac:chgData name="Phạm Hoàng Phát" userId="db628644e7623889" providerId="LiveId" clId="{7341D1A6-E360-4A96-BE7A-F717D0E3AD72}" dt="2026-09-29T17:37:46.331" v="255" actId="113"/>
          <ac:spMkLst>
            <pc:docMk/>
            <pc:sldMk cId="1175446459" sldId="583"/>
            <ac:spMk id="205" creationId="{00000000-0000-0000-0000-000000000000}"/>
          </ac:spMkLst>
        </pc:spChg>
      </pc:sldChg>
      <pc:sldChg chg="modSp add mod">
        <pc:chgData name="Phạm Hoàng Phát" userId="db628644e7623889" providerId="LiveId" clId="{7341D1A6-E360-4A96-BE7A-F717D0E3AD72}" dt="2026-09-29T17:34:26.070" v="221" actId="207"/>
        <pc:sldMkLst>
          <pc:docMk/>
          <pc:sldMk cId="1199394736" sldId="584"/>
        </pc:sldMkLst>
        <pc:spChg chg="mod">
          <ac:chgData name="Phạm Hoàng Phát" userId="db628644e7623889" providerId="LiveId" clId="{7341D1A6-E360-4A96-BE7A-F717D0E3AD72}" dt="2026-09-29T17:34:26.070" v="221" actId="207"/>
          <ac:spMkLst>
            <pc:docMk/>
            <pc:sldMk cId="1199394736" sldId="584"/>
            <ac:spMk id="205" creationId="{00000000-0000-0000-0000-000000000000}"/>
          </ac:spMkLst>
        </pc:spChg>
      </pc:sldChg>
      <pc:sldChg chg="modSp add mod">
        <pc:chgData name="Phạm Hoàng Phát" userId="db628644e7623889" providerId="LiveId" clId="{7341D1A6-E360-4A96-BE7A-F717D0E3AD72}" dt="2026-09-29T17:34:29.735" v="222" actId="207"/>
        <pc:sldMkLst>
          <pc:docMk/>
          <pc:sldMk cId="3490514923" sldId="585"/>
        </pc:sldMkLst>
        <pc:spChg chg="mod">
          <ac:chgData name="Phạm Hoàng Phát" userId="db628644e7623889" providerId="LiveId" clId="{7341D1A6-E360-4A96-BE7A-F717D0E3AD72}" dt="2026-09-29T17:34:29.735" v="222" actId="207"/>
          <ac:spMkLst>
            <pc:docMk/>
            <pc:sldMk cId="3490514923" sldId="585"/>
            <ac:spMk id="205" creationId="{00000000-0000-0000-0000-000000000000}"/>
          </ac:spMkLst>
        </pc:spChg>
      </pc:sldChg>
      <pc:sldChg chg="modSp add mod">
        <pc:chgData name="Phạm Hoàng Phát" userId="db628644e7623889" providerId="LiveId" clId="{7341D1A6-E360-4A96-BE7A-F717D0E3AD72}" dt="2026-09-29T17:40:55.656" v="292" actId="113"/>
        <pc:sldMkLst>
          <pc:docMk/>
          <pc:sldMk cId="1207249550" sldId="586"/>
        </pc:sldMkLst>
        <pc:spChg chg="mod">
          <ac:chgData name="Phạm Hoàng Phát" userId="db628644e7623889" providerId="LiveId" clId="{7341D1A6-E360-4A96-BE7A-F717D0E3AD72}" dt="2026-09-29T17:40:55.656" v="292" actId="113"/>
          <ac:spMkLst>
            <pc:docMk/>
            <pc:sldMk cId="1207249550" sldId="586"/>
            <ac:spMk id="205" creationId="{00000000-0000-0000-0000-000000000000}"/>
          </ac:spMkLst>
        </pc:spChg>
      </pc:sldChg>
      <pc:sldChg chg="add del">
        <pc:chgData name="Phạm Hoàng Phát" userId="db628644e7623889" providerId="LiveId" clId="{7341D1A6-E360-4A96-BE7A-F717D0E3AD72}" dt="2026-09-29T17:23:42.141" v="147"/>
        <pc:sldMkLst>
          <pc:docMk/>
          <pc:sldMk cId="4218525706" sldId="587"/>
        </pc:sldMkLst>
      </pc:sldChg>
      <pc:sldChg chg="modSp add mod">
        <pc:chgData name="Phạm Hoàng Phát" userId="db628644e7623889" providerId="LiveId" clId="{7341D1A6-E360-4A96-BE7A-F717D0E3AD72}" dt="2026-09-29T17:39:47.569" v="279" actId="207"/>
        <pc:sldMkLst>
          <pc:docMk/>
          <pc:sldMk cId="3597953974" sldId="588"/>
        </pc:sldMkLst>
        <pc:spChg chg="mod">
          <ac:chgData name="Phạm Hoàng Phát" userId="db628644e7623889" providerId="LiveId" clId="{7341D1A6-E360-4A96-BE7A-F717D0E3AD72}" dt="2026-09-29T17:39:47.569" v="279" actId="207"/>
          <ac:spMkLst>
            <pc:docMk/>
            <pc:sldMk cId="3597953974" sldId="588"/>
            <ac:spMk id="205" creationId="{00000000-0000-0000-0000-000000000000}"/>
          </ac:spMkLst>
        </pc:spChg>
      </pc:sldChg>
      <pc:sldChg chg="add del">
        <pc:chgData name="Phạm Hoàng Phát" userId="db628644e7623889" providerId="LiveId" clId="{7341D1A6-E360-4A96-BE7A-F717D0E3AD72}" dt="2026-09-29T17:23:49.944" v="149"/>
        <pc:sldMkLst>
          <pc:docMk/>
          <pc:sldMk cId="278984585" sldId="589"/>
        </pc:sldMkLst>
      </pc:sldChg>
      <pc:sldChg chg="modSp add mod">
        <pc:chgData name="Phạm Hoàng Phát" userId="db628644e7623889" providerId="LiveId" clId="{7341D1A6-E360-4A96-BE7A-F717D0E3AD72}" dt="2026-09-29T17:40:41.006" v="290" actId="113"/>
        <pc:sldMkLst>
          <pc:docMk/>
          <pc:sldMk cId="3251823136" sldId="590"/>
        </pc:sldMkLst>
        <pc:spChg chg="mod">
          <ac:chgData name="Phạm Hoàng Phát" userId="db628644e7623889" providerId="LiveId" clId="{7341D1A6-E360-4A96-BE7A-F717D0E3AD72}" dt="2026-09-29T17:40:36.913" v="287" actId="1076"/>
          <ac:spMkLst>
            <pc:docMk/>
            <pc:sldMk cId="3251823136" sldId="590"/>
            <ac:spMk id="203" creationId="{00000000-0000-0000-0000-000000000000}"/>
          </ac:spMkLst>
        </pc:spChg>
        <pc:spChg chg="mod">
          <ac:chgData name="Phạm Hoàng Phát" userId="db628644e7623889" providerId="LiveId" clId="{7341D1A6-E360-4A96-BE7A-F717D0E3AD72}" dt="2026-09-29T17:40:41.006" v="290" actId="113"/>
          <ac:spMkLst>
            <pc:docMk/>
            <pc:sldMk cId="3251823136" sldId="590"/>
            <ac:spMk id="205" creationId="{00000000-0000-0000-0000-000000000000}"/>
          </ac:spMkLst>
        </pc:spChg>
      </pc:sldChg>
      <pc:sldChg chg="modSp add mod">
        <pc:chgData name="Phạm Hoàng Phát" userId="db628644e7623889" providerId="LiveId" clId="{7341D1A6-E360-4A96-BE7A-F717D0E3AD72}" dt="2026-09-29T17:39:37.596" v="277" actId="113"/>
        <pc:sldMkLst>
          <pc:docMk/>
          <pc:sldMk cId="3003917686" sldId="591"/>
        </pc:sldMkLst>
        <pc:spChg chg="mod">
          <ac:chgData name="Phạm Hoàng Phát" userId="db628644e7623889" providerId="LiveId" clId="{7341D1A6-E360-4A96-BE7A-F717D0E3AD72}" dt="2026-09-29T17:39:37.596" v="277" actId="113"/>
          <ac:spMkLst>
            <pc:docMk/>
            <pc:sldMk cId="3003917686" sldId="591"/>
            <ac:spMk id="205" creationId="{00000000-0000-0000-0000-000000000000}"/>
          </ac:spMkLst>
        </pc:spChg>
      </pc:sldChg>
      <pc:sldChg chg="modSp add mod">
        <pc:chgData name="Phạm Hoàng Phát" userId="db628644e7623889" providerId="LiveId" clId="{7341D1A6-E360-4A96-BE7A-F717D0E3AD72}" dt="2026-09-29T17:40:06.964" v="281" actId="20577"/>
        <pc:sldMkLst>
          <pc:docMk/>
          <pc:sldMk cId="2134063844" sldId="592"/>
        </pc:sldMkLst>
        <pc:spChg chg="mod">
          <ac:chgData name="Phạm Hoàng Phát" userId="db628644e7623889" providerId="LiveId" clId="{7341D1A6-E360-4A96-BE7A-F717D0E3AD72}" dt="2026-09-29T17:40:06.964" v="281" actId="20577"/>
          <ac:spMkLst>
            <pc:docMk/>
            <pc:sldMk cId="2134063844" sldId="592"/>
            <ac:spMk id="205" creationId="{00000000-0000-0000-0000-000000000000}"/>
          </ac:spMkLst>
        </pc:spChg>
      </pc:sldChg>
      <pc:sldChg chg="modSp add mod">
        <pc:chgData name="Phạm Hoàng Phát" userId="db628644e7623889" providerId="LiveId" clId="{7341D1A6-E360-4A96-BE7A-F717D0E3AD72}" dt="2026-09-29T17:40:12.697" v="283" actId="113"/>
        <pc:sldMkLst>
          <pc:docMk/>
          <pc:sldMk cId="3112590032" sldId="593"/>
        </pc:sldMkLst>
        <pc:spChg chg="mod">
          <ac:chgData name="Phạm Hoàng Phát" userId="db628644e7623889" providerId="LiveId" clId="{7341D1A6-E360-4A96-BE7A-F717D0E3AD72}" dt="2026-09-29T17:40:12.697" v="283" actId="113"/>
          <ac:spMkLst>
            <pc:docMk/>
            <pc:sldMk cId="3112590032" sldId="593"/>
            <ac:spMk id="205" creationId="{00000000-0000-0000-0000-000000000000}"/>
          </ac:spMkLst>
        </pc:spChg>
      </pc:sldChg>
      <pc:sldChg chg="modSp add mod">
        <pc:chgData name="Phạm Hoàng Phát" userId="db628644e7623889" providerId="LiveId" clId="{7341D1A6-E360-4A96-BE7A-F717D0E3AD72}" dt="2026-09-29T17:40:27.945" v="285" actId="113"/>
        <pc:sldMkLst>
          <pc:docMk/>
          <pc:sldMk cId="926347342" sldId="594"/>
        </pc:sldMkLst>
        <pc:spChg chg="mod">
          <ac:chgData name="Phạm Hoàng Phát" userId="db628644e7623889" providerId="LiveId" clId="{7341D1A6-E360-4A96-BE7A-F717D0E3AD72}" dt="2026-09-29T17:40:27.945" v="285" actId="113"/>
          <ac:spMkLst>
            <pc:docMk/>
            <pc:sldMk cId="926347342" sldId="594"/>
            <ac:spMk id="205" creationId="{00000000-0000-0000-0000-000000000000}"/>
          </ac:spMkLst>
        </pc:spChg>
      </pc:sldChg>
      <pc:sldChg chg="add del">
        <pc:chgData name="Phạm Hoàng Phát" userId="db628644e7623889" providerId="LiveId" clId="{7341D1A6-E360-4A96-BE7A-F717D0E3AD72}" dt="2026-09-29T17:36:46.186" v="243"/>
        <pc:sldMkLst>
          <pc:docMk/>
          <pc:sldMk cId="3824002665" sldId="595"/>
        </pc:sldMkLst>
      </pc:sldChg>
      <pc:sldChg chg="add del">
        <pc:chgData name="Phạm Hoàng Phát" userId="db628644e7623889" providerId="LiveId" clId="{7341D1A6-E360-4A96-BE7A-F717D0E3AD72}" dt="2026-09-29T17:36:45.489" v="241"/>
        <pc:sldMkLst>
          <pc:docMk/>
          <pc:sldMk cId="2437495400" sldId="596"/>
        </pc:sldMkLst>
      </pc:sldChg>
      <pc:sldChg chg="add del">
        <pc:chgData name="Phạm Hoàng Phát" userId="db628644e7623889" providerId="LiveId" clId="{7341D1A6-E360-4A96-BE7A-F717D0E3AD72}" dt="2026-09-29T17:36:55.286" v="245"/>
        <pc:sldMkLst>
          <pc:docMk/>
          <pc:sldMk cId="1303692821" sldId="597"/>
        </pc:sldMkLst>
      </pc:sldChg>
      <pc:sldChg chg="add">
        <pc:chgData name="Phạm Hoàng Phát" userId="db628644e7623889" providerId="LiveId" clId="{7341D1A6-E360-4A96-BE7A-F717D0E3AD72}" dt="2026-09-29T17:36:45.477" v="240"/>
        <pc:sldMkLst>
          <pc:docMk/>
          <pc:sldMk cId="2178797444" sldId="598"/>
        </pc:sldMkLst>
      </pc:sldChg>
      <pc:sldChg chg="add">
        <pc:chgData name="Phạm Hoàng Phát" userId="db628644e7623889" providerId="LiveId" clId="{7341D1A6-E360-4A96-BE7A-F717D0E3AD72}" dt="2026-09-29T17:36:46.163" v="242"/>
        <pc:sldMkLst>
          <pc:docMk/>
          <pc:sldMk cId="1123790342" sldId="599"/>
        </pc:sldMkLst>
      </pc:sldChg>
      <pc:sldChg chg="add">
        <pc:chgData name="Phạm Hoàng Phát" userId="db628644e7623889" providerId="LiveId" clId="{7341D1A6-E360-4A96-BE7A-F717D0E3AD72}" dt="2026-09-29T17:36:55.278" v="244"/>
        <pc:sldMkLst>
          <pc:docMk/>
          <pc:sldMk cId="2713256927" sldId="60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105119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chào thầy cô và các bạn. Em là [họ tên], đại diện nhóm [số nhóm]. Hôm nay nhóm em trình bày bài thường kỳ hai về Chương 3 – Các khía cạnh nhận thức: sáu nhóm quá trình nhận thức của con người, và cách thiết kế sản phẩm để hỗ trợ chúng.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các thành viên và phần việc của từng bạn trong nhóm.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Tương tác với công nghệ thực chất là một hoạt động nhận thức. Theo sách Interaction Design, nhận thức gồm rất nhiều loại: suy nghĩ, ghi nhớ, học, nhìn, đọc, nói, ra quyết định. (Norman chia thành hai chế độ: nhận thức trải nghiệm – làm theo phản xạ như lái xe; và nhận thức phản tư – phải suy nghĩ như khi thiết kế hay học bài.) Sách mô tả sáu nhóm quá trình trên màn hình, và chúng luôn đan xen: ôn thi là phải vừa chú ý, vừa đọc, vừa suy nghĩ, vừa ghi nhớ. Với mỗi nhóm, em sẽ đi qua khái niệm, đặc điểm, lời khuyên thiết kế và ba ví dụ.</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Đầu tiên là sự chú ý. Sách định nghĩa: đó là quá trình chọn lọc thứ để tập trung vào tại một thời điểm, giữa rất nhiều thứ xung quanh, bằng mắt hoặc tai. Đặc điểm nổi bật là tính chọn lọc: tập trung vào cái này thì dễ bỏ lỡ cái khác. Chú ý dễ hay khó phụ thuộc hai yếu tố: mình có mục tiêu rõ ràng không, và thông tin có nổi bật không. (Nghiên cứu của Ophir năm 2009 còn cho thấy người hay làm nhiều việc cùng lúc lại dễ bị xao nhãng hơn.) Vì vậy sách khuyên: làm thông tin nổi bật đúng lúc bằng màu sắc, thứ tự, khoảng cách; tránh nhồi nhét; và giữ giao diện tìm kiếm, biểu mẫu thật gọn. Nhóm em bổ sung: hạn chế thông báo làm gián đoạn người dùng.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Đầu tiên là sự chú ý. Sách định nghĩa: đó là quá trình chọn lọc thứ để tập trung vào tại một thời điểm, giữa rất nhiều thứ xung quanh, bằng mắt hoặc tai. Đặc điểm nổi bật là tính chọn lọc: tập trung vào cái này thì dễ bỏ lỡ cái khác. Chú ý dễ hay khó phụ thuộc hai yếu tố: mình có mục tiêu rõ ràng không, và thông tin có nổi bật không. (Nghiên cứu của Ophir năm 2009 còn cho thấy người hay làm nhiều việc cùng lúc lại dễ bị xao nhãng hơn.) Vì vậy sách khuyên: làm thông tin nổi bật đúng lúc bằng màu sắc, thứ tự, khoảng cách; tránh nhồi nhét; và giữ giao diện tìm kiếm, biểu mẫu thật gọn. Nhóm em bổ sung: hạn chế thông báo làm gián đoạn người dùng.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Đầu tiên là sự chú ý. Sách định nghĩa: đó là quá trình chọn lọc thứ để tập trung vào tại một thời điểm, giữa rất nhiều thứ xung quanh, bằng mắt hoặc tai. Đặc điểm nổi bật là tính chọn lọc: tập trung vào cái này thì dễ bỏ lỡ cái khác. Chú ý dễ hay khó phụ thuộc hai yếu tố: mình có mục tiêu rõ ràng không, và thông tin có nổi bật không. (Nghiên cứu của Ophir năm 2009 còn cho thấy người hay làm nhiều việc cùng lúc lại dễ bị xao nhãng hơn.) Vì vậy sách khuyên: làm thông tin nổi bật đúng lúc bằng màu sắc, thứ tự, khoảng cách; tránh nhồi nhét; và giữ giao diện tìm kiếm, biểu mẫu thật gọn. Nhóm em bổ sung: hạn chế thông báo làm gián đoạn người dùng.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thứ nhất từ sách: hai màn hình tra cứu khách sạn có cùng lượng thông tin, nhưng dạng bảng chia cột chỉ mất 3,2 giây để tìm, dạng danh sách dồn cục mất tới 5,5 giây. Bài học: cách trình bày quyết định sự chú ý. Ví dụ thứ hai trong slide bài giảng: trang Ask chỉ có một ô tìm kiếm, còn trang chủ Lazada đầy banner tranh nhau thu hút, người dùng rất khó tập trung. Ví dụ thứ ba: đèn cảnh báo trên taplo ô tô – bình thường tắt, có sự cố mới sáng đỏ kèm tiếng bíp, kéo sự chú ý của tài xế đúng lúc cần.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thứ nhất từ sách: hai màn hình tra cứu khách sạn có cùng lượng thông tin, nhưng dạng bảng chia cột chỉ mất 3,2 giây để tìm, dạng danh sách dồn cục mất tới 5,5 giây. Bài học: cách trình bày quyết định sự chú ý. Ví dụ thứ hai trong slide bài giảng: trang Ask chỉ có một ô tìm kiếm, còn trang chủ Lazada đầy banner tranh nhau thu hút, người dùng rất khó tập trung. Ví dụ thứ ba: đèn cảnh báo trên taplo ô tô – bình thường tắt, có sự cố mới sáng đỏ kèm tiếng bíp, kéo sự chú ý của tài xế đúng lúc cần.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thứ nhất từ sách: hai màn hình tra cứu khách sạn có cùng lượng thông tin, nhưng dạng bảng chia cột chỉ mất 3,2 giây để tìm, dạng danh sách dồn cục mất tới 5,5 giây. Bài học: cách trình bày quyết định sự chú ý. Ví dụ thứ hai trong slide bài giảng: trang Ask chỉ có một ô tìm kiếm, còn trang chủ Lazada đầy banner tranh nhau thu hút, người dùng rất khó tập trung. Ví dụ thứ ba: đèn cảnh báo trên taplo ô tô – bình thường tắt, có sự cố mới sáng đỏ kèm tiếng bíp, kéo sự chú ý của tài xế đúng lúc cần.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Thứ hai là tri giác – cách ta thu nhận thông tin qua mắt, tai, ngón tay rồi biến nó thành trải nghiệm về đồ vật, âm thanh, sự kiện. Với người sáng mắt, thị giác chiếm ưu thế, sau đó mới đến thính giác và xúc giác. (Tri giác gắn với trí nhớ: ta hiểu biểu tượng thùng rác là “xóa” vì đã quen nhìn.) Và cách nhóm thông tin ảnh hưởng trực tiếp tốc độ nhận biết. Lời khuyên của sách: biểu tượng phải dễ phân biệt; dùng đường viền và khoảng trắng để nhóm thông tin; chữ phải rõ, tách khỏi nền – chữ vàng trên nền đen thì được, trên nền trắng thì không; âm thanh và cảm giác chạm cũng phải phân biệt được. Nhóm em thêm: đừng chỉ dùng màu để truyền đạt ý nghĩa, vì người mù màu sẽ không nhận ra.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Thứ hai là tri giác – cách ta thu nhận thông tin qua mắt, tai, ngón tay rồi biến nó thành trải nghiệm về đồ vật, âm thanh, sự kiện. Với người sáng mắt, thị giác chiếm ưu thế, sau đó mới đến thính giác và xúc giác. (Tri giác gắn với trí nhớ: ta hiểu biểu tượng thùng rác là “xóa” vì đã quen nhìn.) Và cách nhóm thông tin ảnh hưởng trực tiếp tốc độ nhận biết. Lời khuyên của sách: biểu tượng phải dễ phân biệt; dùng đường viền và khoảng trắng để nhóm thông tin; chữ phải rõ, tách khỏi nền – chữ vàng trên nền đen thì được, trên nền trắng thì không; âm thanh và cảm giác chạm cũng phải phân biệt được. Nhóm em thêm: đừng chỉ dùng màu để truyền đạt ý nghĩa, vì người mù màu sẽ không nhận ra.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Thứ hai là tri giác – cách ta thu nhận thông tin qua mắt, tai, ngón tay rồi biến nó thành trải nghiệm về đồ vật, âm thanh, sự kiện. Với người sáng mắt, thị giác chiếm ưu thế, sau đó mới đến thính giác và xúc giác. (Tri giác gắn với trí nhớ: ta hiểu biểu tượng thùng rác là “xóa” vì đã quen nhìn.) Và cách nhóm thông tin ảnh hưởng trực tiếp tốc độ nhận biết. Lời khuyên của sách: biểu tượng phải dễ phân biệt; dùng đường viền và khoảng trắng để nhóm thông tin; chữ phải rõ, tách khỏi nền – chữ vàng trên nền đen thì được, trên nền trắng thì không; âm thanh và cảm giác chạm cũng phải phân biệt được. Nhóm em thêm: đừng chỉ dùng màu để truyền đạt ý nghĩa, vì người mù màu sẽ không nhận ra.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một là nghiên cứu của Weller năm 2004 trong sách: cùng một danh sách, nhóm bằng đường viền giúp người dùng tìm nhanh hơn nhóm bằng màu nền xen kẽ. Ví dụ hai về độ tương phản: cùng dòng “Chuyến 18 giờ 30 – Cổng 12”, chữ vàng trên nền đen đọc được ngay, còn vàng trên trắng hay xám nhạt trên trắng thì gần như không đọc nổi. Ví dụ ba là gạch lát xúc giác: gờ thanh dài báo đi thẳng, gờ chấm tròn báo dừng lại – người khiếm thị cảm nhận bằng bàn chân và gậy. Bài học chung: tín hiệu phải rõ và dễ phân biệt với mọi giác quan.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một là nghiên cứu của Weller năm 2004 trong sách: cùng một danh sách, nhóm bằng đường viền giúp người dùng tìm nhanh hơn nhóm bằng màu nền xen kẽ. Ví dụ hai về độ tương phản: cùng dòng “Chuyến 18 giờ 30 – Cổng 12”, chữ vàng trên nền đen đọc được ngay, còn vàng trên trắng hay xám nhạt trên trắng thì gần như không đọc nổi. Ví dụ ba là gạch lát xúc giác: gờ thanh dài báo đi thẳng, gờ chấm tròn báo dừng lại – người khiếm thị cảm nhận bằng bàn chân và gậy. Bài học chung: tín hiệu phải rõ và dễ phân biệt với mọi giác quan.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một là nghiên cứu của Weller năm 2004 trong sách: cùng một danh sách, nhóm bằng đường viền giúp người dùng tìm nhanh hơn nhóm bằng màu nền xen kẽ. Ví dụ hai về độ tương phản: cùng dòng “Chuyến 18 giờ 30 – Cổng 12”, chữ vàng trên nền đen đọc được ngay, còn vàng trên trắng hay xám nhạt trên trắng thì gần như không đọc nổi. Ví dụ ba là gạch lát xúc giác: gờ thanh dài báo đi thẳng, gờ chấm tròn báo dừng lại – người khiếm thị cảm nhận bằng bàn chân và gậy. Bài học chung: tín hiệu phải rõ và dễ phân biệt với mọi giác quan.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một là nghiên cứu của Weller năm 2004 trong sách: cùng một danh sách, nhóm bằng đường viền giúp người dùng tìm nhanh hơn nhóm bằng màu nền xen kẽ. Ví dụ hai về độ tương phản: cùng dòng “Chuyến 18 giờ 30 – Cổng 12”, chữ vàng trên nền đen đọc được ngay, còn vàng trên trắng hay xám nhạt trên trắng thì gần như không đọc nổi. Ví dụ ba là gạch lát xúc giác: gờ thanh dài báo đi thẳng, gờ chấm tròn báo dừng lại – người khiếm thị cảm nhận bằng bàn chân và gậy. Bài học chung: tín hiệu phải rõ và dễ phân biệt với mọi giác quan.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Thứ ba là trí nhớ – khả năng gợi lại kiến thức để hành động đúng, như nhận ra một khuôn mặt hay nhớ tên một người. Trí nhớ gồm hai bước: mã hóa rồi truy xuất; càng chú ý và xử lý sâu thì càng nhớ lâu. Đặc điểm quan trọng nhất: nhận ra dễ hơn rất nhiều so với tự nhớ lại. Ta nhớ hình ảnh rất tốt, nhưng rất kém với thông tin tùy ý như ngày sinh hay số điện thoại. (Trí nhớ ngắn hạn cũng có giới hạn – con số bảy cộng trừ hai của Miller – nhưng sách lưu ý đừng áp dụng máy móc kiểu menu chỉ được bảy mục.) Lời khuyên: đừng bắt người dùng nhớ quy trình phức tạp; ưu tiên cho họ nhận ra bằng menu, biểu tượng, vị trí nhất quán; và cho nhiều cách mã hóa như màu, nhãn, thời gian. Nhóm em thêm: hãy để hệ thống nhớ thay người dùng.</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Thứ ba là trí nhớ – khả năng gợi lại kiến thức để hành động đúng, như nhận ra một khuôn mặt hay nhớ tên một người. Trí nhớ gồm hai bước: mã hóa rồi truy xuất; càng chú ý và xử lý sâu thì càng nhớ lâu. Đặc điểm quan trọng nhất: nhận ra dễ hơn rất nhiều so với tự nhớ lại. Ta nhớ hình ảnh rất tốt, nhưng rất kém với thông tin tùy ý như ngày sinh hay số điện thoại. (Trí nhớ ngắn hạn cũng có giới hạn – con số bảy cộng trừ hai của Miller – nhưng sách lưu ý đừng áp dụng máy móc kiểu menu chỉ được bảy mục.) Lời khuyên: đừng bắt người dùng nhớ quy trình phức tạp; ưu tiên cho họ nhận ra bằng menu, biểu tượng, vị trí nhất quán; và cho nhiều cách mã hóa như màu, nhãn, thời gian. Nhóm em thêm: hãy để hệ thống nhớ thay người dùng.</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Thứ ba là trí nhớ – khả năng gợi lại kiến thức để hành động đúng, như nhận ra một khuôn mặt hay nhớ tên một người. Trí nhớ gồm hai bước: mã hóa rồi truy xuất; càng chú ý và xử lý sâu thì càng nhớ lâu. Đặc điểm quan trọng nhất: nhận ra dễ hơn rất nhiều so với tự nhớ lại. Ta nhớ hình ảnh rất tốt, nhưng rất kém với thông tin tùy ý như ngày sinh hay số điện thoại. (Trí nhớ ngắn hạn cũng có giới hạn – con số bảy cộng trừ hai của Miller – nhưng sách lưu ý đừng áp dụng máy móc kiểu menu chỉ được bảy mục.) Lời khuyên: đừng bắt người dùng nhớ quy trình phức tạp; ưu tiên cho họ nhận ra bằng menu, biểu tượng, vị trí nhất quán; và cho nhiều cách mã hóa như màu, nhãn, thời gian. Nhóm em thêm: hãy để hệ thống nhớ thay người dùng.</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một, giống slide bài giảng: giao diện dòng lệnh bắt người dùng nhớ lại đúng tên lệnh, còn giao diện đồ họa chỉ cần nhìn và nhận ra thư mục. Ví dụ hai là công cụ Spotlight trong sách: gõ một phần tên, kết quả hiện ra theo nhóm kèm biểu tượng – nhớ một phần rồi quét để nhận ra. Ví dụ ba: app ngân hàng nhớ sẵn tài khoản, cho đăng nhập bằng vân tay, mã OTP được bàn phím gợi ý sẵn – người dùng không phải nhớ những dãy số vô nghĩa nữa.</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một, giống slide bài giảng: giao diện dòng lệnh bắt người dùng nhớ lại đúng tên lệnh, còn giao diện đồ họa chỉ cần nhìn và nhận ra thư mục. Ví dụ hai là công cụ Spotlight trong sách: gõ một phần tên, kết quả hiện ra theo nhóm kèm biểu tượng – nhớ một phần rồi quét để nhận ra. Ví dụ ba: app ngân hàng nhớ sẵn tài khoản, cho đăng nhập bằng vân tay, mã OTP được bàn phím gợi ý sẵn – người dùng không phải nhớ những dãy số vô nghĩa nữa.</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một, giống slide bài giảng: giao diện dòng lệnh bắt người dùng nhớ lại đúng tên lệnh, còn giao diện đồ họa chỉ cần nhìn và nhận ra thư mục. Ví dụ hai là công cụ Spotlight trong sách: gõ một phần tên, kết quả hiện ra theo nhóm kèm biểu tượng – nhớ một phần rồi quét để nhận ra. Ví dụ ba: app ngân hàng nhớ sẵn tài khoản, cho đăng nhập bằng vân tay, mã OTP được bàn phím gợi ý sẵn – người dùng không phải nhớ những dãy số vô nghĩa nữa.</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một, giống slide bài giảng: giao diện dòng lệnh bắt người dùng nhớ lại đúng tên lệnh, còn giao diện đồ họa chỉ cần nhìn và nhận ra thư mục. Ví dụ hai là công cụ Spotlight trong sách: gõ một phần tên, kết quả hiện ra theo nhóm kèm biểu tượng – nhớ một phần rồi quét để nhận ra. Ví dụ ba: app ngân hàng nhớ sẵn tài khoản, cho đăng nhập bằng vân tay, mã OTP được bàn phím gợi ý sẵn – người dùng không phải nhớ những dãy số vô nghĩa nữa.</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một, giống slide bài giảng: giao diện dòng lệnh bắt người dùng nhớ lại đúng tên lệnh, còn giao diện đồ họa chỉ cần nhìn và nhận ra thư mục. Ví dụ hai là công cụ Spotlight trong sách: gõ một phần tên, kết quả hiện ra theo nhóm kèm biểu tượng – nhớ một phần rồi quét để nhận ra. Ví dụ ba: app ngân hàng nhớ sẵn tài khoản, cho đăng nhập bằng vân tay, mã OTP được bàn phím gợi ý sẵn – người dùng không phải nhớ những dãy số vô nghĩa nữa.</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Thứ tư là học. Sách nhận xét: con người rất ngại học bằng sách hướng dẫn mà thích học qua làm. Học ở đây có hai nghĩa: học cách dùng một ứng dụng, và dùng ứng dụng để hiểu một chủ đề. Muốn dám khám phá thì người học cần môi trường an toàn – sai thì hoàn tác được. Họ cũng hiểu sâu hơn khi các cách biểu diễn được liên kết với nhau, gọi là liên kết động. (Ngoài ra, Internet và điện thoại giờ như một “trí não nối dài”.) Lời khuyên của sách: khuyến khích khám phá; ràng buộc và dẫn dắt người mới chọn đúng thao tác; liên kết cái cụ thể với khái niệm trừu tượng. Nhóm em thêm: hướng dẫn nên ngắn, đúng lúc và luôn cho phép bỏ qua.</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Thứ tư là học. Sách nhận xét: con người rất ngại học bằng sách hướng dẫn mà thích học qua làm. Học ở đây có hai nghĩa: học cách dùng một ứng dụng, và dùng ứng dụng để hiểu một chủ đề. Muốn dám khám phá thì người học cần môi trường an toàn – sai thì hoàn tác được. Họ cũng hiểu sâu hơn khi các cách biểu diễn được liên kết với nhau, gọi là liên kết động. (Ngoài ra, Internet và điện thoại giờ như một “trí não nối dài”.) Lời khuyên của sách: khuyến khích khám phá; ràng buộc và dẫn dắt người mới chọn đúng thao tác; liên kết cái cụ thể với khái niệm trừu tượng. Nhóm em thêm: hướng dẫn nên ngắn, đúng lúc và luôn cho phép bỏ qua.</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Thứ tư là học. Sách nhận xét: con người rất ngại học bằng sách hướng dẫn mà thích học qua làm. Học ở đây có hai nghĩa: học cách dùng một ứng dụng, và dùng ứng dụng để hiểu một chủ đề. Muốn dám khám phá thì người học cần môi trường an toàn – sai thì hoàn tác được. Họ cũng hiểu sâu hơn khi các cách biểu diễn được liên kết với nhau, gọi là liên kết động. (Ngoài ra, Internet và điện thoại giờ như một “trí não nối dài”.) Lời khuyên của sách: khuyến khích khám phá; ràng buộc và dẫn dắt người mới chọn đúng thao tác; liên kết cái cụ thể với khái niệm trừu tượng. Nhóm em thêm: hướng dẫn nên ngắn, đúng lúc và luôn cho phép bỏ qua.</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một là phần mềm Pondworld trong sách: mô phỏng một cái ao có cá, nòng nọc, rong, được liên kết với sơ đồ chuỗi thức ăn – con vật này ăn con kia là sơ đồ cập nhật theo, nên trẻ hiểu khái niệm trừu tượng rất nhanh. Ví dụ hai: nút “Hoàn tác” của Gmail hay “Thu hồi” của Zalo – biết mình sửa sai được thì người dùng mới dám thử. Ví dụ ba: mở tài khoản ngân hàng online – từng bước có thanh tiến trình, nút “Tiếp tục” bị khóa cho đến khi chụp đủ căn cước, người mới gần như không thể làm sai.</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một là phần mềm Pondworld trong sách: mô phỏng một cái ao có cá, nòng nọc, rong, được liên kết với sơ đồ chuỗi thức ăn – con vật này ăn con kia là sơ đồ cập nhật theo, nên trẻ hiểu khái niệm trừu tượng rất nhanh. Ví dụ hai: nút “Hoàn tác” của Gmail hay “Thu hồi” của Zalo – biết mình sửa sai được thì người dùng mới dám thử. Ví dụ ba: mở tài khoản ngân hàng online – từng bước có thanh tiến trình, nút “Tiếp tục” bị khóa cho đến khi chụp đủ căn cước, người mới gần như không thể làm sai.</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một là phần mềm Pondworld trong sách: mô phỏng một cái ao có cá, nòng nọc, rong, được liên kết với sơ đồ chuỗi thức ăn – con vật này ăn con kia là sơ đồ cập nhật theo, nên trẻ hiểu khái niệm trừu tượng rất nhanh. Ví dụ hai: nút “Hoàn tác” của Gmail hay “Thu hồi” của Zalo – biết mình sửa sai được thì người dùng mới dám thử. Ví dụ ba: mở tài khoản ngân hàng online – từng bước có thanh tiến trình, nút “Tiếp tục” bị khóa cho đến khi chụp đủ căn cước, người mới gần như không thể làm sai.</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một là phần mềm Pondworld trong sách: mô phỏng một cái ao có cá, nòng nọc, rong, được liên kết với sơ đồ chuỗi thức ăn – con vật này ăn con kia là sơ đồ cập nhật theo, nên trẻ hiểu khái niệm trừu tượng rất nhanh. Ví dụ hai: nút “Hoàn tác” của Gmail hay “Thu hồi” của Zalo – biết mình sửa sai được thì người dùng mới dám thử. Ví dụ ba: mở tài khoản ngân hàng online – từng bước có thanh tiến trình, nút “Tiếp tục” bị khóa cho đến khi chụp đủ căn cước, người mới gần như không thể làm sai.</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một là phần mềm Pondworld trong sách: mô phỏng một cái ao có cá, nòng nọc, rong, được liên kết với sơ đồ chuỗi thức ăn – con vật này ăn con kia là sơ đồ cập nhật theo, nên trẻ hiểu khái niệm trừu tượng rất nhanh. Ví dụ hai: nút “Hoàn tác” của Gmail hay “Thu hồi” của Zalo – biết mình sửa sai được thì người dùng mới dám thử. Ví dụ ba: mở tài khoản ngân hàng online – từng bước có thanh tiến trình, nút “Tiếp tục” bị khóa cho đến khi chụp đủ căn cước, người mới gần như không thể làm sai.</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Thứ năm là đọc, nghe và nói – ba hình thức xử lý ngôn ngữ. Cùng một câu thì ý nghĩa như nhau, nhưng độ dễ lại khác. Chữ viết thì bền vững, đọc lại được; lời nói thì thoáng qua, nghe xong là mất. Đọc lướt nhanh hơn nghe, nhưng nghe lại ít tốn sức hơn. (Văn nói thường không đúng ngữ pháp, còn người mắc chứng khó đọc gặp trở ngại lớn với chữ viết.) Vì vậy sách khuyên: menu và chỉ dẫn bằng giọng nói phải thật ngắn – quá ba, bốn lựa chọn là người nghe không theo kịp; giọng máy cần nhấn ngữ điệu; và phải cho phóng to chữ mà không vỡ bố cục. Nhóm em thêm: nên có song song cả chữ và âm thanh, ví dụ phụ đề.</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Thứ năm là đọc, nghe và nói – ba hình thức xử lý ngôn ngữ. Cùng một câu thì ý nghĩa như nhau, nhưng độ dễ lại khác. Chữ viết thì bền vững, đọc lại được; lời nói thì thoáng qua, nghe xong là mất. Đọc lướt nhanh hơn nghe, nhưng nghe lại ít tốn sức hơn. (Văn nói thường không đúng ngữ pháp, còn người mắc chứng khó đọc gặp trở ngại lớn với chữ viết.) Vì vậy sách khuyên: menu và chỉ dẫn bằng giọng nói phải thật ngắn – quá ba, bốn lựa chọn là người nghe không theo kịp; giọng máy cần nhấn ngữ điệu; và phải cho phóng to chữ mà không vỡ bố cục. Nhóm em thêm: nên có song song cả chữ và âm thanh, ví dụ phụ đề.</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Thứ năm là đọc, nghe và nói – ba hình thức xử lý ngôn ngữ. Cùng một câu thì ý nghĩa như nhau, nhưng độ dễ lại khác. Chữ viết thì bền vững, đọc lại được; lời nói thì thoáng qua, nghe xong là mất. Đọc lướt nhanh hơn nghe, nhưng nghe lại ít tốn sức hơn. (Văn nói thường không đúng ngữ pháp, còn người mắc chứng khó đọc gặp trở ngại lớn với chữ viết.) Vì vậy sách khuyên: menu và chỉ dẫn bằng giọng nói phải thật ngắn – quá ba, bốn lựa chọn là người nghe không theo kịp; giọng máy cần nhấn ngữ điệu; và phải cho phóng to chữ mà không vỡ bố cục. Nhóm em thêm: nên có song song cả chữ và âm thanh, ví dụ phụ đề.</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một là nghiên cứu của Weller năm 2004 trong sách: cùng một danh sách, nhóm bằng đường viền giúp người dùng tìm nhanh hơn nhóm bằng màu nền xen kẽ. Ví dụ hai về độ tương phản: cùng dòng “Chuyến 18 giờ 30 – Cổng 12”, chữ vàng trên nền đen đọc được ngay, còn vàng trên trắng hay xám nhạt trên trắng thì gần như không đọc nổi. Ví dụ ba là gạch lát xúc giác: gờ thanh dài báo đi thẳng, gờ chấm tròn báo dừng lại – người khiếm thị cảm nhận bằng bàn chân và gậy. Bài học chung: tín hiệu phải rõ và dễ phân biệt với mọi giác quan.</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một là nghiên cứu của Weller năm 2004 trong sách: cùng một danh sách, nhóm bằng đường viền giúp người dùng tìm nhanh hơn nhóm bằng màu nền xen kẽ. Ví dụ hai về độ tương phản: cùng dòng “Chuyến 18 giờ 30 – Cổng 12”, chữ vàng trên nền đen đọc được ngay, còn vàng trên trắng hay xám nhạt trên trắng thì gần như không đọc nổi. Ví dụ ba là gạch lát xúc giác: gờ thanh dài báo đi thẳng, gờ chấm tròn báo dừng lại – người khiếm thị cảm nhận bằng bàn chân và gậy. Bài học chung: tín hiệu phải rõ và dễ phân biệt với mọi giác quan.</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một là nghiên cứu của Weller năm 2004 trong sách: cùng một danh sách, nhóm bằng đường viền giúp người dùng tìm nhanh hơn nhóm bằng màu nền xen kẽ. Ví dụ hai về độ tương phản: cùng dòng “Chuyến 18 giờ 30 – Cổng 12”, chữ vàng trên nền đen đọc được ngay, còn vàng trên trắng hay xám nhạt trên trắng thì gần như không đọc nổi. Ví dụ ba là gạch lát xúc giác: gờ thanh dài báo đi thẳng, gờ chấm tròn báo dừng lại – người khiếm thị cảm nhận bằng bàn chân và gậy. Bài học chung: tín hiệu phải rõ và dễ phân biệt với mọi giác quan.</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Cuối cùng là giải quyết vấn đề, lập kế hoạch, lập luận và ra quyết định. Sách xếp các quá trình này vào nhận thức phản tư: phải nghĩ nên làm gì, có những lựa chọn nào và hệ quả ra sao. (Chúng tốn nỗ lực, thường cần đến công cụ như bản đồ, giấy bút, hoặc hỏi ý kiến người khác.) Điểm thú vị là khi quá tải thông tin, con người không cân nhắc hết mà dùng “lối tắt”: vào siêu thị, ta chọn thương hiệu quen, giá rẻ, bao bì đẹp. Vì thế sách khuyên: thông tin nâng cao nên ẩn đi nhưng dễ tìm; công cụ hỗ trợ quyết định khi đang di chuyển phải đơn giản, dễ nhớ. Nhóm em thêm: chỉ làm nổi bật vài thông tin then chốt và hỗ trợ lọc, so sánh.</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Cuối cùng là giải quyết vấn đề, lập kế hoạch, lập luận và ra quyết định. Sách xếp các quá trình này vào nhận thức phản tư: phải nghĩ nên làm gì, có những lựa chọn nào và hệ quả ra sao. (Chúng tốn nỗ lực, thường cần đến công cụ như bản đồ, giấy bút, hoặc hỏi ý kiến người khác.) Điểm thú vị là khi quá tải thông tin, con người không cân nhắc hết mà dùng “lối tắt”: vào siêu thị, ta chọn thương hiệu quen, giá rẻ, bao bì đẹp. Vì thế sách khuyên: thông tin nâng cao nên ẩn đi nhưng dễ tìm; công cụ hỗ trợ quyết định khi đang di chuyển phải đơn giản, dễ nhớ. Nhóm em thêm: chỉ làm nổi bật vài thông tin then chốt và hỗ trợ lọc, so sánh.</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Cuối cùng là giải quyết vấn đề, lập kế hoạch, lập luận và ra quyết định. Sách xếp các quá trình này vào nhận thức phản tư: phải nghĩ nên làm gì, có những lựa chọn nào và hệ quả ra sao. (Chúng tốn nỗ lực, thường cần đến công cụ như bản đồ, giấy bút, hoặc hỏi ý kiến người khác.) Điểm thú vị là khi quá tải thông tin, con người không cân nhắc hết mà dùng “lối tắt”: vào siêu thị, ta chọn thương hiệu quen, giá rẻ, bao bì đẹp. Vì thế sách khuyên: thông tin nâng cao nên ẩn đi nhưng dễ tìm; công cụ hỗ trợ quyết định khi đang di chuyển phải đơn giản, dễ nhớ. Nhóm em thêm: chỉ làm nổi bật vài thông tin then chốt và hỗ trợ lọc, so sánh.</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một là nghiên cứu của Weller năm 2004 trong sách: cùng một danh sách, nhóm bằng đường viền giúp người dùng tìm nhanh hơn nhóm bằng màu nền xen kẽ. Ví dụ hai về độ tương phản: cùng dòng “Chuyến 18 giờ 30 – Cổng 12”, chữ vàng trên nền đen đọc được ngay, còn vàng trên trắng hay xám nhạt trên trắng thì gần như không đọc nổi. Ví dụ ba là gạch lát xúc giác: gờ thanh dài báo đi thẳng, gờ chấm tròn báo dừng lại – người khiếm thị cảm nhận bằng bàn chân và gậy. Bài học chung: tín hiệu phải rõ và dễ phân biệt với mọi giác quan.</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một là nghiên cứu của Weller năm 2004 trong sách: cùng một danh sách, nhóm bằng đường viền giúp người dùng tìm nhanh hơn nhóm bằng màu nền xen kẽ. Ví dụ hai về độ tương phản: cùng dòng “Chuyến 18 giờ 30 – Cổng 12”, chữ vàng trên nền đen đọc được ngay, còn vàng trên trắng hay xám nhạt trên trắng thì gần như không đọc nổi. Ví dụ ba là gạch lát xúc giác: gờ thanh dài báo đi thẳng, gờ chấm tròn báo dừng lại – người khiếm thị cảm nhận bằng bàn chân và gậy. Bài học chung: tín hiệu phải rõ và dễ phân biệt với mọi giác quan.</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một là nghiên cứu của Weller năm 2004 trong sách: cùng một danh sách, nhóm bằng đường viền giúp người dùng tìm nhanh hơn nhóm bằng màu nền xen kẽ. Ví dụ hai về độ tương phản: cùng dòng “Chuyến 18 giờ 30 – Cổng 12”, chữ vàng trên nền đen đọc được ngay, còn vàng trên trắng hay xám nhạt trên trắng thì gần như không đọc nổi. Ví dụ ba là gạch lát xúc giác: gờ thanh dài báo đi thẳng, gờ chấm tròn báo dừng lại – người khiếm thị cảm nhận bằng bàn chân và gậy. Bài học chung: tín hiệu phải rõ và dễ phân biệt với mọi giác quan.</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trình bày của nhóm em đến đây là hết. Em cảm ơn thầy cô và các bạn đã lắng nghe, mời mọi người đặt câu hỏi và góp ý.</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IUH – Bìa">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IUH – Nội dung">
    <p:bg>
      <p:bgPr>
        <a:solidFill>
          <a:srgbClr val="17212B"/>
        </a:solidFill>
        <a:effectLst/>
      </p:bgPr>
    </p:bg>
    <p:spTree>
      <p:nvGrpSpPr>
        <p:cNvPr id="1" name=""/>
        <p:cNvGrpSpPr/>
        <p:nvPr/>
      </p:nvGrpSpPr>
      <p:grpSpPr>
        <a:xfrm>
          <a:off x="0" y="0"/>
          <a:ext cx="0" cy="0"/>
          <a:chOff x="0" y="0"/>
          <a:chExt cx="0" cy="0"/>
        </a:xfrm>
      </p:grpSpPr>
      <p:sp>
        <p:nvSpPr>
          <p:cNvPr id="2" name="Shape 0"/>
          <p:cNvSpPr/>
          <p:nvPr/>
        </p:nvSpPr>
        <p:spPr>
          <a:xfrm>
            <a:off x="457200" y="365760"/>
            <a:ext cx="384048" cy="54864"/>
          </a:xfrm>
          <a:prstGeom prst="rect">
            <a:avLst/>
          </a:prstGeom>
          <a:solidFill>
            <a:srgbClr val="F4B336"/>
          </a:solidFill>
          <a:ln w="12700">
            <a:solidFill>
              <a:srgbClr val="F4B336"/>
            </a:solidFill>
            <a:prstDash val="solid"/>
          </a:ln>
        </p:spPr>
      </p:sp>
      <p:sp>
        <p:nvSpPr>
          <p:cNvPr id="3" name="Text 1"/>
          <p:cNvSpPr>
            <a:spLocks noGrp="1"/>
          </p:cNvSpPr>
          <p:nvPr>
            <p:ph type="title" idx="101" hasCustomPrompt="1"/>
          </p:nvPr>
        </p:nvSpPr>
        <p:spPr>
          <a:xfrm>
            <a:off x="457200" y="512064"/>
            <a:ext cx="11277295" cy="512064"/>
          </a:xfrm>
          <a:prstGeom prst="rect">
            <a:avLst/>
          </a:prstGeom>
          <a:noFill/>
          <a:ln/>
        </p:spPr>
        <p:txBody>
          <a:bodyPr wrap="square" rtlCol="0"/>
          <a:lstStyle>
            <a:lvl1pPr marL="0" indent="0" algn="l">
              <a:buNone/>
              <a:defRPr lang="en-US" sz="2800" b="1" dirty="0">
                <a:solidFill>
                  <a:srgbClr val="FFFFFF"/>
                </a:solidFill>
              </a:defRPr>
            </a:lvl1pPr>
          </a:lstStyle>
          <a:p>
            <a:pPr marL="0" indent="0" algn="l">
              <a:buNone/>
            </a:pPr>
            <a:endParaRPr lang="en-US" sz="2800" dirty="0"/>
          </a:p>
        </p:txBody>
      </p:sp>
      <p:sp>
        <p:nvSpPr>
          <p:cNvPr id="4" name="Shape 1"/>
          <p:cNvSpPr/>
          <p:nvPr/>
        </p:nvSpPr>
        <p:spPr>
          <a:xfrm>
            <a:off x="457200" y="6400800"/>
            <a:ext cx="11277295" cy="0"/>
          </a:xfrm>
          <a:prstGeom prst="line">
            <a:avLst/>
          </a:prstGeom>
          <a:noFill/>
          <a:ln w="9525">
            <a:solidFill>
              <a:srgbClr val="1677B8"/>
            </a:solidFill>
            <a:prstDash val="solid"/>
          </a:ln>
        </p:spPr>
      </p:sp>
      <p:sp>
        <p:nvSpPr>
          <p:cNvPr id="5" name="Text 2"/>
          <p:cNvSpPr/>
          <p:nvPr/>
        </p:nvSpPr>
        <p:spPr>
          <a:xfrm>
            <a:off x="457200" y="6455664"/>
            <a:ext cx="7315200" cy="237744"/>
          </a:xfrm>
          <a:prstGeom prst="rect">
            <a:avLst/>
          </a:prstGeom>
          <a:noFill/>
          <a:ln/>
        </p:spPr>
        <p:txBody>
          <a:bodyPr wrap="square" lIns="0" tIns="0" rIns="0" bIns="0" rtlCol="0" anchor="ctr"/>
          <a:lstStyle/>
          <a:p>
            <a:pPr marL="0" indent="0">
              <a:buNone/>
            </a:pPr>
            <a:r>
              <a:rPr lang="en-US" sz="900" dirty="0">
                <a:solidFill>
                  <a:srgbClr val="DFE5EC"/>
                </a:solidFill>
              </a:rPr>
              <a:t>Tương tác Người – Máy | IUH 2026–2027</a:t>
            </a:r>
            <a:endParaRPr lang="en-US" sz="9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IUH – Lý thuyết (Type A)">
    <p:bg>
      <p:bgPr>
        <a:solidFill>
          <a:srgbClr val="062F5C"/>
        </a:solidFill>
        <a:effectLst/>
      </p:bgPr>
    </p:bg>
    <p:spTree>
      <p:nvGrpSpPr>
        <p:cNvPr id="1" name=""/>
        <p:cNvGrpSpPr/>
        <p:nvPr/>
      </p:nvGrpSpPr>
      <p:grpSpPr>
        <a:xfrm>
          <a:off x="0" y="0"/>
          <a:ext cx="0" cy="0"/>
          <a:chOff x="0" y="0"/>
          <a:chExt cx="0" cy="0"/>
        </a:xfrm>
      </p:grpSpPr>
      <p:sp>
        <p:nvSpPr>
          <p:cNvPr id="2" name="Shape 0"/>
          <p:cNvSpPr/>
          <p:nvPr/>
        </p:nvSpPr>
        <p:spPr>
          <a:xfrm>
            <a:off x="457200" y="365760"/>
            <a:ext cx="384048" cy="54864"/>
          </a:xfrm>
          <a:prstGeom prst="rect">
            <a:avLst/>
          </a:prstGeom>
          <a:solidFill>
            <a:srgbClr val="F4B336"/>
          </a:solidFill>
          <a:ln w="12700">
            <a:solidFill>
              <a:srgbClr val="F4B336"/>
            </a:solidFill>
            <a:prstDash val="solid"/>
          </a:ln>
        </p:spPr>
      </p:sp>
      <p:sp>
        <p:nvSpPr>
          <p:cNvPr id="3" name="Text 1"/>
          <p:cNvSpPr>
            <a:spLocks noGrp="1"/>
          </p:cNvSpPr>
          <p:nvPr>
            <p:ph type="title" idx="101" hasCustomPrompt="1"/>
          </p:nvPr>
        </p:nvSpPr>
        <p:spPr>
          <a:xfrm>
            <a:off x="457200" y="512064"/>
            <a:ext cx="11277295" cy="512064"/>
          </a:xfrm>
          <a:prstGeom prst="rect">
            <a:avLst/>
          </a:prstGeom>
          <a:noFill/>
          <a:ln/>
        </p:spPr>
        <p:txBody>
          <a:bodyPr wrap="square" rtlCol="0"/>
          <a:lstStyle>
            <a:lvl1pPr marL="0" indent="0" algn="l">
              <a:buNone/>
              <a:defRPr lang="en-US" sz="2800" b="1" dirty="0">
                <a:solidFill>
                  <a:srgbClr val="FFFFFF"/>
                </a:solidFill>
              </a:defRPr>
            </a:lvl1pPr>
          </a:lstStyle>
          <a:p>
            <a:pPr marL="0" indent="0" algn="l">
              <a:buNone/>
            </a:pPr>
            <a:endParaRPr lang="en-US" sz="2800" dirty="0"/>
          </a:p>
        </p:txBody>
      </p:sp>
      <p:sp>
        <p:nvSpPr>
          <p:cNvPr id="4" name="Shape 1"/>
          <p:cNvSpPr/>
          <p:nvPr/>
        </p:nvSpPr>
        <p:spPr>
          <a:xfrm>
            <a:off x="457200" y="6400800"/>
            <a:ext cx="11277295" cy="0"/>
          </a:xfrm>
          <a:prstGeom prst="line">
            <a:avLst/>
          </a:prstGeom>
          <a:noFill/>
          <a:ln w="9525">
            <a:solidFill>
              <a:srgbClr val="1677B8"/>
            </a:solidFill>
            <a:prstDash val="solid"/>
          </a:ln>
        </p:spPr>
      </p:sp>
      <p:sp>
        <p:nvSpPr>
          <p:cNvPr id="5" name="Text 2"/>
          <p:cNvSpPr/>
          <p:nvPr/>
        </p:nvSpPr>
        <p:spPr>
          <a:xfrm>
            <a:off x="457200" y="6455664"/>
            <a:ext cx="7315200" cy="237744"/>
          </a:xfrm>
          <a:prstGeom prst="rect">
            <a:avLst/>
          </a:prstGeom>
          <a:noFill/>
          <a:ln/>
        </p:spPr>
        <p:txBody>
          <a:bodyPr wrap="square" lIns="0" tIns="0" rIns="0" bIns="0" rtlCol="0" anchor="ctr"/>
          <a:lstStyle/>
          <a:p>
            <a:pPr marL="0" indent="0">
              <a:buNone/>
            </a:pPr>
            <a:r>
              <a:rPr lang="en-US" sz="900" dirty="0">
                <a:solidFill>
                  <a:srgbClr val="DFE5EC"/>
                </a:solidFill>
              </a:rPr>
              <a:t>Tương tác Người – Máy | IUH 2026–2027</a:t>
            </a:r>
            <a:endParaRPr lang="en-US" sz="9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IUH – Ví dụ (Type B)">
    <p:bg>
      <p:bgPr>
        <a:solidFill>
          <a:srgbClr val="073B6F"/>
        </a:solidFill>
        <a:effectLst/>
      </p:bgPr>
    </p:bg>
    <p:spTree>
      <p:nvGrpSpPr>
        <p:cNvPr id="1" name=""/>
        <p:cNvGrpSpPr/>
        <p:nvPr/>
      </p:nvGrpSpPr>
      <p:grpSpPr>
        <a:xfrm>
          <a:off x="0" y="0"/>
          <a:ext cx="0" cy="0"/>
          <a:chOff x="0" y="0"/>
          <a:chExt cx="0" cy="0"/>
        </a:xfrm>
      </p:grpSpPr>
      <p:sp>
        <p:nvSpPr>
          <p:cNvPr id="2" name="Shape 0"/>
          <p:cNvSpPr/>
          <p:nvPr/>
        </p:nvSpPr>
        <p:spPr>
          <a:xfrm>
            <a:off x="457200" y="365760"/>
            <a:ext cx="384048" cy="54864"/>
          </a:xfrm>
          <a:prstGeom prst="rect">
            <a:avLst/>
          </a:prstGeom>
          <a:solidFill>
            <a:srgbClr val="F4B336"/>
          </a:solidFill>
          <a:ln w="12700">
            <a:solidFill>
              <a:srgbClr val="F4B336"/>
            </a:solidFill>
            <a:prstDash val="solid"/>
          </a:ln>
        </p:spPr>
      </p:sp>
      <p:sp>
        <p:nvSpPr>
          <p:cNvPr id="3" name="Text 1"/>
          <p:cNvSpPr>
            <a:spLocks noGrp="1"/>
          </p:cNvSpPr>
          <p:nvPr>
            <p:ph type="title" idx="101" hasCustomPrompt="1"/>
          </p:nvPr>
        </p:nvSpPr>
        <p:spPr>
          <a:xfrm>
            <a:off x="457200" y="512064"/>
            <a:ext cx="11277295" cy="512064"/>
          </a:xfrm>
          <a:prstGeom prst="rect">
            <a:avLst/>
          </a:prstGeom>
          <a:noFill/>
          <a:ln/>
        </p:spPr>
        <p:txBody>
          <a:bodyPr wrap="square" rtlCol="0"/>
          <a:lstStyle>
            <a:lvl1pPr marL="0" indent="0" algn="l">
              <a:buNone/>
              <a:defRPr lang="en-US" sz="2800" b="1" dirty="0">
                <a:solidFill>
                  <a:srgbClr val="FFFFFF"/>
                </a:solidFill>
              </a:defRPr>
            </a:lvl1pPr>
          </a:lstStyle>
          <a:p>
            <a:pPr marL="0" indent="0" algn="l">
              <a:buNone/>
            </a:pPr>
            <a:endParaRPr lang="en-US" sz="2800" dirty="0"/>
          </a:p>
        </p:txBody>
      </p:sp>
      <p:sp>
        <p:nvSpPr>
          <p:cNvPr id="4" name="Shape 1"/>
          <p:cNvSpPr/>
          <p:nvPr/>
        </p:nvSpPr>
        <p:spPr>
          <a:xfrm>
            <a:off x="457200" y="6400800"/>
            <a:ext cx="11277295" cy="0"/>
          </a:xfrm>
          <a:prstGeom prst="line">
            <a:avLst/>
          </a:prstGeom>
          <a:noFill/>
          <a:ln w="9525">
            <a:solidFill>
              <a:srgbClr val="1677B8"/>
            </a:solidFill>
            <a:prstDash val="solid"/>
          </a:ln>
        </p:spPr>
      </p:sp>
      <p:sp>
        <p:nvSpPr>
          <p:cNvPr id="5" name="Text 2"/>
          <p:cNvSpPr/>
          <p:nvPr/>
        </p:nvSpPr>
        <p:spPr>
          <a:xfrm>
            <a:off x="457200" y="6455664"/>
            <a:ext cx="7315200" cy="237744"/>
          </a:xfrm>
          <a:prstGeom prst="rect">
            <a:avLst/>
          </a:prstGeom>
          <a:noFill/>
          <a:ln/>
        </p:spPr>
        <p:txBody>
          <a:bodyPr wrap="square" lIns="0" tIns="0" rIns="0" bIns="0" rtlCol="0" anchor="ctr"/>
          <a:lstStyle/>
          <a:p>
            <a:pPr marL="0" indent="0">
              <a:buNone/>
            </a:pPr>
            <a:r>
              <a:rPr lang="en-US" sz="900" dirty="0">
                <a:solidFill>
                  <a:srgbClr val="DFE5EC"/>
                </a:solidFill>
              </a:rPr>
              <a:t>Tương tác Người – Máy | IUH 2026–2027</a:t>
            </a:r>
            <a:endParaRPr lang="en-US" sz="90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IUH – Trơn">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457200" y="6400800"/>
            <a:ext cx="11277295" cy="0"/>
          </a:xfrm>
          <a:prstGeom prst="line">
            <a:avLst/>
          </a:prstGeom>
          <a:noFill/>
          <a:ln w="9525">
            <a:solidFill>
              <a:srgbClr val="DFE5EC"/>
            </a:solidFill>
            <a:prstDash val="solid"/>
          </a:ln>
        </p:spPr>
      </p:sp>
      <p:sp>
        <p:nvSpPr>
          <p:cNvPr id="3" name="Text 1"/>
          <p:cNvSpPr/>
          <p:nvPr/>
        </p:nvSpPr>
        <p:spPr>
          <a:xfrm>
            <a:off x="457200" y="6455664"/>
            <a:ext cx="7315200" cy="237744"/>
          </a:xfrm>
          <a:prstGeom prst="rect">
            <a:avLst/>
          </a:prstGeom>
          <a:noFill/>
          <a:ln/>
        </p:spPr>
        <p:txBody>
          <a:bodyPr wrap="square" lIns="0" tIns="0" rIns="0" bIns="0" rtlCol="0" anchor="ctr"/>
          <a:lstStyle/>
          <a:p>
            <a:pPr marL="0" indent="0">
              <a:buNone/>
            </a:pPr>
            <a:r>
              <a:rPr lang="en-US" sz="900" dirty="0">
                <a:solidFill>
                  <a:srgbClr val="073B6F"/>
                </a:solidFill>
              </a:rPr>
              <a:t>Tương tác Người – Máy | IUH 2026–2027</a:t>
            </a:r>
            <a:endParaRPr lang="en-US" sz="900"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IUH – Nền tối">
    <p:bg>
      <p:bgPr>
        <a:solidFill>
          <a:srgbClr val="062F5C"/>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 id="2147483660" r:id="rId4"/>
    <p:sldLayoutId id="2147483661" r:id="rId5"/>
    <p:sldLayoutId id="2147483662" r:id="rId6"/>
    <p:sldLayoutId id="2147483663"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Nền bìa IUH: logo Industrial University of Ho Chi Minh City và ảnh khuôn viên trường"/>
          <p:cNvPicPr>
            <a:picLocks noChangeAspect="1"/>
          </p:cNvPicPr>
          <p:nvPr/>
        </p:nvPicPr>
        <p:blipFill>
          <a:blip r:embed="rId3"/>
          <a:stretch>
            <a:fillRect/>
          </a:stretch>
        </p:blipFill>
        <p:spPr>
          <a:xfrm>
            <a:off x="-26757" y="0"/>
            <a:ext cx="12191695" cy="6858000"/>
          </a:xfrm>
          <a:prstGeom prst="rect">
            <a:avLst/>
          </a:prstGeom>
        </p:spPr>
      </p:pic>
      <p:sp>
        <p:nvSpPr>
          <p:cNvPr id="11" name="Title card"/>
          <p:cNvSpPr/>
          <p:nvPr/>
        </p:nvSpPr>
        <p:spPr>
          <a:xfrm>
            <a:off x="416634" y="1582194"/>
            <a:ext cx="6614086" cy="5050099"/>
          </a:xfrm>
          <a:prstGeom prst="roundRect">
            <a:avLst>
              <a:gd name="adj" fmla="val 1500"/>
            </a:avLst>
          </a:prstGeom>
          <a:solidFill>
            <a:schemeClr val="tx1">
              <a:lumMod val="10000"/>
              <a:lumOff val="90000"/>
            </a:schemeClr>
          </a:solidFill>
          <a:ln w="9525">
            <a:noFill/>
          </a:ln>
          <a:effectLst>
            <a:outerShdw blurRad="50800" dist="38100" dir="2700000" algn="tl" rotWithShape="0">
              <a:prstClr val="black">
                <a:alpha val="40000"/>
              </a:prstClr>
            </a:outerShdw>
          </a:effectLst>
        </p:spPr>
        <p:txBody>
          <a:bodyPr rtlCol="0" anchor="ctr"/>
          <a:lstStyle/>
          <a:p>
            <a:endParaRPr lang="en-US"/>
          </a:p>
        </p:txBody>
      </p:sp>
      <p:sp>
        <p:nvSpPr>
          <p:cNvPr id="12" name="Info card"/>
          <p:cNvSpPr/>
          <p:nvPr/>
        </p:nvSpPr>
        <p:spPr>
          <a:xfrm>
            <a:off x="785891" y="4953000"/>
            <a:ext cx="5283200" cy="12700"/>
          </a:xfrm>
          <a:prstGeom prst="roundRect">
            <a:avLst>
              <a:gd name="adj" fmla="val 1500"/>
            </a:avLst>
          </a:prstGeom>
          <a:solidFill>
            <a:srgbClr val="DFE5EC"/>
          </a:solidFill>
          <a:ln w="9525">
            <a:noFill/>
          </a:ln>
          <a:effectLst/>
        </p:spPr>
        <p:txBody>
          <a:bodyPr rtlCol="0" anchor="ctr"/>
          <a:lstStyle/>
          <a:p>
            <a:endParaRPr lang="en-US"/>
          </a:p>
        </p:txBody>
      </p:sp>
      <p:sp>
        <p:nvSpPr>
          <p:cNvPr id="3" name="Shape 0"/>
          <p:cNvSpPr/>
          <p:nvPr/>
        </p:nvSpPr>
        <p:spPr>
          <a:xfrm>
            <a:off x="593901" y="1869210"/>
            <a:ext cx="1851991" cy="435839"/>
          </a:xfrm>
          <a:prstGeom prst="roundRect">
            <a:avLst>
              <a:gd name="adj" fmla="val 131579"/>
            </a:avLst>
          </a:prstGeom>
          <a:solidFill>
            <a:schemeClr val="tx2"/>
          </a:solidFill>
          <a:ln w="12700">
            <a:solidFill>
              <a:schemeClr val="bg1"/>
            </a:solidFill>
            <a:prstDash val="solid"/>
          </a:ln>
        </p:spPr>
        <p:txBody>
          <a:bodyPr/>
          <a:lstStyle/>
          <a:p>
            <a:endParaRPr lang="en-US"/>
          </a:p>
        </p:txBody>
      </p:sp>
      <p:sp>
        <p:nvSpPr>
          <p:cNvPr id="4" name="Text 1"/>
          <p:cNvSpPr txBox="1"/>
          <p:nvPr/>
        </p:nvSpPr>
        <p:spPr>
          <a:xfrm>
            <a:off x="584128" y="2002725"/>
            <a:ext cx="1851990" cy="122081"/>
          </a:xfrm>
          <a:prstGeom prst="rect">
            <a:avLst/>
          </a:prstGeom>
          <a:noFill/>
          <a:ln/>
        </p:spPr>
        <p:txBody>
          <a:bodyPr wrap="square" lIns="0" tIns="0" rIns="0" bIns="0" rtlCol="0" anchor="ctr"/>
          <a:lstStyle/>
          <a:p>
            <a:pPr marL="0" indent="0" algn="ctr">
              <a:buNone/>
            </a:pPr>
            <a:r>
              <a:rPr lang="en-US" sz="2800" b="1" dirty="0">
                <a:solidFill>
                  <a:schemeClr val="bg1">
                    <a:lumMod val="95000"/>
                  </a:schemeClr>
                </a:solidFill>
              </a:rPr>
              <a:t>Chương 3</a:t>
            </a:r>
            <a:endParaRPr lang="en-US" sz="3200" dirty="0">
              <a:solidFill>
                <a:schemeClr val="bg1">
                  <a:lumMod val="95000"/>
                </a:schemeClr>
              </a:solidFill>
            </a:endParaRPr>
          </a:p>
        </p:txBody>
      </p:sp>
      <p:sp>
        <p:nvSpPr>
          <p:cNvPr id="5" name="Text 2"/>
          <p:cNvSpPr txBox="1"/>
          <p:nvPr/>
        </p:nvSpPr>
        <p:spPr>
          <a:xfrm>
            <a:off x="640449" y="3756973"/>
            <a:ext cx="3962400" cy="330200"/>
          </a:xfrm>
          <a:prstGeom prst="rect">
            <a:avLst/>
          </a:prstGeom>
          <a:noFill/>
          <a:ln/>
        </p:spPr>
        <p:txBody>
          <a:bodyPr wrap="square" lIns="0" tIns="0" rIns="0" bIns="0" rtlCol="0" anchor="ctr"/>
          <a:lstStyle/>
          <a:p>
            <a:pPr marL="0" indent="0">
              <a:buNone/>
            </a:pPr>
            <a:r>
              <a:rPr lang="vi-VN" b="1" dirty="0">
                <a:solidFill>
                  <a:schemeClr val="tx2"/>
                </a:solidFill>
              </a:rPr>
              <a:t>NHÓM 3 – THƯỜNG KỲ 2</a:t>
            </a:r>
            <a:endParaRPr lang="en-US" sz="2000" b="1" dirty="0">
              <a:solidFill>
                <a:schemeClr val="tx2"/>
              </a:solidFill>
            </a:endParaRPr>
          </a:p>
        </p:txBody>
      </p:sp>
      <p:sp>
        <p:nvSpPr>
          <p:cNvPr id="6" name="Text 3"/>
          <p:cNvSpPr txBox="1"/>
          <p:nvPr/>
        </p:nvSpPr>
        <p:spPr>
          <a:xfrm>
            <a:off x="2490791" y="1919479"/>
            <a:ext cx="6865716" cy="850900"/>
          </a:xfrm>
          <a:prstGeom prst="rect">
            <a:avLst/>
          </a:prstGeom>
          <a:noFill/>
          <a:ln/>
        </p:spPr>
        <p:txBody>
          <a:bodyPr wrap="square" lIns="0" tIns="0" rIns="0" bIns="0" rtlCol="0" anchor="t"/>
          <a:lstStyle/>
          <a:p>
            <a:pPr marL="0" indent="0">
              <a:lnSpc>
                <a:spcPct val="92000"/>
              </a:lnSpc>
              <a:buNone/>
            </a:pPr>
            <a:r>
              <a:rPr lang="vi-VN" sz="2400" b="1" dirty="0">
                <a:solidFill>
                  <a:srgbClr val="062F5C"/>
                </a:solidFill>
              </a:rPr>
              <a:t>CÁC KHÍA CẠNH NHẬN THỨC</a:t>
            </a:r>
            <a:endParaRPr lang="en-US" dirty="0"/>
          </a:p>
        </p:txBody>
      </p:sp>
      <p:sp>
        <p:nvSpPr>
          <p:cNvPr id="8" name="Shape 5"/>
          <p:cNvSpPr/>
          <p:nvPr/>
        </p:nvSpPr>
        <p:spPr>
          <a:xfrm>
            <a:off x="640449" y="3112945"/>
            <a:ext cx="4329115" cy="73170"/>
          </a:xfrm>
          <a:prstGeom prst="rect">
            <a:avLst/>
          </a:prstGeom>
          <a:solidFill>
            <a:schemeClr val="accent1">
              <a:lumMod val="75000"/>
            </a:schemeClr>
          </a:solidFill>
          <a:ln w="12700">
            <a:solidFill>
              <a:schemeClr val="bg1"/>
            </a:solidFill>
            <a:prstDash val="solid"/>
          </a:ln>
        </p:spPr>
        <p:txBody>
          <a:bodyPr/>
          <a:lstStyle/>
          <a:p>
            <a:endParaRPr lang="en-US"/>
          </a:p>
        </p:txBody>
      </p:sp>
      <p:sp>
        <p:nvSpPr>
          <p:cNvPr id="9" name="Text 6"/>
          <p:cNvSpPr txBox="1"/>
          <p:nvPr/>
        </p:nvSpPr>
        <p:spPr>
          <a:xfrm>
            <a:off x="593901" y="2407028"/>
            <a:ext cx="5283200" cy="508000"/>
          </a:xfrm>
          <a:prstGeom prst="rect">
            <a:avLst/>
          </a:prstGeom>
          <a:noFill/>
          <a:ln/>
        </p:spPr>
        <p:txBody>
          <a:bodyPr wrap="square" lIns="0" tIns="0" rIns="0" bIns="0" rtlCol="0" anchor="t"/>
          <a:lstStyle/>
          <a:p>
            <a:pPr marL="0" indent="0">
              <a:lnSpc>
                <a:spcPct val="115000"/>
              </a:lnSpc>
              <a:buNone/>
            </a:pPr>
            <a:r>
              <a:rPr lang="vi-VN" i="1" dirty="0">
                <a:solidFill>
                  <a:srgbClr val="667085"/>
                </a:solidFill>
              </a:rPr>
              <a:t>Chapter 3 </a:t>
            </a:r>
            <a:r>
              <a:rPr lang="en-US" i="1" dirty="0">
                <a:solidFill>
                  <a:srgbClr val="667085"/>
                </a:solidFill>
              </a:rPr>
              <a:t>Cognitive Aspects</a:t>
            </a:r>
            <a:endParaRPr lang="en-US" dirty="0"/>
          </a:p>
          <a:p>
            <a:pPr marL="0" indent="0">
              <a:lnSpc>
                <a:spcPct val="115000"/>
              </a:lnSpc>
              <a:buNone/>
            </a:pPr>
            <a:r>
              <a:rPr lang="en-US" sz="1400" i="1" dirty="0">
                <a:solidFill>
                  <a:srgbClr val="667085"/>
                </a:solidFill>
              </a:rPr>
              <a:t>Interaction Design – Preece, Rogers &amp; Sharp (4th ed.)</a:t>
            </a:r>
            <a:endParaRPr lang="en-US" dirty="0"/>
          </a:p>
        </p:txBody>
      </p:sp>
      <p:sp>
        <p:nvSpPr>
          <p:cNvPr id="10" name="Text 7"/>
          <p:cNvSpPr txBox="1"/>
          <p:nvPr/>
        </p:nvSpPr>
        <p:spPr>
          <a:xfrm>
            <a:off x="640449" y="4318756"/>
            <a:ext cx="5283200" cy="1168400"/>
          </a:xfrm>
          <a:prstGeom prst="rect">
            <a:avLst/>
          </a:prstGeom>
          <a:noFill/>
          <a:ln/>
        </p:spPr>
        <p:txBody>
          <a:bodyPr wrap="square" lIns="0" tIns="0" rIns="0" bIns="0" rtlCol="0" anchor="t"/>
          <a:lstStyle/>
          <a:p>
            <a:pPr marL="0" indent="0">
              <a:lnSpc>
                <a:spcPct val="130000"/>
              </a:lnSpc>
              <a:buNone/>
            </a:pPr>
            <a:r>
              <a:rPr lang="en-US" sz="1600" dirty="0">
                <a:solidFill>
                  <a:srgbClr val="475467"/>
                </a:solidFill>
              </a:rPr>
              <a:t>Giảng viên: </a:t>
            </a:r>
            <a:r>
              <a:rPr lang="en-US" sz="1600" b="1" dirty="0" err="1">
                <a:solidFill>
                  <a:srgbClr val="062F5C"/>
                </a:solidFill>
              </a:rPr>
              <a:t>Th.S</a:t>
            </a:r>
            <a:r>
              <a:rPr lang="en-US" sz="1600" b="1" dirty="0">
                <a:solidFill>
                  <a:srgbClr val="062F5C"/>
                </a:solidFill>
              </a:rPr>
              <a:t> Phan </a:t>
            </a:r>
            <a:r>
              <a:rPr lang="vi-VN" sz="1600" b="1" dirty="0">
                <a:solidFill>
                  <a:srgbClr val="062F5C"/>
                </a:solidFill>
              </a:rPr>
              <a:t>Thị Bảo </a:t>
            </a:r>
            <a:r>
              <a:rPr lang="en-US" sz="1600" b="1" dirty="0">
                <a:solidFill>
                  <a:srgbClr val="062F5C"/>
                </a:solidFill>
              </a:rPr>
              <a:t>Trân</a:t>
            </a:r>
            <a:endParaRPr lang="en-US" dirty="0"/>
          </a:p>
          <a:p>
            <a:r>
              <a:rPr lang="en-US" sz="1600" dirty="0">
                <a:solidFill>
                  <a:srgbClr val="475467"/>
                </a:solidFill>
              </a:rPr>
              <a:t>DHCNTT20A - 420300107601</a:t>
            </a:r>
            <a:endParaRPr lang="en-US" dirty="0"/>
          </a:p>
          <a:p>
            <a:pPr marL="0" indent="0">
              <a:lnSpc>
                <a:spcPct val="130000"/>
              </a:lnSpc>
              <a:buNone/>
            </a:pPr>
            <a:r>
              <a:rPr lang="en-US" sz="1600" dirty="0">
                <a:solidFill>
                  <a:srgbClr val="475467"/>
                </a:solidFill>
              </a:rPr>
              <a:t>Môn: </a:t>
            </a:r>
            <a:r>
              <a:rPr lang="en-US" sz="1600" dirty="0" err="1">
                <a:solidFill>
                  <a:srgbClr val="475467"/>
                </a:solidFill>
              </a:rPr>
              <a:t>Tương</a:t>
            </a:r>
            <a:r>
              <a:rPr lang="en-US" sz="1600" dirty="0">
                <a:solidFill>
                  <a:srgbClr val="475467"/>
                </a:solidFill>
              </a:rPr>
              <a:t> </a:t>
            </a:r>
            <a:r>
              <a:rPr lang="en-US" sz="1600" dirty="0" err="1">
                <a:solidFill>
                  <a:srgbClr val="475467"/>
                </a:solidFill>
              </a:rPr>
              <a:t>tác</a:t>
            </a:r>
            <a:r>
              <a:rPr lang="en-US" sz="1600" dirty="0">
                <a:solidFill>
                  <a:srgbClr val="475467"/>
                </a:solidFill>
              </a:rPr>
              <a:t> </a:t>
            </a:r>
            <a:r>
              <a:rPr lang="en-US" sz="1600" dirty="0" err="1">
                <a:solidFill>
                  <a:srgbClr val="475467"/>
                </a:solidFill>
              </a:rPr>
              <a:t>Người</a:t>
            </a:r>
            <a:r>
              <a:rPr lang="en-US" sz="1600" dirty="0">
                <a:solidFill>
                  <a:srgbClr val="475467"/>
                </a:solidFill>
              </a:rPr>
              <a:t> – </a:t>
            </a:r>
            <a:r>
              <a:rPr lang="en-US" sz="1600" dirty="0" err="1">
                <a:solidFill>
                  <a:srgbClr val="475467"/>
                </a:solidFill>
              </a:rPr>
              <a:t>Máy</a:t>
            </a:r>
            <a:endParaRPr lang="en-US" dirty="0"/>
          </a:p>
          <a:p>
            <a:pPr marL="0" indent="0">
              <a:lnSpc>
                <a:spcPct val="130000"/>
              </a:lnSpc>
              <a:buNone/>
            </a:pPr>
            <a:r>
              <a:rPr lang="en-US" sz="1600" dirty="0">
                <a:solidFill>
                  <a:srgbClr val="475467"/>
                </a:solidFill>
              </a:rPr>
              <a:t>Học kỳ 1, 2026–2027</a:t>
            </a:r>
            <a:endParaRPr lang="en-US" dirty="0"/>
          </a:p>
        </p:txBody>
      </p:sp>
    </p:spTree>
    <p:extLst>
      <p:ext uri="{BB962C8B-B14F-4D97-AF65-F5344CB8AC3E}">
        <p14:creationId xmlns:p14="http://schemas.microsoft.com/office/powerpoint/2010/main" val="33359662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Nền mờ IUH với logo trường"/>
          <p:cNvPicPr>
            <a:picLocks noChangeAspect="1"/>
          </p:cNvPicPr>
          <p:nvPr/>
        </p:nvPicPr>
        <p:blipFill>
          <a:blip r:embed="rId3"/>
          <a:stretch>
            <a:fillRect/>
          </a:stretch>
        </p:blipFill>
        <p:spPr>
          <a:xfrm>
            <a:off x="0" y="0"/>
            <a:ext cx="12191695" cy="6858000"/>
          </a:xfrm>
          <a:prstGeom prst="rect">
            <a:avLst/>
          </a:prstGeom>
        </p:spPr>
      </p:pic>
      <p:graphicFrame>
        <p:nvGraphicFramePr>
          <p:cNvPr id="3" name="Table 0"/>
          <p:cNvGraphicFramePr>
            <a:graphicFrameLocks noGrp="1"/>
          </p:cNvGraphicFramePr>
          <p:nvPr>
            <p:extLst>
              <p:ext uri="{D42A27DB-BD31-4B8C-83A1-F6EECF244321}">
                <p14:modId xmlns:p14="http://schemas.microsoft.com/office/powerpoint/2010/main" val="2321858764"/>
              </p:ext>
            </p:extLst>
          </p:nvPr>
        </p:nvGraphicFramePr>
        <p:xfrm>
          <a:off x="868101" y="1031844"/>
          <a:ext cx="10185722" cy="5542692"/>
        </p:xfrm>
        <a:graphic>
          <a:graphicData uri="http://schemas.openxmlformats.org/drawingml/2006/table">
            <a:tbl>
              <a:tblPr/>
              <a:tblGrid>
                <a:gridCol w="918532">
                  <a:extLst>
                    <a:ext uri="{9D8B030D-6E8A-4147-A177-3AD203B41FA5}">
                      <a16:colId xmlns:a16="http://schemas.microsoft.com/office/drawing/2014/main" val="168815107"/>
                    </a:ext>
                  </a:extLst>
                </a:gridCol>
                <a:gridCol w="2084327">
                  <a:extLst>
                    <a:ext uri="{9D8B030D-6E8A-4147-A177-3AD203B41FA5}">
                      <a16:colId xmlns:a16="http://schemas.microsoft.com/office/drawing/2014/main" val="2381554372"/>
                    </a:ext>
                  </a:extLst>
                </a:gridCol>
                <a:gridCol w="3720397">
                  <a:extLst>
                    <a:ext uri="{9D8B030D-6E8A-4147-A177-3AD203B41FA5}">
                      <a16:colId xmlns:a16="http://schemas.microsoft.com/office/drawing/2014/main" val="20001"/>
                    </a:ext>
                  </a:extLst>
                </a:gridCol>
                <a:gridCol w="3462466">
                  <a:extLst>
                    <a:ext uri="{9D8B030D-6E8A-4147-A177-3AD203B41FA5}">
                      <a16:colId xmlns:a16="http://schemas.microsoft.com/office/drawing/2014/main" val="20003"/>
                    </a:ext>
                  </a:extLst>
                </a:gridCol>
              </a:tblGrid>
              <a:tr h="498094">
                <a:tc>
                  <a:txBody>
                    <a:bodyPr/>
                    <a:lstStyle/>
                    <a:p>
                      <a:pPr marL="0" indent="0" algn="l">
                        <a:buNone/>
                      </a:pPr>
                      <a:r>
                        <a:rPr lang="en-US" sz="2400" b="1" cap="all" spc="60" dirty="0">
                          <a:solidFill>
                            <a:schemeClr val="tx1"/>
                          </a:solidFill>
                        </a:rPr>
                        <a:t>STT</a:t>
                      </a:r>
                      <a:endParaRPr lang="en-US" sz="2400" b="1" spc="60" dirty="0">
                        <a:solidFill>
                          <a:schemeClr val="tx1"/>
                        </a:solidFill>
                      </a:endParaRPr>
                    </a:p>
                  </a:txBody>
                  <a:tcPr marL="152400" marR="152400" marT="0" marB="0" anchor="ctr">
                    <a:lnL w="0">
                      <a:noFill/>
                    </a:lnL>
                    <a:lnR w="0">
                      <a:noFill/>
                    </a:lnR>
                    <a:lnT w="0">
                      <a:noFill/>
                    </a:lnT>
                    <a:lnB w="19050" cap="flat" cmpd="sng" algn="ctr">
                      <a:solidFill>
                        <a:srgbClr val="062F5C"/>
                      </a:solidFill>
                      <a:prstDash val="solid"/>
                      <a:round/>
                      <a:headEnd type="none" w="med" len="med"/>
                      <a:tailEnd type="none" w="med" len="med"/>
                    </a:lnB>
                    <a:noFill/>
                  </a:tcPr>
                </a:tc>
                <a:tc>
                  <a:txBody>
                    <a:bodyPr/>
                    <a:lstStyle/>
                    <a:p>
                      <a:pPr marL="0" indent="0" algn="l">
                        <a:buNone/>
                      </a:pPr>
                      <a:r>
                        <a:rPr lang="en-US" sz="2400" b="1" cap="all" spc="60" dirty="0">
                          <a:solidFill>
                            <a:schemeClr val="tx1"/>
                          </a:solidFill>
                        </a:rPr>
                        <a:t>MSSV</a:t>
                      </a:r>
                      <a:endParaRPr lang="en-US" sz="2400" b="1" spc="60" dirty="0">
                        <a:solidFill>
                          <a:schemeClr val="tx1"/>
                        </a:solidFill>
                      </a:endParaRPr>
                    </a:p>
                  </a:txBody>
                  <a:tcPr marL="50800" marR="152400" marT="0" marB="0" anchor="ctr">
                    <a:lnL w="0">
                      <a:noFill/>
                    </a:lnL>
                    <a:lnR w="0">
                      <a:noFill/>
                    </a:lnR>
                    <a:lnT w="0">
                      <a:noFill/>
                    </a:lnT>
                    <a:lnB w="19050" cap="flat" cmpd="sng" algn="ctr">
                      <a:solidFill>
                        <a:srgbClr val="062F5C"/>
                      </a:solidFill>
                      <a:prstDash val="solid"/>
                      <a:round/>
                      <a:headEnd type="none" w="med" len="med"/>
                      <a:tailEnd type="none" w="med" len="med"/>
                    </a:lnB>
                    <a:noFill/>
                  </a:tcPr>
                </a:tc>
                <a:tc>
                  <a:txBody>
                    <a:bodyPr/>
                    <a:lstStyle/>
                    <a:p>
                      <a:pPr marL="0" indent="0" algn="l">
                        <a:buNone/>
                      </a:pPr>
                      <a:r>
                        <a:rPr lang="en-US" sz="2400" b="1" cap="all" spc="60" dirty="0">
                          <a:solidFill>
                            <a:schemeClr val="tx1"/>
                          </a:solidFill>
                        </a:rPr>
                        <a:t>Họ và tên</a:t>
                      </a:r>
                      <a:endParaRPr lang="en-US" sz="2400" b="1" spc="60" dirty="0">
                        <a:solidFill>
                          <a:schemeClr val="tx1"/>
                        </a:solidFill>
                      </a:endParaRPr>
                    </a:p>
                  </a:txBody>
                  <a:tcPr marL="152400" marR="152400" marT="0" marB="0" anchor="ctr">
                    <a:lnL w="0">
                      <a:noFill/>
                    </a:lnL>
                    <a:lnR w="0">
                      <a:noFill/>
                    </a:lnR>
                    <a:lnT w="0">
                      <a:noFill/>
                    </a:lnT>
                    <a:lnB w="19050" cap="flat" cmpd="sng" algn="ctr">
                      <a:solidFill>
                        <a:srgbClr val="062F5C"/>
                      </a:solidFill>
                      <a:prstDash val="solid"/>
                      <a:round/>
                      <a:headEnd type="none" w="med" len="med"/>
                      <a:tailEnd type="none" w="med" len="med"/>
                    </a:lnB>
                    <a:noFill/>
                  </a:tcPr>
                </a:tc>
                <a:tc>
                  <a:txBody>
                    <a:bodyPr/>
                    <a:lstStyle/>
                    <a:p>
                      <a:pPr marL="0" indent="0" algn="l">
                        <a:buNone/>
                      </a:pPr>
                      <a:r>
                        <a:rPr lang="en-US" sz="2400" b="1" cap="all" spc="60" dirty="0">
                          <a:solidFill>
                            <a:schemeClr val="tx1"/>
                          </a:solidFill>
                        </a:rPr>
                        <a:t>Phân công</a:t>
                      </a:r>
                      <a:endParaRPr lang="en-US" sz="2400" b="1" spc="60" dirty="0">
                        <a:solidFill>
                          <a:schemeClr val="tx1"/>
                        </a:solidFill>
                      </a:endParaRPr>
                    </a:p>
                  </a:txBody>
                  <a:tcPr marL="152400" marR="152400" marT="0" marB="0" anchor="ctr">
                    <a:lnL w="0">
                      <a:noFill/>
                    </a:lnL>
                    <a:lnR w="0">
                      <a:noFill/>
                    </a:lnR>
                    <a:lnT w="0">
                      <a:noFill/>
                    </a:lnT>
                    <a:lnB w="19050" cap="flat" cmpd="sng" algn="ctr">
                      <a:solidFill>
                        <a:srgbClr val="062F5C"/>
                      </a:solidFill>
                      <a:prstDash val="solid"/>
                      <a:round/>
                      <a:headEnd type="none" w="med" len="med"/>
                      <a:tailEnd type="none" w="med" len="med"/>
                    </a:lnB>
                    <a:noFill/>
                  </a:tcPr>
                </a:tc>
                <a:extLst>
                  <a:ext uri="{0D108BD9-81ED-4DB2-BD59-A6C34878D82A}">
                    <a16:rowId xmlns:a16="http://schemas.microsoft.com/office/drawing/2014/main" val="10000"/>
                  </a:ext>
                </a:extLst>
              </a:tr>
              <a:tr h="697331">
                <a:tc>
                  <a:txBody>
                    <a:bodyPr/>
                    <a:lstStyle/>
                    <a:p>
                      <a:pPr marL="0" indent="0" algn="l">
                        <a:buNone/>
                      </a:pPr>
                      <a:r>
                        <a:rPr lang="en-US" sz="1800" b="0" dirty="0">
                          <a:solidFill>
                            <a:srgbClr val="1677B8"/>
                          </a:solidFill>
                        </a:rPr>
                        <a:t>1</a:t>
                      </a:r>
                    </a:p>
                  </a:txBody>
                  <a:tcPr marL="152400" marR="152400" marT="0" marB="0" anchor="ctr">
                    <a:lnL w="0">
                      <a:noFill/>
                    </a:lnL>
                    <a:lnR w="0">
                      <a:noFill/>
                    </a:lnR>
                    <a:lnT w="19050" cap="flat" cmpd="sng" algn="ctr">
                      <a:solidFill>
                        <a:srgbClr val="062F5C"/>
                      </a:solidFill>
                      <a:prstDash val="solid"/>
                      <a:round/>
                      <a:headEnd type="none" w="med" len="med"/>
                      <a:tailEnd type="none" w="med" len="med"/>
                    </a:lnT>
                    <a:lnB w="9525" cap="flat" cmpd="sng" algn="ctr">
                      <a:solidFill>
                        <a:srgbClr val="DFE5EC"/>
                      </a:solidFill>
                      <a:prstDash val="solid"/>
                      <a:round/>
                      <a:headEnd type="none" w="med" len="med"/>
                      <a:tailEnd type="none" w="med" len="med"/>
                    </a:lnB>
                    <a:noFill/>
                  </a:tcPr>
                </a:tc>
                <a:tc>
                  <a:txBody>
                    <a:bodyPr/>
                    <a:lstStyle/>
                    <a:p>
                      <a:pPr marL="0" indent="0" algn="l">
                        <a:buNone/>
                      </a:pPr>
                      <a:r>
                        <a:rPr lang="en-US" sz="1800" b="0" dirty="0">
                          <a:solidFill>
                            <a:srgbClr val="344054"/>
                          </a:solidFill>
                        </a:rPr>
                        <a:t>25663091</a:t>
                      </a:r>
                    </a:p>
                  </a:txBody>
                  <a:tcPr marL="50800" marR="152400" marT="0" marB="0" anchor="ctr">
                    <a:lnL w="0">
                      <a:noFill/>
                    </a:lnL>
                    <a:lnR w="0">
                      <a:noFill/>
                    </a:lnR>
                    <a:lnT w="19050" cap="flat" cmpd="sng" algn="ctr">
                      <a:solidFill>
                        <a:srgbClr val="062F5C"/>
                      </a:solidFill>
                      <a:prstDash val="solid"/>
                      <a:round/>
                      <a:headEnd type="none" w="med" len="med"/>
                      <a:tailEnd type="none" w="med" len="med"/>
                    </a:lnT>
                    <a:lnB w="9525" cap="flat" cmpd="sng" algn="ctr">
                      <a:solidFill>
                        <a:srgbClr val="DFE5EC"/>
                      </a:solidFill>
                      <a:prstDash val="solid"/>
                      <a:round/>
                      <a:headEnd type="none" w="med" len="med"/>
                      <a:tailEnd type="none" w="med" len="med"/>
                    </a:lnB>
                    <a:noFill/>
                  </a:tcPr>
                </a:tc>
                <a:tc>
                  <a:txBody>
                    <a:bodyPr/>
                    <a:lstStyle/>
                    <a:p>
                      <a:pPr marL="0" indent="0" algn="l">
                        <a:buNone/>
                      </a:pPr>
                      <a:r>
                        <a:rPr lang="en-US" sz="2000" b="1" dirty="0">
                          <a:solidFill>
                            <a:srgbClr val="062F5C"/>
                          </a:solidFill>
                        </a:rPr>
                        <a:t>Quách Tấn An</a:t>
                      </a:r>
                    </a:p>
                  </a:txBody>
                  <a:tcPr marL="152400" marR="152400" marT="0" marB="0" anchor="ctr">
                    <a:lnL w="0">
                      <a:noFill/>
                    </a:lnL>
                    <a:lnR w="0">
                      <a:noFill/>
                    </a:lnR>
                    <a:lnT w="19050" cap="flat" cmpd="sng" algn="ctr">
                      <a:solidFill>
                        <a:srgbClr val="062F5C"/>
                      </a:solidFill>
                      <a:prstDash val="solid"/>
                      <a:round/>
                      <a:headEnd type="none" w="med" len="med"/>
                      <a:tailEnd type="none" w="med" len="med"/>
                    </a:lnT>
                    <a:lnB w="9525" cap="flat" cmpd="sng" algn="ctr">
                      <a:solidFill>
                        <a:srgbClr val="DFE5EC"/>
                      </a:solidFill>
                      <a:prstDash val="solid"/>
                      <a:round/>
                      <a:headEnd type="none" w="med" len="med"/>
                      <a:tailEnd type="none" w="med" len="med"/>
                    </a:lnB>
                    <a:noFill/>
                  </a:tcPr>
                </a:tc>
                <a:tc>
                  <a:txBody>
                    <a:bodyPr/>
                    <a:lstStyle/>
                    <a:p>
                      <a:pPr marL="0" indent="0" algn="l">
                        <a:buNone/>
                      </a:pPr>
                      <a:r>
                        <a:rPr lang="en-US" sz="1800" b="0" dirty="0">
                          <a:solidFill>
                            <a:schemeClr val="tx1"/>
                          </a:solidFill>
                        </a:rPr>
                        <a:t>Sự tập trung chú ý</a:t>
                      </a:r>
                    </a:p>
                  </a:txBody>
                  <a:tcPr marL="152400" marR="152400" marT="0" marB="0" anchor="ctr">
                    <a:lnL w="0">
                      <a:noFill/>
                    </a:lnL>
                    <a:lnR w="0">
                      <a:noFill/>
                    </a:lnR>
                    <a:lnT w="19050" cap="flat" cmpd="sng" algn="ctr">
                      <a:solidFill>
                        <a:srgbClr val="062F5C"/>
                      </a:solidFill>
                      <a:prstDash val="solid"/>
                      <a:round/>
                      <a:headEnd type="none" w="med" len="med"/>
                      <a:tailEnd type="none" w="med" len="med"/>
                    </a:lnT>
                    <a:lnB w="9525" cap="flat" cmpd="sng" algn="ctr">
                      <a:solidFill>
                        <a:srgbClr val="DFE5EC"/>
                      </a:solidFill>
                      <a:prstDash val="solid"/>
                      <a:round/>
                      <a:headEnd type="none" w="med" len="med"/>
                      <a:tailEnd type="none" w="med" len="med"/>
                    </a:lnB>
                    <a:noFill/>
                  </a:tcPr>
                </a:tc>
                <a:extLst>
                  <a:ext uri="{0D108BD9-81ED-4DB2-BD59-A6C34878D82A}">
                    <a16:rowId xmlns:a16="http://schemas.microsoft.com/office/drawing/2014/main" val="10001"/>
                  </a:ext>
                </a:extLst>
              </a:tr>
              <a:tr h="697331">
                <a:tc>
                  <a:txBody>
                    <a:bodyPr/>
                    <a:lstStyle/>
                    <a:p>
                      <a:pPr marL="0" indent="0" algn="l">
                        <a:buNone/>
                      </a:pPr>
                      <a:r>
                        <a:rPr lang="en-US" sz="1800" b="0" dirty="0">
                          <a:solidFill>
                            <a:srgbClr val="1677B8"/>
                          </a:solidFill>
                        </a:rPr>
                        <a:t>2</a:t>
                      </a:r>
                    </a:p>
                  </a:txBody>
                  <a:tcPr marL="152400" marR="152400" marT="0" marB="0" anchor="ctr">
                    <a:lnL w="0">
                      <a:noFill/>
                    </a:lnL>
                    <a:lnR w="0">
                      <a:noFill/>
                    </a:lnR>
                    <a:lnT w="9525" cap="flat" cmpd="sng" algn="ctr">
                      <a:solidFill>
                        <a:srgbClr val="DFE5EC"/>
                      </a:solidFill>
                      <a:prstDash val="solid"/>
                      <a:round/>
                      <a:headEnd type="none" w="med" len="med"/>
                      <a:tailEnd type="none" w="med" len="med"/>
                    </a:lnT>
                    <a:lnB w="9525" cap="flat" cmpd="sng" algn="ctr">
                      <a:solidFill>
                        <a:srgbClr val="DFE5EC"/>
                      </a:solidFill>
                      <a:prstDash val="solid"/>
                      <a:round/>
                      <a:headEnd type="none" w="med" len="med"/>
                      <a:tailEnd type="none" w="med" len="med"/>
                    </a:lnB>
                    <a:noFill/>
                  </a:tcPr>
                </a:tc>
                <a:tc>
                  <a:txBody>
                    <a:bodyPr/>
                    <a:lstStyle/>
                    <a:p>
                      <a:pPr marL="0" indent="0" algn="l">
                        <a:buNone/>
                      </a:pPr>
                      <a:r>
                        <a:rPr lang="en-US" sz="1800" b="0" dirty="0">
                          <a:solidFill>
                            <a:srgbClr val="344054"/>
                          </a:solidFill>
                        </a:rPr>
                        <a:t>24732661</a:t>
                      </a:r>
                    </a:p>
                  </a:txBody>
                  <a:tcPr marL="50800" marR="152400" marT="0" marB="0" anchor="ctr">
                    <a:lnL w="0">
                      <a:noFill/>
                    </a:lnL>
                    <a:lnR w="0">
                      <a:noFill/>
                    </a:lnR>
                    <a:lnT w="9525" cap="flat" cmpd="sng" algn="ctr">
                      <a:solidFill>
                        <a:srgbClr val="DFE5EC"/>
                      </a:solidFill>
                      <a:prstDash val="solid"/>
                      <a:round/>
                      <a:headEnd type="none" w="med" len="med"/>
                      <a:tailEnd type="none" w="med" len="med"/>
                    </a:lnT>
                    <a:lnB w="9525" cap="flat" cmpd="sng" algn="ctr">
                      <a:solidFill>
                        <a:srgbClr val="DFE5EC"/>
                      </a:solidFill>
                      <a:prstDash val="solid"/>
                      <a:round/>
                      <a:headEnd type="none" w="med" len="med"/>
                      <a:tailEnd type="none" w="med" len="med"/>
                    </a:lnB>
                    <a:noFill/>
                  </a:tcPr>
                </a:tc>
                <a:tc>
                  <a:txBody>
                    <a:bodyPr/>
                    <a:lstStyle/>
                    <a:p>
                      <a:pPr marL="0" indent="0" algn="l">
                        <a:buNone/>
                      </a:pPr>
                      <a:r>
                        <a:rPr lang="en-US" sz="2000" b="1" dirty="0">
                          <a:solidFill>
                            <a:srgbClr val="062F5C"/>
                          </a:solidFill>
                        </a:rPr>
                        <a:t>Nguyễn Hoàng Hiệp</a:t>
                      </a:r>
                    </a:p>
                  </a:txBody>
                  <a:tcPr marL="152400" marR="152400" marT="0" marB="0" anchor="ctr">
                    <a:lnL w="0">
                      <a:noFill/>
                    </a:lnL>
                    <a:lnR w="0">
                      <a:noFill/>
                    </a:lnR>
                    <a:lnT w="9525" cap="flat" cmpd="sng" algn="ctr">
                      <a:solidFill>
                        <a:srgbClr val="DFE5EC"/>
                      </a:solidFill>
                      <a:prstDash val="solid"/>
                      <a:round/>
                      <a:headEnd type="none" w="med" len="med"/>
                      <a:tailEnd type="none" w="med" len="med"/>
                    </a:lnT>
                    <a:lnB w="9525" cap="flat" cmpd="sng" algn="ctr">
                      <a:solidFill>
                        <a:srgbClr val="DFE5EC"/>
                      </a:solidFill>
                      <a:prstDash val="solid"/>
                      <a:round/>
                      <a:headEnd type="none" w="med" len="med"/>
                      <a:tailEnd type="none" w="med" len="med"/>
                    </a:lnB>
                    <a:noFill/>
                  </a:tcPr>
                </a:tc>
                <a:tc>
                  <a:txBody>
                    <a:bodyPr/>
                    <a:lstStyle/>
                    <a:p>
                      <a:pPr marL="0" indent="0" algn="l">
                        <a:buNone/>
                      </a:pPr>
                      <a:r>
                        <a:rPr lang="en-US" sz="1800" b="0" dirty="0">
                          <a:solidFill>
                            <a:schemeClr val="tx1"/>
                          </a:solidFill>
                        </a:rPr>
                        <a:t>Sự nhận thức thông qua các giác quan</a:t>
                      </a:r>
                    </a:p>
                  </a:txBody>
                  <a:tcPr marL="152400" marR="152400" marT="0" marB="0" anchor="ctr">
                    <a:lnL w="0">
                      <a:noFill/>
                    </a:lnL>
                    <a:lnR w="0">
                      <a:noFill/>
                    </a:lnR>
                    <a:lnT w="9525" cap="flat" cmpd="sng" algn="ctr">
                      <a:solidFill>
                        <a:srgbClr val="DFE5EC"/>
                      </a:solidFill>
                      <a:prstDash val="solid"/>
                      <a:round/>
                      <a:headEnd type="none" w="med" len="med"/>
                      <a:tailEnd type="none" w="med" len="med"/>
                    </a:lnT>
                    <a:lnB w="9525" cap="flat" cmpd="sng" algn="ctr">
                      <a:solidFill>
                        <a:srgbClr val="DFE5EC"/>
                      </a:solidFill>
                      <a:prstDash val="solid"/>
                      <a:round/>
                      <a:headEnd type="none" w="med" len="med"/>
                      <a:tailEnd type="none" w="med" len="med"/>
                    </a:lnB>
                    <a:noFill/>
                  </a:tcPr>
                </a:tc>
                <a:extLst>
                  <a:ext uri="{0D108BD9-81ED-4DB2-BD59-A6C34878D82A}">
                    <a16:rowId xmlns:a16="http://schemas.microsoft.com/office/drawing/2014/main" val="2571812485"/>
                  </a:ext>
                </a:extLst>
              </a:tr>
              <a:tr h="697331">
                <a:tc>
                  <a:txBody>
                    <a:bodyPr/>
                    <a:lstStyle/>
                    <a:p>
                      <a:pPr marL="0" indent="0" algn="l">
                        <a:buNone/>
                      </a:pPr>
                      <a:r>
                        <a:rPr lang="en-US" sz="1800" b="0" dirty="0">
                          <a:solidFill>
                            <a:srgbClr val="1677B8"/>
                          </a:solidFill>
                        </a:rPr>
                        <a:t>3</a:t>
                      </a:r>
                    </a:p>
                  </a:txBody>
                  <a:tcPr marL="152400" marR="152400" marT="0" marB="0" anchor="ctr">
                    <a:lnL w="0">
                      <a:noFill/>
                    </a:lnL>
                    <a:lnR w="0">
                      <a:noFill/>
                    </a:lnR>
                    <a:lnT w="9525" cap="flat" cmpd="sng" algn="ctr">
                      <a:solidFill>
                        <a:srgbClr val="DFE5EC"/>
                      </a:solidFill>
                      <a:prstDash val="solid"/>
                      <a:round/>
                      <a:headEnd type="none" w="med" len="med"/>
                      <a:tailEnd type="none" w="med" len="med"/>
                    </a:lnT>
                    <a:lnB w="9525" cap="flat" cmpd="sng" algn="ctr">
                      <a:solidFill>
                        <a:srgbClr val="DFE5EC"/>
                      </a:solidFill>
                      <a:prstDash val="solid"/>
                      <a:round/>
                      <a:headEnd type="none" w="med" len="med"/>
                      <a:tailEnd type="none" w="med" len="med"/>
                    </a:lnB>
                    <a:noFill/>
                  </a:tcPr>
                </a:tc>
                <a:tc>
                  <a:txBody>
                    <a:bodyPr/>
                    <a:lstStyle/>
                    <a:p>
                      <a:pPr marL="0" indent="0" algn="l">
                        <a:buNone/>
                      </a:pPr>
                      <a:r>
                        <a:rPr lang="en-US" sz="1800" b="0" dirty="0">
                          <a:solidFill>
                            <a:srgbClr val="344054"/>
                          </a:solidFill>
                        </a:rPr>
                        <a:t>24000905</a:t>
                      </a:r>
                    </a:p>
                  </a:txBody>
                  <a:tcPr marL="50800" marR="152400" marT="0" marB="0" anchor="ctr">
                    <a:lnL w="0">
                      <a:noFill/>
                    </a:lnL>
                    <a:lnR w="0">
                      <a:noFill/>
                    </a:lnR>
                    <a:lnT w="9525" cap="flat" cmpd="sng" algn="ctr">
                      <a:solidFill>
                        <a:srgbClr val="DFE5EC"/>
                      </a:solidFill>
                      <a:prstDash val="solid"/>
                      <a:round/>
                      <a:headEnd type="none" w="med" len="med"/>
                      <a:tailEnd type="none" w="med" len="med"/>
                    </a:lnT>
                    <a:lnB w="9525" cap="flat" cmpd="sng" algn="ctr">
                      <a:solidFill>
                        <a:srgbClr val="DFE5EC"/>
                      </a:solidFill>
                      <a:prstDash val="solid"/>
                      <a:round/>
                      <a:headEnd type="none" w="med" len="med"/>
                      <a:tailEnd type="none" w="med" len="med"/>
                    </a:lnB>
                    <a:noFill/>
                  </a:tcPr>
                </a:tc>
                <a:tc>
                  <a:txBody>
                    <a:bodyPr/>
                    <a:lstStyle/>
                    <a:p>
                      <a:pPr marL="0" indent="0" algn="l">
                        <a:buNone/>
                      </a:pPr>
                      <a:r>
                        <a:rPr lang="en-US" sz="2000" b="1" dirty="0">
                          <a:solidFill>
                            <a:srgbClr val="062F5C"/>
                          </a:solidFill>
                        </a:rPr>
                        <a:t>Nguyễn Trung Dũng</a:t>
                      </a:r>
                    </a:p>
                  </a:txBody>
                  <a:tcPr marL="152400" marR="152400" marT="0" marB="0" anchor="ctr">
                    <a:lnL w="0">
                      <a:noFill/>
                    </a:lnL>
                    <a:lnR w="0">
                      <a:noFill/>
                    </a:lnR>
                    <a:lnT w="9525" cap="flat" cmpd="sng" algn="ctr">
                      <a:solidFill>
                        <a:srgbClr val="DFE5EC"/>
                      </a:solidFill>
                      <a:prstDash val="solid"/>
                      <a:round/>
                      <a:headEnd type="none" w="med" len="med"/>
                      <a:tailEnd type="none" w="med" len="med"/>
                    </a:lnT>
                    <a:lnB w="9525" cap="flat" cmpd="sng" algn="ctr">
                      <a:solidFill>
                        <a:srgbClr val="DFE5EC"/>
                      </a:solidFill>
                      <a:prstDash val="solid"/>
                      <a:round/>
                      <a:headEnd type="none" w="med" len="med"/>
                      <a:tailEnd type="none" w="med" len="med"/>
                    </a:lnB>
                    <a:noFill/>
                  </a:tcPr>
                </a:tc>
                <a:tc>
                  <a:txBody>
                    <a:bodyPr/>
                    <a:lstStyle/>
                    <a:p>
                      <a:pPr marL="0" indent="0" algn="l">
                        <a:buNone/>
                      </a:pPr>
                      <a:r>
                        <a:rPr lang="en-US" sz="1800" b="0" dirty="0">
                          <a:solidFill>
                            <a:schemeClr val="tx1"/>
                          </a:solidFill>
                        </a:rPr>
                        <a:t>Trí nhớ, ký ức</a:t>
                      </a:r>
                    </a:p>
                  </a:txBody>
                  <a:tcPr marL="152400" marR="152400" marT="0" marB="0" anchor="ctr">
                    <a:lnL w="0">
                      <a:noFill/>
                    </a:lnL>
                    <a:lnR w="0">
                      <a:noFill/>
                    </a:lnR>
                    <a:lnT w="9525" cap="flat" cmpd="sng" algn="ctr">
                      <a:solidFill>
                        <a:srgbClr val="DFE5EC"/>
                      </a:solidFill>
                      <a:prstDash val="solid"/>
                      <a:round/>
                      <a:headEnd type="none" w="med" len="med"/>
                      <a:tailEnd type="none" w="med" len="med"/>
                    </a:lnT>
                    <a:lnB w="9525" cap="flat" cmpd="sng" algn="ctr">
                      <a:solidFill>
                        <a:srgbClr val="DFE5EC"/>
                      </a:solidFill>
                      <a:prstDash val="solid"/>
                      <a:round/>
                      <a:headEnd type="none" w="med" len="med"/>
                      <a:tailEnd type="none" w="med" len="med"/>
                    </a:lnB>
                    <a:noFill/>
                  </a:tcPr>
                </a:tc>
                <a:extLst>
                  <a:ext uri="{0D108BD9-81ED-4DB2-BD59-A6C34878D82A}">
                    <a16:rowId xmlns:a16="http://schemas.microsoft.com/office/drawing/2014/main" val="10002"/>
                  </a:ext>
                </a:extLst>
              </a:tr>
              <a:tr h="734983">
                <a:tc>
                  <a:txBody>
                    <a:bodyPr/>
                    <a:lstStyle/>
                    <a:p>
                      <a:pPr marL="0" indent="0" algn="l">
                        <a:buNone/>
                      </a:pPr>
                      <a:r>
                        <a:rPr lang="en-US" sz="1800" b="0" dirty="0">
                          <a:solidFill>
                            <a:srgbClr val="1677B8"/>
                          </a:solidFill>
                        </a:rPr>
                        <a:t>4</a:t>
                      </a:r>
                    </a:p>
                  </a:txBody>
                  <a:tcPr marL="152400" marR="152400" marT="0" marB="0" anchor="ctr">
                    <a:lnL w="0">
                      <a:noFill/>
                    </a:lnL>
                    <a:lnR w="0">
                      <a:noFill/>
                    </a:lnR>
                    <a:lnT w="9525" cap="flat" cmpd="sng" algn="ctr">
                      <a:solidFill>
                        <a:srgbClr val="DFE5EC"/>
                      </a:solidFill>
                      <a:prstDash val="solid"/>
                      <a:round/>
                      <a:headEnd type="none" w="med" len="med"/>
                      <a:tailEnd type="none" w="med" len="med"/>
                    </a:lnT>
                    <a:lnB w="9525" cap="flat" cmpd="sng" algn="ctr">
                      <a:solidFill>
                        <a:srgbClr val="DFE5EC"/>
                      </a:solidFill>
                      <a:prstDash val="solid"/>
                      <a:round/>
                      <a:headEnd type="none" w="med" len="med"/>
                      <a:tailEnd type="none" w="med" len="med"/>
                    </a:lnB>
                    <a:noFill/>
                  </a:tcPr>
                </a:tc>
                <a:tc>
                  <a:txBody>
                    <a:bodyPr/>
                    <a:lstStyle/>
                    <a:p>
                      <a:pPr marL="0" indent="0" algn="l">
                        <a:buNone/>
                      </a:pPr>
                      <a:r>
                        <a:rPr lang="en-US" sz="1800" b="0" dirty="0">
                          <a:solidFill>
                            <a:srgbClr val="344054"/>
                          </a:solidFill>
                        </a:rPr>
                        <a:t>24746051</a:t>
                      </a:r>
                    </a:p>
                  </a:txBody>
                  <a:tcPr marL="50800" marR="152400" marT="0" marB="0" anchor="ctr">
                    <a:lnL w="0">
                      <a:noFill/>
                    </a:lnL>
                    <a:lnR w="0">
                      <a:noFill/>
                    </a:lnR>
                    <a:lnT w="9525" cap="flat" cmpd="sng" algn="ctr">
                      <a:solidFill>
                        <a:srgbClr val="DFE5EC"/>
                      </a:solidFill>
                      <a:prstDash val="solid"/>
                      <a:round/>
                      <a:headEnd type="none" w="med" len="med"/>
                      <a:tailEnd type="none" w="med" len="med"/>
                    </a:lnT>
                    <a:lnB w="9525" cap="flat" cmpd="sng" algn="ctr">
                      <a:solidFill>
                        <a:srgbClr val="DFE5EC"/>
                      </a:solidFill>
                      <a:prstDash val="solid"/>
                      <a:round/>
                      <a:headEnd type="none" w="med" len="med"/>
                      <a:tailEnd type="none" w="med" len="med"/>
                    </a:lnB>
                    <a:noFill/>
                  </a:tcPr>
                </a:tc>
                <a:tc>
                  <a:txBody>
                    <a:bodyPr/>
                    <a:lstStyle/>
                    <a:p>
                      <a:pPr marL="0" indent="0" algn="l">
                        <a:buNone/>
                      </a:pPr>
                      <a:r>
                        <a:rPr lang="en-US" sz="2000" b="1" dirty="0">
                          <a:solidFill>
                            <a:srgbClr val="062F5C"/>
                          </a:solidFill>
                        </a:rPr>
                        <a:t>Trần Minh Tiến</a:t>
                      </a:r>
                    </a:p>
                  </a:txBody>
                  <a:tcPr marL="152400" marR="152400" marT="0" marB="0" anchor="ctr">
                    <a:lnL w="0">
                      <a:noFill/>
                    </a:lnL>
                    <a:lnR w="0">
                      <a:noFill/>
                    </a:lnR>
                    <a:lnT w="9525" cap="flat" cmpd="sng" algn="ctr">
                      <a:solidFill>
                        <a:srgbClr val="DFE5EC"/>
                      </a:solidFill>
                      <a:prstDash val="solid"/>
                      <a:round/>
                      <a:headEnd type="none" w="med" len="med"/>
                      <a:tailEnd type="none" w="med" len="med"/>
                    </a:lnT>
                    <a:lnB w="9525" cap="flat" cmpd="sng" algn="ctr">
                      <a:solidFill>
                        <a:srgbClr val="DFE5EC"/>
                      </a:solidFill>
                      <a:prstDash val="solid"/>
                      <a:round/>
                      <a:headEnd type="none" w="med" len="med"/>
                      <a:tailEnd type="none" w="med" len="med"/>
                    </a:lnB>
                    <a:noFill/>
                  </a:tcPr>
                </a:tc>
                <a:tc>
                  <a:txBody>
                    <a:bodyPr/>
                    <a:lstStyle/>
                    <a:p>
                      <a:pPr marL="0" indent="0" algn="l">
                        <a:buNone/>
                      </a:pPr>
                      <a:r>
                        <a:rPr lang="en-US" sz="1800" b="0" dirty="0">
                          <a:solidFill>
                            <a:schemeClr val="tx1"/>
                          </a:solidFill>
                        </a:rPr>
                        <a:t>Học</a:t>
                      </a:r>
                    </a:p>
                  </a:txBody>
                  <a:tcPr marL="152400" marR="152400" marT="0" marB="0" anchor="ctr">
                    <a:lnL w="0">
                      <a:noFill/>
                    </a:lnL>
                    <a:lnR w="0">
                      <a:noFill/>
                    </a:lnR>
                    <a:lnT w="9525" cap="flat" cmpd="sng" algn="ctr">
                      <a:solidFill>
                        <a:srgbClr val="DFE5EC"/>
                      </a:solidFill>
                      <a:prstDash val="solid"/>
                      <a:round/>
                      <a:headEnd type="none" w="med" len="med"/>
                      <a:tailEnd type="none" w="med" len="med"/>
                    </a:lnT>
                    <a:lnB w="9525" cap="flat" cmpd="sng" algn="ctr">
                      <a:solidFill>
                        <a:srgbClr val="DFE5EC"/>
                      </a:solidFill>
                      <a:prstDash val="solid"/>
                      <a:round/>
                      <a:headEnd type="none" w="med" len="med"/>
                      <a:tailEnd type="none" w="med" len="med"/>
                    </a:lnB>
                    <a:noFill/>
                  </a:tcPr>
                </a:tc>
                <a:extLst>
                  <a:ext uri="{0D108BD9-81ED-4DB2-BD59-A6C34878D82A}">
                    <a16:rowId xmlns:a16="http://schemas.microsoft.com/office/drawing/2014/main" val="10003"/>
                  </a:ext>
                </a:extLst>
              </a:tr>
              <a:tr h="697331">
                <a:tc>
                  <a:txBody>
                    <a:bodyPr/>
                    <a:lstStyle/>
                    <a:p>
                      <a:pPr marL="0" indent="0" algn="l">
                        <a:buNone/>
                      </a:pPr>
                      <a:r>
                        <a:rPr lang="en-US" sz="1800" b="0" dirty="0">
                          <a:solidFill>
                            <a:srgbClr val="1677B8"/>
                          </a:solidFill>
                        </a:rPr>
                        <a:t>5</a:t>
                      </a:r>
                    </a:p>
                  </a:txBody>
                  <a:tcPr marL="152400" marR="152400" marT="0" marB="0" anchor="ctr">
                    <a:lnL w="0">
                      <a:noFill/>
                    </a:lnL>
                    <a:lnR w="0">
                      <a:noFill/>
                    </a:lnR>
                    <a:lnT w="9525" cap="flat" cmpd="sng" algn="ctr">
                      <a:solidFill>
                        <a:srgbClr val="DFE5EC"/>
                      </a:solidFill>
                      <a:prstDash val="solid"/>
                      <a:round/>
                      <a:headEnd type="none" w="med" len="med"/>
                      <a:tailEnd type="none" w="med" len="med"/>
                    </a:lnT>
                    <a:lnB w="9525" cap="flat" cmpd="sng" algn="ctr">
                      <a:solidFill>
                        <a:srgbClr val="DFE5EC"/>
                      </a:solidFill>
                      <a:prstDash val="solid"/>
                      <a:round/>
                      <a:headEnd type="none" w="med" len="med"/>
                      <a:tailEnd type="none" w="med" len="med"/>
                    </a:lnB>
                    <a:noFill/>
                  </a:tcPr>
                </a:tc>
                <a:tc>
                  <a:txBody>
                    <a:bodyPr/>
                    <a:lstStyle/>
                    <a:p>
                      <a:pPr marL="0" indent="0" algn="l">
                        <a:buNone/>
                      </a:pPr>
                      <a:r>
                        <a:rPr lang="en-US" sz="1800" b="0" dirty="0">
                          <a:solidFill>
                            <a:srgbClr val="344054"/>
                          </a:solidFill>
                        </a:rPr>
                        <a:t>25662591</a:t>
                      </a:r>
                    </a:p>
                  </a:txBody>
                  <a:tcPr marL="50800" marR="152400" marT="0" marB="0" anchor="ctr">
                    <a:lnL w="0">
                      <a:noFill/>
                    </a:lnL>
                    <a:lnR w="0">
                      <a:noFill/>
                    </a:lnR>
                    <a:lnT w="9525" cap="flat" cmpd="sng" algn="ctr">
                      <a:solidFill>
                        <a:srgbClr val="DFE5EC"/>
                      </a:solidFill>
                      <a:prstDash val="solid"/>
                      <a:round/>
                      <a:headEnd type="none" w="med" len="med"/>
                      <a:tailEnd type="none" w="med" len="med"/>
                    </a:lnT>
                    <a:lnB w="9525" cap="flat" cmpd="sng" algn="ctr">
                      <a:solidFill>
                        <a:srgbClr val="DFE5EC"/>
                      </a:solidFill>
                      <a:prstDash val="solid"/>
                      <a:round/>
                      <a:headEnd type="none" w="med" len="med"/>
                      <a:tailEnd type="none" w="med" len="med"/>
                    </a:lnB>
                    <a:noFill/>
                  </a:tcPr>
                </a:tc>
                <a:tc>
                  <a:txBody>
                    <a:bodyPr/>
                    <a:lstStyle/>
                    <a:p>
                      <a:pPr marL="0" indent="0" algn="l">
                        <a:buNone/>
                      </a:pPr>
                      <a:r>
                        <a:rPr lang="en-US" sz="2000" b="1" dirty="0">
                          <a:solidFill>
                            <a:srgbClr val="062F5C"/>
                          </a:solidFill>
                        </a:rPr>
                        <a:t>Trương Hoàng Ân</a:t>
                      </a:r>
                    </a:p>
                  </a:txBody>
                  <a:tcPr marL="152400" marR="152400" marT="0" marB="0" anchor="ctr">
                    <a:lnL w="0">
                      <a:noFill/>
                    </a:lnL>
                    <a:lnR w="0">
                      <a:noFill/>
                    </a:lnR>
                    <a:lnT w="9525" cap="flat" cmpd="sng" algn="ctr">
                      <a:solidFill>
                        <a:srgbClr val="DFE5EC"/>
                      </a:solidFill>
                      <a:prstDash val="solid"/>
                      <a:round/>
                      <a:headEnd type="none" w="med" len="med"/>
                      <a:tailEnd type="none" w="med" len="med"/>
                    </a:lnT>
                    <a:lnB w="9525" cap="flat" cmpd="sng" algn="ctr">
                      <a:solidFill>
                        <a:srgbClr val="DFE5EC"/>
                      </a:solidFill>
                      <a:prstDash val="solid"/>
                      <a:round/>
                      <a:headEnd type="none" w="med" len="med"/>
                      <a:tailEnd type="none" w="med" len="med"/>
                    </a:lnB>
                    <a:noFill/>
                  </a:tcPr>
                </a:tc>
                <a:tc>
                  <a:txBody>
                    <a:bodyPr/>
                    <a:lstStyle/>
                    <a:p>
                      <a:pPr marL="0" indent="0" algn="l">
                        <a:buNone/>
                      </a:pPr>
                      <a:r>
                        <a:rPr lang="en-US" sz="1800" b="0" dirty="0">
                          <a:solidFill>
                            <a:schemeClr val="tx1"/>
                          </a:solidFill>
                        </a:rPr>
                        <a:t>Đọc, nghe, nói</a:t>
                      </a:r>
                    </a:p>
                  </a:txBody>
                  <a:tcPr marL="152400" marR="152400" marT="0" marB="0" anchor="ctr">
                    <a:lnL w="0">
                      <a:noFill/>
                    </a:lnL>
                    <a:lnR w="0">
                      <a:noFill/>
                    </a:lnR>
                    <a:lnT w="9525" cap="flat" cmpd="sng" algn="ctr">
                      <a:solidFill>
                        <a:srgbClr val="DFE5EC"/>
                      </a:solidFill>
                      <a:prstDash val="solid"/>
                      <a:round/>
                      <a:headEnd type="none" w="med" len="med"/>
                      <a:tailEnd type="none" w="med" len="med"/>
                    </a:lnT>
                    <a:lnB w="9525" cap="flat" cmpd="sng" algn="ctr">
                      <a:solidFill>
                        <a:srgbClr val="DFE5EC"/>
                      </a:solidFill>
                      <a:prstDash val="solid"/>
                      <a:round/>
                      <a:headEnd type="none" w="med" len="med"/>
                      <a:tailEnd type="none" w="med" len="med"/>
                    </a:lnB>
                    <a:noFill/>
                  </a:tcPr>
                </a:tc>
                <a:extLst>
                  <a:ext uri="{0D108BD9-81ED-4DB2-BD59-A6C34878D82A}">
                    <a16:rowId xmlns:a16="http://schemas.microsoft.com/office/drawing/2014/main" val="584065995"/>
                  </a:ext>
                </a:extLst>
              </a:tr>
              <a:tr h="697331">
                <a:tc>
                  <a:txBody>
                    <a:bodyPr/>
                    <a:lstStyle/>
                    <a:p>
                      <a:pPr marL="0" indent="0" algn="l">
                        <a:buNone/>
                      </a:pPr>
                      <a:r>
                        <a:rPr lang="en-US" sz="1800" b="0" dirty="0">
                          <a:solidFill>
                            <a:srgbClr val="1677B8"/>
                          </a:solidFill>
                        </a:rPr>
                        <a:t>6</a:t>
                      </a:r>
                    </a:p>
                  </a:txBody>
                  <a:tcPr marL="152400" marR="152400" marT="0" marB="0" anchor="ctr">
                    <a:lnL w="0">
                      <a:noFill/>
                    </a:lnL>
                    <a:lnR w="0">
                      <a:noFill/>
                    </a:lnR>
                    <a:lnT w="9525" cap="flat" cmpd="sng" algn="ctr">
                      <a:solidFill>
                        <a:srgbClr val="DFE5EC"/>
                      </a:solidFill>
                      <a:prstDash val="solid"/>
                      <a:round/>
                      <a:headEnd type="none" w="med" len="med"/>
                      <a:tailEnd type="none" w="med" len="med"/>
                    </a:lnT>
                    <a:lnB w="9525" cap="flat" cmpd="sng" algn="ctr">
                      <a:solidFill>
                        <a:srgbClr val="DFE5EC"/>
                      </a:solidFill>
                      <a:prstDash val="solid"/>
                      <a:round/>
                      <a:headEnd type="none" w="med" len="med"/>
                      <a:tailEnd type="none" w="med" len="med"/>
                    </a:lnB>
                    <a:noFill/>
                  </a:tcPr>
                </a:tc>
                <a:tc>
                  <a:txBody>
                    <a:bodyPr/>
                    <a:lstStyle/>
                    <a:p>
                      <a:pPr marL="0" indent="0" algn="l">
                        <a:buNone/>
                      </a:pPr>
                      <a:r>
                        <a:rPr lang="en-US" sz="1800" b="0" dirty="0">
                          <a:solidFill>
                            <a:srgbClr val="344054"/>
                          </a:solidFill>
                        </a:rPr>
                        <a:t>24001145</a:t>
                      </a:r>
                    </a:p>
                  </a:txBody>
                  <a:tcPr marL="50800" marR="152400" marT="0" marB="0" anchor="ctr">
                    <a:lnL w="0">
                      <a:noFill/>
                    </a:lnL>
                    <a:lnR w="0">
                      <a:noFill/>
                    </a:lnR>
                    <a:lnT w="9525" cap="flat" cmpd="sng" algn="ctr">
                      <a:solidFill>
                        <a:srgbClr val="DFE5EC"/>
                      </a:solidFill>
                      <a:prstDash val="solid"/>
                      <a:round/>
                      <a:headEnd type="none" w="med" len="med"/>
                      <a:tailEnd type="none" w="med" len="med"/>
                    </a:lnT>
                    <a:lnB w="9525" cap="flat" cmpd="sng" algn="ctr">
                      <a:solidFill>
                        <a:srgbClr val="DFE5EC"/>
                      </a:solidFill>
                      <a:prstDash val="solid"/>
                      <a:round/>
                      <a:headEnd type="none" w="med" len="med"/>
                      <a:tailEnd type="none" w="med" len="med"/>
                    </a:lnB>
                    <a:noFill/>
                  </a:tcPr>
                </a:tc>
                <a:tc>
                  <a:txBody>
                    <a:bodyPr/>
                    <a:lstStyle/>
                    <a:p>
                      <a:pPr marL="0" indent="0" algn="l">
                        <a:buNone/>
                      </a:pPr>
                      <a:r>
                        <a:rPr lang="en-US" sz="2000" b="1" dirty="0">
                          <a:solidFill>
                            <a:srgbClr val="062F5C"/>
                          </a:solidFill>
                        </a:rPr>
                        <a:t>Lê Gia </a:t>
                      </a:r>
                      <a:r>
                        <a:rPr lang="en-US" sz="2000" b="1" dirty="0" err="1">
                          <a:solidFill>
                            <a:srgbClr val="062F5C"/>
                          </a:solidFill>
                        </a:rPr>
                        <a:t>Thọ</a:t>
                      </a:r>
                      <a:r>
                        <a:rPr lang="en-US" sz="2000" b="1" dirty="0">
                          <a:solidFill>
                            <a:srgbClr val="062F5C"/>
                          </a:solidFill>
                        </a:rPr>
                        <a:t> (</a:t>
                      </a:r>
                      <a:r>
                        <a:rPr lang="vi-VN" sz="2000" b="1" dirty="0">
                          <a:solidFill>
                            <a:srgbClr val="062F5C"/>
                          </a:solidFill>
                        </a:rPr>
                        <a:t>Nhóm trưởng)</a:t>
                      </a:r>
                      <a:endParaRPr lang="en-US" sz="2000" b="1" dirty="0">
                        <a:solidFill>
                          <a:srgbClr val="062F5C"/>
                        </a:solidFill>
                      </a:endParaRPr>
                    </a:p>
                  </a:txBody>
                  <a:tcPr marL="152400" marR="152400" marT="0" marB="0" anchor="ctr">
                    <a:lnL w="0">
                      <a:noFill/>
                    </a:lnL>
                    <a:lnR w="0">
                      <a:noFill/>
                    </a:lnR>
                    <a:lnT w="9525" cap="flat" cmpd="sng" algn="ctr">
                      <a:solidFill>
                        <a:srgbClr val="DFE5EC"/>
                      </a:solidFill>
                      <a:prstDash val="solid"/>
                      <a:round/>
                      <a:headEnd type="none" w="med" len="med"/>
                      <a:tailEnd type="none" w="med" len="med"/>
                    </a:lnT>
                    <a:lnB w="9525" cap="flat" cmpd="sng" algn="ctr">
                      <a:solidFill>
                        <a:srgbClr val="DFE5EC"/>
                      </a:solidFill>
                      <a:prstDash val="solid"/>
                      <a:round/>
                      <a:headEnd type="none" w="med" len="med"/>
                      <a:tailEnd type="none" w="med" len="med"/>
                    </a:lnB>
                    <a:noFill/>
                  </a:tcPr>
                </a:tc>
                <a:tc>
                  <a:txBody>
                    <a:bodyPr/>
                    <a:lstStyle/>
                    <a:p>
                      <a:pPr marL="0" indent="0" algn="l">
                        <a:buNone/>
                      </a:pPr>
                      <a:r>
                        <a:rPr lang="en-US" sz="1800" b="0" dirty="0">
                          <a:solidFill>
                            <a:schemeClr val="tx1"/>
                          </a:solidFill>
                        </a:rPr>
                        <a:t>Khả năng giải quyết vấn đề, lên kế hoạch, lập luận, ra quyết định</a:t>
                      </a:r>
                    </a:p>
                  </a:txBody>
                  <a:tcPr marL="152400" marR="152400" marT="0" marB="0" anchor="ctr">
                    <a:lnL w="0">
                      <a:noFill/>
                    </a:lnL>
                    <a:lnR w="0">
                      <a:noFill/>
                    </a:lnR>
                    <a:lnT w="9525" cap="flat" cmpd="sng" algn="ctr">
                      <a:solidFill>
                        <a:srgbClr val="DFE5EC"/>
                      </a:solidFill>
                      <a:prstDash val="solid"/>
                      <a:round/>
                      <a:headEnd type="none" w="med" len="med"/>
                      <a:tailEnd type="none" w="med" len="med"/>
                    </a:lnT>
                    <a:lnB w="9525" cap="flat" cmpd="sng" algn="ctr">
                      <a:solidFill>
                        <a:srgbClr val="DFE5EC"/>
                      </a:solidFill>
                      <a:prstDash val="solid"/>
                      <a:round/>
                      <a:headEnd type="none" w="med" len="med"/>
                      <a:tailEnd type="none" w="med" len="med"/>
                    </a:lnB>
                    <a:noFill/>
                  </a:tcPr>
                </a:tc>
                <a:extLst>
                  <a:ext uri="{0D108BD9-81ED-4DB2-BD59-A6C34878D82A}">
                    <a16:rowId xmlns:a16="http://schemas.microsoft.com/office/drawing/2014/main" val="1900127738"/>
                  </a:ext>
                </a:extLst>
              </a:tr>
              <a:tr h="697331">
                <a:tc>
                  <a:txBody>
                    <a:bodyPr/>
                    <a:lstStyle/>
                    <a:p>
                      <a:pPr marL="0" indent="0" algn="l">
                        <a:buNone/>
                      </a:pPr>
                      <a:r>
                        <a:rPr lang="en-US" sz="1800" b="0" dirty="0">
                          <a:solidFill>
                            <a:srgbClr val="1677B8"/>
                          </a:solidFill>
                        </a:rPr>
                        <a:t>7</a:t>
                      </a:r>
                    </a:p>
                  </a:txBody>
                  <a:tcPr marL="152400" marR="152400" marT="0" marB="0" anchor="ctr">
                    <a:lnL w="0">
                      <a:noFill/>
                    </a:lnL>
                    <a:lnR w="0">
                      <a:noFill/>
                    </a:lnR>
                    <a:lnT w="9525" cap="flat" cmpd="sng" algn="ctr">
                      <a:solidFill>
                        <a:srgbClr val="DFE5EC"/>
                      </a:solidFill>
                      <a:prstDash val="solid"/>
                      <a:round/>
                      <a:headEnd type="none" w="med" len="med"/>
                      <a:tailEnd type="none" w="med" len="med"/>
                    </a:lnT>
                    <a:lnB w="9525" cap="flat" cmpd="sng" algn="ctr">
                      <a:solidFill>
                        <a:srgbClr val="DFE5EC"/>
                      </a:solidFill>
                      <a:prstDash val="solid"/>
                      <a:round/>
                      <a:headEnd type="none" w="med" len="med"/>
                      <a:tailEnd type="none" w="med" len="med"/>
                    </a:lnB>
                    <a:noFill/>
                  </a:tcPr>
                </a:tc>
                <a:tc>
                  <a:txBody>
                    <a:bodyPr/>
                    <a:lstStyle/>
                    <a:p>
                      <a:pPr marL="0" indent="0" algn="l">
                        <a:buNone/>
                      </a:pPr>
                      <a:r>
                        <a:rPr lang="en-US" sz="1800" b="0" dirty="0">
                          <a:solidFill>
                            <a:srgbClr val="344054"/>
                          </a:solidFill>
                        </a:rPr>
                        <a:t>22703861</a:t>
                      </a:r>
                    </a:p>
                  </a:txBody>
                  <a:tcPr marL="50800" marR="152400" marT="0" marB="0" anchor="ctr">
                    <a:lnL w="0">
                      <a:noFill/>
                    </a:lnL>
                    <a:lnR w="0">
                      <a:noFill/>
                    </a:lnR>
                    <a:lnT w="9525" cap="flat" cmpd="sng" algn="ctr">
                      <a:solidFill>
                        <a:srgbClr val="DFE5EC"/>
                      </a:solidFill>
                      <a:prstDash val="solid"/>
                      <a:round/>
                      <a:headEnd type="none" w="med" len="med"/>
                      <a:tailEnd type="none" w="med" len="med"/>
                    </a:lnT>
                    <a:lnB w="9525" cap="flat" cmpd="sng" algn="ctr">
                      <a:solidFill>
                        <a:srgbClr val="DFE5EC"/>
                      </a:solidFill>
                      <a:prstDash val="solid"/>
                      <a:round/>
                      <a:headEnd type="none" w="med" len="med"/>
                      <a:tailEnd type="none" w="med" len="med"/>
                    </a:lnB>
                    <a:noFill/>
                  </a:tcPr>
                </a:tc>
                <a:tc>
                  <a:txBody>
                    <a:bodyPr/>
                    <a:lstStyle/>
                    <a:p>
                      <a:pPr marL="0" indent="0" algn="l">
                        <a:buNone/>
                      </a:pPr>
                      <a:r>
                        <a:rPr lang="en-US" sz="2000" b="1" dirty="0">
                          <a:solidFill>
                            <a:srgbClr val="062F5C"/>
                          </a:solidFill>
                        </a:rPr>
                        <a:t>Phạm Hoàng Phát</a:t>
                      </a:r>
                    </a:p>
                  </a:txBody>
                  <a:tcPr marL="152400" marR="152400" marT="0" marB="0" anchor="ctr">
                    <a:lnL w="0">
                      <a:noFill/>
                    </a:lnL>
                    <a:lnR w="0">
                      <a:noFill/>
                    </a:lnR>
                    <a:lnT w="9525" cap="flat" cmpd="sng" algn="ctr">
                      <a:solidFill>
                        <a:srgbClr val="DFE5EC"/>
                      </a:solidFill>
                      <a:prstDash val="solid"/>
                      <a:round/>
                      <a:headEnd type="none" w="med" len="med"/>
                      <a:tailEnd type="none" w="med" len="med"/>
                    </a:lnT>
                    <a:lnB w="9525" cap="flat" cmpd="sng" algn="ctr">
                      <a:solidFill>
                        <a:srgbClr val="DFE5EC"/>
                      </a:solidFill>
                      <a:prstDash val="solid"/>
                      <a:round/>
                      <a:headEnd type="none" w="med" len="med"/>
                      <a:tailEnd type="none" w="med" len="med"/>
                    </a:lnB>
                    <a:noFill/>
                  </a:tcPr>
                </a:tc>
                <a:tc>
                  <a:txBody>
                    <a:bodyPr/>
                    <a:lstStyle/>
                    <a:p>
                      <a:pPr marL="0" indent="0" algn="l">
                        <a:buNone/>
                      </a:pPr>
                      <a:r>
                        <a:rPr lang="en-US" sz="1800" b="0" dirty="0">
                          <a:solidFill>
                            <a:schemeClr val="tx1"/>
                          </a:solidFill>
                        </a:rPr>
                        <a:t>Thiết kế slide, thuyết trình</a:t>
                      </a:r>
                    </a:p>
                  </a:txBody>
                  <a:tcPr marL="152400" marR="152400" marT="0" marB="0" anchor="ctr">
                    <a:lnL w="0">
                      <a:noFill/>
                    </a:lnL>
                    <a:lnR w="0">
                      <a:noFill/>
                    </a:lnR>
                    <a:lnT w="9525" cap="flat" cmpd="sng" algn="ctr">
                      <a:solidFill>
                        <a:srgbClr val="DFE5EC"/>
                      </a:solidFill>
                      <a:prstDash val="solid"/>
                      <a:round/>
                      <a:headEnd type="none" w="med" len="med"/>
                      <a:tailEnd type="none" w="med" len="med"/>
                    </a:lnT>
                    <a:lnB w="9525" cap="flat" cmpd="sng" algn="ctr">
                      <a:solidFill>
                        <a:srgbClr val="DFE5EC"/>
                      </a:solidFill>
                      <a:prstDash val="solid"/>
                      <a:round/>
                      <a:headEnd type="none" w="med" len="med"/>
                      <a:tailEnd type="none" w="med" len="med"/>
                    </a:lnB>
                    <a:noFill/>
                  </a:tcPr>
                </a:tc>
                <a:extLst>
                  <a:ext uri="{0D108BD9-81ED-4DB2-BD59-A6C34878D82A}">
                    <a16:rowId xmlns:a16="http://schemas.microsoft.com/office/drawing/2014/main" val="3092445204"/>
                  </a:ext>
                </a:extLst>
              </a:tr>
            </a:tbl>
          </a:graphicData>
        </a:graphic>
      </p:graphicFrame>
      <p:sp>
        <p:nvSpPr>
          <p:cNvPr id="4" name="Shape 0"/>
          <p:cNvSpPr/>
          <p:nvPr/>
        </p:nvSpPr>
        <p:spPr>
          <a:xfrm>
            <a:off x="457200" y="6400800"/>
            <a:ext cx="11277295" cy="0"/>
          </a:xfrm>
          <a:prstGeom prst="line">
            <a:avLst/>
          </a:prstGeom>
          <a:noFill/>
          <a:ln w="9525">
            <a:solidFill>
              <a:srgbClr val="DFE5EC"/>
            </a:solidFill>
            <a:prstDash val="solid"/>
          </a:ln>
        </p:spPr>
        <p:txBody>
          <a:bodyPr/>
          <a:lstStyle/>
          <a:p>
            <a:endParaRPr lang="en-US"/>
          </a:p>
        </p:txBody>
      </p:sp>
      <p:sp>
        <p:nvSpPr>
          <p:cNvPr id="5" name="Text 1"/>
          <p:cNvSpPr txBox="1"/>
          <p:nvPr/>
        </p:nvSpPr>
        <p:spPr>
          <a:xfrm>
            <a:off x="457200" y="6455664"/>
            <a:ext cx="7315200" cy="237744"/>
          </a:xfrm>
          <a:prstGeom prst="rect">
            <a:avLst/>
          </a:prstGeom>
          <a:noFill/>
          <a:ln/>
        </p:spPr>
        <p:txBody>
          <a:bodyPr wrap="square" lIns="0" tIns="0" rIns="0" bIns="0" rtlCol="0" anchor="ctr"/>
          <a:lstStyle/>
          <a:p>
            <a:pPr marL="0" indent="0">
              <a:buNone/>
            </a:pPr>
            <a:r>
              <a:rPr lang="en-US" sz="900" dirty="0">
                <a:solidFill>
                  <a:srgbClr val="073B6F"/>
                </a:solidFill>
              </a:rPr>
              <a:t>Tương tác Người – Máy | IUH 2026–2027</a:t>
            </a:r>
            <a:endParaRPr lang="en-US" sz="900" dirty="0"/>
          </a:p>
        </p:txBody>
      </p:sp>
      <p:sp>
        <p:nvSpPr>
          <p:cNvPr id="52" name="Slide title"/>
          <p:cNvSpPr txBox="1"/>
          <p:nvPr/>
        </p:nvSpPr>
        <p:spPr>
          <a:xfrm>
            <a:off x="4114800" y="63199"/>
            <a:ext cx="8890000" cy="558800"/>
          </a:xfrm>
          <a:prstGeom prst="rect">
            <a:avLst/>
          </a:prstGeom>
          <a:noFill/>
        </p:spPr>
        <p:txBody>
          <a:bodyPr wrap="square" lIns="0" tIns="0" rIns="0" bIns="0" anchor="t">
            <a:noAutofit/>
          </a:bodyPr>
          <a:lstStyle/>
          <a:p>
            <a:r>
              <a:rPr lang="vi-VN" sz="3200" b="1" dirty="0">
                <a:solidFill>
                  <a:srgbClr val="062F5C"/>
                </a:solidFill>
              </a:rPr>
              <a:t>THÀNH VIÊN NHÓM</a:t>
            </a:r>
          </a:p>
        </p:txBody>
      </p:sp>
    </p:spTree>
    <p:extLst>
      <p:ext uri="{BB962C8B-B14F-4D97-AF65-F5344CB8AC3E}">
        <p14:creationId xmlns:p14="http://schemas.microsoft.com/office/powerpoint/2010/main" val="42472275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62F5C"/>
        </a:solidFill>
        <a:effectLst/>
      </p:bgPr>
    </p:bg>
    <p:spTree>
      <p:nvGrpSpPr>
        <p:cNvPr id="1" name=""/>
        <p:cNvGrpSpPr/>
        <p:nvPr/>
      </p:nvGrpSpPr>
      <p:grpSpPr>
        <a:xfrm>
          <a:off x="0" y="0"/>
          <a:ext cx="0" cy="0"/>
          <a:chOff x="0" y="0"/>
          <a:chExt cx="0" cy="0"/>
        </a:xfrm>
      </p:grpSpPr>
      <p:sp>
        <p:nvSpPr>
          <p:cNvPr id="42" name="Decor 43"/>
          <p:cNvSpPr/>
          <p:nvPr/>
        </p:nvSpPr>
        <p:spPr>
          <a:xfrm>
            <a:off x="8890000" y="-2286000"/>
            <a:ext cx="5334000" cy="5334000"/>
          </a:xfrm>
          <a:prstGeom prst="ellipse">
            <a:avLst/>
          </a:prstGeom>
          <a:solidFill>
            <a:srgbClr val="FFFFFF">
              <a:alpha val="9000"/>
            </a:srgbClr>
          </a:solidFill>
          <a:ln>
            <a:noFill/>
          </a:ln>
        </p:spPr>
        <p:txBody>
          <a:bodyPr/>
          <a:lstStyle/>
          <a:p>
            <a:endParaRPr lang="en-US"/>
          </a:p>
        </p:txBody>
      </p:sp>
      <p:sp>
        <p:nvSpPr>
          <p:cNvPr id="43" name="Decor 44"/>
          <p:cNvSpPr/>
          <p:nvPr/>
        </p:nvSpPr>
        <p:spPr>
          <a:xfrm>
            <a:off x="-1778000" y="4572000"/>
            <a:ext cx="3810000" cy="3810000"/>
          </a:xfrm>
          <a:prstGeom prst="ellipse">
            <a:avLst/>
          </a:prstGeom>
          <a:noFill/>
          <a:ln w="28575">
            <a:solidFill>
              <a:srgbClr val="FFFFFF">
                <a:alpha val="22000"/>
              </a:srgbClr>
            </a:solidFill>
          </a:ln>
        </p:spPr>
        <p:txBody>
          <a:bodyPr/>
          <a:lstStyle/>
          <a:p>
            <a:endParaRPr lang="en-US"/>
          </a:p>
        </p:txBody>
      </p:sp>
      <p:sp>
        <p:nvSpPr>
          <p:cNvPr id="44" name="Decor 45"/>
          <p:cNvSpPr/>
          <p:nvPr/>
        </p:nvSpPr>
        <p:spPr>
          <a:xfrm>
            <a:off x="11303000" y="6413500"/>
            <a:ext cx="279400" cy="279400"/>
          </a:xfrm>
          <a:prstGeom prst="ellipse">
            <a:avLst/>
          </a:prstGeom>
          <a:solidFill>
            <a:srgbClr val="F4B336">
              <a:alpha val="35000"/>
            </a:srgbClr>
          </a:solidFill>
          <a:ln>
            <a:noFill/>
          </a:ln>
        </p:spPr>
        <p:txBody>
          <a:bodyPr/>
          <a:lstStyle/>
          <a:p>
            <a:endParaRPr lang="en-US"/>
          </a:p>
        </p:txBody>
      </p:sp>
      <p:sp>
        <p:nvSpPr>
          <p:cNvPr id="2" name="Text 1"/>
          <p:cNvSpPr>
            <a:spLocks noGrp="1"/>
          </p:cNvSpPr>
          <p:nvPr>
            <p:ph type="title" idx="101" hasCustomPrompt="1"/>
          </p:nvPr>
        </p:nvSpPr>
        <p:spPr>
          <a:prstGeom prst="rect">
            <a:avLst/>
          </a:prstGeom>
          <a:noFill/>
          <a:ln/>
        </p:spPr>
        <p:txBody>
          <a:bodyPr wrap="square" lIns="0" tIns="0" rIns="0" bIns="0" rtlCol="0" anchor="t"/>
          <a:lstStyle/>
          <a:p>
            <a:pPr marL="0" indent="0" algn="l">
              <a:buNone/>
            </a:pPr>
            <a:r>
              <a:rPr lang="en-US" sz="3000" b="1" dirty="0">
                <a:solidFill>
                  <a:srgbClr val="FFFFFF"/>
                </a:solidFill>
              </a:rPr>
              <a:t>TỔNG QUAN BÀI HỌC</a:t>
            </a:r>
            <a:endParaRPr lang="en-US" sz="2800" dirty="0">
              <a:solidFill>
                <a:srgbClr val="FFFFFF"/>
              </a:solidFill>
            </a:endParaRPr>
          </a:p>
        </p:txBody>
      </p:sp>
      <p:cxnSp>
        <p:nvCxnSpPr>
          <p:cNvPr id="60" name="Zone divider"/>
          <p:cNvCxnSpPr/>
          <p:nvPr/>
        </p:nvCxnSpPr>
        <p:spPr>
          <a:xfrm>
            <a:off x="457200" y="2844800"/>
            <a:ext cx="11277600" cy="0"/>
          </a:xfrm>
          <a:prstGeom prst="line">
            <a:avLst/>
          </a:prstGeom>
          <a:ln w="9525">
            <a:solidFill>
              <a:srgbClr val="FFFFFF">
                <a:alpha val="22000"/>
              </a:srgbClr>
            </a:solidFill>
          </a:ln>
        </p:spPr>
      </p:cxnSp>
      <p:sp>
        <p:nvSpPr>
          <p:cNvPr id="4" name="Text 2"/>
          <p:cNvSpPr txBox="1"/>
          <p:nvPr/>
        </p:nvSpPr>
        <p:spPr>
          <a:xfrm>
            <a:off x="457200" y="1143000"/>
            <a:ext cx="11277600" cy="304800"/>
          </a:xfrm>
          <a:prstGeom prst="rect">
            <a:avLst/>
          </a:prstGeom>
          <a:noFill/>
          <a:ln/>
        </p:spPr>
        <p:txBody>
          <a:bodyPr wrap="square" lIns="0" tIns="0" rIns="0" bIns="0" rtlCol="0" anchor="t"/>
          <a:lstStyle/>
          <a:p>
            <a:r>
              <a:rPr lang="vi-VN" sz="1700" b="1" kern="0" spc="80" dirty="0">
                <a:solidFill>
                  <a:srgbClr val="F4B336"/>
                </a:solidFill>
              </a:rPr>
              <a:t>MỞ ĐẦU – NHẬN THỨC TRONG THIẾT KẾ TƯƠNG TÁC</a:t>
            </a:r>
            <a:endParaRPr lang="en-US" sz="1700" dirty="0"/>
          </a:p>
        </p:txBody>
      </p:sp>
      <p:sp>
        <p:nvSpPr>
          <p:cNvPr id="5" name="Text 3"/>
          <p:cNvSpPr txBox="1"/>
          <p:nvPr/>
        </p:nvSpPr>
        <p:spPr>
          <a:xfrm>
            <a:off x="457200" y="1498600"/>
            <a:ext cx="11277600" cy="1270000"/>
          </a:xfrm>
          <a:prstGeom prst="rect">
            <a:avLst/>
          </a:prstGeom>
          <a:noFill/>
          <a:ln/>
        </p:spPr>
        <p:txBody>
          <a:bodyPr wrap="square" lIns="0" tIns="0" rIns="0" bIns="0" numCol="2" spcCol="457200" rtlCol="0" anchor="t"/>
          <a:lstStyle/>
          <a:p>
            <a:pPr marL="254000" indent="-254000">
              <a:lnSpc>
                <a:spcPct val="105000"/>
              </a:lnSpc>
              <a:spcAft>
                <a:spcPts val="800"/>
              </a:spcAft>
              <a:buClr>
                <a:srgbClr val="F4B336"/>
              </a:buClr>
              <a:buSzPct val="100000"/>
              <a:buChar char="•"/>
            </a:pPr>
            <a:r>
              <a:rPr lang="vi-VN" sz="1800" dirty="0">
                <a:solidFill>
                  <a:srgbClr val="FFFFFF"/>
                </a:solidFill>
              </a:rPr>
              <a:t>Tương tác với công nghệ luôn là một </a:t>
            </a:r>
            <a:r>
              <a:rPr lang="vi-VN" sz="1800" b="1" dirty="0">
                <a:solidFill>
                  <a:srgbClr val="FFFFFF"/>
                </a:solidFill>
              </a:rPr>
              <a:t>hoạt động nhận thức</a:t>
            </a:r>
          </a:p>
          <a:p>
            <a:pPr marL="254000" indent="-254000">
              <a:lnSpc>
                <a:spcPct val="105000"/>
              </a:lnSpc>
              <a:spcAft>
                <a:spcPts val="800"/>
              </a:spcAft>
              <a:buClr>
                <a:srgbClr val="F4B336"/>
              </a:buClr>
              <a:buSzPct val="100000"/>
              <a:buChar char="•"/>
            </a:pPr>
            <a:r>
              <a:rPr lang="vi-VN" sz="1800" dirty="0">
                <a:solidFill>
                  <a:srgbClr val="FFFFFF"/>
                </a:solidFill>
              </a:rPr>
              <a:t>Hiểu nhận thức giúp biết người dùng </a:t>
            </a:r>
            <a:r>
              <a:rPr lang="vi-VN" sz="1800" b="1" dirty="0">
                <a:solidFill>
                  <a:srgbClr val="FFFFFF"/>
                </a:solidFill>
              </a:rPr>
              <a:t>làm được gì</a:t>
            </a:r>
            <a:r>
              <a:rPr lang="vi-VN" sz="1800" dirty="0">
                <a:solidFill>
                  <a:srgbClr val="FFFFFF"/>
                </a:solidFill>
              </a:rPr>
              <a:t> và </a:t>
            </a:r>
            <a:r>
              <a:rPr lang="vi-VN" sz="1800" b="1" dirty="0">
                <a:solidFill>
                  <a:srgbClr val="FFFFFF"/>
                </a:solidFill>
              </a:rPr>
              <a:t>dễ vướng ở đâu</a:t>
            </a:r>
          </a:p>
          <a:p>
            <a:pPr marL="254000" indent="-254000">
              <a:lnSpc>
                <a:spcPct val="105000"/>
              </a:lnSpc>
              <a:spcAft>
                <a:spcPts val="800"/>
              </a:spcAft>
              <a:buClr>
                <a:srgbClr val="F4B336"/>
              </a:buClr>
              <a:buSzPct val="100000"/>
              <a:buChar char="•"/>
            </a:pPr>
            <a:r>
              <a:rPr lang="vi-VN" sz="1800" b="1" dirty="0">
                <a:solidFill>
                  <a:srgbClr val="FFFFFF"/>
                </a:solidFill>
              </a:rPr>
              <a:t>Experiential</a:t>
            </a:r>
            <a:r>
              <a:rPr lang="vi-VN" sz="1800" dirty="0">
                <a:solidFill>
                  <a:srgbClr val="FFFFFF"/>
                </a:solidFill>
              </a:rPr>
              <a:t> (nhanh, trực giác) ↔ </a:t>
            </a:r>
            <a:r>
              <a:rPr lang="vi-VN" sz="1800" b="1" dirty="0">
                <a:solidFill>
                  <a:srgbClr val="FFFFFF"/>
                </a:solidFill>
              </a:rPr>
              <a:t>Reflective</a:t>
            </a:r>
            <a:r>
              <a:rPr lang="vi-VN" sz="1800" dirty="0">
                <a:solidFill>
                  <a:srgbClr val="FFFFFF"/>
                </a:solidFill>
              </a:rPr>
              <a:t> (chậm, có chủ ý)</a:t>
            </a:r>
          </a:p>
          <a:p>
            <a:pPr marL="254000" indent="-254000">
              <a:lnSpc>
                <a:spcPct val="105000"/>
              </a:lnSpc>
              <a:spcAft>
                <a:spcPts val="800"/>
              </a:spcAft>
              <a:buClr>
                <a:srgbClr val="F4B336"/>
              </a:buClr>
              <a:buSzPct val="100000"/>
              <a:buChar char="•"/>
            </a:pPr>
            <a:r>
              <a:rPr lang="vi-VN" sz="1800" dirty="0">
                <a:solidFill>
                  <a:srgbClr val="FFFFFF"/>
                </a:solidFill>
              </a:rPr>
              <a:t>Các quá trình </a:t>
            </a:r>
            <a:r>
              <a:rPr lang="vi-VN" sz="1800" b="1" dirty="0">
                <a:solidFill>
                  <a:srgbClr val="FFFFFF"/>
                </a:solidFill>
              </a:rPr>
              <a:t>phối hợp với nhau</a:t>
            </a:r>
            <a:r>
              <a:rPr lang="vi-VN" sz="1800" dirty="0">
                <a:solidFill>
                  <a:srgbClr val="FFFFFF"/>
                </a:solidFill>
              </a:rPr>
              <a:t> trong cùng một nhiệm vụ</a:t>
            </a:r>
          </a:p>
        </p:txBody>
      </p:sp>
      <p:sp>
        <p:nvSpPr>
          <p:cNvPr id="7" name="Text 5"/>
          <p:cNvSpPr txBox="1"/>
          <p:nvPr/>
        </p:nvSpPr>
        <p:spPr>
          <a:xfrm>
            <a:off x="457200" y="5664200"/>
            <a:ext cx="11277600" cy="660400"/>
          </a:xfrm>
          <a:prstGeom prst="rect">
            <a:avLst/>
          </a:prstGeom>
          <a:noFill/>
          <a:ln/>
        </p:spPr>
        <p:txBody>
          <a:bodyPr wrap="square" lIns="0" tIns="0" rIns="0" bIns="0" rtlCol="0" anchor="ctr"/>
          <a:lstStyle/>
          <a:p>
            <a:pPr marL="0" indent="0">
              <a:lnSpc>
                <a:spcPct val="115000"/>
              </a:lnSpc>
              <a:buNone/>
            </a:pPr>
            <a:r>
              <a:rPr lang="vi-VN" sz="1700" b="1" dirty="0">
                <a:solidFill>
                  <a:srgbClr val="F4B336"/>
                </a:solidFill>
              </a:rPr>
              <a:t>Mục tiêu: </a:t>
            </a:r>
            <a:r>
              <a:rPr lang="vi-VN" sz="1700" dirty="0">
                <a:solidFill>
                  <a:srgbClr val="DCE4EE"/>
                </a:solidFill>
              </a:rPr>
              <a:t>thiết kế công nghệ phù hợp với khả năng nhận thức, giảm khó khăn và giúp người dùng hoàn thành nhiệm vụ hiệu quả hơn</a:t>
            </a:r>
          </a:p>
        </p:txBody>
      </p:sp>
      <p:sp>
        <p:nvSpPr>
          <p:cNvPr id="9" name="Text 7"/>
          <p:cNvSpPr txBox="1"/>
          <p:nvPr/>
        </p:nvSpPr>
        <p:spPr>
          <a:xfrm>
            <a:off x="457200" y="2946400"/>
            <a:ext cx="11277600" cy="304800"/>
          </a:xfrm>
          <a:prstGeom prst="rect">
            <a:avLst/>
          </a:prstGeom>
          <a:noFill/>
          <a:ln/>
        </p:spPr>
        <p:txBody>
          <a:bodyPr wrap="square" lIns="0" tIns="0" rIns="0" bIns="0" rtlCol="0" anchor="t"/>
          <a:lstStyle/>
          <a:p>
            <a:pPr marL="0" indent="0">
              <a:buNone/>
            </a:pPr>
            <a:r>
              <a:rPr lang="en-US" sz="1700" b="1" kern="0" spc="80" dirty="0">
                <a:solidFill>
                  <a:srgbClr val="F4B336"/>
                </a:solidFill>
              </a:rPr>
              <a:t>6 NHÓM QUÁ TRÌNH NHẬN THỨC</a:t>
            </a:r>
            <a:endParaRPr lang="en-US" sz="1700" dirty="0"/>
          </a:p>
        </p:txBody>
      </p:sp>
      <p:sp>
        <p:nvSpPr>
          <p:cNvPr id="70" name="Group card 1"/>
          <p:cNvSpPr/>
          <p:nvPr/>
        </p:nvSpPr>
        <p:spPr>
          <a:xfrm>
            <a:off x="457200" y="3327400"/>
            <a:ext cx="3619500" cy="1066800"/>
          </a:xfrm>
          <a:prstGeom prst="roundRect">
            <a:avLst>
              <a:gd name="adj" fmla="val 6000"/>
            </a:avLst>
          </a:prstGeom>
          <a:solidFill>
            <a:srgbClr val="0B4F8A"/>
          </a:solidFill>
          <a:ln>
            <a:noFill/>
          </a:ln>
        </p:spPr>
        <p:txBody>
          <a:bodyPr/>
          <a:lstStyle/>
          <a:p>
            <a:endParaRPr lang="en-US"/>
          </a:p>
        </p:txBody>
      </p:sp>
      <p:sp>
        <p:nvSpPr>
          <p:cNvPr id="11" name="Text 9"/>
          <p:cNvSpPr txBox="1"/>
          <p:nvPr/>
        </p:nvSpPr>
        <p:spPr>
          <a:xfrm>
            <a:off x="635000" y="3327400"/>
            <a:ext cx="635000" cy="1066800"/>
          </a:xfrm>
          <a:prstGeom prst="rect">
            <a:avLst/>
          </a:prstGeom>
          <a:noFill/>
          <a:ln/>
        </p:spPr>
        <p:txBody>
          <a:bodyPr wrap="square" lIns="0" tIns="0" rIns="0" bIns="0" rtlCol="0" anchor="ctr"/>
          <a:lstStyle/>
          <a:p>
            <a:pPr marL="0" indent="0" algn="l">
              <a:buNone/>
            </a:pPr>
            <a:r>
              <a:rPr lang="en-US" sz="3000" b="1" dirty="0">
                <a:solidFill>
                  <a:srgbClr val="F4B336"/>
                </a:solidFill>
              </a:rPr>
              <a:t>01</a:t>
            </a:r>
            <a:endParaRPr lang="en-US" sz="3000" dirty="0"/>
          </a:p>
        </p:txBody>
      </p:sp>
      <p:sp>
        <p:nvSpPr>
          <p:cNvPr id="12" name="Text 10"/>
          <p:cNvSpPr txBox="1"/>
          <p:nvPr/>
        </p:nvSpPr>
        <p:spPr>
          <a:xfrm>
            <a:off x="1320800" y="3327400"/>
            <a:ext cx="2603500" cy="1066800"/>
          </a:xfrm>
          <a:prstGeom prst="rect">
            <a:avLst/>
          </a:prstGeom>
          <a:noFill/>
          <a:ln/>
        </p:spPr>
        <p:txBody>
          <a:bodyPr wrap="square" lIns="0" tIns="0" rIns="0" bIns="0" rtlCol="0" anchor="ctr"/>
          <a:lstStyle/>
          <a:p>
            <a:pPr marL="0" indent="0">
              <a:lnSpc>
                <a:spcPct val="100000"/>
              </a:lnSpc>
              <a:spcAft>
                <a:spcPts val="0"/>
              </a:spcAft>
              <a:buNone/>
            </a:pPr>
            <a:r>
              <a:rPr lang="en-US" sz="1900" b="1" dirty="0">
                <a:solidFill>
                  <a:srgbClr val="FFFFFF"/>
                </a:solidFill>
              </a:rPr>
              <a:t>Sự tập trung, chú ý</a:t>
            </a:r>
            <a:endParaRPr lang="en-US" sz="1900" dirty="0"/>
          </a:p>
        </p:txBody>
      </p:sp>
      <p:sp>
        <p:nvSpPr>
          <p:cNvPr id="71" name="Group card 2"/>
          <p:cNvSpPr/>
          <p:nvPr/>
        </p:nvSpPr>
        <p:spPr>
          <a:xfrm>
            <a:off x="4279900" y="3327400"/>
            <a:ext cx="3619500" cy="1066800"/>
          </a:xfrm>
          <a:prstGeom prst="roundRect">
            <a:avLst>
              <a:gd name="adj" fmla="val 6000"/>
            </a:avLst>
          </a:prstGeom>
          <a:solidFill>
            <a:srgbClr val="0B4F8A"/>
          </a:solidFill>
          <a:ln>
            <a:noFill/>
          </a:ln>
        </p:spPr>
        <p:txBody>
          <a:bodyPr/>
          <a:lstStyle/>
          <a:p>
            <a:endParaRPr lang="en-US"/>
          </a:p>
        </p:txBody>
      </p:sp>
      <p:sp>
        <p:nvSpPr>
          <p:cNvPr id="15" name="Text 13"/>
          <p:cNvSpPr txBox="1"/>
          <p:nvPr/>
        </p:nvSpPr>
        <p:spPr>
          <a:xfrm>
            <a:off x="4457700" y="3327400"/>
            <a:ext cx="635000" cy="1066800"/>
          </a:xfrm>
          <a:prstGeom prst="rect">
            <a:avLst/>
          </a:prstGeom>
          <a:noFill/>
          <a:ln/>
        </p:spPr>
        <p:txBody>
          <a:bodyPr wrap="square" lIns="0" tIns="0" rIns="0" bIns="0" rtlCol="0" anchor="ctr"/>
          <a:lstStyle/>
          <a:p>
            <a:pPr marL="0" indent="0" algn="l">
              <a:buNone/>
            </a:pPr>
            <a:r>
              <a:rPr lang="en-US" sz="3000" b="1" dirty="0">
                <a:solidFill>
                  <a:srgbClr val="F4B336"/>
                </a:solidFill>
              </a:rPr>
              <a:t>02</a:t>
            </a:r>
            <a:endParaRPr lang="en-US" sz="3000" dirty="0"/>
          </a:p>
        </p:txBody>
      </p:sp>
      <p:sp>
        <p:nvSpPr>
          <p:cNvPr id="16" name="Text 14"/>
          <p:cNvSpPr txBox="1"/>
          <p:nvPr/>
        </p:nvSpPr>
        <p:spPr>
          <a:xfrm>
            <a:off x="5143500" y="3327400"/>
            <a:ext cx="2603500" cy="1066800"/>
          </a:xfrm>
          <a:prstGeom prst="rect">
            <a:avLst/>
          </a:prstGeom>
          <a:noFill/>
          <a:ln/>
        </p:spPr>
        <p:txBody>
          <a:bodyPr wrap="square" lIns="0" tIns="0" rIns="0" bIns="0" rtlCol="0" anchor="ctr"/>
          <a:lstStyle/>
          <a:p>
            <a:pPr marL="0" indent="0">
              <a:lnSpc>
                <a:spcPct val="100000"/>
              </a:lnSpc>
              <a:spcAft>
                <a:spcPts val="0"/>
              </a:spcAft>
              <a:buNone/>
            </a:pPr>
            <a:r>
              <a:rPr lang="en-US" sz="1900" b="1" dirty="0">
                <a:solidFill>
                  <a:srgbClr val="FFFFFF"/>
                </a:solidFill>
              </a:rPr>
              <a:t>Tri giác qua các giác quan</a:t>
            </a:r>
            <a:endParaRPr lang="en-US" sz="1900" dirty="0"/>
          </a:p>
        </p:txBody>
      </p:sp>
      <p:sp>
        <p:nvSpPr>
          <p:cNvPr id="72" name="Group card 3"/>
          <p:cNvSpPr/>
          <p:nvPr/>
        </p:nvSpPr>
        <p:spPr>
          <a:xfrm>
            <a:off x="8115300" y="3327400"/>
            <a:ext cx="3619500" cy="1066800"/>
          </a:xfrm>
          <a:prstGeom prst="roundRect">
            <a:avLst>
              <a:gd name="adj" fmla="val 6000"/>
            </a:avLst>
          </a:prstGeom>
          <a:solidFill>
            <a:srgbClr val="0B4F8A"/>
          </a:solidFill>
          <a:ln>
            <a:noFill/>
          </a:ln>
        </p:spPr>
        <p:txBody>
          <a:bodyPr/>
          <a:lstStyle/>
          <a:p>
            <a:endParaRPr lang="en-US"/>
          </a:p>
        </p:txBody>
      </p:sp>
      <p:sp>
        <p:nvSpPr>
          <p:cNvPr id="19" name="Text 17"/>
          <p:cNvSpPr txBox="1"/>
          <p:nvPr/>
        </p:nvSpPr>
        <p:spPr>
          <a:xfrm>
            <a:off x="8293100" y="3327400"/>
            <a:ext cx="635000" cy="1066800"/>
          </a:xfrm>
          <a:prstGeom prst="rect">
            <a:avLst/>
          </a:prstGeom>
          <a:noFill/>
          <a:ln/>
        </p:spPr>
        <p:txBody>
          <a:bodyPr wrap="square" lIns="0" tIns="0" rIns="0" bIns="0" rtlCol="0" anchor="ctr"/>
          <a:lstStyle/>
          <a:p>
            <a:pPr marL="0" indent="0" algn="l">
              <a:buNone/>
            </a:pPr>
            <a:r>
              <a:rPr lang="en-US" sz="3000" b="1" dirty="0">
                <a:solidFill>
                  <a:srgbClr val="F4B336"/>
                </a:solidFill>
              </a:rPr>
              <a:t>03</a:t>
            </a:r>
            <a:endParaRPr lang="en-US" sz="3000" dirty="0"/>
          </a:p>
        </p:txBody>
      </p:sp>
      <p:sp>
        <p:nvSpPr>
          <p:cNvPr id="20" name="Text 18"/>
          <p:cNvSpPr txBox="1"/>
          <p:nvPr/>
        </p:nvSpPr>
        <p:spPr>
          <a:xfrm>
            <a:off x="8978900" y="3327400"/>
            <a:ext cx="2603500" cy="1066800"/>
          </a:xfrm>
          <a:prstGeom prst="rect">
            <a:avLst/>
          </a:prstGeom>
          <a:noFill/>
          <a:ln/>
        </p:spPr>
        <p:txBody>
          <a:bodyPr wrap="square" lIns="0" tIns="0" rIns="0" bIns="0" rtlCol="0" anchor="ctr"/>
          <a:lstStyle/>
          <a:p>
            <a:pPr marL="0" indent="0">
              <a:lnSpc>
                <a:spcPct val="100000"/>
              </a:lnSpc>
              <a:spcAft>
                <a:spcPts val="0"/>
              </a:spcAft>
              <a:buNone/>
            </a:pPr>
            <a:r>
              <a:rPr lang="en-US" sz="1900" b="1" dirty="0">
                <a:solidFill>
                  <a:srgbClr val="FFFFFF"/>
                </a:solidFill>
              </a:rPr>
              <a:t>Trí nhớ, ký ức</a:t>
            </a:r>
            <a:endParaRPr lang="en-US" sz="1900" dirty="0"/>
          </a:p>
        </p:txBody>
      </p:sp>
      <p:sp>
        <p:nvSpPr>
          <p:cNvPr id="73" name="Group card 4"/>
          <p:cNvSpPr/>
          <p:nvPr/>
        </p:nvSpPr>
        <p:spPr>
          <a:xfrm>
            <a:off x="457200" y="4495800"/>
            <a:ext cx="3619500" cy="1066800"/>
          </a:xfrm>
          <a:prstGeom prst="roundRect">
            <a:avLst>
              <a:gd name="adj" fmla="val 6000"/>
            </a:avLst>
          </a:prstGeom>
          <a:solidFill>
            <a:srgbClr val="0B4F8A"/>
          </a:solidFill>
          <a:ln>
            <a:noFill/>
          </a:ln>
        </p:spPr>
        <p:txBody>
          <a:bodyPr/>
          <a:lstStyle/>
          <a:p>
            <a:endParaRPr lang="en-US"/>
          </a:p>
        </p:txBody>
      </p:sp>
      <p:sp>
        <p:nvSpPr>
          <p:cNvPr id="23" name="Text 21"/>
          <p:cNvSpPr txBox="1"/>
          <p:nvPr/>
        </p:nvSpPr>
        <p:spPr>
          <a:xfrm>
            <a:off x="635000" y="4495800"/>
            <a:ext cx="635000" cy="1066800"/>
          </a:xfrm>
          <a:prstGeom prst="rect">
            <a:avLst/>
          </a:prstGeom>
          <a:noFill/>
          <a:ln/>
        </p:spPr>
        <p:txBody>
          <a:bodyPr wrap="square" lIns="0" tIns="0" rIns="0" bIns="0" rtlCol="0" anchor="ctr"/>
          <a:lstStyle/>
          <a:p>
            <a:pPr marL="0" indent="0" algn="l">
              <a:buNone/>
            </a:pPr>
            <a:r>
              <a:rPr lang="en-US" sz="3000" b="1" dirty="0">
                <a:solidFill>
                  <a:srgbClr val="F4B336"/>
                </a:solidFill>
              </a:rPr>
              <a:t>04</a:t>
            </a:r>
            <a:endParaRPr lang="en-US" sz="3000" dirty="0"/>
          </a:p>
        </p:txBody>
      </p:sp>
      <p:sp>
        <p:nvSpPr>
          <p:cNvPr id="24" name="Text 22"/>
          <p:cNvSpPr txBox="1"/>
          <p:nvPr/>
        </p:nvSpPr>
        <p:spPr>
          <a:xfrm>
            <a:off x="1320800" y="4495800"/>
            <a:ext cx="2603500" cy="1066800"/>
          </a:xfrm>
          <a:prstGeom prst="rect">
            <a:avLst/>
          </a:prstGeom>
          <a:noFill/>
          <a:ln/>
        </p:spPr>
        <p:txBody>
          <a:bodyPr wrap="square" lIns="0" tIns="0" rIns="0" bIns="0" rtlCol="0" anchor="ctr"/>
          <a:lstStyle/>
          <a:p>
            <a:pPr marL="0" indent="0">
              <a:lnSpc>
                <a:spcPct val="100000"/>
              </a:lnSpc>
              <a:spcAft>
                <a:spcPts val="0"/>
              </a:spcAft>
              <a:buNone/>
            </a:pPr>
            <a:r>
              <a:rPr lang="en-US" sz="1900" b="1" dirty="0">
                <a:solidFill>
                  <a:srgbClr val="FFFFFF"/>
                </a:solidFill>
              </a:rPr>
              <a:t>Học</a:t>
            </a:r>
            <a:endParaRPr lang="en-US" sz="1900" dirty="0"/>
          </a:p>
        </p:txBody>
      </p:sp>
      <p:sp>
        <p:nvSpPr>
          <p:cNvPr id="74" name="Group card 5"/>
          <p:cNvSpPr/>
          <p:nvPr/>
        </p:nvSpPr>
        <p:spPr>
          <a:xfrm>
            <a:off x="4279900" y="4495800"/>
            <a:ext cx="3619500" cy="1066800"/>
          </a:xfrm>
          <a:prstGeom prst="roundRect">
            <a:avLst>
              <a:gd name="adj" fmla="val 6000"/>
            </a:avLst>
          </a:prstGeom>
          <a:solidFill>
            <a:srgbClr val="0B4F8A"/>
          </a:solidFill>
          <a:ln>
            <a:noFill/>
          </a:ln>
        </p:spPr>
        <p:txBody>
          <a:bodyPr/>
          <a:lstStyle/>
          <a:p>
            <a:endParaRPr lang="en-US"/>
          </a:p>
        </p:txBody>
      </p:sp>
      <p:sp>
        <p:nvSpPr>
          <p:cNvPr id="27" name="Text 25"/>
          <p:cNvSpPr txBox="1"/>
          <p:nvPr/>
        </p:nvSpPr>
        <p:spPr>
          <a:xfrm>
            <a:off x="4457700" y="4495800"/>
            <a:ext cx="635000" cy="1066800"/>
          </a:xfrm>
          <a:prstGeom prst="rect">
            <a:avLst/>
          </a:prstGeom>
          <a:noFill/>
          <a:ln/>
        </p:spPr>
        <p:txBody>
          <a:bodyPr wrap="square" lIns="0" tIns="0" rIns="0" bIns="0" rtlCol="0" anchor="ctr"/>
          <a:lstStyle/>
          <a:p>
            <a:pPr marL="0" indent="0" algn="l">
              <a:buNone/>
            </a:pPr>
            <a:r>
              <a:rPr lang="en-US" sz="3000" b="1" dirty="0">
                <a:solidFill>
                  <a:srgbClr val="F4B336"/>
                </a:solidFill>
              </a:rPr>
              <a:t>05</a:t>
            </a:r>
            <a:endParaRPr lang="en-US" sz="3000" dirty="0"/>
          </a:p>
        </p:txBody>
      </p:sp>
      <p:sp>
        <p:nvSpPr>
          <p:cNvPr id="28" name="Text 26"/>
          <p:cNvSpPr txBox="1"/>
          <p:nvPr/>
        </p:nvSpPr>
        <p:spPr>
          <a:xfrm>
            <a:off x="5143500" y="4495800"/>
            <a:ext cx="2603500" cy="1066800"/>
          </a:xfrm>
          <a:prstGeom prst="rect">
            <a:avLst/>
          </a:prstGeom>
          <a:noFill/>
          <a:ln/>
        </p:spPr>
        <p:txBody>
          <a:bodyPr wrap="square" lIns="0" tIns="0" rIns="0" bIns="0" rtlCol="0" anchor="ctr"/>
          <a:lstStyle/>
          <a:p>
            <a:pPr marL="0" indent="0">
              <a:lnSpc>
                <a:spcPct val="100000"/>
              </a:lnSpc>
              <a:spcAft>
                <a:spcPts val="0"/>
              </a:spcAft>
              <a:buNone/>
            </a:pPr>
            <a:r>
              <a:rPr lang="en-US" sz="1900" b="1" dirty="0">
                <a:solidFill>
                  <a:srgbClr val="FFFFFF"/>
                </a:solidFill>
              </a:rPr>
              <a:t>Đọc, nghe, nói</a:t>
            </a:r>
            <a:endParaRPr lang="en-US" sz="1900" dirty="0"/>
          </a:p>
        </p:txBody>
      </p:sp>
      <p:sp>
        <p:nvSpPr>
          <p:cNvPr id="75" name="Group card 6"/>
          <p:cNvSpPr/>
          <p:nvPr/>
        </p:nvSpPr>
        <p:spPr>
          <a:xfrm>
            <a:off x="8115300" y="4495800"/>
            <a:ext cx="3619500" cy="1066800"/>
          </a:xfrm>
          <a:prstGeom prst="roundRect">
            <a:avLst>
              <a:gd name="adj" fmla="val 6000"/>
            </a:avLst>
          </a:prstGeom>
          <a:solidFill>
            <a:srgbClr val="0B4F8A"/>
          </a:solidFill>
          <a:ln>
            <a:noFill/>
          </a:ln>
        </p:spPr>
        <p:txBody>
          <a:bodyPr/>
          <a:lstStyle/>
          <a:p>
            <a:endParaRPr lang="en-US"/>
          </a:p>
        </p:txBody>
      </p:sp>
      <p:sp>
        <p:nvSpPr>
          <p:cNvPr id="31" name="Text 29"/>
          <p:cNvSpPr txBox="1"/>
          <p:nvPr/>
        </p:nvSpPr>
        <p:spPr>
          <a:xfrm>
            <a:off x="8293100" y="4495800"/>
            <a:ext cx="635000" cy="1066800"/>
          </a:xfrm>
          <a:prstGeom prst="rect">
            <a:avLst/>
          </a:prstGeom>
          <a:noFill/>
          <a:ln/>
        </p:spPr>
        <p:txBody>
          <a:bodyPr wrap="square" lIns="0" tIns="0" rIns="0" bIns="0" rtlCol="0" anchor="ctr"/>
          <a:lstStyle/>
          <a:p>
            <a:pPr marL="0" indent="0" algn="l">
              <a:buNone/>
            </a:pPr>
            <a:r>
              <a:rPr lang="en-US" sz="3000" b="1" dirty="0">
                <a:solidFill>
                  <a:srgbClr val="F4B336"/>
                </a:solidFill>
              </a:rPr>
              <a:t>06</a:t>
            </a:r>
            <a:endParaRPr lang="en-US" sz="3000" dirty="0"/>
          </a:p>
        </p:txBody>
      </p:sp>
      <p:sp>
        <p:nvSpPr>
          <p:cNvPr id="32" name="Text 30"/>
          <p:cNvSpPr txBox="1"/>
          <p:nvPr/>
        </p:nvSpPr>
        <p:spPr>
          <a:xfrm>
            <a:off x="8978900" y="4495800"/>
            <a:ext cx="2603500" cy="1066800"/>
          </a:xfrm>
          <a:prstGeom prst="rect">
            <a:avLst/>
          </a:prstGeom>
          <a:noFill/>
          <a:ln/>
        </p:spPr>
        <p:txBody>
          <a:bodyPr wrap="square" lIns="0" tIns="0" rIns="0" bIns="0" rtlCol="0" anchor="ctr"/>
          <a:lstStyle/>
          <a:p>
            <a:pPr marL="0" indent="0">
              <a:lnSpc>
                <a:spcPct val="100000"/>
              </a:lnSpc>
              <a:spcAft>
                <a:spcPts val="0"/>
              </a:spcAft>
              <a:buNone/>
            </a:pPr>
            <a:r>
              <a:rPr lang="en-US" sz="1900" b="1" dirty="0">
                <a:solidFill>
                  <a:srgbClr val="FFFFFF"/>
                </a:solidFill>
              </a:rPr>
              <a:t>Giải quyết vấn đề, lập kế hoạch, lập luận, ra quyết định</a:t>
            </a:r>
            <a:endParaRPr lang="en-US" sz="1900" dirty="0"/>
          </a:p>
        </p:txBody>
      </p:sp>
    </p:spTree>
    <p:extLst>
      <p:ext uri="{BB962C8B-B14F-4D97-AF65-F5344CB8AC3E}">
        <p14:creationId xmlns:p14="http://schemas.microsoft.com/office/powerpoint/2010/main" val="14588338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62F5C"/>
        </a:solidFill>
        <a:effectLst/>
      </p:bgPr>
    </p:bg>
    <p:spTree>
      <p:nvGrpSpPr>
        <p:cNvPr id="1" name=""/>
        <p:cNvGrpSpPr/>
        <p:nvPr/>
      </p:nvGrpSpPr>
      <p:grpSpPr>
        <a:xfrm>
          <a:off x="0" y="0"/>
          <a:ext cx="0" cy="0"/>
          <a:chOff x="0" y="0"/>
          <a:chExt cx="0" cy="0"/>
        </a:xfrm>
      </p:grpSpPr>
      <p:sp>
        <p:nvSpPr>
          <p:cNvPr id="22" name="Decor 23"/>
          <p:cNvSpPr/>
          <p:nvPr/>
        </p:nvSpPr>
        <p:spPr>
          <a:xfrm rot="1200000">
            <a:off x="9398000" y="-1778000"/>
            <a:ext cx="4064000" cy="4064000"/>
          </a:xfrm>
          <a:prstGeom prst="rect">
            <a:avLst/>
          </a:prstGeom>
          <a:solidFill>
            <a:srgbClr val="FFFFFF">
              <a:alpha val="9000"/>
            </a:srgbClr>
          </a:solidFill>
          <a:ln>
            <a:noFill/>
          </a:ln>
        </p:spPr>
        <p:txBody>
          <a:bodyPr/>
          <a:lstStyle/>
          <a:p>
            <a:endParaRPr lang="en-US"/>
          </a:p>
        </p:txBody>
      </p:sp>
      <p:sp>
        <p:nvSpPr>
          <p:cNvPr id="23" name="Decor 24"/>
          <p:cNvSpPr/>
          <p:nvPr/>
        </p:nvSpPr>
        <p:spPr>
          <a:xfrm>
            <a:off x="-762000" y="5461000"/>
            <a:ext cx="2032000" cy="2032000"/>
          </a:xfrm>
          <a:prstGeom prst="ellipse">
            <a:avLst/>
          </a:prstGeom>
          <a:noFill/>
          <a:ln w="28575">
            <a:solidFill>
              <a:srgbClr val="FFFFFF">
                <a:alpha val="22000"/>
              </a:srgbClr>
            </a:solidFill>
          </a:ln>
        </p:spPr>
        <p:txBody>
          <a:bodyPr/>
          <a:lstStyle/>
          <a:p>
            <a:endParaRPr lang="en-US"/>
          </a:p>
        </p:txBody>
      </p:sp>
      <p:sp>
        <p:nvSpPr>
          <p:cNvPr id="24" name="Decor 25"/>
          <p:cNvSpPr/>
          <p:nvPr/>
        </p:nvSpPr>
        <p:spPr>
          <a:xfrm rot="2700000">
            <a:off x="11912600" y="6553200"/>
            <a:ext cx="177800" cy="177800"/>
          </a:xfrm>
          <a:prstGeom prst="rect">
            <a:avLst/>
          </a:prstGeom>
          <a:solidFill>
            <a:srgbClr val="F4B336">
              <a:alpha val="35000"/>
            </a:srgbClr>
          </a:solidFill>
          <a:ln>
            <a:noFill/>
          </a:ln>
        </p:spPr>
        <p:txBody>
          <a:bodyPr/>
          <a:lstStyle/>
          <a:p>
            <a:endParaRPr lang="en-US"/>
          </a:p>
        </p:txBody>
      </p:sp>
      <p:sp>
        <p:nvSpPr>
          <p:cNvPr id="2" name="Text 1"/>
          <p:cNvSpPr>
            <a:spLocks noGrp="1"/>
          </p:cNvSpPr>
          <p:nvPr>
            <p:ph type="title" idx="101" hasCustomPrompt="1"/>
          </p:nvPr>
        </p:nvSpPr>
        <p:spPr>
          <a:xfrm>
            <a:off x="1168400" y="512064"/>
            <a:ext cx="10566400" cy="512064"/>
          </a:xfrm>
          <a:prstGeom prst="rect">
            <a:avLst/>
          </a:prstGeom>
          <a:noFill/>
          <a:ln/>
        </p:spPr>
        <p:txBody>
          <a:bodyPr wrap="square" lIns="0" tIns="0" rIns="0" bIns="0" rtlCol="0" anchor="t"/>
          <a:lstStyle/>
          <a:p>
            <a:pPr marL="0" indent="0" algn="l">
              <a:buNone/>
            </a:pPr>
            <a:r>
              <a:rPr lang="en-US" sz="3000" b="1" dirty="0">
                <a:solidFill>
                  <a:srgbClr val="FFFFFF"/>
                </a:solidFill>
              </a:rPr>
              <a:t>Sự tập trung, chú ý</a:t>
            </a:r>
            <a:r>
              <a:rPr lang="en-US" sz="2000" b="0" dirty="0">
                <a:solidFill>
                  <a:srgbClr val="9FB2C8"/>
                </a:solidFill>
              </a:rPr>
              <a:t>   </a:t>
            </a:r>
            <a:r>
              <a:rPr lang="en-US" sz="2000" dirty="0">
                <a:solidFill>
                  <a:srgbClr val="9FB2C8"/>
                </a:solidFill>
              </a:rPr>
              <a:t>Attention</a:t>
            </a:r>
            <a:endParaRPr lang="en-US" sz="2800" dirty="0">
              <a:solidFill>
                <a:srgbClr val="FFFFFF"/>
              </a:solidFill>
            </a:endParaRPr>
          </a:p>
        </p:txBody>
      </p:sp>
      <p:sp>
        <p:nvSpPr>
          <p:cNvPr id="901" name="Deco 901"/>
          <p:cNvSpPr/>
          <p:nvPr/>
        </p:nvSpPr>
        <p:spPr>
          <a:xfrm>
            <a:off x="457200" y="1320800"/>
            <a:ext cx="50800" cy="1905000"/>
          </a:xfrm>
          <a:prstGeom prst="rect">
            <a:avLst/>
          </a:prstGeom>
          <a:solidFill>
            <a:srgbClr val="F4B336"/>
          </a:solidFill>
          <a:ln>
            <a:noFill/>
          </a:ln>
        </p:spPr>
        <p:txBody>
          <a:bodyPr/>
          <a:lstStyle/>
          <a:p>
            <a:endParaRPr lang="en-US"/>
          </a:p>
        </p:txBody>
      </p:sp>
      <p:sp>
        <p:nvSpPr>
          <p:cNvPr id="5" name="Text 3"/>
          <p:cNvSpPr txBox="1"/>
          <p:nvPr/>
        </p:nvSpPr>
        <p:spPr>
          <a:xfrm>
            <a:off x="736600" y="1320800"/>
            <a:ext cx="10998200" cy="1905000"/>
          </a:xfrm>
          <a:prstGeom prst="rect">
            <a:avLst/>
          </a:prstGeom>
          <a:noFill/>
          <a:ln/>
        </p:spPr>
        <p:txBody>
          <a:bodyPr wrap="square" lIns="0" tIns="0" rIns="0" bIns="0" rtlCol="0" anchor="t"/>
          <a:lstStyle/>
          <a:p>
            <a:pPr marL="0" indent="0">
              <a:lnSpc>
                <a:spcPct val="105000"/>
              </a:lnSpc>
              <a:spcAft>
                <a:spcPts val="0"/>
              </a:spcAft>
              <a:buNone/>
            </a:pPr>
            <a:r>
              <a:rPr lang="en-US" sz="3200" b="1" dirty="0">
                <a:solidFill>
                  <a:srgbClr val="F4B336"/>
                </a:solidFill>
              </a:rPr>
              <a:t>1.1. Khái niệm: </a:t>
            </a:r>
            <a:r>
              <a:rPr lang="en-US" sz="3200" dirty="0">
                <a:solidFill>
                  <a:srgbClr val="FFFFFF"/>
                </a:solidFill>
              </a:rPr>
              <a:t>Attention là quá trình lựa chọn thông tin hoặc đối tượng để tập trung tại một thời điểm trong số nhiều yếu tố có sẵn xung quanh.</a:t>
            </a:r>
          </a:p>
        </p:txBody>
      </p:sp>
      <p:sp>
        <p:nvSpPr>
          <p:cNvPr id="17" name="Card left"/>
          <p:cNvSpPr/>
          <p:nvPr/>
        </p:nvSpPr>
        <p:spPr>
          <a:xfrm>
            <a:off x="457200" y="3632200"/>
            <a:ext cx="11277600" cy="2489200"/>
          </a:xfrm>
          <a:prstGeom prst="roundRect">
            <a:avLst>
              <a:gd name="adj" fmla="val 643"/>
            </a:avLst>
          </a:prstGeom>
          <a:solidFill>
            <a:srgbClr val="FFFFFF"/>
          </a:solidFill>
          <a:ln w="9525">
            <a:noFill/>
          </a:ln>
        </p:spPr>
        <p:txBody>
          <a:bodyPr rtlCol="0" anchor="ctr"/>
          <a:lstStyle/>
          <a:p>
            <a:endParaRPr lang="en-US"/>
          </a:p>
        </p:txBody>
      </p:sp>
      <p:sp>
        <p:nvSpPr>
          <p:cNvPr id="8" name="Shape 6"/>
          <p:cNvSpPr/>
          <p:nvPr/>
        </p:nvSpPr>
        <p:spPr>
          <a:xfrm>
            <a:off x="457200" y="3632200"/>
            <a:ext cx="11277600" cy="63500"/>
          </a:xfrm>
          <a:prstGeom prst="rect">
            <a:avLst/>
          </a:prstGeom>
          <a:solidFill>
            <a:srgbClr val="1677B8"/>
          </a:solidFill>
          <a:ln w="12700">
            <a:noFill/>
          </a:ln>
        </p:spPr>
        <p:txBody>
          <a:bodyPr/>
          <a:lstStyle/>
          <a:p>
            <a:endParaRPr lang="en-US"/>
          </a:p>
        </p:txBody>
      </p:sp>
      <p:sp>
        <p:nvSpPr>
          <p:cNvPr id="21" name="Topic badge"/>
          <p:cNvSpPr/>
          <p:nvPr/>
        </p:nvSpPr>
        <p:spPr>
          <a:xfrm>
            <a:off x="457200" y="524764"/>
            <a:ext cx="508000" cy="508000"/>
          </a:xfrm>
          <a:prstGeom prst="roundRect">
            <a:avLst>
              <a:gd name="adj" fmla="val 22000"/>
            </a:avLst>
          </a:prstGeom>
          <a:solidFill>
            <a:srgbClr val="F4B336"/>
          </a:solidFill>
          <a:ln>
            <a:noFill/>
          </a:ln>
        </p:spPr>
        <p:txBody>
          <a:bodyPr wrap="none" lIns="0" tIns="0" rIns="0" bIns="0" rtlCol="0" anchor="ctr">
            <a:noAutofit/>
          </a:bodyPr>
          <a:lstStyle/>
          <a:p>
            <a:pPr algn="ctr"/>
            <a:r>
              <a:rPr lang="en-US" sz="2000" b="1" dirty="0">
                <a:solidFill>
                  <a:srgbClr val="062F5C"/>
                </a:solidFill>
              </a:rPr>
              <a:t>01</a:t>
            </a:r>
          </a:p>
        </p:txBody>
      </p:sp>
      <p:sp>
        <p:nvSpPr>
          <p:cNvPr id="6" name="Text 4"/>
          <p:cNvSpPr txBox="1"/>
          <p:nvPr/>
        </p:nvSpPr>
        <p:spPr>
          <a:xfrm>
            <a:off x="812800" y="3860800"/>
            <a:ext cx="10617200" cy="2032000"/>
          </a:xfrm>
          <a:prstGeom prst="rect">
            <a:avLst/>
          </a:prstGeom>
          <a:noFill/>
          <a:ln/>
        </p:spPr>
        <p:txBody>
          <a:bodyPr wrap="square" lIns="0" tIns="0" rIns="0" bIns="0" rtlCol="0" anchor="ctr"/>
          <a:lstStyle/>
          <a:p>
            <a:pPr marL="0" indent="0">
              <a:lnSpc>
                <a:spcPct val="105000"/>
              </a:lnSpc>
              <a:spcAft>
                <a:spcPts val="200"/>
              </a:spcAft>
              <a:buNone/>
            </a:pPr>
            <a:r>
              <a:rPr lang="en-US" sz="2600" dirty="0">
                <a:solidFill>
                  <a:srgbClr val="2B3642"/>
                </a:solidFill>
              </a:rPr>
              <a:t>Có thể hiểu sự chú ý như một “bộ lọc” thông tin: con người không thể xử lý đồng thời tất cả kích thích từ môi trường, nên phải ưu tiên những thông tin quan trọng hoặc liên quan đến mục tiêu hiện tại.</a:t>
            </a:r>
          </a:p>
        </p:txBody>
      </p:sp>
    </p:spTree>
    <p:extLst>
      <p:ext uri="{BB962C8B-B14F-4D97-AF65-F5344CB8AC3E}">
        <p14:creationId xmlns:p14="http://schemas.microsoft.com/office/powerpoint/2010/main" val="24851301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062F5C"/>
        </a:solidFill>
        <a:effectLst/>
      </p:bgPr>
    </p:bg>
    <p:spTree>
      <p:nvGrpSpPr>
        <p:cNvPr id="1" name=""/>
        <p:cNvGrpSpPr/>
        <p:nvPr/>
      </p:nvGrpSpPr>
      <p:grpSpPr>
        <a:xfrm>
          <a:off x="0" y="0"/>
          <a:ext cx="0" cy="0"/>
          <a:chOff x="0" y="0"/>
          <a:chExt cx="0" cy="0"/>
        </a:xfrm>
      </p:grpSpPr>
      <p:sp>
        <p:nvSpPr>
          <p:cNvPr id="22" name="Decor 23"/>
          <p:cNvSpPr/>
          <p:nvPr/>
        </p:nvSpPr>
        <p:spPr>
          <a:xfrm rot="1200000">
            <a:off x="9398000" y="-1778000"/>
            <a:ext cx="4064000" cy="4064000"/>
          </a:xfrm>
          <a:prstGeom prst="rect">
            <a:avLst/>
          </a:prstGeom>
          <a:solidFill>
            <a:srgbClr val="FFFFFF">
              <a:alpha val="9000"/>
            </a:srgbClr>
          </a:solidFill>
          <a:ln>
            <a:noFill/>
          </a:ln>
        </p:spPr>
        <p:txBody>
          <a:bodyPr/>
          <a:lstStyle/>
          <a:p>
            <a:endParaRPr lang="en-US"/>
          </a:p>
        </p:txBody>
      </p:sp>
      <p:sp>
        <p:nvSpPr>
          <p:cNvPr id="23" name="Decor 24"/>
          <p:cNvSpPr/>
          <p:nvPr/>
        </p:nvSpPr>
        <p:spPr>
          <a:xfrm>
            <a:off x="-762000" y="5461000"/>
            <a:ext cx="2032000" cy="2032000"/>
          </a:xfrm>
          <a:prstGeom prst="ellipse">
            <a:avLst/>
          </a:prstGeom>
          <a:noFill/>
          <a:ln w="28575">
            <a:solidFill>
              <a:srgbClr val="FFFFFF">
                <a:alpha val="22000"/>
              </a:srgbClr>
            </a:solidFill>
          </a:ln>
        </p:spPr>
        <p:txBody>
          <a:bodyPr/>
          <a:lstStyle/>
          <a:p>
            <a:endParaRPr lang="en-US"/>
          </a:p>
        </p:txBody>
      </p:sp>
      <p:sp>
        <p:nvSpPr>
          <p:cNvPr id="24" name="Decor 25"/>
          <p:cNvSpPr/>
          <p:nvPr/>
        </p:nvSpPr>
        <p:spPr>
          <a:xfrm rot="2700000">
            <a:off x="11912600" y="6553200"/>
            <a:ext cx="177800" cy="177800"/>
          </a:xfrm>
          <a:prstGeom prst="rect">
            <a:avLst/>
          </a:prstGeom>
          <a:solidFill>
            <a:srgbClr val="F4B336">
              <a:alpha val="35000"/>
            </a:srgbClr>
          </a:solidFill>
          <a:ln>
            <a:noFill/>
          </a:ln>
        </p:spPr>
        <p:txBody>
          <a:bodyPr/>
          <a:lstStyle/>
          <a:p>
            <a:endParaRPr lang="en-US"/>
          </a:p>
        </p:txBody>
      </p:sp>
      <p:sp>
        <p:nvSpPr>
          <p:cNvPr id="2" name="Text 1"/>
          <p:cNvSpPr>
            <a:spLocks noGrp="1"/>
          </p:cNvSpPr>
          <p:nvPr>
            <p:ph type="title" idx="101" hasCustomPrompt="1"/>
          </p:nvPr>
        </p:nvSpPr>
        <p:spPr>
          <a:xfrm>
            <a:off x="1168400" y="512064"/>
            <a:ext cx="10566400" cy="512064"/>
          </a:xfrm>
          <a:prstGeom prst="rect">
            <a:avLst/>
          </a:prstGeom>
          <a:noFill/>
          <a:ln/>
        </p:spPr>
        <p:txBody>
          <a:bodyPr wrap="square" lIns="0" tIns="0" rIns="0" bIns="0" rtlCol="0" anchor="t"/>
          <a:lstStyle/>
          <a:p>
            <a:pPr marL="0" indent="0" algn="l">
              <a:buNone/>
            </a:pPr>
            <a:r>
              <a:rPr lang="en-US" sz="3000" b="1" dirty="0">
                <a:solidFill>
                  <a:srgbClr val="FFFFFF"/>
                </a:solidFill>
              </a:rPr>
              <a:t>Sự tập trung, chú ý</a:t>
            </a:r>
            <a:r>
              <a:rPr lang="en-US" sz="2000" b="0" dirty="0">
                <a:solidFill>
                  <a:srgbClr val="9FB2C8"/>
                </a:solidFill>
              </a:rPr>
              <a:t>   </a:t>
            </a:r>
            <a:r>
              <a:rPr lang="en-US" sz="2000" dirty="0">
                <a:solidFill>
                  <a:srgbClr val="9FB2C8"/>
                </a:solidFill>
              </a:rPr>
              <a:t>Attention</a:t>
            </a:r>
            <a:endParaRPr lang="en-US" sz="2800" dirty="0">
              <a:solidFill>
                <a:srgbClr val="FFFFFF"/>
              </a:solidFill>
            </a:endParaRPr>
          </a:p>
        </p:txBody>
      </p:sp>
      <p:sp>
        <p:nvSpPr>
          <p:cNvPr id="17" name="Card left"/>
          <p:cNvSpPr/>
          <p:nvPr/>
        </p:nvSpPr>
        <p:spPr>
          <a:xfrm>
            <a:off x="457200" y="1168400"/>
            <a:ext cx="11277600" cy="5207000"/>
          </a:xfrm>
          <a:prstGeom prst="roundRect">
            <a:avLst>
              <a:gd name="adj" fmla="val 643"/>
            </a:avLst>
          </a:prstGeom>
          <a:solidFill>
            <a:srgbClr val="FFFFFF"/>
          </a:solidFill>
          <a:ln w="9525">
            <a:noFill/>
          </a:ln>
        </p:spPr>
        <p:txBody>
          <a:bodyPr rtlCol="0" anchor="ctr"/>
          <a:lstStyle/>
          <a:p>
            <a:endParaRPr lang="en-US"/>
          </a:p>
        </p:txBody>
      </p:sp>
      <p:sp>
        <p:nvSpPr>
          <p:cNvPr id="8" name="Shape 6"/>
          <p:cNvSpPr/>
          <p:nvPr/>
        </p:nvSpPr>
        <p:spPr>
          <a:xfrm>
            <a:off x="457200" y="1168400"/>
            <a:ext cx="11277600" cy="63500"/>
          </a:xfrm>
          <a:prstGeom prst="rect">
            <a:avLst/>
          </a:prstGeom>
          <a:solidFill>
            <a:srgbClr val="1677B8"/>
          </a:solidFill>
          <a:ln w="12700">
            <a:noFill/>
          </a:ln>
        </p:spPr>
        <p:txBody>
          <a:bodyPr/>
          <a:lstStyle/>
          <a:p>
            <a:endParaRPr lang="en-US"/>
          </a:p>
        </p:txBody>
      </p:sp>
      <p:sp>
        <p:nvSpPr>
          <p:cNvPr id="9" name="Text 7"/>
          <p:cNvSpPr txBox="1"/>
          <p:nvPr/>
        </p:nvSpPr>
        <p:spPr>
          <a:xfrm>
            <a:off x="736600" y="1320800"/>
            <a:ext cx="8890000" cy="355600"/>
          </a:xfrm>
          <a:prstGeom prst="rect">
            <a:avLst/>
          </a:prstGeom>
          <a:noFill/>
          <a:ln/>
        </p:spPr>
        <p:txBody>
          <a:bodyPr wrap="square" lIns="0" tIns="0" rIns="0" bIns="0" rtlCol="0" anchor="t"/>
          <a:lstStyle/>
          <a:p>
            <a:pPr marL="0" indent="0">
              <a:buNone/>
            </a:pPr>
            <a:r>
              <a:rPr lang="en-US" sz="2200" b="1" kern="0" spc="50" dirty="0">
                <a:solidFill>
                  <a:srgbClr val="1677B8"/>
                </a:solidFill>
              </a:rPr>
              <a:t>1.2. CÁC ĐẶC ĐIỂM</a:t>
            </a:r>
          </a:p>
        </p:txBody>
      </p:sp>
      <p:sp>
        <p:nvSpPr>
          <p:cNvPr id="12" name="Text 10"/>
          <p:cNvSpPr txBox="1"/>
          <p:nvPr/>
        </p:nvSpPr>
        <p:spPr>
          <a:xfrm>
            <a:off x="736600" y="1778000"/>
            <a:ext cx="10718800" cy="4495800"/>
          </a:xfrm>
          <a:prstGeom prst="rect">
            <a:avLst/>
          </a:prstGeom>
          <a:noFill/>
          <a:ln/>
        </p:spPr>
        <p:txBody>
          <a:bodyPr wrap="square" lIns="0" tIns="0" rIns="0" bIns="0" rtlCol="0" anchor="t"/>
          <a:lstStyle/>
          <a:p>
            <a:pPr marL="285750" indent="-285750">
              <a:lnSpc>
                <a:spcPct val="100000"/>
              </a:lnSpc>
              <a:spcBef>
                <a:spcPts val="0"/>
              </a:spcBef>
              <a:spcAft>
                <a:spcPts val="100"/>
              </a:spcAft>
              <a:buNone/>
            </a:pPr>
            <a:r>
              <a:rPr lang="en-US" sz="2000" b="1" dirty="0">
                <a:solidFill>
                  <a:srgbClr val="1677B8"/>
                </a:solidFill>
              </a:rPr>
              <a:t>1. </a:t>
            </a:r>
            <a:r>
              <a:rPr lang="en-US" sz="2000" b="1" dirty="0">
                <a:solidFill>
                  <a:srgbClr val="062F5C"/>
                </a:solidFill>
              </a:rPr>
              <a:t>Chú ý có chọn lọc và hướng mục tiêu</a:t>
            </a:r>
          </a:p>
          <a:p>
            <a:pPr marL="285750" indent="0">
              <a:lnSpc>
                <a:spcPct val="100000"/>
              </a:lnSpc>
              <a:spcAft>
                <a:spcPts val="100"/>
              </a:spcAft>
              <a:buNone/>
            </a:pPr>
            <a:r>
              <a:rPr lang="en-US" sz="1600" i="1" dirty="0">
                <a:solidFill>
                  <a:srgbClr val="1677B8"/>
                </a:solidFill>
              </a:rPr>
              <a:t>Selective / Goal-directed / Top-down Attention</a:t>
            </a:r>
          </a:p>
          <a:p>
            <a:pPr marL="285750" indent="0">
              <a:lnSpc>
                <a:spcPct val="102000"/>
              </a:lnSpc>
              <a:spcAft>
                <a:spcPts val="800"/>
              </a:spcAft>
              <a:buNone/>
            </a:pPr>
            <a:r>
              <a:rPr lang="en-US" sz="1800" dirty="0">
                <a:solidFill>
                  <a:srgbClr val="17212B"/>
                </a:solidFill>
              </a:rPr>
              <a:t>Con người chủ động hướng sự chú ý vào những thông tin phục vụ mục tiêu, đồng thời có xu hướng bỏ qua các yếu tố không liên quan.</a:t>
            </a:r>
          </a:p>
          <a:p>
            <a:pPr marL="285750" indent="-285750">
              <a:lnSpc>
                <a:spcPct val="100000"/>
              </a:lnSpc>
              <a:spcBef>
                <a:spcPts val="0"/>
              </a:spcBef>
              <a:spcAft>
                <a:spcPts val="100"/>
              </a:spcAft>
              <a:buNone/>
            </a:pPr>
            <a:r>
              <a:rPr lang="en-US" sz="2000" b="1" dirty="0">
                <a:solidFill>
                  <a:srgbClr val="1677B8"/>
                </a:solidFill>
              </a:rPr>
              <a:t>2. </a:t>
            </a:r>
            <a:r>
              <a:rPr lang="en-US" sz="2000" b="1" dirty="0">
                <a:solidFill>
                  <a:srgbClr val="062F5C"/>
                </a:solidFill>
              </a:rPr>
              <a:t>Chú ý có thể bị thu hút bởi kích thích nổi bật</a:t>
            </a:r>
          </a:p>
          <a:p>
            <a:pPr marL="285750" indent="0">
              <a:lnSpc>
                <a:spcPct val="100000"/>
              </a:lnSpc>
              <a:spcAft>
                <a:spcPts val="100"/>
              </a:spcAft>
              <a:buNone/>
            </a:pPr>
            <a:r>
              <a:rPr lang="en-US" sz="1600" i="1" dirty="0">
                <a:solidFill>
                  <a:srgbClr val="1677B8"/>
                </a:solidFill>
              </a:rPr>
              <a:t>Stimulus-driven / Bottom-up Attention</a:t>
            </a:r>
          </a:p>
          <a:p>
            <a:pPr marL="285750" indent="0">
              <a:lnSpc>
                <a:spcPct val="102000"/>
              </a:lnSpc>
              <a:spcAft>
                <a:spcPts val="800"/>
              </a:spcAft>
              <a:buNone/>
            </a:pPr>
            <a:r>
              <a:rPr lang="en-US" sz="1800" dirty="0">
                <a:solidFill>
                  <a:srgbClr val="17212B"/>
                </a:solidFill>
              </a:rPr>
              <a:t>Một số kích thích từ môi trường có thể tự động thu hút sự chú ý, đặc biệt khi chúng nổi bật hoặc khác biệt về màu sắc, độ sáng, kích thước, hướng hay chuyển động.</a:t>
            </a:r>
          </a:p>
          <a:p>
            <a:pPr marL="285750" indent="-285750">
              <a:lnSpc>
                <a:spcPct val="100000"/>
              </a:lnSpc>
              <a:spcBef>
                <a:spcPts val="0"/>
              </a:spcBef>
              <a:spcAft>
                <a:spcPts val="100"/>
              </a:spcAft>
              <a:buNone/>
            </a:pPr>
            <a:r>
              <a:rPr lang="en-US" sz="2000" b="1" dirty="0">
                <a:solidFill>
                  <a:srgbClr val="1677B8"/>
                </a:solidFill>
              </a:rPr>
              <a:t>3. </a:t>
            </a:r>
            <a:r>
              <a:rPr lang="en-US" sz="2000" b="1" dirty="0">
                <a:solidFill>
                  <a:srgbClr val="062F5C"/>
                </a:solidFill>
              </a:rPr>
              <a:t>Khả năng chú ý có giới hạn và bị ảnh hưởng bởi đa nhiệm</a:t>
            </a:r>
          </a:p>
          <a:p>
            <a:pPr marL="285750" indent="0">
              <a:lnSpc>
                <a:spcPct val="100000"/>
              </a:lnSpc>
              <a:spcAft>
                <a:spcPts val="100"/>
              </a:spcAft>
              <a:buNone/>
            </a:pPr>
            <a:r>
              <a:rPr lang="en-US" sz="1600" i="1" dirty="0">
                <a:solidFill>
                  <a:srgbClr val="1677B8"/>
                </a:solidFill>
              </a:rPr>
              <a:t>Limited Capacity / Multitasking / Task Switching</a:t>
            </a:r>
          </a:p>
          <a:p>
            <a:pPr marL="285750" indent="0">
              <a:lnSpc>
                <a:spcPct val="102000"/>
              </a:lnSpc>
              <a:spcAft>
                <a:spcPts val="100"/>
              </a:spcAft>
              <a:buNone/>
            </a:pPr>
            <a:r>
              <a:rPr lang="en-US" sz="1800" dirty="0">
                <a:solidFill>
                  <a:srgbClr val="17212B"/>
                </a:solidFill>
              </a:rPr>
              <a:t>Nguồn lực chú ý của con người có giới hạn. Khi phải xử lý nhiều nhiệm vụ phức tạp, người dùng thường phải chuyển đổi qua lại giữa các tác vụ thay vì thực sự xử lý tất cả song song.</a:t>
            </a:r>
          </a:p>
          <a:p>
            <a:pPr marL="285750" indent="0">
              <a:lnSpc>
                <a:spcPct val="102000"/>
              </a:lnSpc>
              <a:spcAft>
                <a:spcPts val="800"/>
              </a:spcAft>
              <a:buNone/>
            </a:pPr>
            <a:r>
              <a:rPr lang="en-US" sz="1800" dirty="0">
                <a:solidFill>
                  <a:srgbClr val="17212B"/>
                </a:solidFill>
              </a:rPr>
              <a:t>Việc chuyển đổi liên tục có thể làm tăng tải nhận thức, mất thời gian và tăng khả năng xảy ra sai sót.</a:t>
            </a:r>
          </a:p>
        </p:txBody>
      </p:sp>
      <p:sp>
        <p:nvSpPr>
          <p:cNvPr id="21" name="Topic badge"/>
          <p:cNvSpPr/>
          <p:nvPr/>
        </p:nvSpPr>
        <p:spPr>
          <a:xfrm>
            <a:off x="457200" y="524764"/>
            <a:ext cx="508000" cy="508000"/>
          </a:xfrm>
          <a:prstGeom prst="roundRect">
            <a:avLst>
              <a:gd name="adj" fmla="val 22000"/>
            </a:avLst>
          </a:prstGeom>
          <a:solidFill>
            <a:srgbClr val="F4B336"/>
          </a:solidFill>
          <a:ln>
            <a:noFill/>
          </a:ln>
        </p:spPr>
        <p:txBody>
          <a:bodyPr wrap="none" lIns="0" tIns="0" rIns="0" bIns="0" rtlCol="0" anchor="ctr">
            <a:noAutofit/>
          </a:bodyPr>
          <a:lstStyle/>
          <a:p>
            <a:pPr algn="ctr"/>
            <a:r>
              <a:rPr lang="en-US" sz="2000" b="1" dirty="0">
                <a:solidFill>
                  <a:srgbClr val="062F5C"/>
                </a:solidFill>
              </a:rPr>
              <a:t>01</a:t>
            </a:r>
          </a:p>
        </p:txBody>
      </p:sp>
    </p:spTree>
    <p:extLst>
      <p:ext uri="{BB962C8B-B14F-4D97-AF65-F5344CB8AC3E}">
        <p14:creationId xmlns:p14="http://schemas.microsoft.com/office/powerpoint/2010/main" val="16003008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062F5C"/>
        </a:solidFill>
        <a:effectLst/>
      </p:bgPr>
    </p:bg>
    <p:spTree>
      <p:nvGrpSpPr>
        <p:cNvPr id="1" name=""/>
        <p:cNvGrpSpPr/>
        <p:nvPr/>
      </p:nvGrpSpPr>
      <p:grpSpPr>
        <a:xfrm>
          <a:off x="0" y="0"/>
          <a:ext cx="0" cy="0"/>
          <a:chOff x="0" y="0"/>
          <a:chExt cx="0" cy="0"/>
        </a:xfrm>
      </p:grpSpPr>
      <p:sp>
        <p:nvSpPr>
          <p:cNvPr id="22" name="Decor 23"/>
          <p:cNvSpPr/>
          <p:nvPr/>
        </p:nvSpPr>
        <p:spPr>
          <a:xfrm rot="1200000">
            <a:off x="9398000" y="-1778000"/>
            <a:ext cx="4064000" cy="4064000"/>
          </a:xfrm>
          <a:prstGeom prst="rect">
            <a:avLst/>
          </a:prstGeom>
          <a:solidFill>
            <a:srgbClr val="FFFFFF">
              <a:alpha val="9000"/>
            </a:srgbClr>
          </a:solidFill>
          <a:ln>
            <a:noFill/>
          </a:ln>
        </p:spPr>
        <p:txBody>
          <a:bodyPr/>
          <a:lstStyle/>
          <a:p>
            <a:endParaRPr lang="en-US"/>
          </a:p>
        </p:txBody>
      </p:sp>
      <p:sp>
        <p:nvSpPr>
          <p:cNvPr id="23" name="Decor 24"/>
          <p:cNvSpPr/>
          <p:nvPr/>
        </p:nvSpPr>
        <p:spPr>
          <a:xfrm>
            <a:off x="-762000" y="5461000"/>
            <a:ext cx="2032000" cy="2032000"/>
          </a:xfrm>
          <a:prstGeom prst="ellipse">
            <a:avLst/>
          </a:prstGeom>
          <a:noFill/>
          <a:ln w="28575">
            <a:solidFill>
              <a:srgbClr val="FFFFFF">
                <a:alpha val="22000"/>
              </a:srgbClr>
            </a:solidFill>
          </a:ln>
        </p:spPr>
        <p:txBody>
          <a:bodyPr/>
          <a:lstStyle/>
          <a:p>
            <a:endParaRPr lang="en-US"/>
          </a:p>
        </p:txBody>
      </p:sp>
      <p:sp>
        <p:nvSpPr>
          <p:cNvPr id="24" name="Decor 25"/>
          <p:cNvSpPr/>
          <p:nvPr/>
        </p:nvSpPr>
        <p:spPr>
          <a:xfrm rot="2700000">
            <a:off x="11912600" y="6553200"/>
            <a:ext cx="177800" cy="177800"/>
          </a:xfrm>
          <a:prstGeom prst="rect">
            <a:avLst/>
          </a:prstGeom>
          <a:solidFill>
            <a:srgbClr val="F4B336">
              <a:alpha val="35000"/>
            </a:srgbClr>
          </a:solidFill>
          <a:ln>
            <a:noFill/>
          </a:ln>
        </p:spPr>
        <p:txBody>
          <a:bodyPr/>
          <a:lstStyle/>
          <a:p>
            <a:endParaRPr lang="en-US"/>
          </a:p>
        </p:txBody>
      </p:sp>
      <p:sp>
        <p:nvSpPr>
          <p:cNvPr id="2" name="Text 1"/>
          <p:cNvSpPr>
            <a:spLocks noGrp="1"/>
          </p:cNvSpPr>
          <p:nvPr>
            <p:ph type="title" idx="101" hasCustomPrompt="1"/>
          </p:nvPr>
        </p:nvSpPr>
        <p:spPr>
          <a:xfrm>
            <a:off x="1168400" y="512064"/>
            <a:ext cx="10566400" cy="512064"/>
          </a:xfrm>
          <a:prstGeom prst="rect">
            <a:avLst/>
          </a:prstGeom>
          <a:noFill/>
          <a:ln/>
        </p:spPr>
        <p:txBody>
          <a:bodyPr wrap="square" lIns="0" tIns="0" rIns="0" bIns="0" rtlCol="0" anchor="t"/>
          <a:lstStyle/>
          <a:p>
            <a:pPr marL="0" indent="0" algn="l">
              <a:buNone/>
            </a:pPr>
            <a:r>
              <a:rPr lang="en-US" sz="3000" b="1" dirty="0">
                <a:solidFill>
                  <a:srgbClr val="FFFFFF"/>
                </a:solidFill>
              </a:rPr>
              <a:t>Sự tập trung, chú ý</a:t>
            </a:r>
            <a:r>
              <a:rPr lang="en-US" sz="2000" b="0" dirty="0">
                <a:solidFill>
                  <a:srgbClr val="9FB2C8"/>
                </a:solidFill>
              </a:rPr>
              <a:t>   Attention</a:t>
            </a:r>
            <a:endParaRPr lang="en-US" sz="2800" dirty="0">
              <a:solidFill>
                <a:srgbClr val="FFFFFF"/>
              </a:solidFill>
            </a:endParaRPr>
          </a:p>
        </p:txBody>
      </p:sp>
      <p:sp>
        <p:nvSpPr>
          <p:cNvPr id="901" name="Deco 901"/>
          <p:cNvSpPr/>
          <p:nvPr/>
        </p:nvSpPr>
        <p:spPr>
          <a:xfrm>
            <a:off x="457200" y="1270000"/>
            <a:ext cx="38100" cy="914400"/>
          </a:xfrm>
          <a:prstGeom prst="rect">
            <a:avLst/>
          </a:prstGeom>
          <a:solidFill>
            <a:srgbClr val="F4B336"/>
          </a:solidFill>
          <a:ln>
            <a:noFill/>
          </a:ln>
        </p:spPr>
        <p:txBody>
          <a:bodyPr/>
          <a:lstStyle/>
          <a:p>
            <a:endParaRPr lang="en-US"/>
          </a:p>
        </p:txBody>
      </p:sp>
      <p:sp>
        <p:nvSpPr>
          <p:cNvPr id="5" name="Text 3"/>
          <p:cNvSpPr txBox="1"/>
          <p:nvPr/>
        </p:nvSpPr>
        <p:spPr>
          <a:xfrm>
            <a:off x="660400" y="1117600"/>
            <a:ext cx="11074400" cy="304800"/>
          </a:xfrm>
          <a:prstGeom prst="rect">
            <a:avLst/>
          </a:prstGeom>
          <a:noFill/>
          <a:ln/>
        </p:spPr>
        <p:txBody>
          <a:bodyPr wrap="square" lIns="0" tIns="0" rIns="0" bIns="0" rtlCol="0" anchor="t"/>
          <a:lstStyle/>
          <a:p>
            <a:pPr marL="0" indent="0">
              <a:lnSpc>
                <a:spcPct val="105000"/>
              </a:lnSpc>
              <a:buNone/>
            </a:pPr>
            <a:r>
              <a:rPr lang="en-US" sz="1900" b="1" dirty="0">
                <a:solidFill>
                  <a:srgbClr val="F4B336"/>
                </a:solidFill>
              </a:rPr>
              <a:t>Lời khuyên thiết kế: </a:t>
            </a:r>
            <a:r>
              <a:rPr lang="en-US" sz="1900" dirty="0">
                <a:solidFill>
                  <a:srgbClr val="FFFFFF"/>
                </a:solidFill>
              </a:rPr>
              <a:t>làm thông tin nổi bật đúng lúc người dùng cần, và giữ giao diện gọn gàng.</a:t>
            </a:r>
          </a:p>
        </p:txBody>
      </p:sp>
      <p:sp>
        <p:nvSpPr>
          <p:cNvPr id="6" name="Text 4"/>
          <p:cNvSpPr txBox="1"/>
          <p:nvPr/>
        </p:nvSpPr>
        <p:spPr>
          <a:xfrm>
            <a:off x="660400" y="1473200"/>
            <a:ext cx="11074400" cy="254000"/>
          </a:xfrm>
          <a:prstGeom prst="rect">
            <a:avLst/>
          </a:prstGeom>
          <a:noFill/>
          <a:ln/>
        </p:spPr>
        <p:txBody>
          <a:bodyPr wrap="square" lIns="0" tIns="0" rIns="0" bIns="0" rtlCol="0" anchor="t"/>
          <a:lstStyle/>
          <a:p>
            <a:pPr marL="0" indent="0">
              <a:buNone/>
            </a:pPr>
            <a:r>
              <a:rPr lang="en-US" sz="1400" i="1" dirty="0">
                <a:solidFill>
                  <a:srgbClr val="9FB3CC"/>
                </a:solidFill>
              </a:rPr>
              <a:t>Design Implications – Attention. Nguồn: Preece, Rogers &amp; Sharp, Interaction Design, 4th ed., 2015 – mục 3.2.1</a:t>
            </a:r>
          </a:p>
        </p:txBody>
      </p:sp>
      <p:sp>
        <p:nvSpPr>
          <p:cNvPr id="21" name="Topic badge"/>
          <p:cNvSpPr/>
          <p:nvPr/>
        </p:nvSpPr>
        <p:spPr>
          <a:xfrm>
            <a:off x="457200" y="524764"/>
            <a:ext cx="508000" cy="508000"/>
          </a:xfrm>
          <a:prstGeom prst="roundRect">
            <a:avLst>
              <a:gd name="adj" fmla="val 22000"/>
            </a:avLst>
          </a:prstGeom>
          <a:solidFill>
            <a:srgbClr val="F4B336"/>
          </a:solidFill>
          <a:ln>
            <a:noFill/>
          </a:ln>
        </p:spPr>
        <p:txBody>
          <a:bodyPr wrap="none" lIns="0" tIns="0" rIns="0" bIns="0" rtlCol="0" anchor="ctr">
            <a:noAutofit/>
          </a:bodyPr>
          <a:lstStyle/>
          <a:p>
            <a:pPr algn="ctr"/>
            <a:r>
              <a:rPr lang="en-US" sz="2000" b="1" dirty="0">
                <a:solidFill>
                  <a:srgbClr val="062F5C"/>
                </a:solidFill>
              </a:rPr>
              <a:t>01</a:t>
            </a:r>
          </a:p>
        </p:txBody>
      </p:sp>
      <p:graphicFrame>
        <p:nvGraphicFramePr>
          <p:cNvPr id="4" name="Advice table">
            <a:extLst>
              <a:ext uri="{FF2B5EF4-FFF2-40B4-BE49-F238E27FC236}">
                <a16:creationId xmlns:a16="http://schemas.microsoft.com/office/drawing/2014/main" id="{0A17796F-F492-49B9-8DD2-937FE895C43C}"/>
              </a:ext>
            </a:extLst>
          </p:cNvPr>
          <p:cNvGraphicFramePr>
            <a:graphicFrameLocks noGrp="1"/>
          </p:cNvGraphicFramePr>
          <p:nvPr>
            <p:extLst>
              <p:ext uri="{D42A27DB-BD31-4B8C-83A1-F6EECF244321}">
                <p14:modId xmlns:p14="http://schemas.microsoft.com/office/powerpoint/2010/main" val="1696921259"/>
              </p:ext>
            </p:extLst>
          </p:nvPr>
        </p:nvGraphicFramePr>
        <p:xfrm>
          <a:off x="457200" y="1828800"/>
          <a:ext cx="11277600" cy="4470400"/>
        </p:xfrm>
        <a:graphic>
          <a:graphicData uri="http://schemas.openxmlformats.org/drawingml/2006/table">
            <a:tbl>
              <a:tblPr firstRow="1" bandRow="1">
                <a:tableStyleId>{5C22544A-7EE6-4342-B048-85BDC9FD1C3A}</a:tableStyleId>
              </a:tblPr>
              <a:tblGrid>
                <a:gridCol w="3860800">
                  <a:extLst>
                    <a:ext uri="{9D8B030D-6E8A-4147-A177-3AD203B41FA5}">
                      <a16:colId xmlns:a16="http://schemas.microsoft.com/office/drawing/2014/main" val="1921540645"/>
                    </a:ext>
                  </a:extLst>
                </a:gridCol>
                <a:gridCol w="7416800">
                  <a:extLst>
                    <a:ext uri="{9D8B030D-6E8A-4147-A177-3AD203B41FA5}">
                      <a16:colId xmlns:a16="http://schemas.microsoft.com/office/drawing/2014/main" val="76405863"/>
                    </a:ext>
                  </a:extLst>
                </a:gridCol>
              </a:tblGrid>
              <a:tr h="508000">
                <a:tc>
                  <a:txBody>
                    <a:bodyPr/>
                    <a:lstStyle/>
                    <a:p>
                      <a:pPr marL="0" indent="0" algn="l">
                        <a:lnSpc>
                          <a:spcPct val="104000"/>
                        </a:lnSpc>
                        <a:buNone/>
                      </a:pPr>
                      <a:r>
                        <a:rPr lang="en-US" sz="1700" b="1" dirty="0">
                          <a:solidFill>
                            <a:srgbClr val="FFFFFF"/>
                          </a:solidFill>
                        </a:rPr>
                        <a:t>Nguyên văn (EN)</a:t>
                      </a:r>
                    </a:p>
                  </a:txBody>
                  <a:tcPr anchor="ctr">
                    <a:solidFill>
                      <a:srgbClr val="0B2D55"/>
                    </a:solidFill>
                  </a:tcPr>
                </a:tc>
                <a:tc>
                  <a:txBody>
                    <a:bodyPr/>
                    <a:lstStyle/>
                    <a:p>
                      <a:pPr marL="0" indent="0" algn="l">
                        <a:lnSpc>
                          <a:spcPct val="104000"/>
                        </a:lnSpc>
                        <a:buNone/>
                      </a:pPr>
                      <a:r>
                        <a:rPr lang="en-US" sz="1700" b="1" dirty="0">
                          <a:solidFill>
                            <a:srgbClr val="FFFFFF"/>
                          </a:solidFill>
                        </a:rPr>
                        <a:t>Diễn giải (VI)</a:t>
                      </a:r>
                    </a:p>
                  </a:txBody>
                  <a:tcPr anchor="ctr">
                    <a:solidFill>
                      <a:srgbClr val="0B2D55"/>
                    </a:solidFill>
                  </a:tcPr>
                </a:tc>
                <a:extLst>
                  <a:ext uri="{0D108BD9-81ED-4DB2-BD59-A6C34878D82A}">
                    <a16:rowId xmlns:a16="http://schemas.microsoft.com/office/drawing/2014/main" val="2220591374"/>
                  </a:ext>
                </a:extLst>
              </a:tr>
              <a:tr h="990600">
                <a:tc>
                  <a:txBody>
                    <a:bodyPr/>
                    <a:lstStyle/>
                    <a:p>
                      <a:pPr marL="0" indent="0" algn="l">
                        <a:lnSpc>
                          <a:spcPct val="104000"/>
                        </a:lnSpc>
                        <a:buNone/>
                      </a:pPr>
                      <a:r>
                        <a:rPr lang="en-US" sz="1400" i="1" dirty="0">
                          <a:solidFill>
                            <a:srgbClr val="3A4A5C"/>
                          </a:solidFill>
                        </a:rPr>
                        <a:t>Make information salient when it needs attending to at a given stage of a task.</a:t>
                      </a:r>
                    </a:p>
                  </a:txBody>
                  <a:tcPr anchor="ctr">
                    <a:solidFill>
                      <a:srgbClr val="FFFFFF"/>
                    </a:solidFill>
                  </a:tcPr>
                </a:tc>
                <a:tc>
                  <a:txBody>
                    <a:bodyPr/>
                    <a:lstStyle/>
                    <a:p>
                      <a:pPr marL="0" indent="0" algn="l">
                        <a:lnSpc>
                          <a:spcPct val="104000"/>
                        </a:lnSpc>
                        <a:buNone/>
                      </a:pPr>
                      <a:r>
                        <a:rPr lang="en-US" sz="1800" dirty="0">
                          <a:solidFill>
                            <a:srgbClr val="17212B"/>
                          </a:solidFill>
                        </a:rPr>
                        <a:t>Làm thông tin nổi bật đúng lúc người dùng cần chú ý ở mỗi giai đoạn của tác vụ.</a:t>
                      </a:r>
                    </a:p>
                  </a:txBody>
                  <a:tcPr anchor="ctr">
                    <a:solidFill>
                      <a:srgbClr val="FFFFFF"/>
                    </a:solidFill>
                  </a:tcPr>
                </a:tc>
                <a:extLst>
                  <a:ext uri="{0D108BD9-81ED-4DB2-BD59-A6C34878D82A}">
                    <a16:rowId xmlns:a16="http://schemas.microsoft.com/office/drawing/2014/main" val="2997714221"/>
                  </a:ext>
                </a:extLst>
              </a:tr>
              <a:tr h="990600">
                <a:tc>
                  <a:txBody>
                    <a:bodyPr/>
                    <a:lstStyle/>
                    <a:p>
                      <a:pPr marL="0" indent="0" algn="l">
                        <a:lnSpc>
                          <a:spcPct val="104000"/>
                        </a:lnSpc>
                        <a:buNone/>
                      </a:pPr>
                      <a:r>
                        <a:rPr lang="en-US" sz="1400" i="1" dirty="0">
                          <a:solidFill>
                            <a:srgbClr val="3A4A5C"/>
                          </a:solidFill>
                        </a:rPr>
                        <a:t>Use techniques like animated graphics, color, underlining, ordering of items, sequencing of different information, and spacing of items.</a:t>
                      </a:r>
                    </a:p>
                  </a:txBody>
                  <a:tcPr anchor="ctr">
                    <a:solidFill>
                      <a:srgbClr val="F2F6FA"/>
                    </a:solidFill>
                  </a:tcPr>
                </a:tc>
                <a:tc>
                  <a:txBody>
                    <a:bodyPr/>
                    <a:lstStyle/>
                    <a:p>
                      <a:pPr marL="0" indent="0" algn="l">
                        <a:lnSpc>
                          <a:spcPct val="104000"/>
                        </a:lnSpc>
                        <a:buNone/>
                      </a:pPr>
                      <a:r>
                        <a:rPr lang="en-US" sz="1800" dirty="0">
                          <a:solidFill>
                            <a:srgbClr val="17212B"/>
                          </a:solidFill>
                        </a:rPr>
                        <a:t>Dùng đồ họa chuyển động, màu sắc, gạch chân, thứ tự sắp xếp, trình tự hiển thị và khoảng cách giữa các mục.</a:t>
                      </a:r>
                    </a:p>
                  </a:txBody>
                  <a:tcPr anchor="ctr">
                    <a:solidFill>
                      <a:srgbClr val="F2F6FA"/>
                    </a:solidFill>
                  </a:tcPr>
                </a:tc>
                <a:extLst>
                  <a:ext uri="{0D108BD9-81ED-4DB2-BD59-A6C34878D82A}">
                    <a16:rowId xmlns:a16="http://schemas.microsoft.com/office/drawing/2014/main" val="3569007004"/>
                  </a:ext>
                </a:extLst>
              </a:tr>
              <a:tr h="990600">
                <a:tc>
                  <a:txBody>
                    <a:bodyPr/>
                    <a:lstStyle/>
                    <a:p>
                      <a:pPr marL="0" indent="0" algn="l">
                        <a:lnSpc>
                          <a:spcPct val="104000"/>
                        </a:lnSpc>
                        <a:buNone/>
                      </a:pPr>
                      <a:r>
                        <a:rPr lang="en-US" sz="1400" i="1" dirty="0">
                          <a:solidFill>
                            <a:srgbClr val="3A4A5C"/>
                          </a:solidFill>
                        </a:rPr>
                        <a:t>Avoid cluttering the interface with too much information, especially color, sound, and graphics.</a:t>
                      </a:r>
                    </a:p>
                  </a:txBody>
                  <a:tcPr anchor="ctr">
                    <a:solidFill>
                      <a:srgbClr val="FFFFFF"/>
                    </a:solidFill>
                  </a:tcPr>
                </a:tc>
                <a:tc>
                  <a:txBody>
                    <a:bodyPr/>
                    <a:lstStyle/>
                    <a:p>
                      <a:pPr marL="0" indent="0" algn="l">
                        <a:lnSpc>
                          <a:spcPct val="104000"/>
                        </a:lnSpc>
                        <a:buNone/>
                      </a:pPr>
                      <a:r>
                        <a:rPr lang="en-US" sz="1800" dirty="0">
                          <a:solidFill>
                            <a:srgbClr val="17212B"/>
                          </a:solidFill>
                        </a:rPr>
                        <a:t>Tránh nhồi nhét thông tin, đặc biệt là màu sắc, âm thanh, hình ảnh: dễ lạm dụng, gây xao nhãng và khó chịu.</a:t>
                      </a:r>
                    </a:p>
                  </a:txBody>
                  <a:tcPr anchor="ctr">
                    <a:solidFill>
                      <a:srgbClr val="FFFFFF"/>
                    </a:solidFill>
                  </a:tcPr>
                </a:tc>
                <a:extLst>
                  <a:ext uri="{0D108BD9-81ED-4DB2-BD59-A6C34878D82A}">
                    <a16:rowId xmlns:a16="http://schemas.microsoft.com/office/drawing/2014/main" val="2003368873"/>
                  </a:ext>
                </a:extLst>
              </a:tr>
              <a:tr h="990600">
                <a:tc>
                  <a:txBody>
                    <a:bodyPr/>
                    <a:lstStyle/>
                    <a:p>
                      <a:pPr marL="0" indent="0" algn="l">
                        <a:lnSpc>
                          <a:spcPct val="104000"/>
                        </a:lnSpc>
                        <a:buNone/>
                      </a:pPr>
                      <a:r>
                        <a:rPr lang="en-US" sz="1400" i="1" dirty="0">
                          <a:solidFill>
                            <a:srgbClr val="3A4A5C"/>
                          </a:solidFill>
                        </a:rPr>
                        <a:t>Search engines and form fill-ins with simple and clean interfaces are easier to use.</a:t>
                      </a:r>
                    </a:p>
                  </a:txBody>
                  <a:tcPr anchor="ctr">
                    <a:solidFill>
                      <a:srgbClr val="F2F6FA"/>
                    </a:solidFill>
                  </a:tcPr>
                </a:tc>
                <a:tc>
                  <a:txBody>
                    <a:bodyPr/>
                    <a:lstStyle/>
                    <a:p>
                      <a:pPr marL="0" indent="0" algn="l">
                        <a:lnSpc>
                          <a:spcPct val="104000"/>
                        </a:lnSpc>
                        <a:buNone/>
                      </a:pPr>
                      <a:r>
                        <a:rPr lang="en-US" sz="1800" dirty="0">
                          <a:solidFill>
                            <a:srgbClr val="17212B"/>
                          </a:solidFill>
                        </a:rPr>
                        <a:t>Công cụ tìm kiếm và biểu mẫu có giao diện đơn giản, gọn gàng thì dễ sử dụng hơn.</a:t>
                      </a:r>
                    </a:p>
                  </a:txBody>
                  <a:tcPr anchor="ctr">
                    <a:solidFill>
                      <a:srgbClr val="F2F6FA"/>
                    </a:solidFill>
                  </a:tcPr>
                </a:tc>
                <a:extLst>
                  <a:ext uri="{0D108BD9-81ED-4DB2-BD59-A6C34878D82A}">
                    <a16:rowId xmlns:a16="http://schemas.microsoft.com/office/drawing/2014/main" val="1702165557"/>
                  </a:ext>
                </a:extLst>
              </a:tr>
            </a:tbl>
          </a:graphicData>
        </a:graphic>
      </p:graphicFrame>
    </p:spTree>
    <p:extLst>
      <p:ext uri="{BB962C8B-B14F-4D97-AF65-F5344CB8AC3E}">
        <p14:creationId xmlns:p14="http://schemas.microsoft.com/office/powerpoint/2010/main" val="41788456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062F5C"/>
        </a:solidFill>
        <a:effectLst/>
      </p:bgPr>
    </p:bg>
    <p:spTree>
      <p:nvGrpSpPr>
        <p:cNvPr id="1" name=""/>
        <p:cNvGrpSpPr/>
        <p:nvPr/>
      </p:nvGrpSpPr>
      <p:grpSpPr>
        <a:xfrm>
          <a:off x="0" y="0"/>
          <a:ext cx="0" cy="0"/>
          <a:chOff x="0" y="0"/>
          <a:chExt cx="0" cy="0"/>
        </a:xfrm>
      </p:grpSpPr>
      <p:sp>
        <p:nvSpPr>
          <p:cNvPr id="35" name="Decor 36"/>
          <p:cNvSpPr/>
          <p:nvPr/>
        </p:nvSpPr>
        <p:spPr>
          <a:xfrm>
            <a:off x="9144000" y="3810000"/>
            <a:ext cx="4826000" cy="4826000"/>
          </a:xfrm>
          <a:prstGeom prst="ellipse">
            <a:avLst/>
          </a:prstGeom>
          <a:solidFill>
            <a:srgbClr val="FFFFFF">
              <a:alpha val="9000"/>
            </a:srgbClr>
          </a:solidFill>
          <a:ln>
            <a:noFill/>
          </a:ln>
        </p:spPr>
        <p:txBody>
          <a:bodyPr/>
          <a:lstStyle/>
          <a:p>
            <a:endParaRPr lang="en-US"/>
          </a:p>
        </p:txBody>
      </p:sp>
      <p:sp>
        <p:nvSpPr>
          <p:cNvPr id="36" name="Decor 37"/>
          <p:cNvSpPr/>
          <p:nvPr/>
        </p:nvSpPr>
        <p:spPr>
          <a:xfrm rot="900000">
            <a:off x="-1397000" y="-1905000"/>
            <a:ext cx="3302000" cy="3302000"/>
          </a:xfrm>
          <a:prstGeom prst="rect">
            <a:avLst/>
          </a:prstGeom>
          <a:noFill/>
          <a:ln w="28575">
            <a:solidFill>
              <a:srgbClr val="FFFFFF">
                <a:alpha val="22000"/>
              </a:srgbClr>
            </a:solidFill>
          </a:ln>
        </p:spPr>
        <p:txBody>
          <a:bodyPr/>
          <a:lstStyle/>
          <a:p>
            <a:endParaRPr lang="en-US"/>
          </a:p>
        </p:txBody>
      </p:sp>
      <p:sp>
        <p:nvSpPr>
          <p:cNvPr id="37" name="Decor 38"/>
          <p:cNvSpPr/>
          <p:nvPr/>
        </p:nvSpPr>
        <p:spPr>
          <a:xfrm>
            <a:off x="11557000" y="508000"/>
            <a:ext cx="254000" cy="254000"/>
          </a:xfrm>
          <a:prstGeom prst="ellipse">
            <a:avLst/>
          </a:prstGeom>
          <a:solidFill>
            <a:srgbClr val="F4B336">
              <a:alpha val="35000"/>
            </a:srgbClr>
          </a:solidFill>
          <a:ln>
            <a:noFill/>
          </a:ln>
        </p:spPr>
        <p:txBody>
          <a:bodyPr/>
          <a:lstStyle/>
          <a:p>
            <a:endParaRPr lang="en-US"/>
          </a:p>
        </p:txBody>
      </p:sp>
      <p:sp>
        <p:nvSpPr>
          <p:cNvPr id="2" name="Text 1"/>
          <p:cNvSpPr>
            <a:spLocks noGrp="1"/>
          </p:cNvSpPr>
          <p:nvPr>
            <p:ph type="title" idx="101" hasCustomPrompt="1"/>
          </p:nvPr>
        </p:nvSpPr>
        <p:spPr>
          <a:xfrm>
            <a:off x="1168400" y="512064"/>
            <a:ext cx="10566400" cy="512064"/>
          </a:xfrm>
          <a:prstGeom prst="rect">
            <a:avLst/>
          </a:prstGeom>
          <a:noFill/>
          <a:ln/>
        </p:spPr>
        <p:txBody>
          <a:bodyPr wrap="square" lIns="0" tIns="0" rIns="0" bIns="0" rtlCol="0" anchor="t"/>
          <a:lstStyle/>
          <a:p>
            <a:pPr marL="0" indent="0" algn="l">
              <a:buNone/>
            </a:pPr>
            <a:r>
              <a:rPr lang="en-US" sz="3000" b="1" dirty="0">
                <a:solidFill>
                  <a:srgbClr val="FFFFFF"/>
                </a:solidFill>
              </a:rPr>
              <a:t>Sự chú ý — Ví dụ 1.1</a:t>
            </a:r>
            <a:endParaRPr lang="en-US" sz="2800" dirty="0">
              <a:solidFill>
                <a:srgbClr val="FFFFFF"/>
              </a:solidFill>
            </a:endParaRPr>
          </a:p>
        </p:txBody>
      </p:sp>
      <p:sp>
        <p:nvSpPr>
          <p:cNvPr id="34" name="Topic badge"/>
          <p:cNvSpPr/>
          <p:nvPr/>
        </p:nvSpPr>
        <p:spPr>
          <a:xfrm>
            <a:off x="457200" y="524764"/>
            <a:ext cx="508000" cy="508000"/>
          </a:xfrm>
          <a:prstGeom prst="roundRect">
            <a:avLst>
              <a:gd name="adj" fmla="val 22000"/>
            </a:avLst>
          </a:prstGeom>
          <a:solidFill>
            <a:srgbClr val="F4B336"/>
          </a:solidFill>
          <a:ln>
            <a:noFill/>
          </a:ln>
        </p:spPr>
        <p:txBody>
          <a:bodyPr wrap="none" lIns="0" tIns="0" rIns="0" bIns="0" rtlCol="0" anchor="ctr">
            <a:noAutofit/>
          </a:bodyPr>
          <a:lstStyle/>
          <a:p>
            <a:pPr algn="ctr"/>
            <a:r>
              <a:rPr lang="en-US" sz="2000" b="1" dirty="0">
                <a:solidFill>
                  <a:srgbClr val="062F5C"/>
                </a:solidFill>
              </a:rPr>
              <a:t>01</a:t>
            </a:r>
          </a:p>
        </p:txBody>
      </p:sp>
      <p:sp>
        <p:nvSpPr>
          <p:cNvPr id="200" name="Ex card image"/>
          <p:cNvSpPr/>
          <p:nvPr/>
        </p:nvSpPr>
        <p:spPr>
          <a:xfrm>
            <a:off x="457200" y="1143000"/>
            <a:ext cx="2844800" cy="4495800"/>
          </a:xfrm>
          <a:prstGeom prst="roundRect">
            <a:avLst>
              <a:gd name="adj" fmla="val 643"/>
            </a:avLst>
          </a:prstGeom>
          <a:solidFill>
            <a:srgbClr val="FFFFFF"/>
          </a:solidFill>
          <a:ln>
            <a:noFill/>
          </a:ln>
        </p:spPr>
        <p:txBody>
          <a:bodyPr/>
          <a:lstStyle/>
          <a:p>
            <a:endParaRPr lang="en-US"/>
          </a:p>
        </p:txBody>
      </p:sp>
      <p:sp>
        <p:nvSpPr>
          <p:cNvPr id="201" name="Ex image bg"/>
          <p:cNvSpPr/>
          <p:nvPr/>
        </p:nvSpPr>
        <p:spPr>
          <a:xfrm>
            <a:off x="609600" y="1295400"/>
            <a:ext cx="2540000" cy="3098800"/>
          </a:xfrm>
          <a:prstGeom prst="roundRect">
            <a:avLst>
              <a:gd name="adj" fmla="val 1543"/>
            </a:avLst>
          </a:prstGeom>
          <a:solidFill>
            <a:srgbClr val="EEF2F6"/>
          </a:solidFill>
          <a:ln>
            <a:noFill/>
          </a:ln>
        </p:spPr>
        <p:txBody>
          <a:bodyPr/>
          <a:lstStyle/>
          <a:p>
            <a:endParaRPr lang="en-US"/>
          </a:p>
        </p:txBody>
      </p:sp>
      <p:sp>
        <p:nvSpPr>
          <p:cNvPr id="202" name="Ex caption"/>
          <p:cNvSpPr txBox="1"/>
          <p:nvPr/>
        </p:nvSpPr>
        <p:spPr>
          <a:xfrm>
            <a:off x="609600" y="4470400"/>
            <a:ext cx="2540000" cy="1016000"/>
          </a:xfrm>
          <a:prstGeom prst="rect">
            <a:avLst/>
          </a:prstGeom>
          <a:noFill/>
          <a:ln>
            <a:noFill/>
          </a:ln>
        </p:spPr>
        <p:txBody>
          <a:bodyPr wrap="square" lIns="0" tIns="0" rIns="0" bIns="0" rtlCol="0" anchor="t">
            <a:noAutofit/>
          </a:bodyPr>
          <a:lstStyle/>
          <a:p>
            <a:pPr marL="0" indent="0">
              <a:lnSpc>
                <a:spcPct val="105000"/>
              </a:lnSpc>
              <a:spcAft>
                <a:spcPts val="100"/>
              </a:spcAft>
              <a:buNone/>
            </a:pPr>
            <a:r>
              <a:rPr lang="vi-VN" sz="1200" i="1" dirty="0">
                <a:solidFill>
                  <a:srgbClr val="344054"/>
                </a:solidFill>
              </a:rPr>
              <a:t>Hình 1.1. Tìm kiếm vị trí Trường ĐH Công Nghiệp TP.HCM</a:t>
            </a:r>
          </a:p>
          <a:p>
            <a:pPr marL="0" indent="0">
              <a:lnSpc>
                <a:spcPct val="105000"/>
              </a:lnSpc>
              <a:buNone/>
            </a:pPr>
            <a:r>
              <a:rPr lang="vi-VN" sz="1100" i="1" dirty="0">
                <a:solidFill>
                  <a:srgbClr val="667085"/>
                </a:solidFill>
              </a:rPr>
              <a:t>Nguồn: https://www.google.com/maps</a:t>
            </a:r>
          </a:p>
        </p:txBody>
      </p:sp>
      <p:sp>
        <p:nvSpPr>
          <p:cNvPr id="203" name="Ex card text"/>
          <p:cNvSpPr/>
          <p:nvPr/>
        </p:nvSpPr>
        <p:spPr>
          <a:xfrm>
            <a:off x="3454400" y="1143000"/>
            <a:ext cx="8280400" cy="4495800"/>
          </a:xfrm>
          <a:prstGeom prst="roundRect">
            <a:avLst>
              <a:gd name="adj" fmla="val 643"/>
            </a:avLst>
          </a:prstGeom>
          <a:solidFill>
            <a:srgbClr val="FFFFFF"/>
          </a:solidFill>
          <a:ln>
            <a:noFill/>
          </a:ln>
        </p:spPr>
        <p:txBody>
          <a:bodyPr/>
          <a:lstStyle/>
          <a:p>
            <a:endParaRPr lang="en-US"/>
          </a:p>
        </p:txBody>
      </p:sp>
      <p:sp>
        <p:nvSpPr>
          <p:cNvPr id="204" name="Ex name"/>
          <p:cNvSpPr txBox="1"/>
          <p:nvPr/>
        </p:nvSpPr>
        <p:spPr>
          <a:xfrm>
            <a:off x="3683000" y="1244600"/>
            <a:ext cx="7823200" cy="736600"/>
          </a:xfrm>
          <a:prstGeom prst="rect">
            <a:avLst/>
          </a:prstGeom>
          <a:noFill/>
          <a:ln>
            <a:noFill/>
          </a:ln>
        </p:spPr>
        <p:txBody>
          <a:bodyPr wrap="square" lIns="0" tIns="0" rIns="0" bIns="0" rtlCol="0" anchor="t">
            <a:noAutofit/>
          </a:bodyPr>
          <a:lstStyle/>
          <a:p>
            <a:pPr marL="0" indent="0">
              <a:lnSpc>
                <a:spcPct val="100000"/>
              </a:lnSpc>
              <a:spcAft>
                <a:spcPts val="0"/>
              </a:spcAft>
              <a:buNone/>
            </a:pPr>
            <a:r>
              <a:rPr lang="vi-VN" sz="2400" b="1" dirty="0">
                <a:solidFill>
                  <a:srgbClr val="1677B8"/>
                </a:solidFill>
              </a:rPr>
              <a:t>Ví dụ 1.1: </a:t>
            </a:r>
            <a:r>
              <a:rPr lang="vi-VN" sz="2400" b="1" dirty="0">
                <a:solidFill>
                  <a:srgbClr val="062F5C"/>
                </a:solidFill>
              </a:rPr>
              <a:t>Giao diện tìm kiếm thông minh của Google Maps</a:t>
            </a:r>
          </a:p>
        </p:txBody>
      </p:sp>
      <p:sp>
        <p:nvSpPr>
          <p:cNvPr id="205" name="Ex body"/>
          <p:cNvSpPr txBox="1"/>
          <p:nvPr/>
        </p:nvSpPr>
        <p:spPr>
          <a:xfrm>
            <a:off x="3683000" y="2082800"/>
            <a:ext cx="7823200" cy="3505200"/>
          </a:xfrm>
          <a:prstGeom prst="rect">
            <a:avLst/>
          </a:prstGeom>
          <a:noFill/>
          <a:ln>
            <a:noFill/>
          </a:ln>
        </p:spPr>
        <p:txBody>
          <a:bodyPr wrap="square" lIns="0" tIns="0" rIns="0" bIns="0" rtlCol="0" anchor="t">
            <a:noAutofit/>
          </a:bodyPr>
          <a:lstStyle/>
          <a:p>
            <a:pPr marL="0" indent="0">
              <a:lnSpc>
                <a:spcPct val="98000"/>
              </a:lnSpc>
              <a:spcAft>
                <a:spcPts val="800"/>
              </a:spcAft>
              <a:buNone/>
            </a:pPr>
            <a:r>
              <a:rPr lang="vi-VN" sz="2100" b="1" dirty="0"/>
              <a:t>Là gì, có gì: </a:t>
            </a:r>
            <a:r>
              <a:rPr lang="vi-VN" sz="2100" dirty="0">
                <a:solidFill>
                  <a:srgbClr val="344054"/>
                </a:solidFill>
              </a:rPr>
              <a:t>Ứng dụng bản đồ điều hướng: thanh tìm kiếm ở trên cùng, biểu tượng gợi ý nhanh và bản đồ bên dưới.</a:t>
            </a:r>
          </a:p>
          <a:p>
            <a:pPr marL="0" indent="0">
              <a:lnSpc>
                <a:spcPct val="98000"/>
              </a:lnSpc>
              <a:spcAft>
                <a:spcPts val="800"/>
              </a:spcAft>
              <a:buNone/>
            </a:pPr>
            <a:r>
              <a:rPr lang="vi-VN" sz="2100" b="1" dirty="0"/>
              <a:t>Liên hệ đặc điểm nhận thức:</a:t>
            </a:r>
          </a:p>
          <a:p>
            <a:pPr marL="171450" indent="-171450">
              <a:lnSpc>
                <a:spcPct val="98000"/>
              </a:lnSpc>
              <a:spcAft>
                <a:spcPts val="800"/>
              </a:spcAft>
              <a:buClr>
                <a:srgbClr val="1677B8"/>
              </a:buClr>
              <a:buFont typeface="Arial"/>
              <a:buChar char="•"/>
            </a:pPr>
            <a:r>
              <a:rPr lang="vi-VN" sz="2100" b="1" dirty="0">
                <a:solidFill>
                  <a:srgbClr val="062F5C"/>
                </a:solidFill>
              </a:rPr>
              <a:t>Chú ý có chọn lọc (Top-down): </a:t>
            </a:r>
            <a:r>
              <a:rPr lang="vi-VN" sz="2100" dirty="0">
                <a:solidFill>
                  <a:srgbClr val="344054"/>
                </a:solidFill>
              </a:rPr>
              <a:t>Thanh tìm kiếm ở đỉnh màn hình giúp gõ địa điểm ngay.</a:t>
            </a:r>
          </a:p>
          <a:p>
            <a:pPr marL="171450" indent="-171450">
              <a:lnSpc>
                <a:spcPct val="98000"/>
              </a:lnSpc>
              <a:spcAft>
                <a:spcPts val="800"/>
              </a:spcAft>
              <a:buClr>
                <a:srgbClr val="1677B8"/>
              </a:buClr>
              <a:buFont typeface="Arial"/>
              <a:buChar char="•"/>
            </a:pPr>
            <a:r>
              <a:rPr lang="vi-VN" sz="2100" b="1" dirty="0">
                <a:solidFill>
                  <a:srgbClr val="062F5C"/>
                </a:solidFill>
              </a:rPr>
              <a:t>Chú ý bị thu hút (Bottom-up): </a:t>
            </a:r>
            <a:r>
              <a:rPr lang="vi-VN" sz="2100" dirty="0">
                <a:solidFill>
                  <a:srgbClr val="344054"/>
                </a:solidFill>
              </a:rPr>
              <a:t>Ghim đỏ/xanh nổi trên nền bản đồ trung tính thu hút mắt vào điểm quan trọng.</a:t>
            </a:r>
          </a:p>
          <a:p>
            <a:pPr marL="171450" indent="-171450">
              <a:lnSpc>
                <a:spcPct val="98000"/>
              </a:lnSpc>
              <a:spcAft>
                <a:spcPts val="0"/>
              </a:spcAft>
              <a:buClr>
                <a:srgbClr val="1677B8"/>
              </a:buClr>
              <a:buFont typeface="Arial"/>
              <a:buChar char="•"/>
            </a:pPr>
            <a:r>
              <a:rPr lang="vi-VN" sz="2100" b="1" dirty="0">
                <a:solidFill>
                  <a:srgbClr val="062F5C"/>
                </a:solidFill>
              </a:rPr>
              <a:t>Giới hạn tài nguyên chú ý: </a:t>
            </a:r>
            <a:r>
              <a:rPr lang="vi-VN" sz="2100" dirty="0">
                <a:solidFill>
                  <a:srgbClr val="344054"/>
                </a:solidFill>
              </a:rPr>
              <a:t>Chế độ lái xe tự ẩn thanh công cụ thừa để tập trung vào đường đi.</a:t>
            </a:r>
          </a:p>
        </p:txBody>
      </p:sp>
      <p:sp>
        <p:nvSpPr>
          <p:cNvPr id="206" name="Ex lesson bg"/>
          <p:cNvSpPr/>
          <p:nvPr/>
        </p:nvSpPr>
        <p:spPr>
          <a:xfrm>
            <a:off x="457200" y="5715000"/>
            <a:ext cx="11277600" cy="635000"/>
          </a:xfrm>
          <a:prstGeom prst="rect">
            <a:avLst/>
          </a:prstGeom>
          <a:solidFill>
            <a:srgbClr val="EAF5EF"/>
          </a:solidFill>
          <a:ln>
            <a:noFill/>
          </a:ln>
        </p:spPr>
        <p:txBody>
          <a:bodyPr/>
          <a:lstStyle/>
          <a:p>
            <a:endParaRPr lang="en-US"/>
          </a:p>
        </p:txBody>
      </p:sp>
      <p:sp>
        <p:nvSpPr>
          <p:cNvPr id="207" name="Ex lesson bar"/>
          <p:cNvSpPr/>
          <p:nvPr/>
        </p:nvSpPr>
        <p:spPr>
          <a:xfrm>
            <a:off x="457200" y="5715000"/>
            <a:ext cx="50800" cy="635000"/>
          </a:xfrm>
          <a:prstGeom prst="rect">
            <a:avLst/>
          </a:prstGeom>
          <a:solidFill>
            <a:srgbClr val="2E9B67"/>
          </a:solidFill>
          <a:ln>
            <a:noFill/>
          </a:ln>
        </p:spPr>
        <p:txBody>
          <a:bodyPr/>
          <a:lstStyle/>
          <a:p>
            <a:endParaRPr lang="en-US"/>
          </a:p>
        </p:txBody>
      </p:sp>
      <p:sp>
        <p:nvSpPr>
          <p:cNvPr id="208" name="Ex lesson"/>
          <p:cNvSpPr txBox="1"/>
          <p:nvPr/>
        </p:nvSpPr>
        <p:spPr>
          <a:xfrm>
            <a:off x="685800" y="5715000"/>
            <a:ext cx="10820400" cy="635000"/>
          </a:xfrm>
          <a:prstGeom prst="rect">
            <a:avLst/>
          </a:prstGeom>
          <a:noFill/>
          <a:ln>
            <a:noFill/>
          </a:ln>
        </p:spPr>
        <p:txBody>
          <a:bodyPr wrap="square" lIns="0" tIns="0" rIns="0" bIns="0" rtlCol="0" anchor="ctr">
            <a:noAutofit/>
          </a:bodyPr>
          <a:lstStyle/>
          <a:p>
            <a:pPr marL="0" indent="0">
              <a:lnSpc>
                <a:spcPct val="100000"/>
              </a:lnSpc>
              <a:spcAft>
                <a:spcPts val="0"/>
              </a:spcAft>
              <a:buNone/>
            </a:pPr>
            <a:r>
              <a:rPr lang="vi-VN" sz="2000" b="1" dirty="0">
                <a:solidFill>
                  <a:srgbClr val="1E7F53"/>
                </a:solidFill>
              </a:rPr>
              <a:t>Bài học: </a:t>
            </a:r>
            <a:r>
              <a:rPr lang="vi-VN" sz="2000" b="1" dirty="0">
                <a:solidFill>
                  <a:srgbClr val="062F5C"/>
                </a:solidFill>
              </a:rPr>
              <a:t>Tối giản giao diện, chỉ hiện thông tin cần thiết đúng lúc.</a:t>
            </a:r>
          </a:p>
        </p:txBody>
      </p:sp>
      <p:pic>
        <p:nvPicPr>
          <p:cNvPr id="3" name="Ex image">
            <a:extLst>
              <a:ext uri="{FF2B5EF4-FFF2-40B4-BE49-F238E27FC236}">
                <a16:creationId xmlns:a16="http://schemas.microsoft.com/office/drawing/2014/main" id="{0C026009-02AE-89DD-190E-7671D45C1CDC}"/>
              </a:ext>
            </a:extLst>
          </p:cNvPr>
          <p:cNvPicPr>
            <a:picLocks noChangeAspect="1"/>
          </p:cNvPicPr>
          <p:nvPr/>
        </p:nvPicPr>
        <p:blipFill>
          <a:blip r:embed="rId3"/>
          <a:srcRect r="42600"/>
          <a:stretch>
            <a:fillRect/>
          </a:stretch>
        </p:blipFill>
        <p:spPr>
          <a:xfrm>
            <a:off x="609600" y="1792909"/>
            <a:ext cx="2540000" cy="2103782"/>
          </a:xfrm>
          <a:prstGeom prst="rect">
            <a:avLst/>
          </a:prstGeom>
        </p:spPr>
      </p:pic>
      <p:sp>
        <p:nvSpPr>
          <p:cNvPr id="209" name="Ex badge"/>
          <p:cNvSpPr/>
          <p:nvPr/>
        </p:nvSpPr>
        <p:spPr>
          <a:xfrm>
            <a:off x="711200" y="1397000"/>
            <a:ext cx="381000" cy="381000"/>
          </a:xfrm>
          <a:prstGeom prst="ellipse">
            <a:avLst/>
          </a:prstGeom>
          <a:solidFill>
            <a:srgbClr val="073B6F"/>
          </a:solidFill>
          <a:ln w="28575">
            <a:solidFill>
              <a:srgbClr val="F4B336"/>
            </a:solidFill>
          </a:ln>
        </p:spPr>
        <p:txBody>
          <a:bodyPr/>
          <a:lstStyle/>
          <a:p>
            <a:endParaRPr lang="en-US"/>
          </a:p>
        </p:txBody>
      </p:sp>
      <p:sp>
        <p:nvSpPr>
          <p:cNvPr id="210" name="Ex badge num"/>
          <p:cNvSpPr txBox="1"/>
          <p:nvPr/>
        </p:nvSpPr>
        <p:spPr>
          <a:xfrm>
            <a:off x="711200" y="1397000"/>
            <a:ext cx="381000" cy="381000"/>
          </a:xfrm>
          <a:prstGeom prst="rect">
            <a:avLst/>
          </a:prstGeom>
          <a:noFill/>
          <a:ln>
            <a:noFill/>
          </a:ln>
        </p:spPr>
        <p:txBody>
          <a:bodyPr wrap="square" lIns="0" tIns="0" rIns="0" bIns="0" rtlCol="0" anchor="ctr">
            <a:noAutofit/>
          </a:bodyPr>
          <a:lstStyle/>
          <a:p>
            <a:pPr marL="0" indent="0" algn="ctr">
              <a:buNone/>
            </a:pPr>
            <a:r>
              <a:rPr lang="vi-VN" sz="1000" b="1" dirty="0">
                <a:solidFill>
                  <a:srgbClr val="FFFFFF"/>
                </a:solidFill>
              </a:rPr>
              <a:t>1.1</a:t>
            </a:r>
          </a:p>
        </p:txBody>
      </p:sp>
    </p:spTree>
    <p:extLst>
      <p:ext uri="{BB962C8B-B14F-4D97-AF65-F5344CB8AC3E}">
        <p14:creationId xmlns:p14="http://schemas.microsoft.com/office/powerpoint/2010/main" val="11237903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062F5C"/>
        </a:solidFill>
        <a:effectLst/>
      </p:bgPr>
    </p:bg>
    <p:spTree>
      <p:nvGrpSpPr>
        <p:cNvPr id="1" name=""/>
        <p:cNvGrpSpPr/>
        <p:nvPr/>
      </p:nvGrpSpPr>
      <p:grpSpPr>
        <a:xfrm>
          <a:off x="0" y="0"/>
          <a:ext cx="0" cy="0"/>
          <a:chOff x="0" y="0"/>
          <a:chExt cx="0" cy="0"/>
        </a:xfrm>
      </p:grpSpPr>
      <p:sp>
        <p:nvSpPr>
          <p:cNvPr id="35" name="Decor 36"/>
          <p:cNvSpPr/>
          <p:nvPr/>
        </p:nvSpPr>
        <p:spPr>
          <a:xfrm>
            <a:off x="9144000" y="3810000"/>
            <a:ext cx="4826000" cy="4826000"/>
          </a:xfrm>
          <a:prstGeom prst="ellipse">
            <a:avLst/>
          </a:prstGeom>
          <a:solidFill>
            <a:srgbClr val="FFFFFF">
              <a:alpha val="9000"/>
            </a:srgbClr>
          </a:solidFill>
          <a:ln>
            <a:noFill/>
          </a:ln>
        </p:spPr>
        <p:txBody>
          <a:bodyPr/>
          <a:lstStyle/>
          <a:p>
            <a:endParaRPr lang="en-US"/>
          </a:p>
        </p:txBody>
      </p:sp>
      <p:sp>
        <p:nvSpPr>
          <p:cNvPr id="36" name="Decor 37"/>
          <p:cNvSpPr/>
          <p:nvPr/>
        </p:nvSpPr>
        <p:spPr>
          <a:xfrm rot="900000">
            <a:off x="-1397000" y="-1905000"/>
            <a:ext cx="3302000" cy="3302000"/>
          </a:xfrm>
          <a:prstGeom prst="rect">
            <a:avLst/>
          </a:prstGeom>
          <a:noFill/>
          <a:ln w="28575">
            <a:solidFill>
              <a:srgbClr val="FFFFFF">
                <a:alpha val="22000"/>
              </a:srgbClr>
            </a:solidFill>
          </a:ln>
        </p:spPr>
        <p:txBody>
          <a:bodyPr/>
          <a:lstStyle/>
          <a:p>
            <a:endParaRPr lang="en-US"/>
          </a:p>
        </p:txBody>
      </p:sp>
      <p:sp>
        <p:nvSpPr>
          <p:cNvPr id="37" name="Decor 38"/>
          <p:cNvSpPr/>
          <p:nvPr/>
        </p:nvSpPr>
        <p:spPr>
          <a:xfrm>
            <a:off x="11557000" y="508000"/>
            <a:ext cx="254000" cy="254000"/>
          </a:xfrm>
          <a:prstGeom prst="ellipse">
            <a:avLst/>
          </a:prstGeom>
          <a:solidFill>
            <a:srgbClr val="F4B336">
              <a:alpha val="35000"/>
            </a:srgbClr>
          </a:solidFill>
          <a:ln>
            <a:noFill/>
          </a:ln>
        </p:spPr>
        <p:txBody>
          <a:bodyPr/>
          <a:lstStyle/>
          <a:p>
            <a:endParaRPr lang="en-US"/>
          </a:p>
        </p:txBody>
      </p:sp>
      <p:sp>
        <p:nvSpPr>
          <p:cNvPr id="2" name="Text 1"/>
          <p:cNvSpPr>
            <a:spLocks noGrp="1"/>
          </p:cNvSpPr>
          <p:nvPr>
            <p:ph type="title" idx="101" hasCustomPrompt="1"/>
          </p:nvPr>
        </p:nvSpPr>
        <p:spPr>
          <a:xfrm>
            <a:off x="1168400" y="512064"/>
            <a:ext cx="10566400" cy="512064"/>
          </a:xfrm>
          <a:prstGeom prst="rect">
            <a:avLst/>
          </a:prstGeom>
          <a:noFill/>
          <a:ln/>
        </p:spPr>
        <p:txBody>
          <a:bodyPr wrap="square" lIns="0" tIns="0" rIns="0" bIns="0" rtlCol="0" anchor="t"/>
          <a:lstStyle/>
          <a:p>
            <a:pPr marL="0" indent="0" algn="l">
              <a:buNone/>
            </a:pPr>
            <a:r>
              <a:rPr lang="en-US" sz="3000" b="1" dirty="0">
                <a:solidFill>
                  <a:srgbClr val="FFFFFF"/>
                </a:solidFill>
              </a:rPr>
              <a:t>Sự chú ý — Ví dụ 1.2</a:t>
            </a:r>
            <a:endParaRPr lang="en-US" sz="2800" dirty="0">
              <a:solidFill>
                <a:srgbClr val="FFFFFF"/>
              </a:solidFill>
            </a:endParaRPr>
          </a:p>
        </p:txBody>
      </p:sp>
      <p:sp>
        <p:nvSpPr>
          <p:cNvPr id="34" name="Topic badge"/>
          <p:cNvSpPr/>
          <p:nvPr/>
        </p:nvSpPr>
        <p:spPr>
          <a:xfrm>
            <a:off x="457200" y="524764"/>
            <a:ext cx="508000" cy="508000"/>
          </a:xfrm>
          <a:prstGeom prst="roundRect">
            <a:avLst>
              <a:gd name="adj" fmla="val 22000"/>
            </a:avLst>
          </a:prstGeom>
          <a:solidFill>
            <a:srgbClr val="F4B336"/>
          </a:solidFill>
          <a:ln>
            <a:noFill/>
          </a:ln>
        </p:spPr>
        <p:txBody>
          <a:bodyPr wrap="none" lIns="0" tIns="0" rIns="0" bIns="0" rtlCol="0" anchor="ctr">
            <a:noAutofit/>
          </a:bodyPr>
          <a:lstStyle/>
          <a:p>
            <a:pPr algn="ctr"/>
            <a:r>
              <a:rPr lang="en-US" sz="2000" b="1" dirty="0">
                <a:solidFill>
                  <a:srgbClr val="062F5C"/>
                </a:solidFill>
              </a:rPr>
              <a:t>01</a:t>
            </a:r>
          </a:p>
        </p:txBody>
      </p:sp>
      <p:sp>
        <p:nvSpPr>
          <p:cNvPr id="200" name="Ex card image"/>
          <p:cNvSpPr/>
          <p:nvPr/>
        </p:nvSpPr>
        <p:spPr>
          <a:xfrm>
            <a:off x="457200" y="1143000"/>
            <a:ext cx="2844800" cy="4495800"/>
          </a:xfrm>
          <a:prstGeom prst="roundRect">
            <a:avLst>
              <a:gd name="adj" fmla="val 643"/>
            </a:avLst>
          </a:prstGeom>
          <a:solidFill>
            <a:srgbClr val="FFFFFF"/>
          </a:solidFill>
          <a:ln>
            <a:noFill/>
          </a:ln>
        </p:spPr>
        <p:txBody>
          <a:bodyPr/>
          <a:lstStyle/>
          <a:p>
            <a:endParaRPr lang="en-US"/>
          </a:p>
        </p:txBody>
      </p:sp>
      <p:sp>
        <p:nvSpPr>
          <p:cNvPr id="201" name="Ex image bg"/>
          <p:cNvSpPr/>
          <p:nvPr/>
        </p:nvSpPr>
        <p:spPr>
          <a:xfrm>
            <a:off x="609600" y="1295400"/>
            <a:ext cx="2540000" cy="3098800"/>
          </a:xfrm>
          <a:prstGeom prst="roundRect">
            <a:avLst>
              <a:gd name="adj" fmla="val 1543"/>
            </a:avLst>
          </a:prstGeom>
          <a:solidFill>
            <a:srgbClr val="EEF2F6"/>
          </a:solidFill>
          <a:ln>
            <a:noFill/>
          </a:ln>
        </p:spPr>
        <p:txBody>
          <a:bodyPr/>
          <a:lstStyle/>
          <a:p>
            <a:endParaRPr lang="en-US"/>
          </a:p>
        </p:txBody>
      </p:sp>
      <p:sp>
        <p:nvSpPr>
          <p:cNvPr id="202" name="Ex caption"/>
          <p:cNvSpPr txBox="1"/>
          <p:nvPr/>
        </p:nvSpPr>
        <p:spPr>
          <a:xfrm>
            <a:off x="609600" y="4470400"/>
            <a:ext cx="2540000" cy="1016000"/>
          </a:xfrm>
          <a:prstGeom prst="rect">
            <a:avLst/>
          </a:prstGeom>
          <a:noFill/>
          <a:ln>
            <a:noFill/>
          </a:ln>
        </p:spPr>
        <p:txBody>
          <a:bodyPr wrap="square" lIns="0" tIns="0" rIns="0" bIns="0" rtlCol="0" anchor="t">
            <a:noAutofit/>
          </a:bodyPr>
          <a:lstStyle/>
          <a:p>
            <a:pPr marL="0" indent="0">
              <a:lnSpc>
                <a:spcPct val="105000"/>
              </a:lnSpc>
              <a:spcAft>
                <a:spcPts val="100"/>
              </a:spcAft>
              <a:buNone/>
            </a:pPr>
            <a:r>
              <a:rPr lang="vi-VN" sz="1200" i="1" dirty="0">
                <a:solidFill>
                  <a:srgbClr val="344054"/>
                </a:solidFill>
              </a:rPr>
              <a:t>Hình 1.2. Giao diện thanh toán trên app Shopee</a:t>
            </a:r>
          </a:p>
          <a:p>
            <a:pPr marL="0" indent="0">
              <a:lnSpc>
                <a:spcPct val="105000"/>
              </a:lnSpc>
              <a:buNone/>
            </a:pPr>
            <a:r>
              <a:rPr lang="vi-VN" sz="1100" i="1" dirty="0">
                <a:solidFill>
                  <a:srgbClr val="667085"/>
                </a:solidFill>
              </a:rPr>
              <a:t>Nguồn: https://mgg.vn/huong-dan-mua-sam-tren-shopee-app/</a:t>
            </a:r>
          </a:p>
        </p:txBody>
      </p:sp>
      <p:sp>
        <p:nvSpPr>
          <p:cNvPr id="203" name="Ex card text"/>
          <p:cNvSpPr/>
          <p:nvPr/>
        </p:nvSpPr>
        <p:spPr>
          <a:xfrm>
            <a:off x="3454400" y="1143000"/>
            <a:ext cx="8280400" cy="4495800"/>
          </a:xfrm>
          <a:prstGeom prst="roundRect">
            <a:avLst>
              <a:gd name="adj" fmla="val 643"/>
            </a:avLst>
          </a:prstGeom>
          <a:solidFill>
            <a:srgbClr val="FFFFFF"/>
          </a:solidFill>
          <a:ln>
            <a:noFill/>
          </a:ln>
        </p:spPr>
        <p:txBody>
          <a:bodyPr/>
          <a:lstStyle/>
          <a:p>
            <a:endParaRPr lang="en-US"/>
          </a:p>
        </p:txBody>
      </p:sp>
      <p:sp>
        <p:nvSpPr>
          <p:cNvPr id="204" name="Ex name"/>
          <p:cNvSpPr txBox="1"/>
          <p:nvPr/>
        </p:nvSpPr>
        <p:spPr>
          <a:xfrm>
            <a:off x="3683000" y="1244600"/>
            <a:ext cx="7823200" cy="736600"/>
          </a:xfrm>
          <a:prstGeom prst="rect">
            <a:avLst/>
          </a:prstGeom>
          <a:noFill/>
          <a:ln>
            <a:noFill/>
          </a:ln>
        </p:spPr>
        <p:txBody>
          <a:bodyPr wrap="square" lIns="0" tIns="0" rIns="0" bIns="0" rtlCol="0" anchor="t">
            <a:noAutofit/>
          </a:bodyPr>
          <a:lstStyle/>
          <a:p>
            <a:pPr marL="0" indent="0">
              <a:lnSpc>
                <a:spcPct val="100000"/>
              </a:lnSpc>
              <a:spcAft>
                <a:spcPts val="0"/>
              </a:spcAft>
              <a:buNone/>
            </a:pPr>
            <a:r>
              <a:rPr lang="vi-VN" sz="2400" b="1" dirty="0">
                <a:solidFill>
                  <a:srgbClr val="1677B8"/>
                </a:solidFill>
              </a:rPr>
              <a:t>Ví dụ 1.2: </a:t>
            </a:r>
            <a:r>
              <a:rPr lang="vi-VN" sz="2400" b="1" dirty="0">
                <a:solidFill>
                  <a:srgbClr val="062F5C"/>
                </a:solidFill>
              </a:rPr>
              <a:t>Màn hình thanh toán trên app Shopee</a:t>
            </a:r>
          </a:p>
        </p:txBody>
      </p:sp>
      <p:sp>
        <p:nvSpPr>
          <p:cNvPr id="205" name="Ex body"/>
          <p:cNvSpPr txBox="1"/>
          <p:nvPr/>
        </p:nvSpPr>
        <p:spPr>
          <a:xfrm>
            <a:off x="3683000" y="2082800"/>
            <a:ext cx="7823200" cy="3505200"/>
          </a:xfrm>
          <a:prstGeom prst="rect">
            <a:avLst/>
          </a:prstGeom>
          <a:noFill/>
          <a:ln>
            <a:noFill/>
          </a:ln>
        </p:spPr>
        <p:txBody>
          <a:bodyPr wrap="square" lIns="0" tIns="0" rIns="0" bIns="0" rtlCol="0" anchor="t">
            <a:noAutofit/>
          </a:bodyPr>
          <a:lstStyle/>
          <a:p>
            <a:pPr marL="0" indent="0">
              <a:lnSpc>
                <a:spcPct val="98000"/>
              </a:lnSpc>
              <a:spcAft>
                <a:spcPts val="800"/>
              </a:spcAft>
              <a:buNone/>
            </a:pPr>
            <a:r>
              <a:rPr lang="vi-VN" sz="2100" b="1" dirty="0"/>
              <a:t>Là gì, có gì: </a:t>
            </a:r>
            <a:r>
              <a:rPr lang="vi-VN" sz="2100" dirty="0">
                <a:solidFill>
                  <a:srgbClr val="344054"/>
                </a:solidFill>
              </a:rPr>
              <a:t>Màn hình xác nhận đơn hàng: địa chỉ, sản phẩm, thanh toán và nút "Đặt hàng" nổi bật ở đáy.</a:t>
            </a:r>
          </a:p>
          <a:p>
            <a:pPr marL="0" indent="0">
              <a:lnSpc>
                <a:spcPct val="98000"/>
              </a:lnSpc>
              <a:spcAft>
                <a:spcPts val="800"/>
              </a:spcAft>
              <a:buNone/>
            </a:pPr>
            <a:r>
              <a:rPr lang="vi-VN" sz="2100" b="1" dirty="0"/>
              <a:t>Liên hệ đặc điểm nhận thức:</a:t>
            </a:r>
          </a:p>
          <a:p>
            <a:pPr marL="171450" indent="-171450">
              <a:lnSpc>
                <a:spcPct val="98000"/>
              </a:lnSpc>
              <a:spcAft>
                <a:spcPts val="800"/>
              </a:spcAft>
              <a:buClr>
                <a:srgbClr val="1677B8"/>
              </a:buClr>
              <a:buFont typeface="Arial"/>
              <a:buChar char="•"/>
            </a:pPr>
            <a:r>
              <a:rPr lang="vi-VN" sz="2100" b="1" dirty="0">
                <a:solidFill>
                  <a:srgbClr val="062F5C"/>
                </a:solidFill>
              </a:rPr>
              <a:t>Chú ý có chọn lọc (Top-down): </a:t>
            </a:r>
            <a:r>
              <a:rPr lang="vi-VN" sz="2100" dirty="0">
                <a:solidFill>
                  <a:srgbClr val="344054"/>
                </a:solidFill>
              </a:rPr>
              <a:t>Người dùng chỉ muốn chốt đơn nên mắt tự quét xuống nút thanh toán.</a:t>
            </a:r>
          </a:p>
          <a:p>
            <a:pPr marL="171450" indent="-171450">
              <a:lnSpc>
                <a:spcPct val="98000"/>
              </a:lnSpc>
              <a:spcAft>
                <a:spcPts val="800"/>
              </a:spcAft>
              <a:buClr>
                <a:srgbClr val="1677B8"/>
              </a:buClr>
              <a:buFont typeface="Arial"/>
              <a:buChar char="•"/>
            </a:pPr>
            <a:r>
              <a:rPr lang="vi-VN" sz="2100" b="1" dirty="0">
                <a:solidFill>
                  <a:srgbClr val="062F5C"/>
                </a:solidFill>
              </a:rPr>
              <a:t>Chú ý bị thu hút (Bottom-up): </a:t>
            </a:r>
            <a:r>
              <a:rPr lang="vi-VN" sz="2100" dirty="0">
                <a:solidFill>
                  <a:srgbClr val="344054"/>
                </a:solidFill>
              </a:rPr>
              <a:t>Nút "Đặt hàng" cam/đỏ tương phản với nền trắng xám, cố định ở đáy.</a:t>
            </a:r>
          </a:p>
          <a:p>
            <a:pPr marL="171450" indent="-171450">
              <a:lnSpc>
                <a:spcPct val="98000"/>
              </a:lnSpc>
              <a:spcAft>
                <a:spcPts val="0"/>
              </a:spcAft>
              <a:buClr>
                <a:srgbClr val="1677B8"/>
              </a:buClr>
              <a:buFont typeface="Arial"/>
              <a:buChar char="•"/>
            </a:pPr>
            <a:r>
              <a:rPr lang="vi-VN" sz="2100" b="1" dirty="0">
                <a:solidFill>
                  <a:srgbClr val="062F5C"/>
                </a:solidFill>
              </a:rPr>
              <a:t>Giới hạn tài nguyên chú ý: </a:t>
            </a:r>
            <a:r>
              <a:rPr lang="vi-VN" sz="2100" dirty="0">
                <a:solidFill>
                  <a:srgbClr val="344054"/>
                </a:solidFill>
              </a:rPr>
              <a:t>Mã giảm giá, phí vận chuyển được gom nhóm (chunking) để tránh ngợp.</a:t>
            </a:r>
          </a:p>
        </p:txBody>
      </p:sp>
      <p:sp>
        <p:nvSpPr>
          <p:cNvPr id="206" name="Ex lesson bg"/>
          <p:cNvSpPr/>
          <p:nvPr/>
        </p:nvSpPr>
        <p:spPr>
          <a:xfrm>
            <a:off x="457200" y="5715000"/>
            <a:ext cx="11277600" cy="635000"/>
          </a:xfrm>
          <a:prstGeom prst="rect">
            <a:avLst/>
          </a:prstGeom>
          <a:solidFill>
            <a:srgbClr val="EAF5EF"/>
          </a:solidFill>
          <a:ln>
            <a:noFill/>
          </a:ln>
        </p:spPr>
        <p:txBody>
          <a:bodyPr/>
          <a:lstStyle/>
          <a:p>
            <a:endParaRPr lang="en-US"/>
          </a:p>
        </p:txBody>
      </p:sp>
      <p:sp>
        <p:nvSpPr>
          <p:cNvPr id="207" name="Ex lesson bar"/>
          <p:cNvSpPr/>
          <p:nvPr/>
        </p:nvSpPr>
        <p:spPr>
          <a:xfrm>
            <a:off x="457200" y="5715000"/>
            <a:ext cx="50800" cy="635000"/>
          </a:xfrm>
          <a:prstGeom prst="rect">
            <a:avLst/>
          </a:prstGeom>
          <a:solidFill>
            <a:srgbClr val="2E9B67"/>
          </a:solidFill>
          <a:ln>
            <a:noFill/>
          </a:ln>
        </p:spPr>
        <p:txBody>
          <a:bodyPr/>
          <a:lstStyle/>
          <a:p>
            <a:endParaRPr lang="en-US"/>
          </a:p>
        </p:txBody>
      </p:sp>
      <p:sp>
        <p:nvSpPr>
          <p:cNvPr id="208" name="Ex lesson"/>
          <p:cNvSpPr txBox="1"/>
          <p:nvPr/>
        </p:nvSpPr>
        <p:spPr>
          <a:xfrm>
            <a:off x="685800" y="5715000"/>
            <a:ext cx="10820400" cy="635000"/>
          </a:xfrm>
          <a:prstGeom prst="rect">
            <a:avLst/>
          </a:prstGeom>
          <a:noFill/>
          <a:ln>
            <a:noFill/>
          </a:ln>
        </p:spPr>
        <p:txBody>
          <a:bodyPr wrap="square" lIns="0" tIns="0" rIns="0" bIns="0" rtlCol="0" anchor="ctr">
            <a:noAutofit/>
          </a:bodyPr>
          <a:lstStyle/>
          <a:p>
            <a:pPr marL="0" indent="0">
              <a:lnSpc>
                <a:spcPct val="100000"/>
              </a:lnSpc>
              <a:spcAft>
                <a:spcPts val="0"/>
              </a:spcAft>
              <a:buNone/>
            </a:pPr>
            <a:r>
              <a:rPr lang="vi-VN" sz="2000" b="1" dirty="0">
                <a:solidFill>
                  <a:srgbClr val="1E7F53"/>
                </a:solidFill>
              </a:rPr>
              <a:t>Bài học: </a:t>
            </a:r>
            <a:r>
              <a:rPr lang="vi-VN" sz="2000" b="1" dirty="0">
                <a:solidFill>
                  <a:srgbClr val="062F5C"/>
                </a:solidFill>
              </a:rPr>
              <a:t>Dùng màu tương phản để làm nổi bật nút hành động chính.</a:t>
            </a:r>
          </a:p>
        </p:txBody>
      </p:sp>
      <p:pic>
        <p:nvPicPr>
          <p:cNvPr id="3" name="Ex image">
            <a:extLst>
              <a:ext uri="{FF2B5EF4-FFF2-40B4-BE49-F238E27FC236}">
                <a16:creationId xmlns:a16="http://schemas.microsoft.com/office/drawing/2014/main" id="{ED1C16C3-7896-22D7-409F-B28CEC521A2E}"/>
              </a:ext>
            </a:extLst>
          </p:cNvPr>
          <p:cNvPicPr>
            <a:picLocks noChangeAspect="1"/>
          </p:cNvPicPr>
          <p:nvPr/>
        </p:nvPicPr>
        <p:blipFill>
          <a:blip r:embed="rId3"/>
          <a:stretch>
            <a:fillRect/>
          </a:stretch>
        </p:blipFill>
        <p:spPr>
          <a:xfrm>
            <a:off x="1009504" y="1295400"/>
            <a:ext cx="1740192" cy="3098800"/>
          </a:xfrm>
          <a:prstGeom prst="rect">
            <a:avLst/>
          </a:prstGeom>
        </p:spPr>
      </p:pic>
      <p:sp>
        <p:nvSpPr>
          <p:cNvPr id="209" name="Ex badge"/>
          <p:cNvSpPr/>
          <p:nvPr/>
        </p:nvSpPr>
        <p:spPr>
          <a:xfrm>
            <a:off x="711200" y="1397000"/>
            <a:ext cx="381000" cy="381000"/>
          </a:xfrm>
          <a:prstGeom prst="ellipse">
            <a:avLst/>
          </a:prstGeom>
          <a:solidFill>
            <a:srgbClr val="073B6F"/>
          </a:solidFill>
          <a:ln w="28575">
            <a:solidFill>
              <a:srgbClr val="F4B336"/>
            </a:solidFill>
          </a:ln>
        </p:spPr>
        <p:txBody>
          <a:bodyPr/>
          <a:lstStyle/>
          <a:p>
            <a:endParaRPr lang="en-US"/>
          </a:p>
        </p:txBody>
      </p:sp>
      <p:sp>
        <p:nvSpPr>
          <p:cNvPr id="210" name="Ex badge num"/>
          <p:cNvSpPr txBox="1"/>
          <p:nvPr/>
        </p:nvSpPr>
        <p:spPr>
          <a:xfrm>
            <a:off x="711200" y="1397000"/>
            <a:ext cx="381000" cy="381000"/>
          </a:xfrm>
          <a:prstGeom prst="rect">
            <a:avLst/>
          </a:prstGeom>
          <a:noFill/>
          <a:ln>
            <a:noFill/>
          </a:ln>
        </p:spPr>
        <p:txBody>
          <a:bodyPr wrap="square" lIns="0" tIns="0" rIns="0" bIns="0" rtlCol="0" anchor="ctr">
            <a:noAutofit/>
          </a:bodyPr>
          <a:lstStyle/>
          <a:p>
            <a:pPr marL="0" indent="0" algn="ctr">
              <a:buNone/>
            </a:pPr>
            <a:r>
              <a:rPr lang="vi-VN" sz="1000" b="1" dirty="0">
                <a:solidFill>
                  <a:srgbClr val="FFFFFF"/>
                </a:solidFill>
              </a:rPr>
              <a:t>1.2</a:t>
            </a:r>
          </a:p>
        </p:txBody>
      </p:sp>
    </p:spTree>
    <p:extLst>
      <p:ext uri="{BB962C8B-B14F-4D97-AF65-F5344CB8AC3E}">
        <p14:creationId xmlns:p14="http://schemas.microsoft.com/office/powerpoint/2010/main" val="21787974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bg>
      <p:bgPr>
        <a:solidFill>
          <a:srgbClr val="062F5C"/>
        </a:solidFill>
        <a:effectLst/>
      </p:bgPr>
    </p:bg>
    <p:spTree>
      <p:nvGrpSpPr>
        <p:cNvPr id="1" name=""/>
        <p:cNvGrpSpPr/>
        <p:nvPr/>
      </p:nvGrpSpPr>
      <p:grpSpPr>
        <a:xfrm>
          <a:off x="0" y="0"/>
          <a:ext cx="0" cy="0"/>
          <a:chOff x="0" y="0"/>
          <a:chExt cx="0" cy="0"/>
        </a:xfrm>
      </p:grpSpPr>
      <p:sp>
        <p:nvSpPr>
          <p:cNvPr id="35" name="Decor 36"/>
          <p:cNvSpPr/>
          <p:nvPr/>
        </p:nvSpPr>
        <p:spPr>
          <a:xfrm>
            <a:off x="9144000" y="3810000"/>
            <a:ext cx="4826000" cy="4826000"/>
          </a:xfrm>
          <a:prstGeom prst="ellipse">
            <a:avLst/>
          </a:prstGeom>
          <a:solidFill>
            <a:srgbClr val="FFFFFF">
              <a:alpha val="9000"/>
            </a:srgbClr>
          </a:solidFill>
          <a:ln>
            <a:noFill/>
          </a:ln>
        </p:spPr>
        <p:txBody>
          <a:bodyPr/>
          <a:lstStyle/>
          <a:p>
            <a:endParaRPr lang="en-US"/>
          </a:p>
        </p:txBody>
      </p:sp>
      <p:sp>
        <p:nvSpPr>
          <p:cNvPr id="36" name="Decor 37"/>
          <p:cNvSpPr/>
          <p:nvPr/>
        </p:nvSpPr>
        <p:spPr>
          <a:xfrm rot="900000">
            <a:off x="-1397000" y="-1905000"/>
            <a:ext cx="3302000" cy="3302000"/>
          </a:xfrm>
          <a:prstGeom prst="rect">
            <a:avLst/>
          </a:prstGeom>
          <a:noFill/>
          <a:ln w="28575">
            <a:solidFill>
              <a:srgbClr val="FFFFFF">
                <a:alpha val="22000"/>
              </a:srgbClr>
            </a:solidFill>
          </a:ln>
        </p:spPr>
        <p:txBody>
          <a:bodyPr/>
          <a:lstStyle/>
          <a:p>
            <a:endParaRPr lang="en-US"/>
          </a:p>
        </p:txBody>
      </p:sp>
      <p:sp>
        <p:nvSpPr>
          <p:cNvPr id="37" name="Decor 38"/>
          <p:cNvSpPr/>
          <p:nvPr/>
        </p:nvSpPr>
        <p:spPr>
          <a:xfrm>
            <a:off x="11557000" y="508000"/>
            <a:ext cx="254000" cy="254000"/>
          </a:xfrm>
          <a:prstGeom prst="ellipse">
            <a:avLst/>
          </a:prstGeom>
          <a:solidFill>
            <a:srgbClr val="F4B336">
              <a:alpha val="35000"/>
            </a:srgbClr>
          </a:solidFill>
          <a:ln>
            <a:noFill/>
          </a:ln>
        </p:spPr>
        <p:txBody>
          <a:bodyPr/>
          <a:lstStyle/>
          <a:p>
            <a:endParaRPr lang="en-US"/>
          </a:p>
        </p:txBody>
      </p:sp>
      <p:sp>
        <p:nvSpPr>
          <p:cNvPr id="2" name="Text 1"/>
          <p:cNvSpPr>
            <a:spLocks noGrp="1"/>
          </p:cNvSpPr>
          <p:nvPr>
            <p:ph type="title" idx="101" hasCustomPrompt="1"/>
          </p:nvPr>
        </p:nvSpPr>
        <p:spPr>
          <a:xfrm>
            <a:off x="1168400" y="512064"/>
            <a:ext cx="10566400" cy="512064"/>
          </a:xfrm>
          <a:prstGeom prst="rect">
            <a:avLst/>
          </a:prstGeom>
          <a:noFill/>
          <a:ln/>
        </p:spPr>
        <p:txBody>
          <a:bodyPr wrap="square" lIns="0" tIns="0" rIns="0" bIns="0" rtlCol="0" anchor="t"/>
          <a:lstStyle/>
          <a:p>
            <a:pPr marL="0" indent="0" algn="l">
              <a:buNone/>
            </a:pPr>
            <a:r>
              <a:rPr lang="en-US" sz="3000" b="1" dirty="0">
                <a:solidFill>
                  <a:srgbClr val="FFFFFF"/>
                </a:solidFill>
              </a:rPr>
              <a:t>Sự chú ý — Ví dụ 1.3</a:t>
            </a:r>
            <a:endParaRPr lang="en-US" sz="2800" dirty="0">
              <a:solidFill>
                <a:srgbClr val="FFFFFF"/>
              </a:solidFill>
            </a:endParaRPr>
          </a:p>
        </p:txBody>
      </p:sp>
      <p:sp>
        <p:nvSpPr>
          <p:cNvPr id="34" name="Topic badge"/>
          <p:cNvSpPr/>
          <p:nvPr/>
        </p:nvSpPr>
        <p:spPr>
          <a:xfrm>
            <a:off x="457200" y="524764"/>
            <a:ext cx="508000" cy="508000"/>
          </a:xfrm>
          <a:prstGeom prst="roundRect">
            <a:avLst>
              <a:gd name="adj" fmla="val 22000"/>
            </a:avLst>
          </a:prstGeom>
          <a:solidFill>
            <a:srgbClr val="F4B336"/>
          </a:solidFill>
          <a:ln>
            <a:noFill/>
          </a:ln>
        </p:spPr>
        <p:txBody>
          <a:bodyPr wrap="none" lIns="0" tIns="0" rIns="0" bIns="0" rtlCol="0" anchor="ctr">
            <a:noAutofit/>
          </a:bodyPr>
          <a:lstStyle/>
          <a:p>
            <a:pPr algn="ctr"/>
            <a:r>
              <a:rPr lang="en-US" sz="2000" b="1" dirty="0">
                <a:solidFill>
                  <a:srgbClr val="062F5C"/>
                </a:solidFill>
              </a:rPr>
              <a:t>01</a:t>
            </a:r>
          </a:p>
        </p:txBody>
      </p:sp>
      <p:sp>
        <p:nvSpPr>
          <p:cNvPr id="200" name="Ex card image"/>
          <p:cNvSpPr/>
          <p:nvPr/>
        </p:nvSpPr>
        <p:spPr>
          <a:xfrm>
            <a:off x="457200" y="1143000"/>
            <a:ext cx="2844800" cy="4495800"/>
          </a:xfrm>
          <a:prstGeom prst="roundRect">
            <a:avLst>
              <a:gd name="adj" fmla="val 643"/>
            </a:avLst>
          </a:prstGeom>
          <a:solidFill>
            <a:srgbClr val="FFFFFF"/>
          </a:solidFill>
          <a:ln>
            <a:noFill/>
          </a:ln>
        </p:spPr>
        <p:txBody>
          <a:bodyPr/>
          <a:lstStyle/>
          <a:p>
            <a:endParaRPr lang="en-US"/>
          </a:p>
        </p:txBody>
      </p:sp>
      <p:sp>
        <p:nvSpPr>
          <p:cNvPr id="201" name="Ex image bg"/>
          <p:cNvSpPr/>
          <p:nvPr/>
        </p:nvSpPr>
        <p:spPr>
          <a:xfrm>
            <a:off x="609600" y="1295400"/>
            <a:ext cx="2540000" cy="3098800"/>
          </a:xfrm>
          <a:prstGeom prst="roundRect">
            <a:avLst>
              <a:gd name="adj" fmla="val 1543"/>
            </a:avLst>
          </a:prstGeom>
          <a:solidFill>
            <a:srgbClr val="EEF2F6"/>
          </a:solidFill>
          <a:ln>
            <a:noFill/>
          </a:ln>
        </p:spPr>
        <p:txBody>
          <a:bodyPr/>
          <a:lstStyle/>
          <a:p>
            <a:endParaRPr lang="en-US"/>
          </a:p>
        </p:txBody>
      </p:sp>
      <p:sp>
        <p:nvSpPr>
          <p:cNvPr id="202" name="Ex caption"/>
          <p:cNvSpPr txBox="1"/>
          <p:nvPr/>
        </p:nvSpPr>
        <p:spPr>
          <a:xfrm>
            <a:off x="609600" y="4470400"/>
            <a:ext cx="2540000" cy="1016000"/>
          </a:xfrm>
          <a:prstGeom prst="rect">
            <a:avLst/>
          </a:prstGeom>
          <a:noFill/>
          <a:ln>
            <a:noFill/>
          </a:ln>
        </p:spPr>
        <p:txBody>
          <a:bodyPr wrap="square" lIns="0" tIns="0" rIns="0" bIns="0" rtlCol="0" anchor="t">
            <a:noAutofit/>
          </a:bodyPr>
          <a:lstStyle/>
          <a:p>
            <a:pPr marL="0" indent="0">
              <a:lnSpc>
                <a:spcPct val="105000"/>
              </a:lnSpc>
              <a:spcAft>
                <a:spcPts val="100"/>
              </a:spcAft>
              <a:buNone/>
            </a:pPr>
            <a:r>
              <a:rPr lang="vi-VN" sz="1200" i="1" dirty="0">
                <a:solidFill>
                  <a:srgbClr val="344054"/>
                </a:solidFill>
              </a:rPr>
              <a:t>Hình 1.3. Giao diện học tập của Duolingo</a:t>
            </a:r>
          </a:p>
          <a:p>
            <a:pPr marL="0" indent="0">
              <a:lnSpc>
                <a:spcPct val="105000"/>
              </a:lnSpc>
              <a:buNone/>
            </a:pPr>
            <a:r>
              <a:rPr lang="vi-VN" sz="1100" i="1" dirty="0">
                <a:solidFill>
                  <a:srgbClr val="667085"/>
                </a:solidFill>
              </a:rPr>
              <a:t>Nguồn: https://www.lemon8-app.com/@zhoulyn77/7541014458245399047?region=vn</a:t>
            </a:r>
          </a:p>
        </p:txBody>
      </p:sp>
      <p:sp>
        <p:nvSpPr>
          <p:cNvPr id="203" name="Ex card text"/>
          <p:cNvSpPr/>
          <p:nvPr/>
        </p:nvSpPr>
        <p:spPr>
          <a:xfrm>
            <a:off x="3454400" y="1143000"/>
            <a:ext cx="8280400" cy="4495800"/>
          </a:xfrm>
          <a:prstGeom prst="roundRect">
            <a:avLst>
              <a:gd name="adj" fmla="val 643"/>
            </a:avLst>
          </a:prstGeom>
          <a:solidFill>
            <a:srgbClr val="FFFFFF"/>
          </a:solidFill>
          <a:ln>
            <a:noFill/>
          </a:ln>
        </p:spPr>
        <p:txBody>
          <a:bodyPr/>
          <a:lstStyle/>
          <a:p>
            <a:endParaRPr lang="en-US"/>
          </a:p>
        </p:txBody>
      </p:sp>
      <p:sp>
        <p:nvSpPr>
          <p:cNvPr id="204" name="Ex name"/>
          <p:cNvSpPr txBox="1"/>
          <p:nvPr/>
        </p:nvSpPr>
        <p:spPr>
          <a:xfrm>
            <a:off x="3683000" y="1244600"/>
            <a:ext cx="7823200" cy="736600"/>
          </a:xfrm>
          <a:prstGeom prst="rect">
            <a:avLst/>
          </a:prstGeom>
          <a:noFill/>
          <a:ln>
            <a:noFill/>
          </a:ln>
        </p:spPr>
        <p:txBody>
          <a:bodyPr wrap="square" lIns="0" tIns="0" rIns="0" bIns="0" rtlCol="0" anchor="t">
            <a:noAutofit/>
          </a:bodyPr>
          <a:lstStyle/>
          <a:p>
            <a:pPr marL="0" indent="0">
              <a:lnSpc>
                <a:spcPct val="100000"/>
              </a:lnSpc>
              <a:spcAft>
                <a:spcPts val="0"/>
              </a:spcAft>
              <a:buNone/>
            </a:pPr>
            <a:r>
              <a:rPr lang="vi-VN" sz="2400" b="1" dirty="0">
                <a:solidFill>
                  <a:srgbClr val="1677B8"/>
                </a:solidFill>
              </a:rPr>
              <a:t>Ví dụ 1.3: </a:t>
            </a:r>
            <a:r>
              <a:rPr lang="vi-VN" sz="2400" b="1" dirty="0">
                <a:solidFill>
                  <a:srgbClr val="062F5C"/>
                </a:solidFill>
              </a:rPr>
              <a:t>Chế độ tập trung (Focus Mode) của Duolingo</a:t>
            </a:r>
          </a:p>
        </p:txBody>
      </p:sp>
      <p:sp>
        <p:nvSpPr>
          <p:cNvPr id="205" name="Ex body"/>
          <p:cNvSpPr txBox="1"/>
          <p:nvPr/>
        </p:nvSpPr>
        <p:spPr>
          <a:xfrm>
            <a:off x="3683000" y="2082800"/>
            <a:ext cx="7823200" cy="3505200"/>
          </a:xfrm>
          <a:prstGeom prst="rect">
            <a:avLst/>
          </a:prstGeom>
          <a:noFill/>
          <a:ln>
            <a:noFill/>
          </a:ln>
        </p:spPr>
        <p:txBody>
          <a:bodyPr wrap="square" lIns="0" tIns="0" rIns="0" bIns="0" rtlCol="0" anchor="t">
            <a:noAutofit/>
          </a:bodyPr>
          <a:lstStyle/>
          <a:p>
            <a:pPr marL="0" indent="0">
              <a:lnSpc>
                <a:spcPct val="98000"/>
              </a:lnSpc>
              <a:spcAft>
                <a:spcPts val="800"/>
              </a:spcAft>
              <a:buNone/>
            </a:pPr>
            <a:r>
              <a:rPr lang="vi-VN" sz="2100" b="1" dirty="0"/>
              <a:t>Là gì, có gì: </a:t>
            </a:r>
            <a:r>
              <a:rPr lang="vi-VN" sz="2100" dirty="0">
                <a:solidFill>
                  <a:srgbClr val="344054"/>
                </a:solidFill>
              </a:rPr>
              <a:t>Ứng dụng học ngoại ngữ dạng trò chơi: khi làm bài chỉ còn câu hỏi, đáp án và thanh tiến trình.</a:t>
            </a:r>
          </a:p>
          <a:p>
            <a:pPr marL="0" indent="0">
              <a:lnSpc>
                <a:spcPct val="98000"/>
              </a:lnSpc>
              <a:spcAft>
                <a:spcPts val="800"/>
              </a:spcAft>
              <a:buNone/>
            </a:pPr>
            <a:r>
              <a:rPr lang="vi-VN" sz="2100" b="1" dirty="0"/>
              <a:t>Liên hệ đặc điểm nhận thức:</a:t>
            </a:r>
          </a:p>
          <a:p>
            <a:pPr marL="171450" indent="-171450">
              <a:lnSpc>
                <a:spcPct val="98000"/>
              </a:lnSpc>
              <a:spcAft>
                <a:spcPts val="800"/>
              </a:spcAft>
              <a:buClr>
                <a:srgbClr val="1677B8"/>
              </a:buClr>
              <a:buFont typeface="Arial"/>
              <a:buChar char="•"/>
            </a:pPr>
            <a:r>
              <a:rPr lang="vi-VN" sz="2100" b="1" dirty="0">
                <a:solidFill>
                  <a:srgbClr val="062F5C"/>
                </a:solidFill>
              </a:rPr>
              <a:t>Chú ý có chọn lọc (Top-down): </a:t>
            </a:r>
            <a:r>
              <a:rPr lang="vi-VN" sz="2100" dirty="0">
                <a:solidFill>
                  <a:srgbClr val="344054"/>
                </a:solidFill>
              </a:rPr>
              <a:t>Ẩn menu phụ để dồn chú ý vào việc trả lời câu hỏi.</a:t>
            </a:r>
          </a:p>
          <a:p>
            <a:pPr marL="171450" indent="-171450">
              <a:lnSpc>
                <a:spcPct val="98000"/>
              </a:lnSpc>
              <a:spcAft>
                <a:spcPts val="800"/>
              </a:spcAft>
              <a:buClr>
                <a:srgbClr val="1677B8"/>
              </a:buClr>
              <a:buFont typeface="Arial"/>
              <a:buChar char="•"/>
            </a:pPr>
            <a:r>
              <a:rPr lang="vi-VN" sz="2100" b="1" dirty="0">
                <a:solidFill>
                  <a:srgbClr val="062F5C"/>
                </a:solidFill>
              </a:rPr>
              <a:t>Chú ý bị thu hút (Bottom-up): </a:t>
            </a:r>
            <a:r>
              <a:rPr lang="vi-VN" sz="2100" dirty="0">
                <a:solidFill>
                  <a:srgbClr val="344054"/>
                </a:solidFill>
              </a:rPr>
              <a:t>Đúng thì có âm thanh và thanh xanh lá, sai thì hiện màu đỏ thu hút vào lỗi.</a:t>
            </a:r>
          </a:p>
          <a:p>
            <a:pPr marL="171450" indent="-171450">
              <a:lnSpc>
                <a:spcPct val="98000"/>
              </a:lnSpc>
              <a:spcAft>
                <a:spcPts val="0"/>
              </a:spcAft>
              <a:buClr>
                <a:srgbClr val="1677B8"/>
              </a:buClr>
              <a:buFont typeface="Arial"/>
              <a:buChar char="•"/>
            </a:pPr>
            <a:r>
              <a:rPr lang="vi-VN" sz="2100" b="1" dirty="0">
                <a:solidFill>
                  <a:srgbClr val="062F5C"/>
                </a:solidFill>
              </a:rPr>
              <a:t>Giới hạn tài nguyên chú ý: </a:t>
            </a:r>
            <a:r>
              <a:rPr lang="vi-VN" sz="2100" dirty="0">
                <a:solidFill>
                  <a:srgbClr val="344054"/>
                </a:solidFill>
              </a:rPr>
              <a:t>Mỗi màn hình chỉ một câu hỏi để giữ tải nhận thức thấp.</a:t>
            </a:r>
          </a:p>
        </p:txBody>
      </p:sp>
      <p:sp>
        <p:nvSpPr>
          <p:cNvPr id="206" name="Ex lesson bg"/>
          <p:cNvSpPr/>
          <p:nvPr/>
        </p:nvSpPr>
        <p:spPr>
          <a:xfrm>
            <a:off x="457200" y="5715000"/>
            <a:ext cx="11277600" cy="635000"/>
          </a:xfrm>
          <a:prstGeom prst="rect">
            <a:avLst/>
          </a:prstGeom>
          <a:solidFill>
            <a:srgbClr val="EAF5EF"/>
          </a:solidFill>
          <a:ln>
            <a:noFill/>
          </a:ln>
        </p:spPr>
        <p:txBody>
          <a:bodyPr/>
          <a:lstStyle/>
          <a:p>
            <a:endParaRPr lang="en-US"/>
          </a:p>
        </p:txBody>
      </p:sp>
      <p:sp>
        <p:nvSpPr>
          <p:cNvPr id="207" name="Ex lesson bar"/>
          <p:cNvSpPr/>
          <p:nvPr/>
        </p:nvSpPr>
        <p:spPr>
          <a:xfrm>
            <a:off x="457200" y="5715000"/>
            <a:ext cx="50800" cy="635000"/>
          </a:xfrm>
          <a:prstGeom prst="rect">
            <a:avLst/>
          </a:prstGeom>
          <a:solidFill>
            <a:srgbClr val="2E9B67"/>
          </a:solidFill>
          <a:ln>
            <a:noFill/>
          </a:ln>
        </p:spPr>
        <p:txBody>
          <a:bodyPr/>
          <a:lstStyle/>
          <a:p>
            <a:endParaRPr lang="en-US"/>
          </a:p>
        </p:txBody>
      </p:sp>
      <p:sp>
        <p:nvSpPr>
          <p:cNvPr id="208" name="Ex lesson"/>
          <p:cNvSpPr txBox="1"/>
          <p:nvPr/>
        </p:nvSpPr>
        <p:spPr>
          <a:xfrm>
            <a:off x="685800" y="5715000"/>
            <a:ext cx="10820400" cy="635000"/>
          </a:xfrm>
          <a:prstGeom prst="rect">
            <a:avLst/>
          </a:prstGeom>
          <a:noFill/>
          <a:ln>
            <a:noFill/>
          </a:ln>
        </p:spPr>
        <p:txBody>
          <a:bodyPr wrap="square" lIns="0" tIns="0" rIns="0" bIns="0" rtlCol="0" anchor="ctr">
            <a:noAutofit/>
          </a:bodyPr>
          <a:lstStyle/>
          <a:p>
            <a:pPr marL="0" indent="0">
              <a:lnSpc>
                <a:spcPct val="100000"/>
              </a:lnSpc>
              <a:spcAft>
                <a:spcPts val="0"/>
              </a:spcAft>
              <a:buNone/>
            </a:pPr>
            <a:r>
              <a:rPr lang="vi-VN" sz="2000" b="1" dirty="0">
                <a:solidFill>
                  <a:srgbClr val="1E7F53"/>
                </a:solidFill>
              </a:rPr>
              <a:t>Bài học: </a:t>
            </a:r>
            <a:r>
              <a:rPr lang="vi-VN" sz="2000" b="1" dirty="0">
                <a:solidFill>
                  <a:srgbClr val="062F5C"/>
                </a:solidFill>
              </a:rPr>
              <a:t>Giảm rối mắt và phản hồi tức thì bằng màu sắc, âm thanh.</a:t>
            </a:r>
          </a:p>
        </p:txBody>
      </p:sp>
      <p:pic>
        <p:nvPicPr>
          <p:cNvPr id="3" name="Ex image">
            <a:extLst>
              <a:ext uri="{FF2B5EF4-FFF2-40B4-BE49-F238E27FC236}">
                <a16:creationId xmlns:a16="http://schemas.microsoft.com/office/drawing/2014/main" id="{55076F9B-2C8C-147D-7E05-02A4DD36DDB6}"/>
              </a:ext>
            </a:extLst>
          </p:cNvPr>
          <p:cNvPicPr>
            <a:picLocks noChangeAspect="1"/>
          </p:cNvPicPr>
          <p:nvPr/>
        </p:nvPicPr>
        <p:blipFill>
          <a:blip r:embed="rId3"/>
          <a:stretch>
            <a:fillRect/>
          </a:stretch>
        </p:blipFill>
        <p:spPr>
          <a:xfrm>
            <a:off x="717550" y="1295400"/>
            <a:ext cx="2324100" cy="3098800"/>
          </a:xfrm>
          <a:prstGeom prst="rect">
            <a:avLst/>
          </a:prstGeom>
        </p:spPr>
      </p:pic>
      <p:sp>
        <p:nvSpPr>
          <p:cNvPr id="209" name="Ex badge"/>
          <p:cNvSpPr/>
          <p:nvPr/>
        </p:nvSpPr>
        <p:spPr>
          <a:xfrm>
            <a:off x="711200" y="1397000"/>
            <a:ext cx="381000" cy="381000"/>
          </a:xfrm>
          <a:prstGeom prst="ellipse">
            <a:avLst/>
          </a:prstGeom>
          <a:solidFill>
            <a:srgbClr val="073B6F"/>
          </a:solidFill>
          <a:ln w="28575">
            <a:solidFill>
              <a:srgbClr val="F4B336"/>
            </a:solidFill>
          </a:ln>
        </p:spPr>
        <p:txBody>
          <a:bodyPr/>
          <a:lstStyle/>
          <a:p>
            <a:endParaRPr lang="en-US"/>
          </a:p>
        </p:txBody>
      </p:sp>
      <p:sp>
        <p:nvSpPr>
          <p:cNvPr id="210" name="Ex badge num"/>
          <p:cNvSpPr txBox="1"/>
          <p:nvPr/>
        </p:nvSpPr>
        <p:spPr>
          <a:xfrm>
            <a:off x="711200" y="1397000"/>
            <a:ext cx="381000" cy="381000"/>
          </a:xfrm>
          <a:prstGeom prst="rect">
            <a:avLst/>
          </a:prstGeom>
          <a:noFill/>
          <a:ln>
            <a:noFill/>
          </a:ln>
        </p:spPr>
        <p:txBody>
          <a:bodyPr wrap="square" lIns="0" tIns="0" rIns="0" bIns="0" rtlCol="0" anchor="ctr">
            <a:noAutofit/>
          </a:bodyPr>
          <a:lstStyle/>
          <a:p>
            <a:pPr marL="0" indent="0" algn="ctr">
              <a:buNone/>
            </a:pPr>
            <a:r>
              <a:rPr lang="vi-VN" sz="1000" b="1" dirty="0">
                <a:solidFill>
                  <a:srgbClr val="FFFFFF"/>
                </a:solidFill>
              </a:rPr>
              <a:t>1.3</a:t>
            </a:r>
          </a:p>
        </p:txBody>
      </p:sp>
    </p:spTree>
    <p:extLst>
      <p:ext uri="{BB962C8B-B14F-4D97-AF65-F5344CB8AC3E}">
        <p14:creationId xmlns:p14="http://schemas.microsoft.com/office/powerpoint/2010/main" val="27132569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bg>
      <p:bgPr>
        <a:solidFill>
          <a:srgbClr val="062F5C"/>
        </a:solidFill>
        <a:effectLst/>
      </p:bgPr>
    </p:bg>
    <p:spTree>
      <p:nvGrpSpPr>
        <p:cNvPr id="1" name=""/>
        <p:cNvGrpSpPr/>
        <p:nvPr/>
      </p:nvGrpSpPr>
      <p:grpSpPr>
        <a:xfrm>
          <a:off x="0" y="0"/>
          <a:ext cx="0" cy="0"/>
          <a:chOff x="0" y="0"/>
          <a:chExt cx="0" cy="0"/>
        </a:xfrm>
      </p:grpSpPr>
      <p:sp>
        <p:nvSpPr>
          <p:cNvPr id="22" name="Decor 23"/>
          <p:cNvSpPr/>
          <p:nvPr/>
        </p:nvSpPr>
        <p:spPr>
          <a:xfrm rot="720000">
            <a:off x="10922000" y="-762000"/>
            <a:ext cx="2286000" cy="8382000"/>
          </a:xfrm>
          <a:prstGeom prst="rect">
            <a:avLst/>
          </a:prstGeom>
          <a:solidFill>
            <a:srgbClr val="FFFFFF">
              <a:alpha val="9000"/>
            </a:srgbClr>
          </a:solidFill>
          <a:ln>
            <a:noFill/>
          </a:ln>
        </p:spPr>
        <p:txBody>
          <a:bodyPr/>
          <a:lstStyle/>
          <a:p>
            <a:endParaRPr lang="en-US"/>
          </a:p>
        </p:txBody>
      </p:sp>
      <p:sp>
        <p:nvSpPr>
          <p:cNvPr id="23" name="Decor 24"/>
          <p:cNvSpPr/>
          <p:nvPr/>
        </p:nvSpPr>
        <p:spPr>
          <a:xfrm>
            <a:off x="-1524000" y="-2159000"/>
            <a:ext cx="4064000" cy="4064000"/>
          </a:xfrm>
          <a:prstGeom prst="ellipse">
            <a:avLst/>
          </a:prstGeom>
          <a:noFill/>
          <a:ln w="28575">
            <a:solidFill>
              <a:srgbClr val="FFFFFF">
                <a:alpha val="22000"/>
              </a:srgbClr>
            </a:solidFill>
          </a:ln>
        </p:spPr>
        <p:txBody>
          <a:bodyPr/>
          <a:lstStyle/>
          <a:p>
            <a:endParaRPr lang="en-US"/>
          </a:p>
        </p:txBody>
      </p:sp>
      <p:sp>
        <p:nvSpPr>
          <p:cNvPr id="24" name="Decor 25"/>
          <p:cNvSpPr/>
          <p:nvPr/>
        </p:nvSpPr>
        <p:spPr>
          <a:xfrm>
            <a:off x="11912600" y="6553200"/>
            <a:ext cx="177800" cy="101600"/>
          </a:xfrm>
          <a:prstGeom prst="rect">
            <a:avLst/>
          </a:prstGeom>
          <a:solidFill>
            <a:srgbClr val="F4B336">
              <a:alpha val="35000"/>
            </a:srgbClr>
          </a:solidFill>
          <a:ln>
            <a:noFill/>
          </a:ln>
        </p:spPr>
        <p:txBody>
          <a:bodyPr/>
          <a:lstStyle/>
          <a:p>
            <a:endParaRPr lang="en-US"/>
          </a:p>
        </p:txBody>
      </p:sp>
      <p:sp>
        <p:nvSpPr>
          <p:cNvPr id="2" name="Text 1"/>
          <p:cNvSpPr>
            <a:spLocks noGrp="1"/>
          </p:cNvSpPr>
          <p:nvPr>
            <p:ph type="title" idx="101" hasCustomPrompt="1"/>
          </p:nvPr>
        </p:nvSpPr>
        <p:spPr>
          <a:xfrm>
            <a:off x="1168400" y="512064"/>
            <a:ext cx="10566400" cy="512064"/>
          </a:xfrm>
          <a:prstGeom prst="rect">
            <a:avLst/>
          </a:prstGeom>
          <a:noFill/>
          <a:ln/>
        </p:spPr>
        <p:txBody>
          <a:bodyPr wrap="square" lIns="0" tIns="0" rIns="0" bIns="0" rtlCol="0" anchor="t"/>
          <a:lstStyle/>
          <a:p>
            <a:pPr marL="0" indent="0" algn="l">
              <a:buNone/>
            </a:pPr>
            <a:r>
              <a:rPr lang="en-US" sz="3000" b="1" dirty="0">
                <a:solidFill>
                  <a:srgbClr val="FFFFFF"/>
                </a:solidFill>
              </a:rPr>
              <a:t>Tri giác qua các giác quan</a:t>
            </a:r>
            <a:r>
              <a:rPr lang="en-US" sz="2000" b="0" dirty="0">
                <a:solidFill>
                  <a:srgbClr val="9FB2C8"/>
                </a:solidFill>
              </a:rPr>
              <a:t>   Perception</a:t>
            </a:r>
            <a:endParaRPr lang="en-US" sz="2800" dirty="0">
              <a:solidFill>
                <a:srgbClr val="FFFFFF"/>
              </a:solidFill>
            </a:endParaRPr>
          </a:p>
        </p:txBody>
      </p:sp>
      <p:sp>
        <p:nvSpPr>
          <p:cNvPr id="901" name="Deco 901"/>
          <p:cNvSpPr/>
          <p:nvPr/>
        </p:nvSpPr>
        <p:spPr>
          <a:xfrm>
            <a:off x="457200" y="1320800"/>
            <a:ext cx="50800" cy="2476500"/>
          </a:xfrm>
          <a:prstGeom prst="rect">
            <a:avLst/>
          </a:prstGeom>
          <a:solidFill>
            <a:srgbClr val="F4B336"/>
          </a:solidFill>
          <a:ln>
            <a:noFill/>
          </a:ln>
        </p:spPr>
        <p:txBody>
          <a:bodyPr/>
          <a:lstStyle/>
          <a:p>
            <a:endParaRPr lang="en-US"/>
          </a:p>
        </p:txBody>
      </p:sp>
      <p:sp>
        <p:nvSpPr>
          <p:cNvPr id="5" name="Text 3"/>
          <p:cNvSpPr txBox="1"/>
          <p:nvPr/>
        </p:nvSpPr>
        <p:spPr>
          <a:xfrm>
            <a:off x="736600" y="1320800"/>
            <a:ext cx="10998200" cy="2476500"/>
          </a:xfrm>
          <a:prstGeom prst="rect">
            <a:avLst/>
          </a:prstGeom>
          <a:noFill/>
          <a:ln/>
        </p:spPr>
        <p:txBody>
          <a:bodyPr wrap="square" lIns="0" tIns="0" rIns="0" bIns="0" rtlCol="0" anchor="t"/>
          <a:lstStyle/>
          <a:p>
            <a:pPr marL="0" indent="0">
              <a:lnSpc>
                <a:spcPct val="105000"/>
              </a:lnSpc>
              <a:spcAft>
                <a:spcPts val="0"/>
              </a:spcAft>
              <a:buNone/>
            </a:pPr>
            <a:r>
              <a:rPr lang="en-US" sz="3000" b="1" dirty="0">
                <a:solidFill>
                  <a:srgbClr val="F4B336"/>
                </a:solidFill>
              </a:rPr>
              <a:t>2.1. Khái niệm: </a:t>
            </a:r>
            <a:r>
              <a:rPr lang="en-US" sz="3000" dirty="0">
                <a:solidFill>
                  <a:srgbClr val="FFFFFF"/>
                </a:solidFill>
              </a:rPr>
              <a:t>Perception là quá trình con người tiếp nhận thông tin từ môi trường thông qua các giác quan như mắt, tai và xúc giác, sau đó chuyển hóa chúng thành những trải nghiệm có ý nghĩa về vật thể, sự kiện, âm thanh và cảm giác.</a:t>
            </a:r>
          </a:p>
        </p:txBody>
      </p:sp>
      <p:sp>
        <p:nvSpPr>
          <p:cNvPr id="17" name="Card left"/>
          <p:cNvSpPr/>
          <p:nvPr/>
        </p:nvSpPr>
        <p:spPr>
          <a:xfrm>
            <a:off x="457200" y="4178300"/>
            <a:ext cx="11277600" cy="2044700"/>
          </a:xfrm>
          <a:prstGeom prst="roundRect">
            <a:avLst>
              <a:gd name="adj" fmla="val 643"/>
            </a:avLst>
          </a:prstGeom>
          <a:solidFill>
            <a:srgbClr val="FFFFFF"/>
          </a:solidFill>
          <a:ln w="9525">
            <a:noFill/>
          </a:ln>
        </p:spPr>
        <p:txBody>
          <a:bodyPr rtlCol="0" anchor="ctr"/>
          <a:lstStyle/>
          <a:p>
            <a:endParaRPr lang="en-US"/>
          </a:p>
        </p:txBody>
      </p:sp>
      <p:sp>
        <p:nvSpPr>
          <p:cNvPr id="8" name="Shape 6"/>
          <p:cNvSpPr/>
          <p:nvPr/>
        </p:nvSpPr>
        <p:spPr>
          <a:xfrm>
            <a:off x="457200" y="4178300"/>
            <a:ext cx="11277600" cy="63500"/>
          </a:xfrm>
          <a:prstGeom prst="rect">
            <a:avLst/>
          </a:prstGeom>
          <a:solidFill>
            <a:srgbClr val="1677B8"/>
          </a:solidFill>
          <a:ln w="12700">
            <a:noFill/>
          </a:ln>
        </p:spPr>
        <p:txBody>
          <a:bodyPr/>
          <a:lstStyle/>
          <a:p>
            <a:endParaRPr lang="en-US"/>
          </a:p>
        </p:txBody>
      </p:sp>
      <p:sp>
        <p:nvSpPr>
          <p:cNvPr id="21" name="Topic badge"/>
          <p:cNvSpPr/>
          <p:nvPr/>
        </p:nvSpPr>
        <p:spPr>
          <a:xfrm>
            <a:off x="457200" y="524764"/>
            <a:ext cx="508000" cy="508000"/>
          </a:xfrm>
          <a:prstGeom prst="roundRect">
            <a:avLst>
              <a:gd name="adj" fmla="val 22000"/>
            </a:avLst>
          </a:prstGeom>
          <a:solidFill>
            <a:srgbClr val="F4B336"/>
          </a:solidFill>
          <a:ln>
            <a:noFill/>
          </a:ln>
        </p:spPr>
        <p:txBody>
          <a:bodyPr wrap="none" lIns="0" tIns="0" rIns="0" bIns="0" rtlCol="0" anchor="ctr">
            <a:noAutofit/>
          </a:bodyPr>
          <a:lstStyle/>
          <a:p>
            <a:pPr algn="ctr"/>
            <a:r>
              <a:rPr lang="en-US" sz="2000" b="1" dirty="0">
                <a:solidFill>
                  <a:srgbClr val="062F5C"/>
                </a:solidFill>
              </a:rPr>
              <a:t>02</a:t>
            </a:r>
          </a:p>
        </p:txBody>
      </p:sp>
      <p:sp>
        <p:nvSpPr>
          <p:cNvPr id="6" name="Text 4"/>
          <p:cNvSpPr txBox="1"/>
          <p:nvPr/>
        </p:nvSpPr>
        <p:spPr>
          <a:xfrm>
            <a:off x="812800" y="4356100"/>
            <a:ext cx="10617200" cy="1739900"/>
          </a:xfrm>
          <a:prstGeom prst="rect">
            <a:avLst/>
          </a:prstGeom>
          <a:noFill/>
          <a:ln/>
        </p:spPr>
        <p:txBody>
          <a:bodyPr wrap="square" lIns="0" tIns="0" rIns="0" bIns="0" rtlCol="0" anchor="ctr"/>
          <a:lstStyle/>
          <a:p>
            <a:pPr marL="0" indent="0">
              <a:lnSpc>
                <a:spcPct val="105000"/>
              </a:lnSpc>
              <a:spcAft>
                <a:spcPts val="0"/>
              </a:spcAft>
              <a:buNone/>
            </a:pPr>
            <a:r>
              <a:rPr lang="en-US" sz="2400" dirty="0">
                <a:solidFill>
                  <a:srgbClr val="2B3642"/>
                </a:solidFill>
              </a:rPr>
              <a:t>Tri giác là một quá trình phức tạp, có liên quan chặt chẽ đến trí nhớ, sự chú ý và ngôn ngữ. Trong đó, thị giác thường là giác quan chiếm ưu thế, tiếp theo là thính giác và xúc giác.</a:t>
            </a:r>
          </a:p>
        </p:txBody>
      </p:sp>
    </p:spTree>
    <p:extLst>
      <p:ext uri="{BB962C8B-B14F-4D97-AF65-F5344CB8AC3E}">
        <p14:creationId xmlns:p14="http://schemas.microsoft.com/office/powerpoint/2010/main" val="39687148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6">
    <p:bg>
      <p:bgPr>
        <a:solidFill>
          <a:srgbClr val="062F5C"/>
        </a:solidFill>
        <a:effectLst/>
      </p:bgPr>
    </p:bg>
    <p:spTree>
      <p:nvGrpSpPr>
        <p:cNvPr id="1" name=""/>
        <p:cNvGrpSpPr/>
        <p:nvPr/>
      </p:nvGrpSpPr>
      <p:grpSpPr>
        <a:xfrm>
          <a:off x="0" y="0"/>
          <a:ext cx="0" cy="0"/>
          <a:chOff x="0" y="0"/>
          <a:chExt cx="0" cy="0"/>
        </a:xfrm>
      </p:grpSpPr>
      <p:sp>
        <p:nvSpPr>
          <p:cNvPr id="22" name="Decor 23"/>
          <p:cNvSpPr/>
          <p:nvPr/>
        </p:nvSpPr>
        <p:spPr>
          <a:xfrm rot="720000">
            <a:off x="10922000" y="-762000"/>
            <a:ext cx="2286000" cy="8382000"/>
          </a:xfrm>
          <a:prstGeom prst="rect">
            <a:avLst/>
          </a:prstGeom>
          <a:solidFill>
            <a:srgbClr val="FFFFFF">
              <a:alpha val="9000"/>
            </a:srgbClr>
          </a:solidFill>
          <a:ln>
            <a:noFill/>
          </a:ln>
        </p:spPr>
        <p:txBody>
          <a:bodyPr/>
          <a:lstStyle/>
          <a:p>
            <a:endParaRPr lang="en-US"/>
          </a:p>
        </p:txBody>
      </p:sp>
      <p:sp>
        <p:nvSpPr>
          <p:cNvPr id="23" name="Decor 24"/>
          <p:cNvSpPr/>
          <p:nvPr/>
        </p:nvSpPr>
        <p:spPr>
          <a:xfrm>
            <a:off x="-1524000" y="-2159000"/>
            <a:ext cx="4064000" cy="4064000"/>
          </a:xfrm>
          <a:prstGeom prst="ellipse">
            <a:avLst/>
          </a:prstGeom>
          <a:noFill/>
          <a:ln w="28575">
            <a:solidFill>
              <a:srgbClr val="FFFFFF">
                <a:alpha val="22000"/>
              </a:srgbClr>
            </a:solidFill>
          </a:ln>
        </p:spPr>
        <p:txBody>
          <a:bodyPr/>
          <a:lstStyle/>
          <a:p>
            <a:endParaRPr lang="en-US"/>
          </a:p>
        </p:txBody>
      </p:sp>
      <p:sp>
        <p:nvSpPr>
          <p:cNvPr id="24" name="Decor 25"/>
          <p:cNvSpPr/>
          <p:nvPr/>
        </p:nvSpPr>
        <p:spPr>
          <a:xfrm>
            <a:off x="11912600" y="6553200"/>
            <a:ext cx="177800" cy="101600"/>
          </a:xfrm>
          <a:prstGeom prst="rect">
            <a:avLst/>
          </a:prstGeom>
          <a:solidFill>
            <a:srgbClr val="F4B336">
              <a:alpha val="35000"/>
            </a:srgbClr>
          </a:solidFill>
          <a:ln>
            <a:noFill/>
          </a:ln>
        </p:spPr>
        <p:txBody>
          <a:bodyPr/>
          <a:lstStyle/>
          <a:p>
            <a:endParaRPr lang="en-US"/>
          </a:p>
        </p:txBody>
      </p:sp>
      <p:sp>
        <p:nvSpPr>
          <p:cNvPr id="2" name="Text 1"/>
          <p:cNvSpPr>
            <a:spLocks noGrp="1"/>
          </p:cNvSpPr>
          <p:nvPr>
            <p:ph type="title" idx="101" hasCustomPrompt="1"/>
          </p:nvPr>
        </p:nvSpPr>
        <p:spPr>
          <a:xfrm>
            <a:off x="1168400" y="512064"/>
            <a:ext cx="10566400" cy="512064"/>
          </a:xfrm>
          <a:prstGeom prst="rect">
            <a:avLst/>
          </a:prstGeom>
          <a:noFill/>
          <a:ln/>
        </p:spPr>
        <p:txBody>
          <a:bodyPr wrap="square" lIns="0" tIns="0" rIns="0" bIns="0" rtlCol="0" anchor="t"/>
          <a:lstStyle/>
          <a:p>
            <a:pPr marL="0" indent="0" algn="l">
              <a:buNone/>
            </a:pPr>
            <a:r>
              <a:rPr lang="en-US" sz="3000" b="1" dirty="0">
                <a:solidFill>
                  <a:srgbClr val="FFFFFF"/>
                </a:solidFill>
              </a:rPr>
              <a:t>Tri giác qua các giác quan</a:t>
            </a:r>
            <a:r>
              <a:rPr lang="en-US" sz="2000" b="0" dirty="0">
                <a:solidFill>
                  <a:srgbClr val="9FB2C8"/>
                </a:solidFill>
              </a:rPr>
              <a:t>   Perception</a:t>
            </a:r>
            <a:endParaRPr lang="en-US" sz="2800" dirty="0">
              <a:solidFill>
                <a:srgbClr val="FFFFFF"/>
              </a:solidFill>
            </a:endParaRPr>
          </a:p>
        </p:txBody>
      </p:sp>
      <p:sp>
        <p:nvSpPr>
          <p:cNvPr id="17" name="Card left"/>
          <p:cNvSpPr/>
          <p:nvPr/>
        </p:nvSpPr>
        <p:spPr>
          <a:xfrm>
            <a:off x="457200" y="1117600"/>
            <a:ext cx="11277600" cy="5257800"/>
          </a:xfrm>
          <a:prstGeom prst="roundRect">
            <a:avLst>
              <a:gd name="adj" fmla="val 643"/>
            </a:avLst>
          </a:prstGeom>
          <a:solidFill>
            <a:srgbClr val="FFFFFF"/>
          </a:solidFill>
          <a:ln w="9525">
            <a:noFill/>
          </a:ln>
        </p:spPr>
        <p:txBody>
          <a:bodyPr rtlCol="0" anchor="ctr"/>
          <a:lstStyle/>
          <a:p>
            <a:endParaRPr lang="en-US"/>
          </a:p>
        </p:txBody>
      </p:sp>
      <p:sp>
        <p:nvSpPr>
          <p:cNvPr id="8" name="Shape 6"/>
          <p:cNvSpPr/>
          <p:nvPr/>
        </p:nvSpPr>
        <p:spPr>
          <a:xfrm>
            <a:off x="457200" y="1117600"/>
            <a:ext cx="11277600" cy="63500"/>
          </a:xfrm>
          <a:prstGeom prst="rect">
            <a:avLst/>
          </a:prstGeom>
          <a:solidFill>
            <a:srgbClr val="1677B8"/>
          </a:solidFill>
          <a:ln w="12700">
            <a:noFill/>
          </a:ln>
        </p:spPr>
        <p:txBody>
          <a:bodyPr/>
          <a:lstStyle/>
          <a:p>
            <a:endParaRPr lang="en-US"/>
          </a:p>
        </p:txBody>
      </p:sp>
      <p:sp>
        <p:nvSpPr>
          <p:cNvPr id="9" name="Text 7"/>
          <p:cNvSpPr txBox="1"/>
          <p:nvPr/>
        </p:nvSpPr>
        <p:spPr>
          <a:xfrm>
            <a:off x="736600" y="1244600"/>
            <a:ext cx="8890000" cy="330200"/>
          </a:xfrm>
          <a:prstGeom prst="rect">
            <a:avLst/>
          </a:prstGeom>
          <a:noFill/>
          <a:ln/>
        </p:spPr>
        <p:txBody>
          <a:bodyPr wrap="square" lIns="0" tIns="0" rIns="0" bIns="0" rtlCol="0" anchor="t"/>
          <a:lstStyle/>
          <a:p>
            <a:pPr marL="0" indent="0">
              <a:buNone/>
            </a:pPr>
            <a:r>
              <a:rPr lang="en-US" sz="2200" b="1" kern="0" spc="50" dirty="0">
                <a:solidFill>
                  <a:srgbClr val="1677B8"/>
                </a:solidFill>
              </a:rPr>
              <a:t>2.2. CÁC ĐẶC ĐIỂM</a:t>
            </a:r>
          </a:p>
        </p:txBody>
      </p:sp>
      <p:sp>
        <p:nvSpPr>
          <p:cNvPr id="12" name="Text 10"/>
          <p:cNvSpPr txBox="1"/>
          <p:nvPr/>
        </p:nvSpPr>
        <p:spPr>
          <a:xfrm>
            <a:off x="736600" y="1612900"/>
            <a:ext cx="10795000" cy="4724400"/>
          </a:xfrm>
          <a:prstGeom prst="rect">
            <a:avLst/>
          </a:prstGeom>
          <a:noFill/>
          <a:ln/>
        </p:spPr>
        <p:txBody>
          <a:bodyPr wrap="square" lIns="0" tIns="0" rIns="0" bIns="0" rtlCol="0" anchor="t"/>
          <a:lstStyle/>
          <a:p>
            <a:pPr marL="285750" indent="-285750">
              <a:lnSpc>
                <a:spcPct val="97000"/>
              </a:lnSpc>
              <a:spcAft>
                <a:spcPts val="100"/>
              </a:spcAft>
              <a:buNone/>
            </a:pPr>
            <a:r>
              <a:rPr lang="en-US" sz="1900" b="1" dirty="0">
                <a:solidFill>
                  <a:srgbClr val="1677B8"/>
                </a:solidFill>
              </a:rPr>
              <a:t>1. </a:t>
            </a:r>
            <a:r>
              <a:rPr lang="en-US" sz="1900" b="1" dirty="0">
                <a:solidFill>
                  <a:srgbClr val="062F5C"/>
                </a:solidFill>
              </a:rPr>
              <a:t>Tri giác là quá trình phức tạp và liên kết với các quá trình nhận thức khác</a:t>
            </a:r>
          </a:p>
          <a:p>
            <a:pPr marL="285750" indent="0">
              <a:lnSpc>
                <a:spcPct val="97000"/>
              </a:lnSpc>
              <a:spcAft>
                <a:spcPts val="100"/>
              </a:spcAft>
              <a:buNone/>
            </a:pPr>
            <a:r>
              <a:rPr lang="en-US" sz="1500" i="1" dirty="0">
                <a:solidFill>
                  <a:srgbClr val="1677B8"/>
                </a:solidFill>
              </a:rPr>
              <a:t>Complex Perception / Cognitive Integration</a:t>
            </a:r>
          </a:p>
          <a:p>
            <a:pPr marL="285750" indent="0">
              <a:lnSpc>
                <a:spcPct val="97000"/>
              </a:lnSpc>
              <a:spcAft>
                <a:spcPts val="400"/>
              </a:spcAft>
              <a:buNone/>
            </a:pPr>
            <a:r>
              <a:rPr lang="en-US" sz="1700" dirty="0">
                <a:solidFill>
                  <a:srgbClr val="17212B"/>
                </a:solidFill>
              </a:rPr>
              <a:t>Tri giác không hoạt động độc lập mà có sự liên kết với trí nhớ, sự chú ý và ngôn ngữ. Việc con người nhận biết và hiểu thông tin phụ thuộc vào sự phối hợp giữa nhiều quá trình nhận thức khác nhau.</a:t>
            </a:r>
          </a:p>
          <a:p>
            <a:pPr marL="285750" indent="-285750">
              <a:lnSpc>
                <a:spcPct val="97000"/>
              </a:lnSpc>
              <a:spcAft>
                <a:spcPts val="100"/>
              </a:spcAft>
              <a:buNone/>
            </a:pPr>
            <a:r>
              <a:rPr lang="en-US" sz="1900" b="1" dirty="0">
                <a:solidFill>
                  <a:srgbClr val="1677B8"/>
                </a:solidFill>
              </a:rPr>
              <a:t>2. </a:t>
            </a:r>
            <a:r>
              <a:rPr lang="en-US" sz="1900" b="1" dirty="0">
                <a:solidFill>
                  <a:srgbClr val="062F5C"/>
                </a:solidFill>
              </a:rPr>
              <a:t>Cách nhóm và bố trí thông tin ảnh hưởng đến khả năng tri giác</a:t>
            </a:r>
          </a:p>
          <a:p>
            <a:pPr marL="285750" indent="0">
              <a:lnSpc>
                <a:spcPct val="97000"/>
              </a:lnSpc>
              <a:spcAft>
                <a:spcPts val="100"/>
              </a:spcAft>
              <a:buNone/>
            </a:pPr>
            <a:r>
              <a:rPr lang="en-US" sz="1500" i="1" dirty="0">
                <a:solidFill>
                  <a:srgbClr val="1677B8"/>
                </a:solidFill>
              </a:rPr>
              <a:t>Grouping / Spacing / White Space</a:t>
            </a:r>
          </a:p>
          <a:p>
            <a:pPr marL="285750" indent="0">
              <a:lnSpc>
                <a:spcPct val="97000"/>
              </a:lnSpc>
              <a:spcAft>
                <a:spcPts val="100"/>
              </a:spcAft>
              <a:buNone/>
            </a:pPr>
            <a:r>
              <a:rPr lang="en-US" sz="1700" dirty="0">
                <a:solidFill>
                  <a:srgbClr val="17212B"/>
                </a:solidFill>
              </a:rPr>
              <a:t>Việc nhóm các thông tin liên quan và sử dụng khoảng cách hợp lý giúp người dùng dễ nhận biết, phân biệt và định vị thông tin hơn.</a:t>
            </a:r>
          </a:p>
          <a:p>
            <a:pPr marL="285750" indent="0">
              <a:lnSpc>
                <a:spcPct val="97000"/>
              </a:lnSpc>
              <a:spcAft>
                <a:spcPts val="400"/>
              </a:spcAft>
              <a:buNone/>
            </a:pPr>
            <a:r>
              <a:rPr lang="en-US" sz="1700" dirty="0">
                <a:solidFill>
                  <a:srgbClr val="17212B"/>
                </a:solidFill>
              </a:rPr>
              <a:t>Khoảng trắng có thể hỗ trợ việc tổ chức thị giác, nhưng nếu sử dụng quá nhiều có thể khiến các thành phần trở nên rời rạc và làm việc tìm kiếm thông tin khó hơn.</a:t>
            </a:r>
          </a:p>
          <a:p>
            <a:pPr marL="285750" indent="-285750">
              <a:lnSpc>
                <a:spcPct val="97000"/>
              </a:lnSpc>
              <a:spcAft>
                <a:spcPts val="100"/>
              </a:spcAft>
              <a:buNone/>
            </a:pPr>
            <a:r>
              <a:rPr lang="en-US" sz="1900" b="1" dirty="0">
                <a:solidFill>
                  <a:srgbClr val="1677B8"/>
                </a:solidFill>
              </a:rPr>
              <a:t>3. </a:t>
            </a:r>
            <a:r>
              <a:rPr lang="en-US" sz="1900" b="1" dirty="0">
                <a:solidFill>
                  <a:srgbClr val="062F5C"/>
                </a:solidFill>
              </a:rPr>
              <a:t>Phương pháp phân nhóm trực quan ảnh hưởng đến tốc độ nhận biết</a:t>
            </a:r>
          </a:p>
          <a:p>
            <a:pPr marL="285750" indent="0">
              <a:lnSpc>
                <a:spcPct val="97000"/>
              </a:lnSpc>
              <a:spcAft>
                <a:spcPts val="100"/>
              </a:spcAft>
              <a:buNone/>
            </a:pPr>
            <a:r>
              <a:rPr lang="en-US" sz="1500" i="1" dirty="0">
                <a:solidFill>
                  <a:srgbClr val="1677B8"/>
                </a:solidFill>
              </a:rPr>
              <a:t>Bordering / Visual Grouping / Color Contrast</a:t>
            </a:r>
          </a:p>
          <a:p>
            <a:pPr marL="285750" indent="0">
              <a:lnSpc>
                <a:spcPct val="97000"/>
              </a:lnSpc>
              <a:spcAft>
                <a:spcPts val="100"/>
              </a:spcAft>
              <a:buNone/>
            </a:pPr>
            <a:r>
              <a:rPr lang="en-US" sz="1700" dirty="0">
                <a:solidFill>
                  <a:srgbClr val="17212B"/>
                </a:solidFill>
              </a:rPr>
              <a:t>Các cách phân nhóm thông tin khác nhau có thể tạo ra hiệu quả tri giác khác nhau. Trong tài liệu, việc sử dụng đường viền để phân nhóm giúp người dùng nhận biết và tìm kiếm thông tin nhanh hơn so với chỉ sử dụng màu tương phản.</a:t>
            </a:r>
          </a:p>
          <a:p>
            <a:pPr marL="285750" indent="0">
              <a:lnSpc>
                <a:spcPct val="97000"/>
              </a:lnSpc>
              <a:spcAft>
                <a:spcPts val="400"/>
              </a:spcAft>
              <a:buNone/>
            </a:pPr>
            <a:r>
              <a:rPr lang="en-US" sz="1700" dirty="0">
                <a:solidFill>
                  <a:srgbClr val="17212B"/>
                </a:solidFill>
              </a:rPr>
              <a:t>Điều này cho thấy cấu trúc trực quan rõ ràng có vai trò quan trọng trong việc giúp người dùng hiểu cách các thành phần trên giao diện liên hệ với nhau.</a:t>
            </a:r>
          </a:p>
        </p:txBody>
      </p:sp>
      <p:sp>
        <p:nvSpPr>
          <p:cNvPr id="21" name="Topic badge"/>
          <p:cNvSpPr/>
          <p:nvPr/>
        </p:nvSpPr>
        <p:spPr>
          <a:xfrm>
            <a:off x="457200" y="524764"/>
            <a:ext cx="508000" cy="508000"/>
          </a:xfrm>
          <a:prstGeom prst="roundRect">
            <a:avLst>
              <a:gd name="adj" fmla="val 22000"/>
            </a:avLst>
          </a:prstGeom>
          <a:solidFill>
            <a:srgbClr val="F4B336"/>
          </a:solidFill>
          <a:ln>
            <a:noFill/>
          </a:ln>
        </p:spPr>
        <p:txBody>
          <a:bodyPr wrap="none" lIns="0" tIns="0" rIns="0" bIns="0" rtlCol="0" anchor="ctr">
            <a:noAutofit/>
          </a:bodyPr>
          <a:lstStyle/>
          <a:p>
            <a:pPr algn="ctr"/>
            <a:r>
              <a:rPr lang="en-US" sz="2000" b="1" dirty="0">
                <a:solidFill>
                  <a:srgbClr val="062F5C"/>
                </a:solidFill>
              </a:rPr>
              <a:t>02</a:t>
            </a:r>
          </a:p>
        </p:txBody>
      </p:sp>
    </p:spTree>
    <p:extLst>
      <p:ext uri="{BB962C8B-B14F-4D97-AF65-F5344CB8AC3E}">
        <p14:creationId xmlns:p14="http://schemas.microsoft.com/office/powerpoint/2010/main" val="13646318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6">
    <p:bg>
      <p:bgPr>
        <a:solidFill>
          <a:srgbClr val="062F5C"/>
        </a:solidFill>
        <a:effectLst/>
      </p:bgPr>
    </p:bg>
    <p:spTree>
      <p:nvGrpSpPr>
        <p:cNvPr id="1" name=""/>
        <p:cNvGrpSpPr/>
        <p:nvPr/>
      </p:nvGrpSpPr>
      <p:grpSpPr>
        <a:xfrm>
          <a:off x="0" y="0"/>
          <a:ext cx="0" cy="0"/>
          <a:chOff x="0" y="0"/>
          <a:chExt cx="0" cy="0"/>
        </a:xfrm>
      </p:grpSpPr>
      <p:sp>
        <p:nvSpPr>
          <p:cNvPr id="22" name="Decor 23"/>
          <p:cNvSpPr/>
          <p:nvPr/>
        </p:nvSpPr>
        <p:spPr>
          <a:xfrm rot="720000">
            <a:off x="10922000" y="-762000"/>
            <a:ext cx="2286000" cy="8382000"/>
          </a:xfrm>
          <a:prstGeom prst="rect">
            <a:avLst/>
          </a:prstGeom>
          <a:solidFill>
            <a:srgbClr val="FFFFFF">
              <a:alpha val="9000"/>
            </a:srgbClr>
          </a:solidFill>
          <a:ln>
            <a:noFill/>
          </a:ln>
        </p:spPr>
        <p:txBody>
          <a:bodyPr/>
          <a:lstStyle/>
          <a:p>
            <a:endParaRPr lang="en-US"/>
          </a:p>
        </p:txBody>
      </p:sp>
      <p:sp>
        <p:nvSpPr>
          <p:cNvPr id="23" name="Decor 24"/>
          <p:cNvSpPr/>
          <p:nvPr/>
        </p:nvSpPr>
        <p:spPr>
          <a:xfrm>
            <a:off x="-1524000" y="-2159000"/>
            <a:ext cx="4064000" cy="4064000"/>
          </a:xfrm>
          <a:prstGeom prst="ellipse">
            <a:avLst/>
          </a:prstGeom>
          <a:noFill/>
          <a:ln w="28575">
            <a:solidFill>
              <a:srgbClr val="FFFFFF">
                <a:alpha val="22000"/>
              </a:srgbClr>
            </a:solidFill>
          </a:ln>
        </p:spPr>
        <p:txBody>
          <a:bodyPr/>
          <a:lstStyle/>
          <a:p>
            <a:endParaRPr lang="en-US"/>
          </a:p>
        </p:txBody>
      </p:sp>
      <p:sp>
        <p:nvSpPr>
          <p:cNvPr id="24" name="Decor 25"/>
          <p:cNvSpPr/>
          <p:nvPr/>
        </p:nvSpPr>
        <p:spPr>
          <a:xfrm>
            <a:off x="11912600" y="6553200"/>
            <a:ext cx="177800" cy="101600"/>
          </a:xfrm>
          <a:prstGeom prst="rect">
            <a:avLst/>
          </a:prstGeom>
          <a:solidFill>
            <a:srgbClr val="F4B336">
              <a:alpha val="35000"/>
            </a:srgbClr>
          </a:solidFill>
          <a:ln>
            <a:noFill/>
          </a:ln>
        </p:spPr>
        <p:txBody>
          <a:bodyPr/>
          <a:lstStyle/>
          <a:p>
            <a:endParaRPr lang="en-US"/>
          </a:p>
        </p:txBody>
      </p:sp>
      <p:sp>
        <p:nvSpPr>
          <p:cNvPr id="2" name="Text 1"/>
          <p:cNvSpPr>
            <a:spLocks noGrp="1"/>
          </p:cNvSpPr>
          <p:nvPr>
            <p:ph type="title" idx="101" hasCustomPrompt="1"/>
          </p:nvPr>
        </p:nvSpPr>
        <p:spPr>
          <a:xfrm>
            <a:off x="1168400" y="512064"/>
            <a:ext cx="10566400" cy="512064"/>
          </a:xfrm>
          <a:prstGeom prst="rect">
            <a:avLst/>
          </a:prstGeom>
          <a:noFill/>
          <a:ln/>
        </p:spPr>
        <p:txBody>
          <a:bodyPr wrap="square" lIns="0" tIns="0" rIns="0" bIns="0" rtlCol="0" anchor="t"/>
          <a:lstStyle/>
          <a:p>
            <a:pPr marL="0" indent="0" algn="l">
              <a:buNone/>
            </a:pPr>
            <a:r>
              <a:rPr lang="en-US" sz="3000" b="1" dirty="0">
                <a:solidFill>
                  <a:srgbClr val="FFFFFF"/>
                </a:solidFill>
              </a:rPr>
              <a:t>Tri giác qua các giác quan</a:t>
            </a:r>
            <a:r>
              <a:rPr lang="en-US" sz="2000" b="0" dirty="0">
                <a:solidFill>
                  <a:srgbClr val="9FB2C8"/>
                </a:solidFill>
              </a:rPr>
              <a:t>   Perception</a:t>
            </a:r>
            <a:endParaRPr lang="en-US" sz="2800" dirty="0">
              <a:solidFill>
                <a:srgbClr val="FFFFFF"/>
              </a:solidFill>
            </a:endParaRPr>
          </a:p>
        </p:txBody>
      </p:sp>
      <p:sp>
        <p:nvSpPr>
          <p:cNvPr id="901" name="Deco 901"/>
          <p:cNvSpPr/>
          <p:nvPr/>
        </p:nvSpPr>
        <p:spPr>
          <a:xfrm>
            <a:off x="457200" y="1143000"/>
            <a:ext cx="38100" cy="939800"/>
          </a:xfrm>
          <a:prstGeom prst="rect">
            <a:avLst/>
          </a:prstGeom>
          <a:solidFill>
            <a:srgbClr val="F4B336"/>
          </a:solidFill>
          <a:ln>
            <a:noFill/>
          </a:ln>
        </p:spPr>
        <p:txBody>
          <a:bodyPr/>
          <a:lstStyle/>
          <a:p>
            <a:endParaRPr lang="en-US"/>
          </a:p>
        </p:txBody>
      </p:sp>
      <p:sp>
        <p:nvSpPr>
          <p:cNvPr id="5" name="Text 3"/>
          <p:cNvSpPr txBox="1"/>
          <p:nvPr/>
        </p:nvSpPr>
        <p:spPr>
          <a:xfrm>
            <a:off x="660400" y="1117600"/>
            <a:ext cx="11074400" cy="609600"/>
          </a:xfrm>
          <a:prstGeom prst="rect">
            <a:avLst/>
          </a:prstGeom>
          <a:noFill/>
          <a:ln/>
        </p:spPr>
        <p:txBody>
          <a:bodyPr wrap="square" lIns="0" tIns="0" rIns="0" bIns="0" rtlCol="0" anchor="t"/>
          <a:lstStyle/>
          <a:p>
            <a:pPr marL="0" indent="0">
              <a:lnSpc>
                <a:spcPct val="105000"/>
              </a:lnSpc>
              <a:buNone/>
            </a:pPr>
            <a:r>
              <a:rPr lang="en-US" sz="1900" b="1" dirty="0">
                <a:solidFill>
                  <a:srgbClr val="F4B336"/>
                </a:solidFill>
              </a:rPr>
              <a:t>Nguyên tắc chung: </a:t>
            </a:r>
            <a:r>
              <a:rPr lang="en-US" sz="1900" dirty="0">
                <a:solidFill>
                  <a:srgbClr val="FFFFFF"/>
                </a:solidFill>
              </a:rPr>
              <a:t>biểu diễn thông tin phải tri giác được và nhận ra được trên các phương tiện khác nhau.</a:t>
            </a:r>
          </a:p>
        </p:txBody>
      </p:sp>
      <p:sp>
        <p:nvSpPr>
          <p:cNvPr id="6" name="Text 4"/>
          <p:cNvSpPr txBox="1"/>
          <p:nvPr/>
        </p:nvSpPr>
        <p:spPr>
          <a:xfrm>
            <a:off x="660400" y="1778000"/>
            <a:ext cx="11074400" cy="254000"/>
          </a:xfrm>
          <a:prstGeom prst="rect">
            <a:avLst/>
          </a:prstGeom>
          <a:noFill/>
          <a:ln/>
        </p:spPr>
        <p:txBody>
          <a:bodyPr wrap="square" lIns="0" tIns="0" rIns="0" bIns="0" rtlCol="0" anchor="t"/>
          <a:lstStyle/>
          <a:p>
            <a:pPr marL="0" indent="0">
              <a:buNone/>
            </a:pPr>
            <a:r>
              <a:rPr lang="en-US" sz="1400" i="1" dirty="0">
                <a:solidFill>
                  <a:srgbClr val="9FB3CC"/>
                </a:solidFill>
              </a:rPr>
              <a:t>Design Implications – Perception. Nguồn: Preece, Rogers &amp; Sharp, Interaction Design, 4th ed., 2015 – mục 3.2.2</a:t>
            </a:r>
          </a:p>
        </p:txBody>
      </p:sp>
      <p:sp>
        <p:nvSpPr>
          <p:cNvPr id="21" name="Topic badge"/>
          <p:cNvSpPr/>
          <p:nvPr/>
        </p:nvSpPr>
        <p:spPr>
          <a:xfrm>
            <a:off x="457200" y="524764"/>
            <a:ext cx="508000" cy="508000"/>
          </a:xfrm>
          <a:prstGeom prst="roundRect">
            <a:avLst>
              <a:gd name="adj" fmla="val 22000"/>
            </a:avLst>
          </a:prstGeom>
          <a:solidFill>
            <a:srgbClr val="F4B336"/>
          </a:solidFill>
          <a:ln>
            <a:noFill/>
          </a:ln>
        </p:spPr>
        <p:txBody>
          <a:bodyPr wrap="none" lIns="0" tIns="0" rIns="0" bIns="0" rtlCol="0" anchor="ctr">
            <a:noAutofit/>
          </a:bodyPr>
          <a:lstStyle/>
          <a:p>
            <a:pPr algn="ctr"/>
            <a:r>
              <a:rPr lang="en-US" sz="2000" b="1" dirty="0">
                <a:solidFill>
                  <a:srgbClr val="062F5C"/>
                </a:solidFill>
              </a:rPr>
              <a:t>02</a:t>
            </a:r>
          </a:p>
        </p:txBody>
      </p:sp>
      <p:graphicFrame>
        <p:nvGraphicFramePr>
          <p:cNvPr id="7" name="Perception advice grid">
            <a:extLst>
              <a:ext uri="{FF2B5EF4-FFF2-40B4-BE49-F238E27FC236}">
                <a16:creationId xmlns:a16="http://schemas.microsoft.com/office/drawing/2014/main" id="{49A1C391-4D3A-4F06-A839-248902D3CE3B}"/>
              </a:ext>
            </a:extLst>
          </p:cNvPr>
          <p:cNvGraphicFramePr>
            <a:graphicFrameLocks noGrp="1"/>
          </p:cNvGraphicFramePr>
          <p:nvPr>
            <p:extLst>
              <p:ext uri="{D42A27DB-BD31-4B8C-83A1-F6EECF244321}">
                <p14:modId xmlns:p14="http://schemas.microsoft.com/office/powerpoint/2010/main" val="1158014196"/>
              </p:ext>
            </p:extLst>
          </p:nvPr>
        </p:nvGraphicFramePr>
        <p:xfrm>
          <a:off x="457200" y="2133600"/>
          <a:ext cx="11277600" cy="4191000"/>
        </p:xfrm>
        <a:graphic>
          <a:graphicData uri="http://schemas.openxmlformats.org/drawingml/2006/table">
            <a:tbl>
              <a:tblPr bandRow="1">
                <a:tableStyleId>{5C22544A-7EE6-4342-B048-85BDC9FD1C3A}</a:tableStyleId>
              </a:tblPr>
              <a:tblGrid>
                <a:gridCol w="5638800">
                  <a:extLst>
                    <a:ext uri="{9D8B030D-6E8A-4147-A177-3AD203B41FA5}">
                      <a16:colId xmlns:a16="http://schemas.microsoft.com/office/drawing/2014/main" val="1094669367"/>
                    </a:ext>
                  </a:extLst>
                </a:gridCol>
                <a:gridCol w="5638800">
                  <a:extLst>
                    <a:ext uri="{9D8B030D-6E8A-4147-A177-3AD203B41FA5}">
                      <a16:colId xmlns:a16="http://schemas.microsoft.com/office/drawing/2014/main" val="922130968"/>
                    </a:ext>
                  </a:extLst>
                </a:gridCol>
              </a:tblGrid>
              <a:tr h="1397000">
                <a:tc>
                  <a:txBody>
                    <a:bodyPr/>
                    <a:lstStyle/>
                    <a:p>
                      <a:pPr marL="0" indent="0" algn="l">
                        <a:lnSpc>
                          <a:spcPct val="102000"/>
                        </a:lnSpc>
                        <a:spcAft>
                          <a:spcPts val="300"/>
                        </a:spcAft>
                        <a:buNone/>
                      </a:pPr>
                      <a:r>
                        <a:rPr lang="en-US" sz="1800" b="1" dirty="0">
                          <a:solidFill>
                            <a:srgbClr val="062F5C"/>
                          </a:solidFill>
                        </a:rPr>
                        <a:t>Biểu tượng, đồ họa: </a:t>
                      </a:r>
                      <a:r>
                        <a:rPr lang="en-US" sz="1800" dirty="0">
                          <a:solidFill>
                            <a:srgbClr val="17212B"/>
                          </a:solidFill>
                        </a:rPr>
                        <a:t>giúp người dùng dễ phân biệt ý nghĩa.</a:t>
                      </a:r>
                    </a:p>
                    <a:p>
                      <a:pPr marL="0" indent="0" algn="l">
                        <a:lnSpc>
                          <a:spcPct val="102000"/>
                        </a:lnSpc>
                        <a:buNone/>
                      </a:pPr>
                      <a:r>
                        <a:rPr lang="en-US" sz="1400" i="1" dirty="0">
                          <a:solidFill>
                            <a:srgbClr val="5A6A7C"/>
                          </a:solidFill>
                        </a:rPr>
                        <a:t>Icons and other graphical representations should enable users to readily distinguish their meaning.</a:t>
                      </a:r>
                    </a:p>
                  </a:txBody>
                  <a:tcPr anchor="ctr">
                    <a:solidFill>
                      <a:srgbClr val="FFFFFF"/>
                    </a:solidFill>
                  </a:tcPr>
                </a:tc>
                <a:tc>
                  <a:txBody>
                    <a:bodyPr/>
                    <a:lstStyle/>
                    <a:p>
                      <a:pPr marL="0" indent="0" algn="l">
                        <a:lnSpc>
                          <a:spcPct val="102000"/>
                        </a:lnSpc>
                        <a:spcAft>
                          <a:spcPts val="300"/>
                        </a:spcAft>
                        <a:buNone/>
                      </a:pPr>
                      <a:r>
                        <a:rPr lang="en-US" sz="1800" b="1" dirty="0">
                          <a:solidFill>
                            <a:srgbClr val="062F5C"/>
                          </a:solidFill>
                        </a:rPr>
                        <a:t>Nhóm thông tin: </a:t>
                      </a:r>
                      <a:r>
                        <a:rPr lang="en-US" sz="1800" dirty="0">
                          <a:solidFill>
                            <a:srgbClr val="17212B"/>
                          </a:solidFill>
                        </a:rPr>
                        <a:t>đường viền và khoảng cách giúp nhóm thông tin.</a:t>
                      </a:r>
                    </a:p>
                    <a:p>
                      <a:pPr marL="0" indent="0" algn="l">
                        <a:lnSpc>
                          <a:spcPct val="102000"/>
                        </a:lnSpc>
                        <a:buNone/>
                      </a:pPr>
                      <a:r>
                        <a:rPr lang="en-US" sz="1400" i="1" dirty="0">
                          <a:solidFill>
                            <a:srgbClr val="5A6A7C"/>
                          </a:solidFill>
                        </a:rPr>
                        <a:t>Bordering and spacing are effective visual ways of grouping information.</a:t>
                      </a:r>
                    </a:p>
                  </a:txBody>
                  <a:tcPr anchor="ctr">
                    <a:solidFill>
                      <a:srgbClr val="FFFFFF"/>
                    </a:solidFill>
                  </a:tcPr>
                </a:tc>
                <a:extLst>
                  <a:ext uri="{0D108BD9-81ED-4DB2-BD59-A6C34878D82A}">
                    <a16:rowId xmlns:a16="http://schemas.microsoft.com/office/drawing/2014/main" val="523874034"/>
                  </a:ext>
                </a:extLst>
              </a:tr>
              <a:tr h="1397000">
                <a:tc>
                  <a:txBody>
                    <a:bodyPr/>
                    <a:lstStyle/>
                    <a:p>
                      <a:pPr marL="0" indent="0" algn="l">
                        <a:lnSpc>
                          <a:spcPct val="102000"/>
                        </a:lnSpc>
                        <a:spcAft>
                          <a:spcPts val="300"/>
                        </a:spcAft>
                        <a:buNone/>
                      </a:pPr>
                      <a:r>
                        <a:rPr lang="en-US" sz="1800" b="1" dirty="0">
                          <a:solidFill>
                            <a:srgbClr val="062F5C"/>
                          </a:solidFill>
                        </a:rPr>
                        <a:t>Âm thanh: </a:t>
                      </a:r>
                      <a:r>
                        <a:rPr lang="en-US" sz="1800" dirty="0">
                          <a:solidFill>
                            <a:srgbClr val="17212B"/>
                          </a:solidFill>
                        </a:rPr>
                        <a:t>nghe được và phân biệt được để hiểu chúng biểu thị điều gì.</a:t>
                      </a:r>
                    </a:p>
                    <a:p>
                      <a:pPr marL="0" indent="0" algn="l">
                        <a:lnSpc>
                          <a:spcPct val="102000"/>
                        </a:lnSpc>
                        <a:buNone/>
                      </a:pPr>
                      <a:r>
                        <a:rPr lang="en-US" sz="1400" i="1" dirty="0">
                          <a:solidFill>
                            <a:srgbClr val="5A6A7C"/>
                          </a:solidFill>
                        </a:rPr>
                        <a:t>Sounds should be audible and distinguishable.</a:t>
                      </a:r>
                    </a:p>
                  </a:txBody>
                  <a:tcPr anchor="ctr">
                    <a:solidFill>
                      <a:srgbClr val="F2F6FA"/>
                    </a:solidFill>
                  </a:tcPr>
                </a:tc>
                <a:tc>
                  <a:txBody>
                    <a:bodyPr/>
                    <a:lstStyle/>
                    <a:p>
                      <a:pPr marL="0" indent="0" algn="l">
                        <a:lnSpc>
                          <a:spcPct val="102000"/>
                        </a:lnSpc>
                        <a:spcAft>
                          <a:spcPts val="300"/>
                        </a:spcAft>
                        <a:buNone/>
                      </a:pPr>
                      <a:r>
                        <a:rPr lang="en-US" sz="1800" b="1" dirty="0">
                          <a:solidFill>
                            <a:srgbClr val="062F5C"/>
                          </a:solidFill>
                        </a:rPr>
                        <a:t>Giọng nói: </a:t>
                      </a:r>
                      <a:r>
                        <a:rPr lang="en-US" sz="1800" dirty="0">
                          <a:solidFill>
                            <a:srgbClr val="17212B"/>
                          </a:solidFill>
                        </a:rPr>
                        <a:t>phân biệt được các từ được nói và hiểu nghĩa của chúng.</a:t>
                      </a:r>
                    </a:p>
                    <a:p>
                      <a:pPr marL="0" indent="0" algn="l">
                        <a:lnSpc>
                          <a:spcPct val="102000"/>
                        </a:lnSpc>
                        <a:buNone/>
                      </a:pPr>
                      <a:r>
                        <a:rPr lang="en-US" sz="1400" i="1" dirty="0">
                          <a:solidFill>
                            <a:srgbClr val="5A6A7C"/>
                          </a:solidFill>
                        </a:rPr>
                        <a:t>Speech output should enable users to distinguish between the set of spoken words.</a:t>
                      </a:r>
                    </a:p>
                  </a:txBody>
                  <a:tcPr anchor="ctr">
                    <a:solidFill>
                      <a:srgbClr val="F2F6FA"/>
                    </a:solidFill>
                  </a:tcPr>
                </a:tc>
                <a:extLst>
                  <a:ext uri="{0D108BD9-81ED-4DB2-BD59-A6C34878D82A}">
                    <a16:rowId xmlns:a16="http://schemas.microsoft.com/office/drawing/2014/main" val="1794091539"/>
                  </a:ext>
                </a:extLst>
              </a:tr>
              <a:tr h="1397000">
                <a:tc>
                  <a:txBody>
                    <a:bodyPr/>
                    <a:lstStyle/>
                    <a:p>
                      <a:pPr marL="0" indent="0" algn="l">
                        <a:lnSpc>
                          <a:spcPct val="102000"/>
                        </a:lnSpc>
                        <a:spcAft>
                          <a:spcPts val="300"/>
                        </a:spcAft>
                        <a:buNone/>
                      </a:pPr>
                      <a:r>
                        <a:rPr lang="en-US" sz="1800" b="1" dirty="0">
                          <a:solidFill>
                            <a:srgbClr val="062F5C"/>
                          </a:solidFill>
                        </a:rPr>
                        <a:t>Chữ: </a:t>
                      </a:r>
                      <a:r>
                        <a:rPr lang="en-US" sz="1800" dirty="0">
                          <a:solidFill>
                            <a:srgbClr val="17212B"/>
                          </a:solidFill>
                        </a:rPr>
                        <a:t>rõ ràng, tách biệt khỏi nền – vàng trên đen được, trên trắng thì không.</a:t>
                      </a:r>
                    </a:p>
                    <a:p>
                      <a:pPr marL="0" indent="0" algn="l">
                        <a:lnSpc>
                          <a:spcPct val="102000"/>
                        </a:lnSpc>
                        <a:buNone/>
                      </a:pPr>
                      <a:r>
                        <a:rPr lang="en-US" sz="1400" i="1" dirty="0">
                          <a:solidFill>
                            <a:srgbClr val="5A6A7C"/>
                          </a:solidFill>
                        </a:rPr>
                        <a:t>Text should be legible and distinguishable from the background.</a:t>
                      </a:r>
                    </a:p>
                  </a:txBody>
                  <a:tcPr anchor="ctr">
                    <a:solidFill>
                      <a:srgbClr val="FFFFFF"/>
                    </a:solidFill>
                  </a:tcPr>
                </a:tc>
                <a:tc>
                  <a:txBody>
                    <a:bodyPr/>
                    <a:lstStyle/>
                    <a:p>
                      <a:pPr marL="0" indent="0" algn="l">
                        <a:lnSpc>
                          <a:spcPct val="102000"/>
                        </a:lnSpc>
                        <a:spcAft>
                          <a:spcPts val="300"/>
                        </a:spcAft>
                        <a:buNone/>
                      </a:pPr>
                      <a:r>
                        <a:rPr lang="en-US" sz="1800" b="1" dirty="0">
                          <a:solidFill>
                            <a:srgbClr val="062F5C"/>
                          </a:solidFill>
                        </a:rPr>
                        <a:t>Phản hồi xúc giác: </a:t>
                      </a:r>
                      <a:r>
                        <a:rPr lang="en-US" sz="1800" dirty="0">
                          <a:solidFill>
                            <a:srgbClr val="17212B"/>
                          </a:solidFill>
                        </a:rPr>
                        <a:t>phân biệt được cảm giác chạm, ví dụ “bóp” khác “đẩy”.</a:t>
                      </a:r>
                    </a:p>
                    <a:p>
                      <a:pPr marL="0" indent="0" algn="l">
                        <a:lnSpc>
                          <a:spcPct val="102000"/>
                        </a:lnSpc>
                        <a:buNone/>
                      </a:pPr>
                      <a:r>
                        <a:rPr lang="en-US" sz="1400" i="1" dirty="0">
                          <a:solidFill>
                            <a:srgbClr val="5A6A7C"/>
                          </a:solidFill>
                        </a:rPr>
                        <a:t>Tactile feedback should allow users to recognize the meaning of touch sensations.</a:t>
                      </a:r>
                    </a:p>
                  </a:txBody>
                  <a:tcPr anchor="ctr">
                    <a:solidFill>
                      <a:srgbClr val="FFFFFF"/>
                    </a:solidFill>
                  </a:tcPr>
                </a:tc>
                <a:extLst>
                  <a:ext uri="{0D108BD9-81ED-4DB2-BD59-A6C34878D82A}">
                    <a16:rowId xmlns:a16="http://schemas.microsoft.com/office/drawing/2014/main" val="2480890809"/>
                  </a:ext>
                </a:extLst>
              </a:tr>
            </a:tbl>
          </a:graphicData>
        </a:graphic>
      </p:graphicFrame>
    </p:spTree>
    <p:extLst>
      <p:ext uri="{BB962C8B-B14F-4D97-AF65-F5344CB8AC3E}">
        <p14:creationId xmlns:p14="http://schemas.microsoft.com/office/powerpoint/2010/main" val="25362956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7">
    <p:bg>
      <p:bgPr>
        <a:solidFill>
          <a:srgbClr val="062F5C"/>
        </a:solidFill>
        <a:effectLst/>
      </p:bgPr>
    </p:bg>
    <p:spTree>
      <p:nvGrpSpPr>
        <p:cNvPr id="1" name=""/>
        <p:cNvGrpSpPr/>
        <p:nvPr/>
      </p:nvGrpSpPr>
      <p:grpSpPr>
        <a:xfrm>
          <a:off x="0" y="0"/>
          <a:ext cx="0" cy="0"/>
          <a:chOff x="0" y="0"/>
          <a:chExt cx="0" cy="0"/>
        </a:xfrm>
      </p:grpSpPr>
      <p:sp>
        <p:nvSpPr>
          <p:cNvPr id="35" name="Decor 36"/>
          <p:cNvSpPr/>
          <p:nvPr/>
        </p:nvSpPr>
        <p:spPr>
          <a:xfrm>
            <a:off x="-2413000" y="2794000"/>
            <a:ext cx="4826000" cy="4826000"/>
          </a:xfrm>
          <a:prstGeom prst="ellipse">
            <a:avLst/>
          </a:prstGeom>
          <a:solidFill>
            <a:srgbClr val="FFFFFF">
              <a:alpha val="9000"/>
            </a:srgbClr>
          </a:solidFill>
          <a:ln>
            <a:noFill/>
          </a:ln>
        </p:spPr>
        <p:txBody>
          <a:bodyPr/>
          <a:lstStyle/>
          <a:p>
            <a:endParaRPr lang="en-US"/>
          </a:p>
        </p:txBody>
      </p:sp>
      <p:sp>
        <p:nvSpPr>
          <p:cNvPr id="36" name="Decor 37"/>
          <p:cNvSpPr/>
          <p:nvPr/>
        </p:nvSpPr>
        <p:spPr>
          <a:xfrm rot="1800000">
            <a:off x="9779000" y="-1143000"/>
            <a:ext cx="3048000" cy="3048000"/>
          </a:xfrm>
          <a:prstGeom prst="rect">
            <a:avLst/>
          </a:prstGeom>
          <a:noFill/>
          <a:ln w="28575">
            <a:solidFill>
              <a:srgbClr val="FFFFFF">
                <a:alpha val="22000"/>
              </a:srgbClr>
            </a:solidFill>
          </a:ln>
        </p:spPr>
        <p:txBody>
          <a:bodyPr/>
          <a:lstStyle/>
          <a:p>
            <a:endParaRPr lang="en-US"/>
          </a:p>
        </p:txBody>
      </p:sp>
      <p:sp>
        <p:nvSpPr>
          <p:cNvPr id="37" name="Decor 38"/>
          <p:cNvSpPr/>
          <p:nvPr/>
        </p:nvSpPr>
        <p:spPr>
          <a:xfrm>
            <a:off x="11912600" y="6553200"/>
            <a:ext cx="177800" cy="177800"/>
          </a:xfrm>
          <a:prstGeom prst="ellipse">
            <a:avLst/>
          </a:prstGeom>
          <a:solidFill>
            <a:srgbClr val="F4B336">
              <a:alpha val="35000"/>
            </a:srgbClr>
          </a:solidFill>
          <a:ln>
            <a:noFill/>
          </a:ln>
        </p:spPr>
        <p:txBody>
          <a:bodyPr/>
          <a:lstStyle/>
          <a:p>
            <a:endParaRPr lang="en-US"/>
          </a:p>
        </p:txBody>
      </p:sp>
      <p:sp>
        <p:nvSpPr>
          <p:cNvPr id="2" name="Text 1"/>
          <p:cNvSpPr>
            <a:spLocks noGrp="1"/>
          </p:cNvSpPr>
          <p:nvPr>
            <p:ph type="title" idx="101" hasCustomPrompt="1"/>
          </p:nvPr>
        </p:nvSpPr>
        <p:spPr>
          <a:xfrm>
            <a:off x="1168400" y="512064"/>
            <a:ext cx="10566400" cy="512064"/>
          </a:xfrm>
          <a:prstGeom prst="rect">
            <a:avLst/>
          </a:prstGeom>
          <a:noFill/>
          <a:ln/>
        </p:spPr>
        <p:txBody>
          <a:bodyPr wrap="square" lIns="0" tIns="0" rIns="0" bIns="0" rtlCol="0" anchor="t"/>
          <a:lstStyle/>
          <a:p>
            <a:pPr marL="0" indent="0" algn="l">
              <a:buNone/>
            </a:pPr>
            <a:r>
              <a:rPr lang="en-US" sz="3000" b="1" dirty="0">
                <a:solidFill>
                  <a:srgbClr val="FFFFFF"/>
                </a:solidFill>
              </a:rPr>
              <a:t>Tri giác — Ví dụ 2.1</a:t>
            </a:r>
            <a:endParaRPr lang="en-US" sz="2800" dirty="0">
              <a:solidFill>
                <a:srgbClr val="FFFFFF"/>
              </a:solidFill>
            </a:endParaRPr>
          </a:p>
        </p:txBody>
      </p:sp>
      <p:sp>
        <p:nvSpPr>
          <p:cNvPr id="34" name="Topic badge"/>
          <p:cNvSpPr/>
          <p:nvPr/>
        </p:nvSpPr>
        <p:spPr>
          <a:xfrm>
            <a:off x="457200" y="524764"/>
            <a:ext cx="508000" cy="508000"/>
          </a:xfrm>
          <a:prstGeom prst="roundRect">
            <a:avLst>
              <a:gd name="adj" fmla="val 22000"/>
            </a:avLst>
          </a:prstGeom>
          <a:solidFill>
            <a:srgbClr val="F4B336"/>
          </a:solidFill>
          <a:ln>
            <a:noFill/>
          </a:ln>
        </p:spPr>
        <p:txBody>
          <a:bodyPr wrap="none" lIns="0" tIns="0" rIns="0" bIns="0" rtlCol="0" anchor="ctr">
            <a:noAutofit/>
          </a:bodyPr>
          <a:lstStyle/>
          <a:p>
            <a:pPr algn="ctr"/>
            <a:r>
              <a:rPr lang="en-US" sz="2000" b="1" dirty="0">
                <a:solidFill>
                  <a:srgbClr val="062F5C"/>
                </a:solidFill>
              </a:rPr>
              <a:t>02</a:t>
            </a:r>
          </a:p>
        </p:txBody>
      </p:sp>
      <p:sp>
        <p:nvSpPr>
          <p:cNvPr id="200" name="Ex card image"/>
          <p:cNvSpPr/>
          <p:nvPr/>
        </p:nvSpPr>
        <p:spPr>
          <a:xfrm>
            <a:off x="457200" y="1143000"/>
            <a:ext cx="3048000" cy="4495800"/>
          </a:xfrm>
          <a:prstGeom prst="roundRect">
            <a:avLst>
              <a:gd name="adj" fmla="val 643"/>
            </a:avLst>
          </a:prstGeom>
          <a:solidFill>
            <a:srgbClr val="FFFFFF"/>
          </a:solidFill>
          <a:ln>
            <a:noFill/>
          </a:ln>
        </p:spPr>
        <p:txBody>
          <a:bodyPr/>
          <a:lstStyle/>
          <a:p>
            <a:endParaRPr lang="en-US"/>
          </a:p>
        </p:txBody>
      </p:sp>
      <p:sp>
        <p:nvSpPr>
          <p:cNvPr id="201" name="Ex image bg"/>
          <p:cNvSpPr txBox="1"/>
          <p:nvPr/>
        </p:nvSpPr>
        <p:spPr>
          <a:xfrm>
            <a:off x="609600" y="1295400"/>
            <a:ext cx="2743200" cy="3225800"/>
          </a:xfrm>
          <a:prstGeom prst="roundRect">
            <a:avLst>
              <a:gd name="adj" fmla="val 1543"/>
            </a:avLst>
          </a:prstGeom>
          <a:solidFill>
            <a:srgbClr val="EEF2F6"/>
          </a:solidFill>
          <a:ln>
            <a:noFill/>
          </a:ln>
        </p:spPr>
        <p:txBody>
          <a:bodyPr wrap="square" lIns="0" tIns="0" rIns="0" bIns="0" rtlCol="0" anchor="ctr">
            <a:noAutofit/>
          </a:bodyPr>
          <a:lstStyle/>
          <a:p>
            <a:endParaRPr lang="en-US"/>
          </a:p>
        </p:txBody>
      </p:sp>
      <p:sp>
        <p:nvSpPr>
          <p:cNvPr id="202" name="Ex caption"/>
          <p:cNvSpPr txBox="1"/>
          <p:nvPr/>
        </p:nvSpPr>
        <p:spPr>
          <a:xfrm>
            <a:off x="609600" y="4597400"/>
            <a:ext cx="2743200" cy="889000"/>
          </a:xfrm>
          <a:prstGeom prst="rect">
            <a:avLst/>
          </a:prstGeom>
          <a:noFill/>
          <a:ln>
            <a:noFill/>
          </a:ln>
        </p:spPr>
        <p:txBody>
          <a:bodyPr wrap="square" lIns="0" tIns="0" rIns="0" bIns="0" rtlCol="0" anchor="t">
            <a:noAutofit/>
          </a:bodyPr>
          <a:lstStyle/>
          <a:p>
            <a:pPr marL="0" indent="0">
              <a:lnSpc>
                <a:spcPct val="105000"/>
              </a:lnSpc>
              <a:spcAft>
                <a:spcPts val="100"/>
              </a:spcAft>
              <a:buNone/>
            </a:pPr>
            <a:r>
              <a:rPr lang="vi-VN" sz="1200" i="1" dirty="0">
                <a:solidFill>
                  <a:srgbClr val="344054"/>
                </a:solidFill>
              </a:rPr>
              <a:t>Hình 2.1. Bài đăng trên ứng dụng Facebook</a:t>
            </a:r>
          </a:p>
          <a:p>
            <a:pPr marL="0" indent="0">
              <a:lnSpc>
                <a:spcPct val="105000"/>
              </a:lnSpc>
              <a:buNone/>
            </a:pPr>
            <a:r>
              <a:rPr lang="vi-VN" sz="1100" i="1" dirty="0">
                <a:solidFill>
                  <a:srgbClr val="475467"/>
                </a:solidFill>
              </a:rPr>
              <a:t>Nguồn: Chụp màn hình ứng dụng Facebook</a:t>
            </a:r>
          </a:p>
        </p:txBody>
      </p:sp>
      <p:sp>
        <p:nvSpPr>
          <p:cNvPr id="203" name="Ex card text"/>
          <p:cNvSpPr/>
          <p:nvPr/>
        </p:nvSpPr>
        <p:spPr>
          <a:xfrm>
            <a:off x="3657600" y="1143000"/>
            <a:ext cx="8077200" cy="4495800"/>
          </a:xfrm>
          <a:prstGeom prst="roundRect">
            <a:avLst>
              <a:gd name="adj" fmla="val 643"/>
            </a:avLst>
          </a:prstGeom>
          <a:solidFill>
            <a:srgbClr val="FFFFFF"/>
          </a:solidFill>
          <a:ln>
            <a:noFill/>
          </a:ln>
        </p:spPr>
        <p:txBody>
          <a:bodyPr/>
          <a:lstStyle/>
          <a:p>
            <a:endParaRPr lang="en-US"/>
          </a:p>
        </p:txBody>
      </p:sp>
      <p:sp>
        <p:nvSpPr>
          <p:cNvPr id="204" name="Ex name"/>
          <p:cNvSpPr txBox="1"/>
          <p:nvPr/>
        </p:nvSpPr>
        <p:spPr>
          <a:xfrm>
            <a:off x="3886200" y="1244600"/>
            <a:ext cx="7620000" cy="681736"/>
          </a:xfrm>
          <a:prstGeom prst="rect">
            <a:avLst/>
          </a:prstGeom>
          <a:noFill/>
          <a:ln>
            <a:noFill/>
          </a:ln>
        </p:spPr>
        <p:txBody>
          <a:bodyPr wrap="square" lIns="0" tIns="0" rIns="0" bIns="0" rtlCol="0" anchor="t">
            <a:noAutofit/>
          </a:bodyPr>
          <a:lstStyle/>
          <a:p>
            <a:pPr marL="0" indent="0">
              <a:lnSpc>
                <a:spcPct val="100000"/>
              </a:lnSpc>
              <a:spcAft>
                <a:spcPts val="0"/>
              </a:spcAft>
              <a:buNone/>
            </a:pPr>
            <a:r>
              <a:rPr lang="vi-VN" sz="2200" b="1" dirty="0">
                <a:solidFill>
                  <a:srgbClr val="1677B8"/>
                </a:solidFill>
              </a:rPr>
              <a:t>Ví dụ 2.1: </a:t>
            </a:r>
            <a:r>
              <a:rPr lang="vi-VN" sz="2200" b="1" dirty="0">
                <a:solidFill>
                  <a:srgbClr val="062F5C"/>
                </a:solidFill>
              </a:rPr>
              <a:t>Nguyên lý nhóm gần nhau (Proximity) trong giao diện Facebook/Instagram</a:t>
            </a:r>
          </a:p>
        </p:txBody>
      </p:sp>
      <p:sp>
        <p:nvSpPr>
          <p:cNvPr id="205" name="Ex body"/>
          <p:cNvSpPr txBox="1"/>
          <p:nvPr/>
        </p:nvSpPr>
        <p:spPr>
          <a:xfrm>
            <a:off x="3886200" y="2002536"/>
            <a:ext cx="7620000" cy="3534664"/>
          </a:xfrm>
          <a:prstGeom prst="rect">
            <a:avLst/>
          </a:prstGeom>
          <a:noFill/>
          <a:ln>
            <a:noFill/>
          </a:ln>
        </p:spPr>
        <p:txBody>
          <a:bodyPr wrap="square" lIns="0" tIns="0" rIns="0" bIns="0" rtlCol="0" anchor="t">
            <a:noAutofit/>
          </a:bodyPr>
          <a:lstStyle/>
          <a:p>
            <a:pPr marL="0" indent="0">
              <a:lnSpc>
                <a:spcPct val="98000"/>
              </a:lnSpc>
              <a:spcAft>
                <a:spcPts val="300"/>
              </a:spcAft>
              <a:buNone/>
            </a:pPr>
            <a:r>
              <a:rPr lang="vi-VN" sz="2000" b="1" dirty="0"/>
              <a:t>Là gì, có gì:</a:t>
            </a:r>
            <a:br>
              <a:rPr lang="vi-VN" sz="2000" b="1" dirty="0">
                <a:solidFill>
                  <a:srgbClr val="667085"/>
                </a:solidFill>
              </a:rPr>
            </a:br>
            <a:r>
              <a:rPr lang="vi-VN" sz="2000" dirty="0">
                <a:solidFill>
                  <a:srgbClr val="344054"/>
                </a:solidFill>
              </a:rPr>
              <a:t>Các nút "Thích, Bình luận, Chia sẻ" được đặt sát nhau thành một cụm ngay dưới mỗi bài đăng, tách biệt rõ với phần nội dung bài viết bên trên và phần bình luận bên dưới.</a:t>
            </a:r>
          </a:p>
          <a:p>
            <a:pPr marL="0" indent="0">
              <a:lnSpc>
                <a:spcPct val="98000"/>
              </a:lnSpc>
              <a:spcAft>
                <a:spcPts val="0"/>
              </a:spcAft>
              <a:buNone/>
            </a:pPr>
            <a:r>
              <a:rPr lang="vi-VN" sz="2000" b="1" dirty="0"/>
              <a:t>Liên hệ đặc điểm nhận thức:</a:t>
            </a:r>
            <a:br>
              <a:rPr lang="vi-VN" sz="2000" b="1" dirty="0">
                <a:solidFill>
                  <a:srgbClr val="667085"/>
                </a:solidFill>
              </a:rPr>
            </a:br>
            <a:r>
              <a:rPr lang="vi-VN" sz="2000" dirty="0">
                <a:solidFill>
                  <a:srgbClr val="344054"/>
                </a:solidFill>
              </a:rPr>
              <a:t>Áp dụng nguyên lý nhóm thông tin bằng khoảng cách (Đặc điểm 2). Người dùng nhận biết ngay đây là </a:t>
            </a:r>
            <a:r>
              <a:rPr lang="vi-VN" sz="2000" b="1" dirty="0">
                <a:solidFill>
                  <a:srgbClr val="344054"/>
                </a:solidFill>
              </a:rPr>
              <a:t>một nhóm hành động liên quan </a:t>
            </a:r>
            <a:r>
              <a:rPr lang="vi-VN" sz="2000" dirty="0">
                <a:solidFill>
                  <a:srgbClr val="344054"/>
                </a:solidFill>
              </a:rPr>
              <a:t>đến bài đăng mà không cần đọc nhãn chữ.</a:t>
            </a:r>
          </a:p>
        </p:txBody>
      </p:sp>
      <p:sp>
        <p:nvSpPr>
          <p:cNvPr id="206" name="Ex lesson bg"/>
          <p:cNvSpPr/>
          <p:nvPr/>
        </p:nvSpPr>
        <p:spPr>
          <a:xfrm>
            <a:off x="457200" y="5715000"/>
            <a:ext cx="11277600" cy="635000"/>
          </a:xfrm>
          <a:prstGeom prst="rect">
            <a:avLst/>
          </a:prstGeom>
          <a:solidFill>
            <a:srgbClr val="EAF5EF"/>
          </a:solidFill>
          <a:ln>
            <a:noFill/>
          </a:ln>
        </p:spPr>
        <p:txBody>
          <a:bodyPr/>
          <a:lstStyle/>
          <a:p>
            <a:endParaRPr lang="en-US"/>
          </a:p>
        </p:txBody>
      </p:sp>
      <p:sp>
        <p:nvSpPr>
          <p:cNvPr id="207" name="Ex lesson bar"/>
          <p:cNvSpPr/>
          <p:nvPr/>
        </p:nvSpPr>
        <p:spPr>
          <a:xfrm>
            <a:off x="457200" y="5715000"/>
            <a:ext cx="50800" cy="635000"/>
          </a:xfrm>
          <a:prstGeom prst="rect">
            <a:avLst/>
          </a:prstGeom>
          <a:solidFill>
            <a:srgbClr val="2E9B67"/>
          </a:solidFill>
          <a:ln>
            <a:noFill/>
          </a:ln>
        </p:spPr>
        <p:txBody>
          <a:bodyPr/>
          <a:lstStyle/>
          <a:p>
            <a:endParaRPr lang="en-US"/>
          </a:p>
        </p:txBody>
      </p:sp>
      <p:sp>
        <p:nvSpPr>
          <p:cNvPr id="208" name="Ex lesson"/>
          <p:cNvSpPr txBox="1"/>
          <p:nvPr/>
        </p:nvSpPr>
        <p:spPr>
          <a:xfrm>
            <a:off x="685800" y="5715000"/>
            <a:ext cx="10820400" cy="635000"/>
          </a:xfrm>
          <a:prstGeom prst="rect">
            <a:avLst/>
          </a:prstGeom>
          <a:noFill/>
          <a:ln>
            <a:noFill/>
          </a:ln>
        </p:spPr>
        <p:txBody>
          <a:bodyPr wrap="square" lIns="0" tIns="0" rIns="0" bIns="0" rtlCol="0" anchor="ctr">
            <a:noAutofit/>
          </a:bodyPr>
          <a:lstStyle/>
          <a:p>
            <a:pPr marL="0" indent="0">
              <a:lnSpc>
                <a:spcPct val="100000"/>
              </a:lnSpc>
              <a:spcAft>
                <a:spcPts val="0"/>
              </a:spcAft>
              <a:buNone/>
            </a:pPr>
            <a:r>
              <a:rPr lang="vi-VN" sz="1800" b="1" dirty="0">
                <a:solidFill>
                  <a:srgbClr val="1E7F53"/>
                </a:solidFill>
              </a:rPr>
              <a:t>Bài học: </a:t>
            </a:r>
            <a:r>
              <a:rPr lang="vi-VN" sz="1800" b="1" dirty="0">
                <a:solidFill>
                  <a:srgbClr val="062F5C"/>
                </a:solidFill>
              </a:rPr>
              <a:t>Nhóm các chức năng liên quan lại gần nhau và tách biệt bằng khoảng trắng vừa đủ để tạo cấu trúc thị giác rõ ràng, giảm thời gian tìm kiếm chức năng của người dùng.</a:t>
            </a:r>
          </a:p>
        </p:txBody>
      </p:sp>
      <p:pic>
        <p:nvPicPr>
          <p:cNvPr id="3" name="Ex image">
            <a:extLst>
              <a:ext uri="{FF2B5EF4-FFF2-40B4-BE49-F238E27FC236}">
                <a16:creationId xmlns:a16="http://schemas.microsoft.com/office/drawing/2014/main" id="{833E25D0-99E3-FC55-8E1B-BC0F75E531D0}"/>
              </a:ext>
            </a:extLst>
          </p:cNvPr>
          <p:cNvPicPr>
            <a:picLocks noChangeAspect="1"/>
          </p:cNvPicPr>
          <p:nvPr/>
        </p:nvPicPr>
        <p:blipFill>
          <a:blip r:embed="rId3"/>
          <a:srcRect l="74450" t="7250" b="42000"/>
          <a:stretch>
            <a:fillRect/>
          </a:stretch>
        </p:blipFill>
        <p:spPr>
          <a:xfrm>
            <a:off x="609600" y="1460582"/>
            <a:ext cx="2743200" cy="2895437"/>
          </a:xfrm>
          <a:prstGeom prst="rect">
            <a:avLst/>
          </a:prstGeom>
        </p:spPr>
      </p:pic>
      <p:sp>
        <p:nvSpPr>
          <p:cNvPr id="209" name="Ex badge"/>
          <p:cNvSpPr/>
          <p:nvPr/>
        </p:nvSpPr>
        <p:spPr>
          <a:xfrm>
            <a:off x="2870200" y="1397000"/>
            <a:ext cx="381000" cy="381000"/>
          </a:xfrm>
          <a:prstGeom prst="ellipse">
            <a:avLst/>
          </a:prstGeom>
          <a:solidFill>
            <a:srgbClr val="073B6F"/>
          </a:solidFill>
          <a:ln w="28575">
            <a:solidFill>
              <a:srgbClr val="F4B336"/>
            </a:solidFill>
          </a:ln>
        </p:spPr>
        <p:txBody>
          <a:bodyPr/>
          <a:lstStyle/>
          <a:p>
            <a:endParaRPr lang="en-US"/>
          </a:p>
        </p:txBody>
      </p:sp>
      <p:sp>
        <p:nvSpPr>
          <p:cNvPr id="210" name="Ex badge num"/>
          <p:cNvSpPr txBox="1"/>
          <p:nvPr/>
        </p:nvSpPr>
        <p:spPr>
          <a:xfrm>
            <a:off x="2870200" y="1397000"/>
            <a:ext cx="381000" cy="381000"/>
          </a:xfrm>
          <a:prstGeom prst="rect">
            <a:avLst/>
          </a:prstGeom>
          <a:noFill/>
          <a:ln>
            <a:noFill/>
          </a:ln>
        </p:spPr>
        <p:txBody>
          <a:bodyPr wrap="square" lIns="0" tIns="0" rIns="0" bIns="0" rtlCol="0" anchor="ctr">
            <a:noAutofit/>
          </a:bodyPr>
          <a:lstStyle/>
          <a:p>
            <a:pPr marL="0" indent="0" algn="ctr">
              <a:buNone/>
            </a:pPr>
            <a:r>
              <a:rPr lang="vi-VN" sz="1000" b="1" dirty="0">
                <a:solidFill>
                  <a:srgbClr val="FFFFFF"/>
                </a:solidFill>
              </a:rPr>
              <a:t>2.1</a:t>
            </a:r>
          </a:p>
        </p:txBody>
      </p:sp>
    </p:spTree>
    <p:extLst>
      <p:ext uri="{BB962C8B-B14F-4D97-AF65-F5344CB8AC3E}">
        <p14:creationId xmlns:p14="http://schemas.microsoft.com/office/powerpoint/2010/main" val="1337089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7">
    <p:bg>
      <p:bgPr>
        <a:solidFill>
          <a:srgbClr val="062F5C"/>
        </a:solidFill>
        <a:effectLst/>
      </p:bgPr>
    </p:bg>
    <p:spTree>
      <p:nvGrpSpPr>
        <p:cNvPr id="1" name=""/>
        <p:cNvGrpSpPr/>
        <p:nvPr/>
      </p:nvGrpSpPr>
      <p:grpSpPr>
        <a:xfrm>
          <a:off x="0" y="0"/>
          <a:ext cx="0" cy="0"/>
          <a:chOff x="0" y="0"/>
          <a:chExt cx="0" cy="0"/>
        </a:xfrm>
      </p:grpSpPr>
      <p:sp>
        <p:nvSpPr>
          <p:cNvPr id="35" name="Decor 36"/>
          <p:cNvSpPr/>
          <p:nvPr/>
        </p:nvSpPr>
        <p:spPr>
          <a:xfrm>
            <a:off x="-2413000" y="2794000"/>
            <a:ext cx="4826000" cy="4826000"/>
          </a:xfrm>
          <a:prstGeom prst="ellipse">
            <a:avLst/>
          </a:prstGeom>
          <a:solidFill>
            <a:srgbClr val="FFFFFF">
              <a:alpha val="9000"/>
            </a:srgbClr>
          </a:solidFill>
          <a:ln>
            <a:noFill/>
          </a:ln>
        </p:spPr>
        <p:txBody>
          <a:bodyPr/>
          <a:lstStyle/>
          <a:p>
            <a:endParaRPr lang="en-US"/>
          </a:p>
        </p:txBody>
      </p:sp>
      <p:sp>
        <p:nvSpPr>
          <p:cNvPr id="36" name="Decor 37"/>
          <p:cNvSpPr/>
          <p:nvPr/>
        </p:nvSpPr>
        <p:spPr>
          <a:xfrm rot="1800000">
            <a:off x="9779000" y="-1143000"/>
            <a:ext cx="3048000" cy="3048000"/>
          </a:xfrm>
          <a:prstGeom prst="rect">
            <a:avLst/>
          </a:prstGeom>
          <a:noFill/>
          <a:ln w="28575">
            <a:solidFill>
              <a:srgbClr val="FFFFFF">
                <a:alpha val="22000"/>
              </a:srgbClr>
            </a:solidFill>
          </a:ln>
        </p:spPr>
        <p:txBody>
          <a:bodyPr/>
          <a:lstStyle/>
          <a:p>
            <a:endParaRPr lang="en-US"/>
          </a:p>
        </p:txBody>
      </p:sp>
      <p:sp>
        <p:nvSpPr>
          <p:cNvPr id="37" name="Decor 38"/>
          <p:cNvSpPr/>
          <p:nvPr/>
        </p:nvSpPr>
        <p:spPr>
          <a:xfrm>
            <a:off x="11912600" y="6553200"/>
            <a:ext cx="177800" cy="177800"/>
          </a:xfrm>
          <a:prstGeom prst="ellipse">
            <a:avLst/>
          </a:prstGeom>
          <a:solidFill>
            <a:srgbClr val="F4B336">
              <a:alpha val="35000"/>
            </a:srgbClr>
          </a:solidFill>
          <a:ln>
            <a:noFill/>
          </a:ln>
        </p:spPr>
        <p:txBody>
          <a:bodyPr/>
          <a:lstStyle/>
          <a:p>
            <a:endParaRPr lang="en-US"/>
          </a:p>
        </p:txBody>
      </p:sp>
      <p:sp>
        <p:nvSpPr>
          <p:cNvPr id="2" name="Text 1"/>
          <p:cNvSpPr>
            <a:spLocks noGrp="1"/>
          </p:cNvSpPr>
          <p:nvPr>
            <p:ph type="title" idx="101" hasCustomPrompt="1"/>
          </p:nvPr>
        </p:nvSpPr>
        <p:spPr>
          <a:xfrm>
            <a:off x="1168400" y="512064"/>
            <a:ext cx="10566400" cy="512064"/>
          </a:xfrm>
          <a:prstGeom prst="rect">
            <a:avLst/>
          </a:prstGeom>
          <a:noFill/>
          <a:ln/>
        </p:spPr>
        <p:txBody>
          <a:bodyPr wrap="square" lIns="0" tIns="0" rIns="0" bIns="0" rtlCol="0" anchor="t"/>
          <a:lstStyle/>
          <a:p>
            <a:pPr marL="0" indent="0" algn="l">
              <a:buNone/>
            </a:pPr>
            <a:r>
              <a:rPr lang="en-US" sz="3000" b="1" dirty="0">
                <a:solidFill>
                  <a:srgbClr val="FFFFFF"/>
                </a:solidFill>
              </a:rPr>
              <a:t>Tri giác — Ví dụ 2.2</a:t>
            </a:r>
            <a:endParaRPr lang="en-US" sz="2800" dirty="0">
              <a:solidFill>
                <a:srgbClr val="FFFFFF"/>
              </a:solidFill>
            </a:endParaRPr>
          </a:p>
        </p:txBody>
      </p:sp>
      <p:sp>
        <p:nvSpPr>
          <p:cNvPr id="34" name="Topic badge"/>
          <p:cNvSpPr/>
          <p:nvPr/>
        </p:nvSpPr>
        <p:spPr>
          <a:xfrm>
            <a:off x="457200" y="524764"/>
            <a:ext cx="508000" cy="508000"/>
          </a:xfrm>
          <a:prstGeom prst="roundRect">
            <a:avLst>
              <a:gd name="adj" fmla="val 22000"/>
            </a:avLst>
          </a:prstGeom>
          <a:solidFill>
            <a:srgbClr val="F4B336"/>
          </a:solidFill>
          <a:ln>
            <a:noFill/>
          </a:ln>
        </p:spPr>
        <p:txBody>
          <a:bodyPr wrap="none" lIns="0" tIns="0" rIns="0" bIns="0" rtlCol="0" anchor="ctr">
            <a:noAutofit/>
          </a:bodyPr>
          <a:lstStyle/>
          <a:p>
            <a:pPr algn="ctr"/>
            <a:r>
              <a:rPr lang="en-US" sz="2000" b="1" dirty="0">
                <a:solidFill>
                  <a:srgbClr val="062F5C"/>
                </a:solidFill>
              </a:rPr>
              <a:t>02</a:t>
            </a:r>
          </a:p>
        </p:txBody>
      </p:sp>
      <p:sp>
        <p:nvSpPr>
          <p:cNvPr id="200" name="Ex card image"/>
          <p:cNvSpPr/>
          <p:nvPr/>
        </p:nvSpPr>
        <p:spPr>
          <a:xfrm>
            <a:off x="457200" y="1143000"/>
            <a:ext cx="3048000" cy="4495800"/>
          </a:xfrm>
          <a:prstGeom prst="roundRect">
            <a:avLst>
              <a:gd name="adj" fmla="val 643"/>
            </a:avLst>
          </a:prstGeom>
          <a:solidFill>
            <a:srgbClr val="FFFFFF"/>
          </a:solidFill>
          <a:ln>
            <a:noFill/>
          </a:ln>
        </p:spPr>
        <p:txBody>
          <a:bodyPr/>
          <a:lstStyle/>
          <a:p>
            <a:endParaRPr lang="en-US"/>
          </a:p>
        </p:txBody>
      </p:sp>
      <p:sp>
        <p:nvSpPr>
          <p:cNvPr id="201" name="Ex image bg"/>
          <p:cNvSpPr/>
          <p:nvPr/>
        </p:nvSpPr>
        <p:spPr>
          <a:xfrm>
            <a:off x="609600" y="1295400"/>
            <a:ext cx="2743200" cy="3225800"/>
          </a:xfrm>
          <a:prstGeom prst="roundRect">
            <a:avLst>
              <a:gd name="adj" fmla="val 1543"/>
            </a:avLst>
          </a:prstGeom>
          <a:solidFill>
            <a:srgbClr val="EEF2F6"/>
          </a:solidFill>
          <a:ln>
            <a:noFill/>
          </a:ln>
        </p:spPr>
        <p:txBody>
          <a:bodyPr/>
          <a:lstStyle/>
          <a:p>
            <a:endParaRPr lang="en-US"/>
          </a:p>
        </p:txBody>
      </p:sp>
      <p:sp>
        <p:nvSpPr>
          <p:cNvPr id="202" name="Ex caption"/>
          <p:cNvSpPr txBox="1"/>
          <p:nvPr/>
        </p:nvSpPr>
        <p:spPr>
          <a:xfrm>
            <a:off x="609600" y="4597400"/>
            <a:ext cx="2743200" cy="889000"/>
          </a:xfrm>
          <a:prstGeom prst="rect">
            <a:avLst/>
          </a:prstGeom>
          <a:noFill/>
          <a:ln>
            <a:noFill/>
          </a:ln>
        </p:spPr>
        <p:txBody>
          <a:bodyPr wrap="square" lIns="0" tIns="0" rIns="0" bIns="0" rtlCol="0" anchor="t">
            <a:noAutofit/>
          </a:bodyPr>
          <a:lstStyle/>
          <a:p>
            <a:pPr marL="0" indent="0">
              <a:lnSpc>
                <a:spcPct val="105000"/>
              </a:lnSpc>
              <a:spcAft>
                <a:spcPts val="100"/>
              </a:spcAft>
              <a:buNone/>
            </a:pPr>
            <a:r>
              <a:rPr lang="vi-VN" sz="1200" i="1" dirty="0">
                <a:solidFill>
                  <a:srgbClr val="344054"/>
                </a:solidFill>
              </a:rPr>
              <a:t>Hình 2.2. Màn hình kết quả giao dịch trên ứng dụng MoMo</a:t>
            </a:r>
          </a:p>
          <a:p>
            <a:pPr marL="0" indent="0">
              <a:lnSpc>
                <a:spcPct val="105000"/>
              </a:lnSpc>
              <a:spcAft>
                <a:spcPts val="0"/>
              </a:spcAft>
              <a:buNone/>
            </a:pPr>
            <a:r>
              <a:rPr lang="vi-VN" sz="1100" i="1" dirty="0">
                <a:solidFill>
                  <a:srgbClr val="475467"/>
                </a:solidFill>
              </a:rPr>
              <a:t>Nguồn: MoMo</a:t>
            </a:r>
          </a:p>
        </p:txBody>
      </p:sp>
      <p:sp>
        <p:nvSpPr>
          <p:cNvPr id="203" name="Ex card text"/>
          <p:cNvSpPr/>
          <p:nvPr/>
        </p:nvSpPr>
        <p:spPr>
          <a:xfrm>
            <a:off x="3657600" y="1143000"/>
            <a:ext cx="8077200" cy="4495800"/>
          </a:xfrm>
          <a:prstGeom prst="roundRect">
            <a:avLst>
              <a:gd name="adj" fmla="val 643"/>
            </a:avLst>
          </a:prstGeom>
          <a:solidFill>
            <a:srgbClr val="FFFFFF"/>
          </a:solidFill>
          <a:ln>
            <a:noFill/>
          </a:ln>
        </p:spPr>
        <p:txBody>
          <a:bodyPr/>
          <a:lstStyle/>
          <a:p>
            <a:endParaRPr lang="en-US"/>
          </a:p>
        </p:txBody>
      </p:sp>
      <p:sp>
        <p:nvSpPr>
          <p:cNvPr id="204" name="Ex name"/>
          <p:cNvSpPr txBox="1"/>
          <p:nvPr/>
        </p:nvSpPr>
        <p:spPr>
          <a:xfrm>
            <a:off x="3886200" y="1244600"/>
            <a:ext cx="7620000" cy="681736"/>
          </a:xfrm>
          <a:prstGeom prst="rect">
            <a:avLst/>
          </a:prstGeom>
          <a:noFill/>
          <a:ln>
            <a:noFill/>
          </a:ln>
        </p:spPr>
        <p:txBody>
          <a:bodyPr wrap="square" lIns="0" tIns="0" rIns="0" bIns="0" rtlCol="0" anchor="t">
            <a:noAutofit/>
          </a:bodyPr>
          <a:lstStyle/>
          <a:p>
            <a:pPr marL="0" indent="0">
              <a:lnSpc>
                <a:spcPct val="100000"/>
              </a:lnSpc>
              <a:spcAft>
                <a:spcPts val="0"/>
              </a:spcAft>
              <a:buNone/>
            </a:pPr>
            <a:r>
              <a:rPr lang="vi-VN" sz="2200" b="1" dirty="0">
                <a:solidFill>
                  <a:srgbClr val="1677B8"/>
                </a:solidFill>
              </a:rPr>
              <a:t>Ví dụ 2.2: </a:t>
            </a:r>
            <a:r>
              <a:rPr lang="vi-VN" sz="2200" b="1" dirty="0">
                <a:solidFill>
                  <a:srgbClr val="062F5C"/>
                </a:solidFill>
              </a:rPr>
              <a:t>Đường viền phân tách các mục trong ứng dụng ngân hàng/ví điện tử</a:t>
            </a:r>
          </a:p>
        </p:txBody>
      </p:sp>
      <p:sp>
        <p:nvSpPr>
          <p:cNvPr id="205" name="Ex body"/>
          <p:cNvSpPr txBox="1"/>
          <p:nvPr/>
        </p:nvSpPr>
        <p:spPr>
          <a:xfrm>
            <a:off x="3886200" y="2002536"/>
            <a:ext cx="7620000" cy="3534664"/>
          </a:xfrm>
          <a:prstGeom prst="rect">
            <a:avLst/>
          </a:prstGeom>
          <a:noFill/>
          <a:ln>
            <a:noFill/>
          </a:ln>
        </p:spPr>
        <p:txBody>
          <a:bodyPr wrap="square" lIns="0" tIns="0" rIns="0" bIns="0" rtlCol="0" anchor="t">
            <a:noAutofit/>
          </a:bodyPr>
          <a:lstStyle/>
          <a:p>
            <a:pPr marL="0" indent="0">
              <a:lnSpc>
                <a:spcPct val="98000"/>
              </a:lnSpc>
              <a:spcAft>
                <a:spcPts val="300"/>
              </a:spcAft>
              <a:buNone/>
            </a:pPr>
            <a:r>
              <a:rPr lang="vi-VN" sz="2000" b="1" dirty="0"/>
              <a:t>Là gì, có gì:</a:t>
            </a:r>
            <a:br>
              <a:rPr lang="vi-VN" sz="2000" b="1" dirty="0">
                <a:solidFill>
                  <a:srgbClr val="667085"/>
                </a:solidFill>
              </a:rPr>
            </a:br>
            <a:r>
              <a:rPr lang="vi-VN" sz="2000" dirty="0">
                <a:solidFill>
                  <a:srgbClr val="344054"/>
                </a:solidFill>
              </a:rPr>
              <a:t>Các ứng dụng như MoMo, VCB Digibank dùng khung viền (card/border) để tách từng giao dịch trong danh sách lịch sử, kết hợp thêm màu xanh lá cho giao dịch thành công, màu đỏ cho giao dịch lỗi.</a:t>
            </a:r>
          </a:p>
          <a:p>
            <a:pPr marL="0" indent="0">
              <a:lnSpc>
                <a:spcPct val="98000"/>
              </a:lnSpc>
              <a:spcAft>
                <a:spcPts val="0"/>
              </a:spcAft>
              <a:buNone/>
            </a:pPr>
            <a:r>
              <a:rPr lang="vi-VN" sz="2000" b="1" dirty="0"/>
              <a:t>Liên hệ đặc điểm nhận thức:</a:t>
            </a:r>
            <a:br>
              <a:rPr lang="vi-VN" sz="2000" b="1" dirty="0">
                <a:solidFill>
                  <a:srgbClr val="667085"/>
                </a:solidFill>
              </a:rPr>
            </a:br>
            <a:r>
              <a:rPr lang="vi-VN" sz="2000" dirty="0">
                <a:solidFill>
                  <a:srgbClr val="344054"/>
                </a:solidFill>
              </a:rPr>
              <a:t>Minh họa trực tiếp Đặc điểm 3 — </a:t>
            </a:r>
            <a:r>
              <a:rPr lang="vi-VN" sz="2000" b="1" dirty="0">
                <a:solidFill>
                  <a:srgbClr val="344054"/>
                </a:solidFill>
              </a:rPr>
              <a:t>dùng đường viền để nhóm/tách thông tin</a:t>
            </a:r>
            <a:r>
              <a:rPr lang="vi-VN" sz="2000" dirty="0">
                <a:solidFill>
                  <a:srgbClr val="344054"/>
                </a:solidFill>
              </a:rPr>
              <a:t>, giúp người dùng định vị nhanh hơn là chỉ dựa vào màu sắc (theo nghiên cứu của Weller, 2004).</a:t>
            </a:r>
          </a:p>
        </p:txBody>
      </p:sp>
      <p:sp>
        <p:nvSpPr>
          <p:cNvPr id="206" name="Ex lesson bg"/>
          <p:cNvSpPr/>
          <p:nvPr/>
        </p:nvSpPr>
        <p:spPr>
          <a:xfrm>
            <a:off x="457200" y="5715000"/>
            <a:ext cx="11277600" cy="635000"/>
          </a:xfrm>
          <a:prstGeom prst="rect">
            <a:avLst/>
          </a:prstGeom>
          <a:solidFill>
            <a:srgbClr val="EAF5EF"/>
          </a:solidFill>
          <a:ln>
            <a:noFill/>
          </a:ln>
        </p:spPr>
        <p:txBody>
          <a:bodyPr/>
          <a:lstStyle/>
          <a:p>
            <a:endParaRPr lang="en-US"/>
          </a:p>
        </p:txBody>
      </p:sp>
      <p:sp>
        <p:nvSpPr>
          <p:cNvPr id="207" name="Ex lesson bar"/>
          <p:cNvSpPr/>
          <p:nvPr/>
        </p:nvSpPr>
        <p:spPr>
          <a:xfrm>
            <a:off x="457200" y="5715000"/>
            <a:ext cx="50800" cy="635000"/>
          </a:xfrm>
          <a:prstGeom prst="rect">
            <a:avLst/>
          </a:prstGeom>
          <a:solidFill>
            <a:srgbClr val="2E9B67"/>
          </a:solidFill>
          <a:ln>
            <a:noFill/>
          </a:ln>
        </p:spPr>
        <p:txBody>
          <a:bodyPr/>
          <a:lstStyle/>
          <a:p>
            <a:endParaRPr lang="en-US"/>
          </a:p>
        </p:txBody>
      </p:sp>
      <p:sp>
        <p:nvSpPr>
          <p:cNvPr id="208" name="Ex lesson"/>
          <p:cNvSpPr txBox="1"/>
          <p:nvPr/>
        </p:nvSpPr>
        <p:spPr>
          <a:xfrm>
            <a:off x="685800" y="5715000"/>
            <a:ext cx="10820400" cy="635000"/>
          </a:xfrm>
          <a:prstGeom prst="rect">
            <a:avLst/>
          </a:prstGeom>
          <a:noFill/>
          <a:ln>
            <a:noFill/>
          </a:ln>
        </p:spPr>
        <p:txBody>
          <a:bodyPr wrap="square" lIns="0" tIns="0" rIns="0" bIns="0" rtlCol="0" anchor="ctr">
            <a:noAutofit/>
          </a:bodyPr>
          <a:lstStyle/>
          <a:p>
            <a:pPr marL="0" indent="0">
              <a:lnSpc>
                <a:spcPct val="100000"/>
              </a:lnSpc>
              <a:spcAft>
                <a:spcPts val="0"/>
              </a:spcAft>
              <a:buNone/>
            </a:pPr>
            <a:r>
              <a:rPr lang="vi-VN" sz="1800" b="1" dirty="0">
                <a:solidFill>
                  <a:srgbClr val="1E7F53"/>
                </a:solidFill>
              </a:rPr>
              <a:t>Bài học: </a:t>
            </a:r>
            <a:r>
              <a:rPr lang="vi-VN" sz="1800" b="1" dirty="0">
                <a:solidFill>
                  <a:srgbClr val="062F5C"/>
                </a:solidFill>
              </a:rPr>
              <a:t>Kết hợp đường viền làm cấu trúc chính, màu sắc chỉ nên đóng vai trò bổ trợ, không nên là cách nhóm thông tin duy nhất.</a:t>
            </a:r>
          </a:p>
        </p:txBody>
      </p:sp>
      <p:pic>
        <p:nvPicPr>
          <p:cNvPr id="3" name="Ex image">
            <a:extLst>
              <a:ext uri="{FF2B5EF4-FFF2-40B4-BE49-F238E27FC236}">
                <a16:creationId xmlns:a16="http://schemas.microsoft.com/office/drawing/2014/main" id="{3EBB56B0-345D-44FA-B712-C493CFC5A003}"/>
              </a:ext>
            </a:extLst>
          </p:cNvPr>
          <p:cNvPicPr>
            <a:picLocks noChangeAspect="1"/>
          </p:cNvPicPr>
          <p:nvPr/>
        </p:nvPicPr>
        <p:blipFill>
          <a:blip r:embed="rId3"/>
          <a:stretch>
            <a:fillRect/>
          </a:stretch>
        </p:blipFill>
        <p:spPr>
          <a:xfrm>
            <a:off x="1169374" y="1295400"/>
            <a:ext cx="1623653" cy="3225800"/>
          </a:xfrm>
          <a:prstGeom prst="rect">
            <a:avLst/>
          </a:prstGeom>
        </p:spPr>
      </p:pic>
      <p:sp>
        <p:nvSpPr>
          <p:cNvPr id="209" name="Ex badge"/>
          <p:cNvSpPr/>
          <p:nvPr/>
        </p:nvSpPr>
        <p:spPr>
          <a:xfrm>
            <a:off x="711200" y="1397000"/>
            <a:ext cx="381000" cy="381000"/>
          </a:xfrm>
          <a:prstGeom prst="ellipse">
            <a:avLst/>
          </a:prstGeom>
          <a:solidFill>
            <a:srgbClr val="073B6F"/>
          </a:solidFill>
          <a:ln w="28575">
            <a:solidFill>
              <a:srgbClr val="F4B336"/>
            </a:solidFill>
          </a:ln>
        </p:spPr>
        <p:txBody>
          <a:bodyPr/>
          <a:lstStyle/>
          <a:p>
            <a:endParaRPr lang="en-US"/>
          </a:p>
        </p:txBody>
      </p:sp>
      <p:sp>
        <p:nvSpPr>
          <p:cNvPr id="210" name="Ex badge num"/>
          <p:cNvSpPr txBox="1"/>
          <p:nvPr/>
        </p:nvSpPr>
        <p:spPr>
          <a:xfrm>
            <a:off x="711200" y="1397000"/>
            <a:ext cx="381000" cy="381000"/>
          </a:xfrm>
          <a:prstGeom prst="rect">
            <a:avLst/>
          </a:prstGeom>
          <a:noFill/>
          <a:ln>
            <a:noFill/>
          </a:ln>
        </p:spPr>
        <p:txBody>
          <a:bodyPr wrap="square" lIns="0" tIns="0" rIns="0" bIns="0" rtlCol="0" anchor="ctr">
            <a:noAutofit/>
          </a:bodyPr>
          <a:lstStyle/>
          <a:p>
            <a:pPr marL="0" indent="0" algn="ctr">
              <a:buNone/>
            </a:pPr>
            <a:r>
              <a:rPr lang="vi-VN" sz="1000" b="1" dirty="0">
                <a:solidFill>
                  <a:srgbClr val="FFFFFF"/>
                </a:solidFill>
              </a:rPr>
              <a:t>2.2</a:t>
            </a:r>
          </a:p>
        </p:txBody>
      </p:sp>
    </p:spTree>
    <p:extLst>
      <p:ext uri="{BB962C8B-B14F-4D97-AF65-F5344CB8AC3E}">
        <p14:creationId xmlns:p14="http://schemas.microsoft.com/office/powerpoint/2010/main" val="27724680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7">
    <p:bg>
      <p:bgPr>
        <a:solidFill>
          <a:srgbClr val="062F5C"/>
        </a:solidFill>
        <a:effectLst/>
      </p:bgPr>
    </p:bg>
    <p:spTree>
      <p:nvGrpSpPr>
        <p:cNvPr id="1" name=""/>
        <p:cNvGrpSpPr/>
        <p:nvPr/>
      </p:nvGrpSpPr>
      <p:grpSpPr>
        <a:xfrm>
          <a:off x="0" y="0"/>
          <a:ext cx="0" cy="0"/>
          <a:chOff x="0" y="0"/>
          <a:chExt cx="0" cy="0"/>
        </a:xfrm>
      </p:grpSpPr>
      <p:sp>
        <p:nvSpPr>
          <p:cNvPr id="35" name="Decor 36"/>
          <p:cNvSpPr/>
          <p:nvPr/>
        </p:nvSpPr>
        <p:spPr>
          <a:xfrm>
            <a:off x="-2413000" y="2794000"/>
            <a:ext cx="4826000" cy="4826000"/>
          </a:xfrm>
          <a:prstGeom prst="ellipse">
            <a:avLst/>
          </a:prstGeom>
          <a:solidFill>
            <a:srgbClr val="FFFFFF">
              <a:alpha val="9000"/>
            </a:srgbClr>
          </a:solidFill>
          <a:ln>
            <a:noFill/>
          </a:ln>
        </p:spPr>
        <p:txBody>
          <a:bodyPr/>
          <a:lstStyle/>
          <a:p>
            <a:endParaRPr lang="en-US"/>
          </a:p>
        </p:txBody>
      </p:sp>
      <p:sp>
        <p:nvSpPr>
          <p:cNvPr id="36" name="Decor 37"/>
          <p:cNvSpPr/>
          <p:nvPr/>
        </p:nvSpPr>
        <p:spPr>
          <a:xfrm rot="1800000">
            <a:off x="9779000" y="-1143000"/>
            <a:ext cx="3048000" cy="3048000"/>
          </a:xfrm>
          <a:prstGeom prst="rect">
            <a:avLst/>
          </a:prstGeom>
          <a:noFill/>
          <a:ln w="28575">
            <a:solidFill>
              <a:srgbClr val="FFFFFF">
                <a:alpha val="22000"/>
              </a:srgbClr>
            </a:solidFill>
          </a:ln>
        </p:spPr>
        <p:txBody>
          <a:bodyPr/>
          <a:lstStyle/>
          <a:p>
            <a:endParaRPr lang="en-US"/>
          </a:p>
        </p:txBody>
      </p:sp>
      <p:sp>
        <p:nvSpPr>
          <p:cNvPr id="37" name="Decor 38"/>
          <p:cNvSpPr/>
          <p:nvPr/>
        </p:nvSpPr>
        <p:spPr>
          <a:xfrm>
            <a:off x="11912600" y="6553200"/>
            <a:ext cx="177800" cy="177800"/>
          </a:xfrm>
          <a:prstGeom prst="ellipse">
            <a:avLst/>
          </a:prstGeom>
          <a:solidFill>
            <a:srgbClr val="F4B336">
              <a:alpha val="35000"/>
            </a:srgbClr>
          </a:solidFill>
          <a:ln>
            <a:noFill/>
          </a:ln>
        </p:spPr>
        <p:txBody>
          <a:bodyPr/>
          <a:lstStyle/>
          <a:p>
            <a:endParaRPr lang="en-US"/>
          </a:p>
        </p:txBody>
      </p:sp>
      <p:sp>
        <p:nvSpPr>
          <p:cNvPr id="2" name="Text 1"/>
          <p:cNvSpPr>
            <a:spLocks noGrp="1"/>
          </p:cNvSpPr>
          <p:nvPr>
            <p:ph type="title" idx="101" hasCustomPrompt="1"/>
          </p:nvPr>
        </p:nvSpPr>
        <p:spPr>
          <a:xfrm>
            <a:off x="1168400" y="512064"/>
            <a:ext cx="10566400" cy="512064"/>
          </a:xfrm>
          <a:prstGeom prst="rect">
            <a:avLst/>
          </a:prstGeom>
          <a:noFill/>
          <a:ln/>
        </p:spPr>
        <p:txBody>
          <a:bodyPr wrap="square" lIns="0" tIns="0" rIns="0" bIns="0" rtlCol="0" anchor="t"/>
          <a:lstStyle/>
          <a:p>
            <a:pPr marL="0" indent="0" algn="l">
              <a:buNone/>
            </a:pPr>
            <a:r>
              <a:rPr lang="en-US" sz="3000" b="1" dirty="0">
                <a:solidFill>
                  <a:srgbClr val="FFFFFF"/>
                </a:solidFill>
              </a:rPr>
              <a:t>Tri giác — Ví dụ 2.3</a:t>
            </a:r>
            <a:endParaRPr lang="en-US" sz="2800" dirty="0">
              <a:solidFill>
                <a:srgbClr val="FFFFFF"/>
              </a:solidFill>
            </a:endParaRPr>
          </a:p>
        </p:txBody>
      </p:sp>
      <p:sp>
        <p:nvSpPr>
          <p:cNvPr id="34" name="Topic badge"/>
          <p:cNvSpPr/>
          <p:nvPr/>
        </p:nvSpPr>
        <p:spPr>
          <a:xfrm>
            <a:off x="457200" y="524764"/>
            <a:ext cx="508000" cy="508000"/>
          </a:xfrm>
          <a:prstGeom prst="roundRect">
            <a:avLst>
              <a:gd name="adj" fmla="val 22000"/>
            </a:avLst>
          </a:prstGeom>
          <a:solidFill>
            <a:srgbClr val="F4B336"/>
          </a:solidFill>
          <a:ln>
            <a:noFill/>
          </a:ln>
        </p:spPr>
        <p:txBody>
          <a:bodyPr wrap="none" lIns="0" tIns="0" rIns="0" bIns="0" rtlCol="0" anchor="ctr">
            <a:noAutofit/>
          </a:bodyPr>
          <a:lstStyle/>
          <a:p>
            <a:pPr algn="ctr"/>
            <a:r>
              <a:rPr lang="en-US" sz="2000" b="1" dirty="0">
                <a:solidFill>
                  <a:srgbClr val="062F5C"/>
                </a:solidFill>
              </a:rPr>
              <a:t>02</a:t>
            </a:r>
          </a:p>
        </p:txBody>
      </p:sp>
      <p:sp>
        <p:nvSpPr>
          <p:cNvPr id="200" name="Ex card image"/>
          <p:cNvSpPr/>
          <p:nvPr/>
        </p:nvSpPr>
        <p:spPr>
          <a:xfrm>
            <a:off x="457200" y="1143000"/>
            <a:ext cx="3048000" cy="4495800"/>
          </a:xfrm>
          <a:prstGeom prst="roundRect">
            <a:avLst>
              <a:gd name="adj" fmla="val 643"/>
            </a:avLst>
          </a:prstGeom>
          <a:solidFill>
            <a:srgbClr val="FFFFFF"/>
          </a:solidFill>
          <a:ln>
            <a:noFill/>
          </a:ln>
        </p:spPr>
        <p:txBody>
          <a:bodyPr/>
          <a:lstStyle/>
          <a:p>
            <a:endParaRPr lang="en-US"/>
          </a:p>
        </p:txBody>
      </p:sp>
      <p:sp>
        <p:nvSpPr>
          <p:cNvPr id="201" name="Ex image bg"/>
          <p:cNvSpPr/>
          <p:nvPr/>
        </p:nvSpPr>
        <p:spPr>
          <a:xfrm>
            <a:off x="609600" y="1295400"/>
            <a:ext cx="2743200" cy="3225800"/>
          </a:xfrm>
          <a:prstGeom prst="roundRect">
            <a:avLst>
              <a:gd name="adj" fmla="val 1543"/>
            </a:avLst>
          </a:prstGeom>
          <a:solidFill>
            <a:srgbClr val="EEF2F6"/>
          </a:solidFill>
          <a:ln>
            <a:noFill/>
          </a:ln>
        </p:spPr>
        <p:txBody>
          <a:bodyPr/>
          <a:lstStyle/>
          <a:p>
            <a:endParaRPr lang="en-US"/>
          </a:p>
        </p:txBody>
      </p:sp>
      <p:sp>
        <p:nvSpPr>
          <p:cNvPr id="202" name="Ex caption"/>
          <p:cNvSpPr txBox="1"/>
          <p:nvPr/>
        </p:nvSpPr>
        <p:spPr>
          <a:xfrm>
            <a:off x="609600" y="4597400"/>
            <a:ext cx="2743200" cy="889000"/>
          </a:xfrm>
          <a:prstGeom prst="rect">
            <a:avLst/>
          </a:prstGeom>
          <a:noFill/>
          <a:ln>
            <a:noFill/>
          </a:ln>
        </p:spPr>
        <p:txBody>
          <a:bodyPr wrap="square" lIns="0" tIns="0" rIns="0" bIns="0" rtlCol="0" anchor="t">
            <a:noAutofit/>
          </a:bodyPr>
          <a:lstStyle/>
          <a:p>
            <a:pPr marL="0" indent="0">
              <a:lnSpc>
                <a:spcPct val="105000"/>
              </a:lnSpc>
              <a:spcAft>
                <a:spcPts val="100"/>
              </a:spcAft>
              <a:buNone/>
            </a:pPr>
            <a:r>
              <a:rPr lang="vi-VN" sz="1200" i="1" dirty="0">
                <a:solidFill>
                  <a:srgbClr val="344054"/>
                </a:solidFill>
              </a:rPr>
              <a:t>Hình 2.3. Màn hình mở khóa bằng Face ID</a:t>
            </a:r>
          </a:p>
          <a:p>
            <a:pPr marL="0" indent="0">
              <a:lnSpc>
                <a:spcPct val="105000"/>
              </a:lnSpc>
              <a:spcAft>
                <a:spcPts val="0"/>
              </a:spcAft>
              <a:buNone/>
            </a:pPr>
            <a:r>
              <a:rPr lang="vi-VN" sz="1100" i="1" dirty="0">
                <a:solidFill>
                  <a:srgbClr val="475467"/>
                </a:solidFill>
              </a:rPr>
              <a:t>Nguồn: Apple Support (support.apple.com)</a:t>
            </a:r>
          </a:p>
        </p:txBody>
      </p:sp>
      <p:sp>
        <p:nvSpPr>
          <p:cNvPr id="203" name="Ex card text"/>
          <p:cNvSpPr/>
          <p:nvPr/>
        </p:nvSpPr>
        <p:spPr>
          <a:xfrm>
            <a:off x="3657600" y="1143000"/>
            <a:ext cx="8077200" cy="4495800"/>
          </a:xfrm>
          <a:prstGeom prst="roundRect">
            <a:avLst>
              <a:gd name="adj" fmla="val 643"/>
            </a:avLst>
          </a:prstGeom>
          <a:solidFill>
            <a:srgbClr val="FFFFFF"/>
          </a:solidFill>
          <a:ln>
            <a:noFill/>
          </a:ln>
        </p:spPr>
        <p:txBody>
          <a:bodyPr/>
          <a:lstStyle/>
          <a:p>
            <a:endParaRPr lang="en-US"/>
          </a:p>
        </p:txBody>
      </p:sp>
      <p:sp>
        <p:nvSpPr>
          <p:cNvPr id="204" name="Ex name"/>
          <p:cNvSpPr txBox="1"/>
          <p:nvPr/>
        </p:nvSpPr>
        <p:spPr>
          <a:xfrm>
            <a:off x="3886200" y="1244600"/>
            <a:ext cx="7620000" cy="681736"/>
          </a:xfrm>
          <a:prstGeom prst="rect">
            <a:avLst/>
          </a:prstGeom>
          <a:noFill/>
          <a:ln>
            <a:noFill/>
          </a:ln>
        </p:spPr>
        <p:txBody>
          <a:bodyPr wrap="square" lIns="0" tIns="0" rIns="0" bIns="0" rtlCol="0" anchor="t">
            <a:noAutofit/>
          </a:bodyPr>
          <a:lstStyle/>
          <a:p>
            <a:pPr marL="0" indent="0">
              <a:lnSpc>
                <a:spcPct val="100000"/>
              </a:lnSpc>
              <a:spcAft>
                <a:spcPts val="0"/>
              </a:spcAft>
              <a:buNone/>
            </a:pPr>
            <a:r>
              <a:rPr lang="vi-VN" sz="2200" b="1" dirty="0">
                <a:solidFill>
                  <a:srgbClr val="1677B8"/>
                </a:solidFill>
              </a:rPr>
              <a:t>Ví dụ 2.3: </a:t>
            </a:r>
            <a:r>
              <a:rPr lang="vi-VN" sz="2200" b="1" dirty="0">
                <a:solidFill>
                  <a:srgbClr val="062F5C"/>
                </a:solidFill>
              </a:rPr>
              <a:t>Phản hồi rung (Haptic Feedback) kết hợp âm thanh khi quét vân tay/Face ID</a:t>
            </a:r>
          </a:p>
        </p:txBody>
      </p:sp>
      <p:sp>
        <p:nvSpPr>
          <p:cNvPr id="205" name="Ex body"/>
          <p:cNvSpPr txBox="1"/>
          <p:nvPr/>
        </p:nvSpPr>
        <p:spPr>
          <a:xfrm>
            <a:off x="3886200" y="2002536"/>
            <a:ext cx="7620000" cy="3534664"/>
          </a:xfrm>
          <a:prstGeom prst="rect">
            <a:avLst/>
          </a:prstGeom>
          <a:noFill/>
          <a:ln>
            <a:noFill/>
          </a:ln>
        </p:spPr>
        <p:txBody>
          <a:bodyPr wrap="square" lIns="0" tIns="0" rIns="0" bIns="0" rtlCol="0" anchor="t">
            <a:noAutofit/>
          </a:bodyPr>
          <a:lstStyle/>
          <a:p>
            <a:pPr marL="0" indent="0">
              <a:lnSpc>
                <a:spcPct val="98000"/>
              </a:lnSpc>
              <a:spcAft>
                <a:spcPts val="300"/>
              </a:spcAft>
              <a:buNone/>
            </a:pPr>
            <a:r>
              <a:rPr lang="vi-VN" sz="2000" b="1" dirty="0"/>
              <a:t>Là gì, có gì:</a:t>
            </a:r>
            <a:br>
              <a:rPr lang="vi-VN" sz="2000" b="1" dirty="0">
                <a:solidFill>
                  <a:srgbClr val="667085"/>
                </a:solidFill>
              </a:rPr>
            </a:br>
            <a:r>
              <a:rPr lang="vi-VN" sz="2000" dirty="0">
                <a:solidFill>
                  <a:srgbClr val="344054"/>
                </a:solidFill>
              </a:rPr>
              <a:t>Khi mở khóa điện thoại bằng vân tay hoặc Face ID thành công, thiết bị phát ra một rung động ngắn kèm âm thanh nhẹ và hiệu ứng hình ảnh (icon khóa mở ra).</a:t>
            </a:r>
          </a:p>
          <a:p>
            <a:pPr marL="0" indent="0">
              <a:lnSpc>
                <a:spcPct val="98000"/>
              </a:lnSpc>
              <a:spcAft>
                <a:spcPts val="0"/>
              </a:spcAft>
              <a:buNone/>
            </a:pPr>
            <a:r>
              <a:rPr lang="vi-VN" sz="2000" b="1" dirty="0"/>
              <a:t>Liên hệ đặc điểm nhận thức:</a:t>
            </a:r>
            <a:br>
              <a:rPr lang="vi-VN" sz="2000" b="1" dirty="0">
                <a:solidFill>
                  <a:srgbClr val="667085"/>
                </a:solidFill>
              </a:rPr>
            </a:br>
            <a:r>
              <a:rPr lang="vi-VN" sz="2000" dirty="0">
                <a:solidFill>
                  <a:srgbClr val="344054"/>
                </a:solidFill>
              </a:rPr>
              <a:t>Minh họa cho việc tri giác gắn liền với nhiều giác quan và quá trình nhận thức khác (Đặc điểm 1) — </a:t>
            </a:r>
            <a:r>
              <a:rPr lang="vi-VN" sz="2000" b="1" dirty="0">
                <a:solidFill>
                  <a:srgbClr val="344054"/>
                </a:solidFill>
              </a:rPr>
              <a:t>ba kênh giác quan </a:t>
            </a:r>
            <a:r>
              <a:rPr lang="vi-VN" sz="2000" dirty="0">
                <a:solidFill>
                  <a:srgbClr val="344054"/>
                </a:solidFill>
              </a:rPr>
              <a:t>(xúc giác, thính giác, thị giác) cùng xác nhận một thông tin giúp người dùng chắc chắn hành động đã thành công.</a:t>
            </a:r>
          </a:p>
        </p:txBody>
      </p:sp>
      <p:sp>
        <p:nvSpPr>
          <p:cNvPr id="206" name="Ex lesson bg"/>
          <p:cNvSpPr/>
          <p:nvPr/>
        </p:nvSpPr>
        <p:spPr>
          <a:xfrm>
            <a:off x="457200" y="5715000"/>
            <a:ext cx="11277600" cy="635000"/>
          </a:xfrm>
          <a:prstGeom prst="rect">
            <a:avLst/>
          </a:prstGeom>
          <a:solidFill>
            <a:srgbClr val="EAF5EF"/>
          </a:solidFill>
          <a:ln>
            <a:noFill/>
          </a:ln>
        </p:spPr>
        <p:txBody>
          <a:bodyPr/>
          <a:lstStyle/>
          <a:p>
            <a:endParaRPr lang="en-US"/>
          </a:p>
        </p:txBody>
      </p:sp>
      <p:sp>
        <p:nvSpPr>
          <p:cNvPr id="207" name="Ex lesson bar"/>
          <p:cNvSpPr/>
          <p:nvPr/>
        </p:nvSpPr>
        <p:spPr>
          <a:xfrm>
            <a:off x="457200" y="5715000"/>
            <a:ext cx="50800" cy="635000"/>
          </a:xfrm>
          <a:prstGeom prst="rect">
            <a:avLst/>
          </a:prstGeom>
          <a:solidFill>
            <a:srgbClr val="2E9B67"/>
          </a:solidFill>
          <a:ln>
            <a:noFill/>
          </a:ln>
        </p:spPr>
        <p:txBody>
          <a:bodyPr/>
          <a:lstStyle/>
          <a:p>
            <a:endParaRPr lang="en-US"/>
          </a:p>
        </p:txBody>
      </p:sp>
      <p:sp>
        <p:nvSpPr>
          <p:cNvPr id="208" name="Ex lesson"/>
          <p:cNvSpPr txBox="1"/>
          <p:nvPr/>
        </p:nvSpPr>
        <p:spPr>
          <a:xfrm>
            <a:off x="685800" y="5715000"/>
            <a:ext cx="10820400" cy="635000"/>
          </a:xfrm>
          <a:prstGeom prst="rect">
            <a:avLst/>
          </a:prstGeom>
          <a:noFill/>
          <a:ln>
            <a:noFill/>
          </a:ln>
        </p:spPr>
        <p:txBody>
          <a:bodyPr wrap="square" lIns="0" tIns="0" rIns="0" bIns="0" rtlCol="0" anchor="ctr">
            <a:noAutofit/>
          </a:bodyPr>
          <a:lstStyle/>
          <a:p>
            <a:pPr marL="0" indent="0">
              <a:lnSpc>
                <a:spcPct val="100000"/>
              </a:lnSpc>
              <a:spcAft>
                <a:spcPts val="0"/>
              </a:spcAft>
              <a:buNone/>
            </a:pPr>
            <a:r>
              <a:rPr lang="vi-VN" sz="1700" b="1" dirty="0">
                <a:solidFill>
                  <a:srgbClr val="1E7F53"/>
                </a:solidFill>
              </a:rPr>
              <a:t>Bài học: </a:t>
            </a:r>
            <a:r>
              <a:rPr lang="vi-VN" sz="1700" b="1" dirty="0">
                <a:solidFill>
                  <a:srgbClr val="062F5C"/>
                </a:solidFill>
              </a:rPr>
              <a:t>Với các hành động quan trọng, nên thiết kế phản hồi rõ ràng, có thể phân biệt được qua nhiều kênh giác quan cùng lúc, đúng theo lời khuyên thiết kế về tactile feedback trong sách.</a:t>
            </a:r>
          </a:p>
        </p:txBody>
      </p:sp>
      <p:pic>
        <p:nvPicPr>
          <p:cNvPr id="3" name="Ex image">
            <a:extLst>
              <a:ext uri="{FF2B5EF4-FFF2-40B4-BE49-F238E27FC236}">
                <a16:creationId xmlns:a16="http://schemas.microsoft.com/office/drawing/2014/main" id="{937F43A1-7C62-9560-6082-49FE7C130859}"/>
              </a:ext>
            </a:extLst>
          </p:cNvPr>
          <p:cNvPicPr>
            <a:picLocks noChangeAspect="1"/>
          </p:cNvPicPr>
          <p:nvPr/>
        </p:nvPicPr>
        <p:blipFill>
          <a:blip r:embed="rId3"/>
          <a:srcRect l="29925" r="21860"/>
          <a:stretch>
            <a:fillRect/>
          </a:stretch>
        </p:blipFill>
        <p:spPr>
          <a:xfrm>
            <a:off x="683078" y="1393825"/>
            <a:ext cx="2596244" cy="3028951"/>
          </a:xfrm>
          <a:prstGeom prst="rect">
            <a:avLst/>
          </a:prstGeom>
        </p:spPr>
      </p:pic>
      <p:sp>
        <p:nvSpPr>
          <p:cNvPr id="209" name="Ex badge"/>
          <p:cNvSpPr/>
          <p:nvPr/>
        </p:nvSpPr>
        <p:spPr>
          <a:xfrm>
            <a:off x="711200" y="1397000"/>
            <a:ext cx="381000" cy="381000"/>
          </a:xfrm>
          <a:prstGeom prst="ellipse">
            <a:avLst/>
          </a:prstGeom>
          <a:solidFill>
            <a:srgbClr val="073B6F"/>
          </a:solidFill>
          <a:ln w="28575">
            <a:solidFill>
              <a:srgbClr val="F4B336"/>
            </a:solidFill>
          </a:ln>
        </p:spPr>
        <p:txBody>
          <a:bodyPr/>
          <a:lstStyle/>
          <a:p>
            <a:endParaRPr lang="en-US"/>
          </a:p>
        </p:txBody>
      </p:sp>
      <p:sp>
        <p:nvSpPr>
          <p:cNvPr id="210" name="Ex badge num"/>
          <p:cNvSpPr txBox="1"/>
          <p:nvPr/>
        </p:nvSpPr>
        <p:spPr>
          <a:xfrm>
            <a:off x="711200" y="1397000"/>
            <a:ext cx="381000" cy="381000"/>
          </a:xfrm>
          <a:prstGeom prst="rect">
            <a:avLst/>
          </a:prstGeom>
          <a:noFill/>
          <a:ln>
            <a:noFill/>
          </a:ln>
        </p:spPr>
        <p:txBody>
          <a:bodyPr wrap="square" lIns="0" tIns="0" rIns="0" bIns="0" rtlCol="0" anchor="ctr">
            <a:noAutofit/>
          </a:bodyPr>
          <a:lstStyle/>
          <a:p>
            <a:pPr marL="0" indent="0" algn="ctr">
              <a:buNone/>
            </a:pPr>
            <a:r>
              <a:rPr lang="vi-VN" sz="1000" b="1" dirty="0">
                <a:solidFill>
                  <a:srgbClr val="FFFFFF"/>
                </a:solidFill>
              </a:rPr>
              <a:t>2.3</a:t>
            </a:r>
          </a:p>
        </p:txBody>
      </p:sp>
    </p:spTree>
    <p:extLst>
      <p:ext uri="{BB962C8B-B14F-4D97-AF65-F5344CB8AC3E}">
        <p14:creationId xmlns:p14="http://schemas.microsoft.com/office/powerpoint/2010/main" val="36285197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7">
    <p:bg>
      <p:bgPr>
        <a:solidFill>
          <a:srgbClr val="062F5C"/>
        </a:solidFill>
        <a:effectLst/>
      </p:bgPr>
    </p:bg>
    <p:spTree>
      <p:nvGrpSpPr>
        <p:cNvPr id="1" name=""/>
        <p:cNvGrpSpPr/>
        <p:nvPr/>
      </p:nvGrpSpPr>
      <p:grpSpPr>
        <a:xfrm>
          <a:off x="0" y="0"/>
          <a:ext cx="0" cy="0"/>
          <a:chOff x="0" y="0"/>
          <a:chExt cx="0" cy="0"/>
        </a:xfrm>
      </p:grpSpPr>
      <p:sp>
        <p:nvSpPr>
          <p:cNvPr id="35" name="Decor 36"/>
          <p:cNvSpPr/>
          <p:nvPr/>
        </p:nvSpPr>
        <p:spPr>
          <a:xfrm>
            <a:off x="-2413000" y="2794000"/>
            <a:ext cx="4826000" cy="4826000"/>
          </a:xfrm>
          <a:prstGeom prst="ellipse">
            <a:avLst/>
          </a:prstGeom>
          <a:solidFill>
            <a:srgbClr val="FFFFFF">
              <a:alpha val="9000"/>
            </a:srgbClr>
          </a:solidFill>
          <a:ln>
            <a:noFill/>
          </a:ln>
        </p:spPr>
        <p:txBody>
          <a:bodyPr/>
          <a:lstStyle/>
          <a:p>
            <a:endParaRPr lang="en-US"/>
          </a:p>
        </p:txBody>
      </p:sp>
      <p:sp>
        <p:nvSpPr>
          <p:cNvPr id="36" name="Decor 37"/>
          <p:cNvSpPr/>
          <p:nvPr/>
        </p:nvSpPr>
        <p:spPr>
          <a:xfrm rot="1800000">
            <a:off x="9779000" y="-1143000"/>
            <a:ext cx="3048000" cy="3048000"/>
          </a:xfrm>
          <a:prstGeom prst="rect">
            <a:avLst/>
          </a:prstGeom>
          <a:noFill/>
          <a:ln w="28575">
            <a:solidFill>
              <a:srgbClr val="FFFFFF">
                <a:alpha val="22000"/>
              </a:srgbClr>
            </a:solidFill>
          </a:ln>
        </p:spPr>
        <p:txBody>
          <a:bodyPr/>
          <a:lstStyle/>
          <a:p>
            <a:endParaRPr lang="en-US"/>
          </a:p>
        </p:txBody>
      </p:sp>
      <p:sp>
        <p:nvSpPr>
          <p:cNvPr id="37" name="Decor 38"/>
          <p:cNvSpPr/>
          <p:nvPr/>
        </p:nvSpPr>
        <p:spPr>
          <a:xfrm>
            <a:off x="11912600" y="6553200"/>
            <a:ext cx="177800" cy="177800"/>
          </a:xfrm>
          <a:prstGeom prst="ellipse">
            <a:avLst/>
          </a:prstGeom>
          <a:solidFill>
            <a:srgbClr val="F4B336">
              <a:alpha val="35000"/>
            </a:srgbClr>
          </a:solidFill>
          <a:ln>
            <a:noFill/>
          </a:ln>
        </p:spPr>
        <p:txBody>
          <a:bodyPr/>
          <a:lstStyle/>
          <a:p>
            <a:endParaRPr lang="en-US"/>
          </a:p>
        </p:txBody>
      </p:sp>
      <p:sp>
        <p:nvSpPr>
          <p:cNvPr id="2" name="Text 1"/>
          <p:cNvSpPr>
            <a:spLocks noGrp="1"/>
          </p:cNvSpPr>
          <p:nvPr>
            <p:ph type="title" idx="101" hasCustomPrompt="1"/>
          </p:nvPr>
        </p:nvSpPr>
        <p:spPr>
          <a:xfrm>
            <a:off x="1168400" y="512064"/>
            <a:ext cx="10566400" cy="512064"/>
          </a:xfrm>
          <a:prstGeom prst="rect">
            <a:avLst/>
          </a:prstGeom>
          <a:noFill/>
          <a:ln/>
        </p:spPr>
        <p:txBody>
          <a:bodyPr wrap="square" lIns="0" tIns="0" rIns="0" bIns="0" rtlCol="0" anchor="t"/>
          <a:lstStyle/>
          <a:p>
            <a:pPr marL="0" indent="0" algn="l">
              <a:buNone/>
            </a:pPr>
            <a:r>
              <a:rPr lang="en-US" sz="3000" b="1" dirty="0">
                <a:solidFill>
                  <a:srgbClr val="FFFFFF"/>
                </a:solidFill>
              </a:rPr>
              <a:t>Tri giác — Ví dụ 2.5</a:t>
            </a:r>
            <a:endParaRPr lang="en-US" sz="2800" dirty="0">
              <a:solidFill>
                <a:srgbClr val="FFFFFF"/>
              </a:solidFill>
            </a:endParaRPr>
          </a:p>
        </p:txBody>
      </p:sp>
      <p:sp>
        <p:nvSpPr>
          <p:cNvPr id="34" name="Topic badge"/>
          <p:cNvSpPr/>
          <p:nvPr/>
        </p:nvSpPr>
        <p:spPr>
          <a:xfrm>
            <a:off x="457200" y="524764"/>
            <a:ext cx="508000" cy="508000"/>
          </a:xfrm>
          <a:prstGeom prst="roundRect">
            <a:avLst>
              <a:gd name="adj" fmla="val 22000"/>
            </a:avLst>
          </a:prstGeom>
          <a:solidFill>
            <a:srgbClr val="F4B336"/>
          </a:solidFill>
          <a:ln>
            <a:noFill/>
          </a:ln>
        </p:spPr>
        <p:txBody>
          <a:bodyPr wrap="none" lIns="0" tIns="0" rIns="0" bIns="0" rtlCol="0" anchor="ctr">
            <a:noAutofit/>
          </a:bodyPr>
          <a:lstStyle/>
          <a:p>
            <a:pPr algn="ctr"/>
            <a:r>
              <a:rPr lang="en-US" sz="2000" b="1" dirty="0">
                <a:solidFill>
                  <a:srgbClr val="062F5C"/>
                </a:solidFill>
              </a:rPr>
              <a:t>02</a:t>
            </a:r>
          </a:p>
        </p:txBody>
      </p:sp>
      <p:sp>
        <p:nvSpPr>
          <p:cNvPr id="200" name="Ex card image"/>
          <p:cNvSpPr/>
          <p:nvPr/>
        </p:nvSpPr>
        <p:spPr>
          <a:xfrm>
            <a:off x="457200" y="1143000"/>
            <a:ext cx="3048000" cy="4495800"/>
          </a:xfrm>
          <a:prstGeom prst="roundRect">
            <a:avLst>
              <a:gd name="adj" fmla="val 643"/>
            </a:avLst>
          </a:prstGeom>
          <a:solidFill>
            <a:srgbClr val="FFFFFF"/>
          </a:solidFill>
          <a:ln>
            <a:noFill/>
          </a:ln>
        </p:spPr>
        <p:txBody>
          <a:bodyPr/>
          <a:lstStyle/>
          <a:p>
            <a:endParaRPr lang="en-US"/>
          </a:p>
        </p:txBody>
      </p:sp>
      <p:sp>
        <p:nvSpPr>
          <p:cNvPr id="201" name="Ex image bg"/>
          <p:cNvSpPr/>
          <p:nvPr/>
        </p:nvSpPr>
        <p:spPr>
          <a:xfrm>
            <a:off x="609600" y="1295400"/>
            <a:ext cx="2743200" cy="3225800"/>
          </a:xfrm>
          <a:prstGeom prst="roundRect">
            <a:avLst>
              <a:gd name="adj" fmla="val 1543"/>
            </a:avLst>
          </a:prstGeom>
          <a:solidFill>
            <a:srgbClr val="EEF2F6"/>
          </a:solidFill>
          <a:ln>
            <a:noFill/>
          </a:ln>
        </p:spPr>
        <p:txBody>
          <a:bodyPr/>
          <a:lstStyle/>
          <a:p>
            <a:endParaRPr lang="en-US"/>
          </a:p>
        </p:txBody>
      </p:sp>
      <p:sp>
        <p:nvSpPr>
          <p:cNvPr id="202" name="Ex caption"/>
          <p:cNvSpPr txBox="1"/>
          <p:nvPr/>
        </p:nvSpPr>
        <p:spPr>
          <a:xfrm>
            <a:off x="609600" y="4597400"/>
            <a:ext cx="2743200" cy="889000"/>
          </a:xfrm>
          <a:prstGeom prst="rect">
            <a:avLst/>
          </a:prstGeom>
          <a:noFill/>
          <a:ln>
            <a:noFill/>
          </a:ln>
        </p:spPr>
        <p:txBody>
          <a:bodyPr wrap="square" lIns="0" tIns="0" rIns="0" bIns="0" rtlCol="0" anchor="t">
            <a:noAutofit/>
          </a:bodyPr>
          <a:lstStyle/>
          <a:p>
            <a:pPr marL="0" indent="0">
              <a:lnSpc>
                <a:spcPct val="105000"/>
              </a:lnSpc>
              <a:spcAft>
                <a:spcPts val="100"/>
              </a:spcAft>
              <a:buNone/>
            </a:pPr>
            <a:r>
              <a:rPr lang="vi-VN" sz="1200" i="1" dirty="0">
                <a:solidFill>
                  <a:srgbClr val="344054"/>
                </a:solidFill>
              </a:rPr>
              <a:t>Hình 2.5. Thanh điều hướng dưới cùng của ứng dụng Grab</a:t>
            </a:r>
          </a:p>
          <a:p>
            <a:pPr marL="0" indent="0">
              <a:lnSpc>
                <a:spcPct val="105000"/>
              </a:lnSpc>
              <a:spcAft>
                <a:spcPts val="0"/>
              </a:spcAft>
              <a:buNone/>
            </a:pPr>
            <a:r>
              <a:rPr lang="vi-VN" sz="1100" i="1" dirty="0">
                <a:solidFill>
                  <a:srgbClr val="475467"/>
                </a:solidFill>
              </a:rPr>
              <a:t>Nguồn: Grab</a:t>
            </a:r>
          </a:p>
        </p:txBody>
      </p:sp>
      <p:sp>
        <p:nvSpPr>
          <p:cNvPr id="203" name="Ex card text"/>
          <p:cNvSpPr/>
          <p:nvPr/>
        </p:nvSpPr>
        <p:spPr>
          <a:xfrm>
            <a:off x="3657600" y="1143000"/>
            <a:ext cx="8077200" cy="4495800"/>
          </a:xfrm>
          <a:prstGeom prst="roundRect">
            <a:avLst>
              <a:gd name="adj" fmla="val 643"/>
            </a:avLst>
          </a:prstGeom>
          <a:solidFill>
            <a:srgbClr val="FFFFFF"/>
          </a:solidFill>
          <a:ln>
            <a:noFill/>
          </a:ln>
        </p:spPr>
        <p:txBody>
          <a:bodyPr/>
          <a:lstStyle/>
          <a:p>
            <a:endParaRPr lang="en-US"/>
          </a:p>
        </p:txBody>
      </p:sp>
      <p:sp>
        <p:nvSpPr>
          <p:cNvPr id="204" name="Ex name"/>
          <p:cNvSpPr txBox="1"/>
          <p:nvPr/>
        </p:nvSpPr>
        <p:spPr>
          <a:xfrm>
            <a:off x="3886200" y="1244600"/>
            <a:ext cx="7620000" cy="681736"/>
          </a:xfrm>
          <a:prstGeom prst="rect">
            <a:avLst/>
          </a:prstGeom>
          <a:noFill/>
          <a:ln>
            <a:noFill/>
          </a:ln>
        </p:spPr>
        <p:txBody>
          <a:bodyPr wrap="square" lIns="0" tIns="0" rIns="0" bIns="0" rtlCol="0" anchor="t">
            <a:noAutofit/>
          </a:bodyPr>
          <a:lstStyle/>
          <a:p>
            <a:pPr marL="0" indent="0">
              <a:lnSpc>
                <a:spcPct val="100000"/>
              </a:lnSpc>
              <a:spcAft>
                <a:spcPts val="0"/>
              </a:spcAft>
              <a:buNone/>
            </a:pPr>
            <a:r>
              <a:rPr lang="vi-VN" sz="2200" b="1" dirty="0">
                <a:solidFill>
                  <a:srgbClr val="1677B8"/>
                </a:solidFill>
              </a:rPr>
              <a:t>Ví dụ 2.5: </a:t>
            </a:r>
            <a:r>
              <a:rPr lang="vi-VN" sz="2200" b="1" dirty="0">
                <a:solidFill>
                  <a:srgbClr val="062F5C"/>
                </a:solidFill>
              </a:rPr>
              <a:t>Biểu tượng và nhãn kết hợp (Icon + Label) trong thanh điều hướng của Shopee/Grab</a:t>
            </a:r>
          </a:p>
        </p:txBody>
      </p:sp>
      <p:sp>
        <p:nvSpPr>
          <p:cNvPr id="205" name="Ex body"/>
          <p:cNvSpPr txBox="1"/>
          <p:nvPr/>
        </p:nvSpPr>
        <p:spPr>
          <a:xfrm>
            <a:off x="3886200" y="2002536"/>
            <a:ext cx="7620000" cy="3534664"/>
          </a:xfrm>
          <a:prstGeom prst="rect">
            <a:avLst/>
          </a:prstGeom>
          <a:noFill/>
          <a:ln>
            <a:noFill/>
          </a:ln>
        </p:spPr>
        <p:txBody>
          <a:bodyPr wrap="square" lIns="0" tIns="0" rIns="0" bIns="0" rtlCol="0" anchor="t">
            <a:noAutofit/>
          </a:bodyPr>
          <a:lstStyle/>
          <a:p>
            <a:pPr marL="0" indent="0">
              <a:lnSpc>
                <a:spcPct val="98000"/>
              </a:lnSpc>
              <a:spcAft>
                <a:spcPts val="300"/>
              </a:spcAft>
              <a:buNone/>
            </a:pPr>
            <a:r>
              <a:rPr lang="vi-VN" sz="2000" b="1" dirty="0"/>
              <a:t>Là gì, có gì:</a:t>
            </a:r>
            <a:br>
              <a:rPr lang="vi-VN" sz="2000" b="1" dirty="0">
                <a:solidFill>
                  <a:srgbClr val="667085"/>
                </a:solidFill>
              </a:rPr>
            </a:br>
            <a:r>
              <a:rPr lang="vi-VN" sz="2000" dirty="0">
                <a:solidFill>
                  <a:srgbClr val="344054"/>
                </a:solidFill>
              </a:rPr>
              <a:t>Thanh điều hướng dưới cùng của ứng dụng gồm các icon (Trang chủ, Thông báo, Giỏ hàng, Tài khoản) đi kèm nhãn chữ ngắn gọn bên dưới mỗi icon.</a:t>
            </a:r>
          </a:p>
          <a:p>
            <a:pPr marL="0" indent="0">
              <a:lnSpc>
                <a:spcPct val="98000"/>
              </a:lnSpc>
              <a:spcAft>
                <a:spcPts val="0"/>
              </a:spcAft>
              <a:buNone/>
            </a:pPr>
            <a:r>
              <a:rPr lang="vi-VN" sz="2000" b="1" dirty="0"/>
              <a:t>Liên hệ đặc điểm nhận thức:</a:t>
            </a:r>
            <a:br>
              <a:rPr lang="vi-VN" sz="2000" b="1" dirty="0">
                <a:solidFill>
                  <a:srgbClr val="667085"/>
                </a:solidFill>
              </a:rPr>
            </a:br>
            <a:r>
              <a:rPr lang="vi-VN" sz="2000" dirty="0">
                <a:solidFill>
                  <a:srgbClr val="344054"/>
                </a:solidFill>
              </a:rPr>
              <a:t>Áp dụng đúng lời khuyên thiết kế "Icons... should enable users to readily distinguish their meaning" — </a:t>
            </a:r>
            <a:r>
              <a:rPr lang="vi-VN" sz="2000" b="1" dirty="0">
                <a:solidFill>
                  <a:srgbClr val="344054"/>
                </a:solidFill>
              </a:rPr>
              <a:t>kết hợp icon với nhãn </a:t>
            </a:r>
            <a:r>
              <a:rPr lang="vi-VN" sz="2000" dirty="0">
                <a:solidFill>
                  <a:srgbClr val="344054"/>
                </a:solidFill>
              </a:rPr>
              <a:t>chữ giúp người dùng phân biệt ý nghĩa nhanh và chính xác hơn icon đơn lẻ.</a:t>
            </a:r>
          </a:p>
        </p:txBody>
      </p:sp>
      <p:sp>
        <p:nvSpPr>
          <p:cNvPr id="206" name="Ex lesson bg"/>
          <p:cNvSpPr/>
          <p:nvPr/>
        </p:nvSpPr>
        <p:spPr>
          <a:xfrm>
            <a:off x="457200" y="5715000"/>
            <a:ext cx="11277600" cy="635000"/>
          </a:xfrm>
          <a:prstGeom prst="rect">
            <a:avLst/>
          </a:prstGeom>
          <a:solidFill>
            <a:srgbClr val="EAF5EF"/>
          </a:solidFill>
          <a:ln>
            <a:noFill/>
          </a:ln>
        </p:spPr>
        <p:txBody>
          <a:bodyPr/>
          <a:lstStyle/>
          <a:p>
            <a:endParaRPr lang="en-US"/>
          </a:p>
        </p:txBody>
      </p:sp>
      <p:sp>
        <p:nvSpPr>
          <p:cNvPr id="207" name="Ex lesson bar"/>
          <p:cNvSpPr/>
          <p:nvPr/>
        </p:nvSpPr>
        <p:spPr>
          <a:xfrm>
            <a:off x="457200" y="5715000"/>
            <a:ext cx="50800" cy="635000"/>
          </a:xfrm>
          <a:prstGeom prst="rect">
            <a:avLst/>
          </a:prstGeom>
          <a:solidFill>
            <a:srgbClr val="2E9B67"/>
          </a:solidFill>
          <a:ln>
            <a:noFill/>
          </a:ln>
        </p:spPr>
        <p:txBody>
          <a:bodyPr/>
          <a:lstStyle/>
          <a:p>
            <a:endParaRPr lang="en-US"/>
          </a:p>
        </p:txBody>
      </p:sp>
      <p:sp>
        <p:nvSpPr>
          <p:cNvPr id="208" name="Ex lesson"/>
          <p:cNvSpPr txBox="1"/>
          <p:nvPr/>
        </p:nvSpPr>
        <p:spPr>
          <a:xfrm>
            <a:off x="685800" y="5715000"/>
            <a:ext cx="10820400" cy="635000"/>
          </a:xfrm>
          <a:prstGeom prst="rect">
            <a:avLst/>
          </a:prstGeom>
          <a:noFill/>
          <a:ln>
            <a:noFill/>
          </a:ln>
        </p:spPr>
        <p:txBody>
          <a:bodyPr wrap="square" lIns="0" tIns="0" rIns="0" bIns="0" rtlCol="0" anchor="ctr">
            <a:noAutofit/>
          </a:bodyPr>
          <a:lstStyle/>
          <a:p>
            <a:pPr marL="0" indent="0">
              <a:lnSpc>
                <a:spcPct val="100000"/>
              </a:lnSpc>
              <a:spcAft>
                <a:spcPts val="0"/>
              </a:spcAft>
              <a:buNone/>
            </a:pPr>
            <a:r>
              <a:rPr lang="vi-VN" sz="1800" b="1" dirty="0">
                <a:solidFill>
                  <a:srgbClr val="1E7F53"/>
                </a:solidFill>
              </a:rPr>
              <a:t>Bài học: </a:t>
            </a:r>
            <a:r>
              <a:rPr lang="vi-VN" sz="1800" b="1" dirty="0">
                <a:solidFill>
                  <a:srgbClr val="062F5C"/>
                </a:solidFill>
              </a:rPr>
              <a:t>Với các icon không hoàn toàn phổ quát hoặc mới lạ, nên kết hợp thêm nhãn chữ ngắn để đảm bảo mọi đối tượng người dùng đều tri giác đúng chức năng.</a:t>
            </a:r>
          </a:p>
        </p:txBody>
      </p:sp>
      <p:pic>
        <p:nvPicPr>
          <p:cNvPr id="3" name="Ex image">
            <a:extLst>
              <a:ext uri="{FF2B5EF4-FFF2-40B4-BE49-F238E27FC236}">
                <a16:creationId xmlns:a16="http://schemas.microsoft.com/office/drawing/2014/main" id="{56AA3BA0-734E-F826-7DA6-73F9E8777B19}"/>
              </a:ext>
            </a:extLst>
          </p:cNvPr>
          <p:cNvPicPr>
            <a:picLocks noChangeAspect="1"/>
          </p:cNvPicPr>
          <p:nvPr/>
        </p:nvPicPr>
        <p:blipFill>
          <a:blip r:embed="rId3"/>
          <a:stretch>
            <a:fillRect/>
          </a:stretch>
        </p:blipFill>
        <p:spPr>
          <a:xfrm>
            <a:off x="609600" y="2658599"/>
            <a:ext cx="2743200" cy="499402"/>
          </a:xfrm>
          <a:prstGeom prst="rect">
            <a:avLst/>
          </a:prstGeom>
        </p:spPr>
      </p:pic>
      <p:sp>
        <p:nvSpPr>
          <p:cNvPr id="209" name="Ex badge"/>
          <p:cNvSpPr/>
          <p:nvPr/>
        </p:nvSpPr>
        <p:spPr>
          <a:xfrm>
            <a:off x="711200" y="1397000"/>
            <a:ext cx="381000" cy="381000"/>
          </a:xfrm>
          <a:prstGeom prst="ellipse">
            <a:avLst/>
          </a:prstGeom>
          <a:solidFill>
            <a:srgbClr val="073B6F"/>
          </a:solidFill>
          <a:ln w="28575">
            <a:solidFill>
              <a:srgbClr val="F4B336"/>
            </a:solidFill>
          </a:ln>
        </p:spPr>
        <p:txBody>
          <a:bodyPr/>
          <a:lstStyle/>
          <a:p>
            <a:endParaRPr lang="en-US"/>
          </a:p>
        </p:txBody>
      </p:sp>
      <p:sp>
        <p:nvSpPr>
          <p:cNvPr id="210" name="Ex badge num"/>
          <p:cNvSpPr txBox="1"/>
          <p:nvPr/>
        </p:nvSpPr>
        <p:spPr>
          <a:xfrm>
            <a:off x="711200" y="1397000"/>
            <a:ext cx="381000" cy="381000"/>
          </a:xfrm>
          <a:prstGeom prst="rect">
            <a:avLst/>
          </a:prstGeom>
          <a:noFill/>
          <a:ln>
            <a:noFill/>
          </a:ln>
        </p:spPr>
        <p:txBody>
          <a:bodyPr wrap="square" lIns="0" tIns="0" rIns="0" bIns="0" rtlCol="0" anchor="ctr">
            <a:noAutofit/>
          </a:bodyPr>
          <a:lstStyle/>
          <a:p>
            <a:pPr marL="0" indent="0" algn="ctr">
              <a:buNone/>
            </a:pPr>
            <a:r>
              <a:rPr lang="vi-VN" sz="1000" b="1" dirty="0">
                <a:solidFill>
                  <a:srgbClr val="FFFFFF"/>
                </a:solidFill>
              </a:rPr>
              <a:t>2.5</a:t>
            </a:r>
          </a:p>
        </p:txBody>
      </p:sp>
    </p:spTree>
    <p:extLst>
      <p:ext uri="{BB962C8B-B14F-4D97-AF65-F5344CB8AC3E}">
        <p14:creationId xmlns:p14="http://schemas.microsoft.com/office/powerpoint/2010/main" val="34679636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8">
    <p:bg>
      <p:bgPr>
        <a:solidFill>
          <a:srgbClr val="062F5C"/>
        </a:solidFill>
        <a:effectLst/>
      </p:bgPr>
    </p:bg>
    <p:spTree>
      <p:nvGrpSpPr>
        <p:cNvPr id="1" name=""/>
        <p:cNvGrpSpPr/>
        <p:nvPr/>
      </p:nvGrpSpPr>
      <p:grpSpPr>
        <a:xfrm>
          <a:off x="0" y="0"/>
          <a:ext cx="0" cy="0"/>
          <a:chOff x="0" y="0"/>
          <a:chExt cx="0" cy="0"/>
        </a:xfrm>
      </p:grpSpPr>
      <p:sp>
        <p:nvSpPr>
          <p:cNvPr id="22" name="Decor 23"/>
          <p:cNvSpPr/>
          <p:nvPr/>
        </p:nvSpPr>
        <p:spPr>
          <a:xfrm>
            <a:off x="8128000" y="-3556000"/>
            <a:ext cx="6350000" cy="6350000"/>
          </a:xfrm>
          <a:prstGeom prst="ellipse">
            <a:avLst/>
          </a:prstGeom>
          <a:noFill/>
          <a:ln w="28575">
            <a:solidFill>
              <a:srgbClr val="FFFFFF">
                <a:alpha val="22000"/>
              </a:srgbClr>
            </a:solidFill>
          </a:ln>
        </p:spPr>
        <p:txBody>
          <a:bodyPr/>
          <a:lstStyle/>
          <a:p>
            <a:endParaRPr lang="en-US"/>
          </a:p>
        </p:txBody>
      </p:sp>
      <p:sp>
        <p:nvSpPr>
          <p:cNvPr id="23" name="Decor 24"/>
          <p:cNvSpPr/>
          <p:nvPr/>
        </p:nvSpPr>
        <p:spPr>
          <a:xfrm>
            <a:off x="10795000" y="5207000"/>
            <a:ext cx="2286000" cy="2286000"/>
          </a:xfrm>
          <a:prstGeom prst="ellipse">
            <a:avLst/>
          </a:prstGeom>
          <a:solidFill>
            <a:srgbClr val="FFFFFF">
              <a:alpha val="9000"/>
            </a:srgbClr>
          </a:solidFill>
          <a:ln>
            <a:noFill/>
          </a:ln>
        </p:spPr>
        <p:txBody>
          <a:bodyPr/>
          <a:lstStyle/>
          <a:p>
            <a:endParaRPr lang="en-US"/>
          </a:p>
        </p:txBody>
      </p:sp>
      <p:sp>
        <p:nvSpPr>
          <p:cNvPr id="24" name="Decor 25"/>
          <p:cNvSpPr/>
          <p:nvPr/>
        </p:nvSpPr>
        <p:spPr>
          <a:xfrm rot="1500000">
            <a:off x="-508000" y="5969000"/>
            <a:ext cx="1524000" cy="1524000"/>
          </a:xfrm>
          <a:prstGeom prst="rect">
            <a:avLst/>
          </a:prstGeom>
          <a:noFill/>
          <a:ln w="28575">
            <a:solidFill>
              <a:srgbClr val="FFFFFF">
                <a:alpha val="22000"/>
              </a:srgbClr>
            </a:solidFill>
          </a:ln>
        </p:spPr>
        <p:txBody>
          <a:bodyPr/>
          <a:lstStyle/>
          <a:p>
            <a:endParaRPr lang="en-US"/>
          </a:p>
        </p:txBody>
      </p:sp>
      <p:sp>
        <p:nvSpPr>
          <p:cNvPr id="2" name="Text 1"/>
          <p:cNvSpPr>
            <a:spLocks noGrp="1"/>
          </p:cNvSpPr>
          <p:nvPr>
            <p:ph type="title" idx="101" hasCustomPrompt="1"/>
          </p:nvPr>
        </p:nvSpPr>
        <p:spPr>
          <a:xfrm>
            <a:off x="1168400" y="512064"/>
            <a:ext cx="10566400" cy="512064"/>
          </a:xfrm>
          <a:prstGeom prst="rect">
            <a:avLst/>
          </a:prstGeom>
          <a:noFill/>
          <a:ln/>
        </p:spPr>
        <p:txBody>
          <a:bodyPr wrap="square" lIns="0" tIns="0" rIns="0" bIns="0" rtlCol="0" anchor="t"/>
          <a:lstStyle/>
          <a:p>
            <a:pPr marL="0" indent="0" algn="l">
              <a:buNone/>
            </a:pPr>
            <a:r>
              <a:rPr lang="en-US" sz="3000" b="1" dirty="0">
                <a:solidFill>
                  <a:srgbClr val="FFFFFF"/>
                </a:solidFill>
              </a:rPr>
              <a:t>Trí nhớ, ký ức</a:t>
            </a:r>
            <a:r>
              <a:rPr lang="en-US" sz="2000" b="0" dirty="0">
                <a:solidFill>
                  <a:srgbClr val="9FB2C8"/>
                </a:solidFill>
              </a:rPr>
              <a:t>   Memory</a:t>
            </a:r>
            <a:endParaRPr lang="en-US" sz="2800" dirty="0">
              <a:solidFill>
                <a:srgbClr val="FFFFFF"/>
              </a:solidFill>
            </a:endParaRPr>
          </a:p>
        </p:txBody>
      </p:sp>
      <p:sp>
        <p:nvSpPr>
          <p:cNvPr id="901" name="Deco 901"/>
          <p:cNvSpPr/>
          <p:nvPr/>
        </p:nvSpPr>
        <p:spPr>
          <a:xfrm>
            <a:off x="457200" y="1320800"/>
            <a:ext cx="50800" cy="2120900"/>
          </a:xfrm>
          <a:prstGeom prst="rect">
            <a:avLst/>
          </a:prstGeom>
          <a:solidFill>
            <a:srgbClr val="F4B336"/>
          </a:solidFill>
          <a:ln>
            <a:noFill/>
          </a:ln>
        </p:spPr>
        <p:txBody>
          <a:bodyPr/>
          <a:lstStyle/>
          <a:p>
            <a:endParaRPr lang="en-US"/>
          </a:p>
        </p:txBody>
      </p:sp>
      <p:sp>
        <p:nvSpPr>
          <p:cNvPr id="5" name="Text 3"/>
          <p:cNvSpPr txBox="1"/>
          <p:nvPr/>
        </p:nvSpPr>
        <p:spPr>
          <a:xfrm>
            <a:off x="736600" y="1320800"/>
            <a:ext cx="10998200" cy="2120900"/>
          </a:xfrm>
          <a:prstGeom prst="rect">
            <a:avLst/>
          </a:prstGeom>
          <a:noFill/>
          <a:ln/>
        </p:spPr>
        <p:txBody>
          <a:bodyPr wrap="square" lIns="0" tIns="0" rIns="0" bIns="0" rtlCol="0" anchor="t"/>
          <a:lstStyle/>
          <a:p>
            <a:pPr marL="0" indent="0">
              <a:lnSpc>
                <a:spcPct val="105000"/>
              </a:lnSpc>
              <a:spcAft>
                <a:spcPts val="0"/>
              </a:spcAft>
              <a:buNone/>
            </a:pPr>
            <a:r>
              <a:rPr lang="en-US" sz="3200" b="1" dirty="0">
                <a:solidFill>
                  <a:srgbClr val="F4B336"/>
                </a:solidFill>
              </a:rPr>
              <a:t>3.1. Khái niệm: </a:t>
            </a:r>
            <a:r>
              <a:rPr lang="en-US" sz="3200" dirty="0">
                <a:solidFill>
                  <a:srgbClr val="FFFFFF"/>
                </a:solidFill>
              </a:rPr>
              <a:t>Memory là quá trình con người ghi nhớ và truy xuất các loại kiến thức khác nhau để có thể nhận biết sự vật, nhớ lại thông tin và thực hiện hành động phù hợp.</a:t>
            </a:r>
          </a:p>
        </p:txBody>
      </p:sp>
      <p:sp>
        <p:nvSpPr>
          <p:cNvPr id="17" name="Card left"/>
          <p:cNvSpPr/>
          <p:nvPr/>
        </p:nvSpPr>
        <p:spPr>
          <a:xfrm>
            <a:off x="457200" y="3822700"/>
            <a:ext cx="11277600" cy="2400300"/>
          </a:xfrm>
          <a:prstGeom prst="roundRect">
            <a:avLst>
              <a:gd name="adj" fmla="val 643"/>
            </a:avLst>
          </a:prstGeom>
          <a:solidFill>
            <a:srgbClr val="FFFFFF"/>
          </a:solidFill>
          <a:ln w="9525">
            <a:noFill/>
          </a:ln>
        </p:spPr>
        <p:txBody>
          <a:bodyPr rtlCol="0" anchor="ctr"/>
          <a:lstStyle/>
          <a:p>
            <a:endParaRPr lang="en-US"/>
          </a:p>
        </p:txBody>
      </p:sp>
      <p:sp>
        <p:nvSpPr>
          <p:cNvPr id="8" name="Shape 6"/>
          <p:cNvSpPr/>
          <p:nvPr/>
        </p:nvSpPr>
        <p:spPr>
          <a:xfrm>
            <a:off x="457200" y="3822700"/>
            <a:ext cx="11277600" cy="63500"/>
          </a:xfrm>
          <a:prstGeom prst="rect">
            <a:avLst/>
          </a:prstGeom>
          <a:solidFill>
            <a:srgbClr val="1677B8"/>
          </a:solidFill>
          <a:ln w="12700">
            <a:noFill/>
          </a:ln>
        </p:spPr>
        <p:txBody>
          <a:bodyPr/>
          <a:lstStyle/>
          <a:p>
            <a:endParaRPr lang="en-US"/>
          </a:p>
        </p:txBody>
      </p:sp>
      <p:sp>
        <p:nvSpPr>
          <p:cNvPr id="21" name="Topic badge"/>
          <p:cNvSpPr/>
          <p:nvPr/>
        </p:nvSpPr>
        <p:spPr>
          <a:xfrm>
            <a:off x="457200" y="524764"/>
            <a:ext cx="508000" cy="508000"/>
          </a:xfrm>
          <a:prstGeom prst="roundRect">
            <a:avLst>
              <a:gd name="adj" fmla="val 22000"/>
            </a:avLst>
          </a:prstGeom>
          <a:solidFill>
            <a:srgbClr val="F4B336"/>
          </a:solidFill>
          <a:ln>
            <a:noFill/>
          </a:ln>
        </p:spPr>
        <p:txBody>
          <a:bodyPr wrap="none" lIns="0" tIns="0" rIns="0" bIns="0" rtlCol="0" anchor="ctr">
            <a:noAutofit/>
          </a:bodyPr>
          <a:lstStyle/>
          <a:p>
            <a:pPr algn="ctr"/>
            <a:r>
              <a:rPr lang="en-US" sz="2000" b="1" dirty="0">
                <a:solidFill>
                  <a:srgbClr val="062F5C"/>
                </a:solidFill>
              </a:rPr>
              <a:t>03</a:t>
            </a:r>
          </a:p>
        </p:txBody>
      </p:sp>
      <p:sp>
        <p:nvSpPr>
          <p:cNvPr id="6" name="Text 4"/>
          <p:cNvSpPr txBox="1"/>
          <p:nvPr/>
        </p:nvSpPr>
        <p:spPr>
          <a:xfrm>
            <a:off x="812800" y="4000500"/>
            <a:ext cx="10617200" cy="2095500"/>
          </a:xfrm>
          <a:prstGeom prst="rect">
            <a:avLst/>
          </a:prstGeom>
          <a:noFill/>
          <a:ln/>
        </p:spPr>
        <p:txBody>
          <a:bodyPr wrap="square" lIns="0" tIns="0" rIns="0" bIns="0" rtlCol="0" anchor="ctr"/>
          <a:lstStyle/>
          <a:p>
            <a:pPr marL="0" indent="0">
              <a:lnSpc>
                <a:spcPct val="105000"/>
              </a:lnSpc>
              <a:spcAft>
                <a:spcPts val="0"/>
              </a:spcAft>
              <a:buNone/>
            </a:pPr>
            <a:r>
              <a:rPr lang="en-US" sz="2400" dirty="0">
                <a:solidFill>
                  <a:srgbClr val="2B3642"/>
                </a:solidFill>
              </a:rPr>
              <a:t>Trí nhớ không lưu giữ toàn bộ mọi thông tin mà liên quan đến quá trình lọc, mã hóa và truy xuất. Khả năng ghi nhớ còn phụ thuộc vào mức độ chú ý, cách thông tin được xử lý và bối cảnh khi thông tin được tiếp nhận.</a:t>
            </a:r>
          </a:p>
        </p:txBody>
      </p:sp>
    </p:spTree>
    <p:extLst>
      <p:ext uri="{BB962C8B-B14F-4D97-AF65-F5344CB8AC3E}">
        <p14:creationId xmlns:p14="http://schemas.microsoft.com/office/powerpoint/2010/main" val="2581422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8">
    <p:bg>
      <p:bgPr>
        <a:solidFill>
          <a:srgbClr val="062F5C"/>
        </a:solidFill>
        <a:effectLst/>
      </p:bgPr>
    </p:bg>
    <p:spTree>
      <p:nvGrpSpPr>
        <p:cNvPr id="1" name=""/>
        <p:cNvGrpSpPr/>
        <p:nvPr/>
      </p:nvGrpSpPr>
      <p:grpSpPr>
        <a:xfrm>
          <a:off x="0" y="0"/>
          <a:ext cx="0" cy="0"/>
          <a:chOff x="0" y="0"/>
          <a:chExt cx="0" cy="0"/>
        </a:xfrm>
      </p:grpSpPr>
      <p:sp>
        <p:nvSpPr>
          <p:cNvPr id="22" name="Decor 23"/>
          <p:cNvSpPr/>
          <p:nvPr/>
        </p:nvSpPr>
        <p:spPr>
          <a:xfrm>
            <a:off x="8128000" y="-3556000"/>
            <a:ext cx="6350000" cy="6350000"/>
          </a:xfrm>
          <a:prstGeom prst="ellipse">
            <a:avLst/>
          </a:prstGeom>
          <a:noFill/>
          <a:ln w="28575">
            <a:solidFill>
              <a:srgbClr val="FFFFFF">
                <a:alpha val="22000"/>
              </a:srgbClr>
            </a:solidFill>
          </a:ln>
        </p:spPr>
        <p:txBody>
          <a:bodyPr/>
          <a:lstStyle/>
          <a:p>
            <a:endParaRPr lang="en-US"/>
          </a:p>
        </p:txBody>
      </p:sp>
      <p:sp>
        <p:nvSpPr>
          <p:cNvPr id="23" name="Decor 24"/>
          <p:cNvSpPr/>
          <p:nvPr/>
        </p:nvSpPr>
        <p:spPr>
          <a:xfrm>
            <a:off x="10795000" y="5207000"/>
            <a:ext cx="2286000" cy="2286000"/>
          </a:xfrm>
          <a:prstGeom prst="ellipse">
            <a:avLst/>
          </a:prstGeom>
          <a:solidFill>
            <a:srgbClr val="FFFFFF">
              <a:alpha val="9000"/>
            </a:srgbClr>
          </a:solidFill>
          <a:ln>
            <a:noFill/>
          </a:ln>
        </p:spPr>
        <p:txBody>
          <a:bodyPr/>
          <a:lstStyle/>
          <a:p>
            <a:endParaRPr lang="en-US"/>
          </a:p>
        </p:txBody>
      </p:sp>
      <p:sp>
        <p:nvSpPr>
          <p:cNvPr id="24" name="Decor 25"/>
          <p:cNvSpPr/>
          <p:nvPr/>
        </p:nvSpPr>
        <p:spPr>
          <a:xfrm rot="1500000">
            <a:off x="-508000" y="5969000"/>
            <a:ext cx="1524000" cy="1524000"/>
          </a:xfrm>
          <a:prstGeom prst="rect">
            <a:avLst/>
          </a:prstGeom>
          <a:noFill/>
          <a:ln w="28575">
            <a:solidFill>
              <a:srgbClr val="FFFFFF">
                <a:alpha val="22000"/>
              </a:srgbClr>
            </a:solidFill>
          </a:ln>
        </p:spPr>
        <p:txBody>
          <a:bodyPr/>
          <a:lstStyle/>
          <a:p>
            <a:endParaRPr lang="en-US"/>
          </a:p>
        </p:txBody>
      </p:sp>
      <p:sp>
        <p:nvSpPr>
          <p:cNvPr id="2" name="Text 1"/>
          <p:cNvSpPr>
            <a:spLocks noGrp="1"/>
          </p:cNvSpPr>
          <p:nvPr>
            <p:ph type="title" idx="101" hasCustomPrompt="1"/>
          </p:nvPr>
        </p:nvSpPr>
        <p:spPr>
          <a:xfrm>
            <a:off x="1168400" y="512064"/>
            <a:ext cx="10566400" cy="512064"/>
          </a:xfrm>
          <a:prstGeom prst="rect">
            <a:avLst/>
          </a:prstGeom>
          <a:noFill/>
          <a:ln/>
        </p:spPr>
        <p:txBody>
          <a:bodyPr wrap="square" lIns="0" tIns="0" rIns="0" bIns="0" rtlCol="0" anchor="t"/>
          <a:lstStyle/>
          <a:p>
            <a:pPr marL="0" indent="0" algn="l">
              <a:buNone/>
            </a:pPr>
            <a:r>
              <a:rPr lang="en-US" sz="3000" b="1" dirty="0">
                <a:solidFill>
                  <a:srgbClr val="FFFFFF"/>
                </a:solidFill>
              </a:rPr>
              <a:t>Trí nhớ, ký ức</a:t>
            </a:r>
            <a:r>
              <a:rPr lang="en-US" sz="2000" b="0" dirty="0">
                <a:solidFill>
                  <a:srgbClr val="9FB2C8"/>
                </a:solidFill>
              </a:rPr>
              <a:t>   Memory</a:t>
            </a:r>
            <a:endParaRPr lang="en-US" sz="2800" dirty="0">
              <a:solidFill>
                <a:srgbClr val="FFFFFF"/>
              </a:solidFill>
            </a:endParaRPr>
          </a:p>
        </p:txBody>
      </p:sp>
      <p:sp>
        <p:nvSpPr>
          <p:cNvPr id="17" name="Card left"/>
          <p:cNvSpPr/>
          <p:nvPr/>
        </p:nvSpPr>
        <p:spPr>
          <a:xfrm>
            <a:off x="457200" y="1117600"/>
            <a:ext cx="11277600" cy="5257800"/>
          </a:xfrm>
          <a:prstGeom prst="roundRect">
            <a:avLst>
              <a:gd name="adj" fmla="val 643"/>
            </a:avLst>
          </a:prstGeom>
          <a:solidFill>
            <a:srgbClr val="FFFFFF"/>
          </a:solidFill>
          <a:ln w="9525">
            <a:noFill/>
          </a:ln>
        </p:spPr>
        <p:txBody>
          <a:bodyPr rtlCol="0" anchor="ctr"/>
          <a:lstStyle/>
          <a:p>
            <a:endParaRPr lang="en-US"/>
          </a:p>
        </p:txBody>
      </p:sp>
      <p:sp>
        <p:nvSpPr>
          <p:cNvPr id="8" name="Shape 6"/>
          <p:cNvSpPr/>
          <p:nvPr/>
        </p:nvSpPr>
        <p:spPr>
          <a:xfrm>
            <a:off x="457200" y="1117600"/>
            <a:ext cx="11277600" cy="63500"/>
          </a:xfrm>
          <a:prstGeom prst="rect">
            <a:avLst/>
          </a:prstGeom>
          <a:solidFill>
            <a:srgbClr val="1677B8"/>
          </a:solidFill>
          <a:ln w="12700">
            <a:noFill/>
          </a:ln>
        </p:spPr>
        <p:txBody>
          <a:bodyPr/>
          <a:lstStyle/>
          <a:p>
            <a:endParaRPr lang="en-US"/>
          </a:p>
        </p:txBody>
      </p:sp>
      <p:sp>
        <p:nvSpPr>
          <p:cNvPr id="9" name="Text 7"/>
          <p:cNvSpPr txBox="1"/>
          <p:nvPr/>
        </p:nvSpPr>
        <p:spPr>
          <a:xfrm>
            <a:off x="736600" y="1244600"/>
            <a:ext cx="8890000" cy="330200"/>
          </a:xfrm>
          <a:prstGeom prst="rect">
            <a:avLst/>
          </a:prstGeom>
          <a:noFill/>
          <a:ln/>
        </p:spPr>
        <p:txBody>
          <a:bodyPr wrap="square" lIns="0" tIns="0" rIns="0" bIns="0" rtlCol="0" anchor="t"/>
          <a:lstStyle/>
          <a:p>
            <a:pPr marL="0" indent="0">
              <a:buNone/>
            </a:pPr>
            <a:r>
              <a:rPr lang="en-US" sz="2200" b="1" kern="0" spc="50" dirty="0">
                <a:solidFill>
                  <a:srgbClr val="1677B8"/>
                </a:solidFill>
              </a:rPr>
              <a:t>3.2. CÁC ĐẶC ĐIỂM</a:t>
            </a:r>
          </a:p>
        </p:txBody>
      </p:sp>
      <p:sp>
        <p:nvSpPr>
          <p:cNvPr id="12" name="Text 10"/>
          <p:cNvSpPr txBox="1"/>
          <p:nvPr/>
        </p:nvSpPr>
        <p:spPr>
          <a:xfrm>
            <a:off x="736600" y="1612900"/>
            <a:ext cx="10795000" cy="4724400"/>
          </a:xfrm>
          <a:prstGeom prst="rect">
            <a:avLst/>
          </a:prstGeom>
          <a:noFill/>
          <a:ln/>
        </p:spPr>
        <p:txBody>
          <a:bodyPr wrap="square" lIns="0" tIns="0" rIns="0" bIns="0" rtlCol="0" anchor="t"/>
          <a:lstStyle/>
          <a:p>
            <a:pPr marL="285750" indent="-285750">
              <a:lnSpc>
                <a:spcPct val="100000"/>
              </a:lnSpc>
              <a:spcAft>
                <a:spcPts val="100"/>
              </a:spcAft>
              <a:buNone/>
            </a:pPr>
            <a:r>
              <a:rPr lang="en-US" sz="2000" b="1" dirty="0">
                <a:solidFill>
                  <a:srgbClr val="1677B8"/>
                </a:solidFill>
              </a:rPr>
              <a:t>1. </a:t>
            </a:r>
            <a:r>
              <a:rPr lang="en-US" sz="2000" b="1" dirty="0">
                <a:solidFill>
                  <a:srgbClr val="062F5C"/>
                </a:solidFill>
              </a:rPr>
              <a:t>Khả năng của trí nhớ ngắn hạn có giới hạn</a:t>
            </a:r>
          </a:p>
          <a:p>
            <a:pPr marL="285750" indent="0">
              <a:lnSpc>
                <a:spcPct val="100000"/>
              </a:lnSpc>
              <a:spcAft>
                <a:spcPts val="100"/>
              </a:spcAft>
              <a:buNone/>
            </a:pPr>
            <a:r>
              <a:rPr lang="en-US" sz="1600" i="1" dirty="0">
                <a:solidFill>
                  <a:srgbClr val="1677B8"/>
                </a:solidFill>
              </a:rPr>
              <a:t>Limited Capacity of Short-term Memory</a:t>
            </a:r>
          </a:p>
          <a:p>
            <a:pPr marL="285750" indent="0">
              <a:lnSpc>
                <a:spcPct val="102000"/>
              </a:lnSpc>
              <a:spcAft>
                <a:spcPts val="250"/>
              </a:spcAft>
              <a:buNone/>
            </a:pPr>
            <a:r>
              <a:rPr lang="en-US" sz="1800" dirty="0">
                <a:solidFill>
                  <a:srgbClr val="17212B"/>
                </a:solidFill>
              </a:rPr>
              <a:t>Con người chỉ có thể duy trì một lượng thông tin giới hạn trong trí nhớ ngắn hạn tại một thời điểm. Khi lượng thông tin cần ghi nhớ hoặc xử lý quá lớn, việc nhớ lại trở nên khó khăn hơn và dễ xảy ra sai sót.</a:t>
            </a:r>
          </a:p>
          <a:p>
            <a:pPr marL="285750" indent="-285750">
              <a:lnSpc>
                <a:spcPct val="100000"/>
              </a:lnSpc>
              <a:spcAft>
                <a:spcPts val="100"/>
              </a:spcAft>
              <a:buNone/>
            </a:pPr>
            <a:r>
              <a:rPr lang="en-US" sz="2000" b="1" dirty="0">
                <a:solidFill>
                  <a:srgbClr val="1677B8"/>
                </a:solidFill>
              </a:rPr>
              <a:t>2. </a:t>
            </a:r>
            <a:r>
              <a:rPr lang="en-US" sz="2000" b="1" dirty="0">
                <a:solidFill>
                  <a:srgbClr val="062F5C"/>
                </a:solidFill>
              </a:rPr>
              <a:t>Nhận biết dễ hơn tự nhớ lại</a:t>
            </a:r>
          </a:p>
          <a:p>
            <a:pPr marL="285750" indent="0">
              <a:lnSpc>
                <a:spcPct val="100000"/>
              </a:lnSpc>
              <a:spcAft>
                <a:spcPts val="100"/>
              </a:spcAft>
              <a:buNone/>
            </a:pPr>
            <a:r>
              <a:rPr lang="en-US" sz="1600" i="1" dirty="0">
                <a:solidFill>
                  <a:srgbClr val="1677B8"/>
                </a:solidFill>
              </a:rPr>
              <a:t>Recognition over Recall</a:t>
            </a:r>
          </a:p>
          <a:p>
            <a:pPr marL="285750" indent="0">
              <a:lnSpc>
                <a:spcPct val="102000"/>
              </a:lnSpc>
              <a:spcAft>
                <a:spcPts val="100"/>
              </a:spcAft>
              <a:buNone/>
            </a:pPr>
            <a:r>
              <a:rPr lang="en-US" sz="1800" dirty="0">
                <a:solidFill>
                  <a:srgbClr val="17212B"/>
                </a:solidFill>
              </a:rPr>
              <a:t>Con người thường dễ nhận ra một thông tin khi nhìn thấy nó hơn là phải tự nhớ lại thông tin đó mà không có bất kỳ gợi ý nào.</a:t>
            </a:r>
          </a:p>
          <a:p>
            <a:pPr marL="285750" indent="0">
              <a:lnSpc>
                <a:spcPct val="102000"/>
              </a:lnSpc>
              <a:spcAft>
                <a:spcPts val="250"/>
              </a:spcAft>
              <a:buNone/>
            </a:pPr>
            <a:r>
              <a:rPr lang="en-US" sz="1800" dirty="0">
                <a:solidFill>
                  <a:srgbClr val="17212B"/>
                </a:solidFill>
              </a:rPr>
              <a:t>Vì vậy, việc cung cấp các dấu hiệu như biểu tượng, danh sách hoặc lựa chọn có sẵn giúp giảm yêu cầu ghi nhớ và hỗ trợ người dùng truy xuất thông tin dễ dàng hơn.</a:t>
            </a:r>
          </a:p>
          <a:p>
            <a:pPr marL="285750" indent="-285750">
              <a:lnSpc>
                <a:spcPct val="100000"/>
              </a:lnSpc>
              <a:spcAft>
                <a:spcPts val="100"/>
              </a:spcAft>
              <a:buNone/>
            </a:pPr>
            <a:r>
              <a:rPr lang="en-US" sz="2000" b="1" dirty="0">
                <a:solidFill>
                  <a:srgbClr val="1677B8"/>
                </a:solidFill>
              </a:rPr>
              <a:t>3. </a:t>
            </a:r>
            <a:r>
              <a:rPr lang="en-US" sz="2000" b="1" dirty="0">
                <a:solidFill>
                  <a:srgbClr val="062F5C"/>
                </a:solidFill>
              </a:rPr>
              <a:t>Khả năng nhớ lại phụ thuộc vào ngữ cảnh</a:t>
            </a:r>
          </a:p>
          <a:p>
            <a:pPr marL="285750" indent="0">
              <a:lnSpc>
                <a:spcPct val="100000"/>
              </a:lnSpc>
              <a:spcAft>
                <a:spcPts val="100"/>
              </a:spcAft>
              <a:buNone/>
            </a:pPr>
            <a:r>
              <a:rPr lang="en-US" sz="1600" i="1" dirty="0">
                <a:solidFill>
                  <a:srgbClr val="1677B8"/>
                </a:solidFill>
              </a:rPr>
              <a:t>Context-dependent Memory</a:t>
            </a:r>
          </a:p>
          <a:p>
            <a:pPr marL="285750" indent="0">
              <a:lnSpc>
                <a:spcPct val="102000"/>
              </a:lnSpc>
              <a:spcAft>
                <a:spcPts val="100"/>
              </a:spcAft>
              <a:buNone/>
            </a:pPr>
            <a:r>
              <a:rPr lang="en-US" sz="1800" dirty="0">
                <a:solidFill>
                  <a:srgbClr val="17212B"/>
                </a:solidFill>
              </a:rPr>
              <a:t>Thông tin thường dễ được nhớ lại hơn khi bối cảnh lúc truy xuất có sự tương đồng với bối cảnh lúc thông tin được tiếp nhận hoặc mã hóa.</a:t>
            </a:r>
          </a:p>
          <a:p>
            <a:pPr marL="285750" indent="0">
              <a:lnSpc>
                <a:spcPct val="102000"/>
              </a:lnSpc>
              <a:spcAft>
                <a:spcPts val="250"/>
              </a:spcAft>
              <a:buNone/>
            </a:pPr>
            <a:r>
              <a:rPr lang="en-US" sz="1800" dirty="0">
                <a:solidFill>
                  <a:srgbClr val="17212B"/>
                </a:solidFill>
              </a:rPr>
              <a:t>Khi thông tin xuất hiện trong một bối cảnh khác với bối cảnh quen thuộc, người dùng có thể mất nhiều thời gian hơn để nhận ra hoặc nhớ lại nó.</a:t>
            </a:r>
          </a:p>
        </p:txBody>
      </p:sp>
      <p:sp>
        <p:nvSpPr>
          <p:cNvPr id="21" name="Topic badge"/>
          <p:cNvSpPr/>
          <p:nvPr/>
        </p:nvSpPr>
        <p:spPr>
          <a:xfrm>
            <a:off x="457200" y="524764"/>
            <a:ext cx="508000" cy="508000"/>
          </a:xfrm>
          <a:prstGeom prst="roundRect">
            <a:avLst>
              <a:gd name="adj" fmla="val 22000"/>
            </a:avLst>
          </a:prstGeom>
          <a:solidFill>
            <a:srgbClr val="F4B336"/>
          </a:solidFill>
          <a:ln>
            <a:noFill/>
          </a:ln>
        </p:spPr>
        <p:txBody>
          <a:bodyPr wrap="none" lIns="0" tIns="0" rIns="0" bIns="0" rtlCol="0" anchor="ctr">
            <a:noAutofit/>
          </a:bodyPr>
          <a:lstStyle/>
          <a:p>
            <a:pPr algn="ctr"/>
            <a:r>
              <a:rPr lang="en-US" sz="2000" b="1" dirty="0">
                <a:solidFill>
                  <a:srgbClr val="062F5C"/>
                </a:solidFill>
              </a:rPr>
              <a:t>03</a:t>
            </a:r>
          </a:p>
        </p:txBody>
      </p:sp>
    </p:spTree>
    <p:extLst>
      <p:ext uri="{BB962C8B-B14F-4D97-AF65-F5344CB8AC3E}">
        <p14:creationId xmlns:p14="http://schemas.microsoft.com/office/powerpoint/2010/main" val="7448926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8">
    <p:bg>
      <p:bgPr>
        <a:solidFill>
          <a:srgbClr val="062F5C"/>
        </a:solidFill>
        <a:effectLst/>
      </p:bgPr>
    </p:bg>
    <p:spTree>
      <p:nvGrpSpPr>
        <p:cNvPr id="1" name=""/>
        <p:cNvGrpSpPr/>
        <p:nvPr/>
      </p:nvGrpSpPr>
      <p:grpSpPr>
        <a:xfrm>
          <a:off x="0" y="0"/>
          <a:ext cx="0" cy="0"/>
          <a:chOff x="0" y="0"/>
          <a:chExt cx="0" cy="0"/>
        </a:xfrm>
      </p:grpSpPr>
      <p:sp>
        <p:nvSpPr>
          <p:cNvPr id="22" name="Decor 23"/>
          <p:cNvSpPr/>
          <p:nvPr/>
        </p:nvSpPr>
        <p:spPr>
          <a:xfrm>
            <a:off x="8128000" y="-3556000"/>
            <a:ext cx="6350000" cy="6350000"/>
          </a:xfrm>
          <a:prstGeom prst="ellipse">
            <a:avLst/>
          </a:prstGeom>
          <a:noFill/>
          <a:ln w="28575">
            <a:solidFill>
              <a:srgbClr val="FFFFFF">
                <a:alpha val="22000"/>
              </a:srgbClr>
            </a:solidFill>
          </a:ln>
        </p:spPr>
        <p:txBody>
          <a:bodyPr/>
          <a:lstStyle/>
          <a:p>
            <a:endParaRPr lang="en-US"/>
          </a:p>
        </p:txBody>
      </p:sp>
      <p:sp>
        <p:nvSpPr>
          <p:cNvPr id="23" name="Decor 24"/>
          <p:cNvSpPr/>
          <p:nvPr/>
        </p:nvSpPr>
        <p:spPr>
          <a:xfrm>
            <a:off x="10795000" y="5207000"/>
            <a:ext cx="2286000" cy="2286000"/>
          </a:xfrm>
          <a:prstGeom prst="ellipse">
            <a:avLst/>
          </a:prstGeom>
          <a:solidFill>
            <a:srgbClr val="FFFFFF">
              <a:alpha val="9000"/>
            </a:srgbClr>
          </a:solidFill>
          <a:ln>
            <a:noFill/>
          </a:ln>
        </p:spPr>
        <p:txBody>
          <a:bodyPr/>
          <a:lstStyle/>
          <a:p>
            <a:endParaRPr lang="en-US"/>
          </a:p>
        </p:txBody>
      </p:sp>
      <p:sp>
        <p:nvSpPr>
          <p:cNvPr id="24" name="Decor 25"/>
          <p:cNvSpPr/>
          <p:nvPr/>
        </p:nvSpPr>
        <p:spPr>
          <a:xfrm rot="1500000">
            <a:off x="-508000" y="5969000"/>
            <a:ext cx="1524000" cy="1524000"/>
          </a:xfrm>
          <a:prstGeom prst="rect">
            <a:avLst/>
          </a:prstGeom>
          <a:noFill/>
          <a:ln w="28575">
            <a:solidFill>
              <a:srgbClr val="FFFFFF">
                <a:alpha val="22000"/>
              </a:srgbClr>
            </a:solidFill>
          </a:ln>
        </p:spPr>
        <p:txBody>
          <a:bodyPr/>
          <a:lstStyle/>
          <a:p>
            <a:endParaRPr lang="en-US"/>
          </a:p>
        </p:txBody>
      </p:sp>
      <p:sp>
        <p:nvSpPr>
          <p:cNvPr id="2" name="Text 1"/>
          <p:cNvSpPr>
            <a:spLocks noGrp="1"/>
          </p:cNvSpPr>
          <p:nvPr>
            <p:ph type="title" idx="101" hasCustomPrompt="1"/>
          </p:nvPr>
        </p:nvSpPr>
        <p:spPr>
          <a:xfrm>
            <a:off x="1168400" y="512064"/>
            <a:ext cx="10566400" cy="512064"/>
          </a:xfrm>
          <a:prstGeom prst="rect">
            <a:avLst/>
          </a:prstGeom>
          <a:noFill/>
          <a:ln/>
        </p:spPr>
        <p:txBody>
          <a:bodyPr wrap="square" lIns="0" tIns="0" rIns="0" bIns="0" rtlCol="0" anchor="t"/>
          <a:lstStyle/>
          <a:p>
            <a:pPr marL="0" indent="0" algn="l">
              <a:buNone/>
            </a:pPr>
            <a:r>
              <a:rPr lang="en-US" sz="3000" b="1" dirty="0">
                <a:solidFill>
                  <a:srgbClr val="FFFFFF"/>
                </a:solidFill>
              </a:rPr>
              <a:t>Trí nhớ, ký ức</a:t>
            </a:r>
            <a:r>
              <a:rPr lang="en-US" sz="2000" b="0" dirty="0">
                <a:solidFill>
                  <a:srgbClr val="9FB2C8"/>
                </a:solidFill>
              </a:rPr>
              <a:t>   Memory</a:t>
            </a:r>
            <a:endParaRPr lang="en-US" sz="2800" dirty="0">
              <a:solidFill>
                <a:srgbClr val="FFFFFF"/>
              </a:solidFill>
            </a:endParaRPr>
          </a:p>
        </p:txBody>
      </p:sp>
      <p:sp>
        <p:nvSpPr>
          <p:cNvPr id="901" name="Deco 901"/>
          <p:cNvSpPr/>
          <p:nvPr/>
        </p:nvSpPr>
        <p:spPr>
          <a:xfrm>
            <a:off x="457200" y="1143000"/>
            <a:ext cx="38100" cy="635000"/>
          </a:xfrm>
          <a:prstGeom prst="rect">
            <a:avLst/>
          </a:prstGeom>
          <a:solidFill>
            <a:srgbClr val="F4B336"/>
          </a:solidFill>
          <a:ln>
            <a:noFill/>
          </a:ln>
        </p:spPr>
        <p:txBody>
          <a:bodyPr/>
          <a:lstStyle/>
          <a:p>
            <a:endParaRPr lang="en-US"/>
          </a:p>
        </p:txBody>
      </p:sp>
      <p:sp>
        <p:nvSpPr>
          <p:cNvPr id="5" name="Text 3"/>
          <p:cNvSpPr txBox="1"/>
          <p:nvPr/>
        </p:nvSpPr>
        <p:spPr>
          <a:xfrm>
            <a:off x="660400" y="1117600"/>
            <a:ext cx="11074400" cy="304800"/>
          </a:xfrm>
          <a:prstGeom prst="rect">
            <a:avLst/>
          </a:prstGeom>
          <a:noFill/>
          <a:ln/>
        </p:spPr>
        <p:txBody>
          <a:bodyPr wrap="square" lIns="0" tIns="0" rIns="0" bIns="0" rtlCol="0" anchor="t"/>
          <a:lstStyle/>
          <a:p>
            <a:pPr marL="0" indent="0">
              <a:lnSpc>
                <a:spcPct val="105000"/>
              </a:lnSpc>
              <a:buNone/>
            </a:pPr>
            <a:r>
              <a:rPr lang="en-US" sz="1900" b="1" dirty="0">
                <a:solidFill>
                  <a:srgbClr val="F4B336"/>
                </a:solidFill>
              </a:rPr>
              <a:t>Lời khuyên thiết kế: </a:t>
            </a:r>
            <a:r>
              <a:rPr lang="en-US" sz="1900" dirty="0">
                <a:solidFill>
                  <a:srgbClr val="FFFFFF"/>
                </a:solidFill>
              </a:rPr>
              <a:t>giảm gánh nặng trí nhớ – cho người dùng nhận ra thay vì phải nhớ lại.</a:t>
            </a:r>
          </a:p>
        </p:txBody>
      </p:sp>
      <p:sp>
        <p:nvSpPr>
          <p:cNvPr id="6" name="Text 4"/>
          <p:cNvSpPr txBox="1"/>
          <p:nvPr/>
        </p:nvSpPr>
        <p:spPr>
          <a:xfrm>
            <a:off x="660400" y="1473200"/>
            <a:ext cx="11074400" cy="254000"/>
          </a:xfrm>
          <a:prstGeom prst="rect">
            <a:avLst/>
          </a:prstGeom>
          <a:noFill/>
          <a:ln/>
        </p:spPr>
        <p:txBody>
          <a:bodyPr wrap="square" lIns="0" tIns="0" rIns="0" bIns="0" rtlCol="0" anchor="t"/>
          <a:lstStyle/>
          <a:p>
            <a:pPr marL="0" indent="0">
              <a:buNone/>
            </a:pPr>
            <a:r>
              <a:rPr lang="en-US" sz="1400" i="1" dirty="0">
                <a:solidFill>
                  <a:srgbClr val="9FB3CC"/>
                </a:solidFill>
              </a:rPr>
              <a:t>Design Implications – Memory. Nguồn: Preece, Rogers &amp; Sharp, Interaction Design, 4th ed., 2015 – mục 3.2.3</a:t>
            </a:r>
          </a:p>
        </p:txBody>
      </p:sp>
      <p:sp>
        <p:nvSpPr>
          <p:cNvPr id="21" name="Topic badge"/>
          <p:cNvSpPr/>
          <p:nvPr/>
        </p:nvSpPr>
        <p:spPr>
          <a:xfrm>
            <a:off x="457200" y="524764"/>
            <a:ext cx="508000" cy="508000"/>
          </a:xfrm>
          <a:prstGeom prst="roundRect">
            <a:avLst>
              <a:gd name="adj" fmla="val 22000"/>
            </a:avLst>
          </a:prstGeom>
          <a:solidFill>
            <a:srgbClr val="F4B336"/>
          </a:solidFill>
          <a:ln>
            <a:noFill/>
          </a:ln>
        </p:spPr>
        <p:txBody>
          <a:bodyPr wrap="none" lIns="0" tIns="0" rIns="0" bIns="0" rtlCol="0" anchor="ctr">
            <a:noAutofit/>
          </a:bodyPr>
          <a:lstStyle/>
          <a:p>
            <a:pPr algn="ctr"/>
            <a:r>
              <a:rPr lang="en-US" sz="2000" b="1" dirty="0">
                <a:solidFill>
                  <a:srgbClr val="062F5C"/>
                </a:solidFill>
              </a:rPr>
              <a:t>03</a:t>
            </a:r>
          </a:p>
        </p:txBody>
      </p:sp>
      <p:graphicFrame>
        <p:nvGraphicFramePr>
          <p:cNvPr id="4" name="Memory advice table">
            <a:extLst>
              <a:ext uri="{FF2B5EF4-FFF2-40B4-BE49-F238E27FC236}">
                <a16:creationId xmlns:a16="http://schemas.microsoft.com/office/drawing/2014/main" id="{880FA268-4B10-4079-9464-54292272FAB7}"/>
              </a:ext>
            </a:extLst>
          </p:cNvPr>
          <p:cNvGraphicFramePr>
            <a:graphicFrameLocks noGrp="1"/>
          </p:cNvGraphicFramePr>
          <p:nvPr>
            <p:extLst>
              <p:ext uri="{D42A27DB-BD31-4B8C-83A1-F6EECF244321}">
                <p14:modId xmlns:p14="http://schemas.microsoft.com/office/powerpoint/2010/main" val="1658404360"/>
              </p:ext>
            </p:extLst>
          </p:nvPr>
        </p:nvGraphicFramePr>
        <p:xfrm>
          <a:off x="457200" y="1828800"/>
          <a:ext cx="11277600" cy="4568571"/>
        </p:xfrm>
        <a:graphic>
          <a:graphicData uri="http://schemas.openxmlformats.org/drawingml/2006/table">
            <a:tbl>
              <a:tblPr firstRow="1" bandRow="1">
                <a:tableStyleId>{5C22544A-7EE6-4342-B048-85BDC9FD1C3A}</a:tableStyleId>
              </a:tblPr>
              <a:tblGrid>
                <a:gridCol w="4145280">
                  <a:extLst>
                    <a:ext uri="{9D8B030D-6E8A-4147-A177-3AD203B41FA5}">
                      <a16:colId xmlns:a16="http://schemas.microsoft.com/office/drawing/2014/main" val="2570056003"/>
                    </a:ext>
                  </a:extLst>
                </a:gridCol>
                <a:gridCol w="7132320">
                  <a:extLst>
                    <a:ext uri="{9D8B030D-6E8A-4147-A177-3AD203B41FA5}">
                      <a16:colId xmlns:a16="http://schemas.microsoft.com/office/drawing/2014/main" val="2866644210"/>
                    </a:ext>
                  </a:extLst>
                </a:gridCol>
              </a:tblGrid>
              <a:tr h="508000">
                <a:tc>
                  <a:txBody>
                    <a:bodyPr/>
                    <a:lstStyle/>
                    <a:p>
                      <a:pPr marL="0" indent="0" algn="l">
                        <a:lnSpc>
                          <a:spcPct val="104000"/>
                        </a:lnSpc>
                        <a:buNone/>
                      </a:pPr>
                      <a:r>
                        <a:rPr lang="en-US" sz="1700" b="1" dirty="0">
                          <a:solidFill>
                            <a:srgbClr val="FFFFFF"/>
                          </a:solidFill>
                        </a:rPr>
                        <a:t>Nguyên văn (EN)</a:t>
                      </a:r>
                    </a:p>
                  </a:txBody>
                  <a:tcPr anchor="ctr">
                    <a:solidFill>
                      <a:srgbClr val="0B2D55"/>
                    </a:solidFill>
                  </a:tcPr>
                </a:tc>
                <a:tc>
                  <a:txBody>
                    <a:bodyPr/>
                    <a:lstStyle/>
                    <a:p>
                      <a:pPr marL="0" indent="0" algn="l">
                        <a:lnSpc>
                          <a:spcPct val="104000"/>
                        </a:lnSpc>
                        <a:buNone/>
                      </a:pPr>
                      <a:r>
                        <a:rPr lang="en-US" sz="1700" b="1" dirty="0">
                          <a:solidFill>
                            <a:srgbClr val="FFFFFF"/>
                          </a:solidFill>
                        </a:rPr>
                        <a:t>Diễn giải (VI)</a:t>
                      </a:r>
                    </a:p>
                  </a:txBody>
                  <a:tcPr anchor="ctr">
                    <a:solidFill>
                      <a:srgbClr val="0B2D55"/>
                    </a:solidFill>
                  </a:tcPr>
                </a:tc>
                <a:extLst>
                  <a:ext uri="{0D108BD9-81ED-4DB2-BD59-A6C34878D82A}">
                    <a16:rowId xmlns:a16="http://schemas.microsoft.com/office/drawing/2014/main" val="690773537"/>
                  </a:ext>
                </a:extLst>
              </a:tr>
              <a:tr h="990600">
                <a:tc>
                  <a:txBody>
                    <a:bodyPr/>
                    <a:lstStyle/>
                    <a:p>
                      <a:pPr marL="0" indent="0" algn="l">
                        <a:lnSpc>
                          <a:spcPct val="104000"/>
                        </a:lnSpc>
                        <a:buNone/>
                      </a:pPr>
                      <a:r>
                        <a:rPr lang="en-US" sz="1600" i="1" dirty="0">
                          <a:solidFill>
                            <a:srgbClr val="3A4A5C"/>
                          </a:solidFill>
                        </a:rPr>
                        <a:t>Do not overload users’ memories with complicated procedures for carrying out tasks.</a:t>
                      </a:r>
                    </a:p>
                  </a:txBody>
                  <a:tcPr anchor="ctr">
                    <a:solidFill>
                      <a:srgbClr val="FFFFFF"/>
                    </a:solidFill>
                  </a:tcPr>
                </a:tc>
                <a:tc>
                  <a:txBody>
                    <a:bodyPr/>
                    <a:lstStyle/>
                    <a:p>
                      <a:pPr marL="0" indent="0" algn="l">
                        <a:lnSpc>
                          <a:spcPct val="104000"/>
                        </a:lnSpc>
                        <a:buNone/>
                      </a:pPr>
                      <a:r>
                        <a:rPr lang="en-US" sz="1800" dirty="0">
                          <a:solidFill>
                            <a:srgbClr val="17212B"/>
                          </a:solidFill>
                        </a:rPr>
                        <a:t>Không làm quá tải trí nhớ người dùng bằng quy trình thực hiện tác vụ phức tạp.</a:t>
                      </a:r>
                    </a:p>
                  </a:txBody>
                  <a:tcPr anchor="ctr">
                    <a:solidFill>
                      <a:srgbClr val="FFFFFF"/>
                    </a:solidFill>
                  </a:tcPr>
                </a:tc>
                <a:extLst>
                  <a:ext uri="{0D108BD9-81ED-4DB2-BD59-A6C34878D82A}">
                    <a16:rowId xmlns:a16="http://schemas.microsoft.com/office/drawing/2014/main" val="2386364481"/>
                  </a:ext>
                </a:extLst>
              </a:tr>
              <a:tr h="990600">
                <a:tc>
                  <a:txBody>
                    <a:bodyPr/>
                    <a:lstStyle/>
                    <a:p>
                      <a:pPr marL="0" indent="0" algn="l">
                        <a:lnSpc>
                          <a:spcPct val="104000"/>
                        </a:lnSpc>
                        <a:buNone/>
                      </a:pPr>
                      <a:r>
                        <a:rPr lang="en-US" sz="1600" i="1" dirty="0">
                          <a:solidFill>
                            <a:srgbClr val="3A4A5C"/>
                          </a:solidFill>
                        </a:rPr>
                        <a:t>Design interfaces that promote recognition rather than recall by using menus, icons, and consistently placed objects.</a:t>
                      </a:r>
                    </a:p>
                  </a:txBody>
                  <a:tcPr anchor="ctr">
                    <a:solidFill>
                      <a:srgbClr val="F2F6FA"/>
                    </a:solidFill>
                  </a:tcPr>
                </a:tc>
                <a:tc>
                  <a:txBody>
                    <a:bodyPr/>
                    <a:lstStyle/>
                    <a:p>
                      <a:pPr marL="0" indent="0" algn="l">
                        <a:lnSpc>
                          <a:spcPct val="104000"/>
                        </a:lnSpc>
                        <a:buNone/>
                      </a:pPr>
                      <a:r>
                        <a:rPr lang="en-US" sz="1800" dirty="0">
                          <a:solidFill>
                            <a:srgbClr val="17212B"/>
                          </a:solidFill>
                        </a:rPr>
                        <a:t>Thiết kế giao diện khuyến khích nhận ra thay vì nhớ lại: dùng menu, biểu tượng, đặt đối tượng ở vị trí nhất quán.</a:t>
                      </a:r>
                    </a:p>
                  </a:txBody>
                  <a:tcPr anchor="ctr">
                    <a:solidFill>
                      <a:srgbClr val="F2F6FA"/>
                    </a:solidFill>
                  </a:tcPr>
                </a:tc>
                <a:extLst>
                  <a:ext uri="{0D108BD9-81ED-4DB2-BD59-A6C34878D82A}">
                    <a16:rowId xmlns:a16="http://schemas.microsoft.com/office/drawing/2014/main" val="370215195"/>
                  </a:ext>
                </a:extLst>
              </a:tr>
              <a:tr h="990600">
                <a:tc>
                  <a:txBody>
                    <a:bodyPr/>
                    <a:lstStyle/>
                    <a:p>
                      <a:pPr marL="0" indent="0" algn="l">
                        <a:lnSpc>
                          <a:spcPct val="104000"/>
                        </a:lnSpc>
                        <a:buNone/>
                      </a:pPr>
                      <a:r>
                        <a:rPr lang="en-US" sz="1600" i="1" dirty="0">
                          <a:solidFill>
                            <a:srgbClr val="3A4A5C"/>
                          </a:solidFill>
                        </a:rPr>
                        <a:t>Provide users with a variety of ways of encoding digital information (e.g. files, emails, images) through categories, color, tagging, time stamping, icons, etc.</a:t>
                      </a:r>
                    </a:p>
                  </a:txBody>
                  <a:tcPr anchor="ctr">
                    <a:solidFill>
                      <a:srgbClr val="FFFFFF"/>
                    </a:solidFill>
                  </a:tcPr>
                </a:tc>
                <a:tc>
                  <a:txBody>
                    <a:bodyPr/>
                    <a:lstStyle/>
                    <a:p>
                      <a:pPr marL="0" indent="0" algn="l">
                        <a:lnSpc>
                          <a:spcPct val="104000"/>
                        </a:lnSpc>
                        <a:buNone/>
                      </a:pPr>
                      <a:r>
                        <a:rPr lang="en-US" sz="1800" dirty="0">
                          <a:solidFill>
                            <a:srgbClr val="17212B"/>
                          </a:solidFill>
                        </a:rPr>
                        <a:t>Cung cấp nhiều cách mã hóa thông tin số để dễ tìm lại: phân loại, màu sắc, gắn thẻ, dấu thời gian, biểu tượng…</a:t>
                      </a:r>
                    </a:p>
                  </a:txBody>
                  <a:tcPr anchor="ctr">
                    <a:solidFill>
                      <a:srgbClr val="FFFFFF"/>
                    </a:solidFill>
                  </a:tcPr>
                </a:tc>
                <a:extLst>
                  <a:ext uri="{0D108BD9-81ED-4DB2-BD59-A6C34878D82A}">
                    <a16:rowId xmlns:a16="http://schemas.microsoft.com/office/drawing/2014/main" val="211060226"/>
                  </a:ext>
                </a:extLst>
              </a:tr>
              <a:tr h="990600">
                <a:tc>
                  <a:txBody>
                    <a:bodyPr/>
                    <a:lstStyle/>
                    <a:p>
                      <a:pPr marL="0" indent="0" algn="l">
                        <a:lnSpc>
                          <a:spcPct val="104000"/>
                        </a:lnSpc>
                        <a:buNone/>
                      </a:pPr>
                      <a:r>
                        <a:rPr lang="en-US" sz="1600" i="1" dirty="0">
                          <a:solidFill>
                            <a:srgbClr val="3A4A5C"/>
                          </a:solidFill>
                        </a:rPr>
                        <a:t>Digital content systems should be designed to optimize both kinds of memory processes.</a:t>
                      </a:r>
                    </a:p>
                  </a:txBody>
                  <a:tcPr anchor="ctr">
                    <a:solidFill>
                      <a:srgbClr val="F2F6FA"/>
                    </a:solidFill>
                  </a:tcPr>
                </a:tc>
                <a:tc>
                  <a:txBody>
                    <a:bodyPr/>
                    <a:lstStyle/>
                    <a:p>
                      <a:pPr marL="0" indent="0" algn="l">
                        <a:lnSpc>
                          <a:spcPct val="104000"/>
                        </a:lnSpc>
                        <a:buNone/>
                      </a:pPr>
                      <a:r>
                        <a:rPr lang="en-US" sz="1800" dirty="0">
                          <a:solidFill>
                            <a:srgbClr val="17212B"/>
                          </a:solidFill>
                        </a:rPr>
                        <a:t>Tối ưu cả hai quá trình: nhớ lại có định hướng và quét để nhận ra (ví dụ ô tìm kiếm kèm danh sách lịch sử).</a:t>
                      </a:r>
                    </a:p>
                  </a:txBody>
                  <a:tcPr anchor="ctr">
                    <a:solidFill>
                      <a:srgbClr val="F2F6FA"/>
                    </a:solidFill>
                  </a:tcPr>
                </a:tc>
                <a:extLst>
                  <a:ext uri="{0D108BD9-81ED-4DB2-BD59-A6C34878D82A}">
                    <a16:rowId xmlns:a16="http://schemas.microsoft.com/office/drawing/2014/main" val="1694716990"/>
                  </a:ext>
                </a:extLst>
              </a:tr>
            </a:tbl>
          </a:graphicData>
        </a:graphic>
      </p:graphicFrame>
    </p:spTree>
    <p:extLst>
      <p:ext uri="{BB962C8B-B14F-4D97-AF65-F5344CB8AC3E}">
        <p14:creationId xmlns:p14="http://schemas.microsoft.com/office/powerpoint/2010/main" val="18566888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9">
    <p:bg>
      <p:bgPr>
        <a:solidFill>
          <a:srgbClr val="062F5C"/>
        </a:solidFill>
        <a:effectLst/>
      </p:bgPr>
    </p:bg>
    <p:spTree>
      <p:nvGrpSpPr>
        <p:cNvPr id="1" name=""/>
        <p:cNvGrpSpPr/>
        <p:nvPr/>
      </p:nvGrpSpPr>
      <p:grpSpPr>
        <a:xfrm>
          <a:off x="0" y="0"/>
          <a:ext cx="0" cy="0"/>
          <a:chOff x="0" y="0"/>
          <a:chExt cx="0" cy="0"/>
        </a:xfrm>
      </p:grpSpPr>
      <p:sp>
        <p:nvSpPr>
          <p:cNvPr id="35" name="Decor 36"/>
          <p:cNvSpPr/>
          <p:nvPr/>
        </p:nvSpPr>
        <p:spPr>
          <a:xfrm>
            <a:off x="8890000" y="-2286000"/>
            <a:ext cx="5334000" cy="5334000"/>
          </a:xfrm>
          <a:prstGeom prst="ellipse">
            <a:avLst/>
          </a:prstGeom>
          <a:solidFill>
            <a:srgbClr val="FFFFFF">
              <a:alpha val="9000"/>
            </a:srgbClr>
          </a:solidFill>
          <a:ln>
            <a:noFill/>
          </a:ln>
        </p:spPr>
        <p:txBody>
          <a:bodyPr/>
          <a:lstStyle/>
          <a:p>
            <a:endParaRPr lang="en-US"/>
          </a:p>
        </p:txBody>
      </p:sp>
      <p:sp>
        <p:nvSpPr>
          <p:cNvPr id="36" name="Decor 37"/>
          <p:cNvSpPr/>
          <p:nvPr/>
        </p:nvSpPr>
        <p:spPr>
          <a:xfrm>
            <a:off x="-1778000" y="4572000"/>
            <a:ext cx="3810000" cy="3810000"/>
          </a:xfrm>
          <a:prstGeom prst="ellipse">
            <a:avLst/>
          </a:prstGeom>
          <a:noFill/>
          <a:ln w="28575">
            <a:solidFill>
              <a:srgbClr val="FFFFFF">
                <a:alpha val="22000"/>
              </a:srgbClr>
            </a:solidFill>
          </a:ln>
        </p:spPr>
        <p:txBody>
          <a:bodyPr/>
          <a:lstStyle/>
          <a:p>
            <a:endParaRPr lang="en-US"/>
          </a:p>
        </p:txBody>
      </p:sp>
      <p:sp>
        <p:nvSpPr>
          <p:cNvPr id="37" name="Decor 38"/>
          <p:cNvSpPr/>
          <p:nvPr/>
        </p:nvSpPr>
        <p:spPr>
          <a:xfrm>
            <a:off x="11912600" y="6553200"/>
            <a:ext cx="177800" cy="177800"/>
          </a:xfrm>
          <a:prstGeom prst="ellipse">
            <a:avLst/>
          </a:prstGeom>
          <a:solidFill>
            <a:srgbClr val="F4B336">
              <a:alpha val="35000"/>
            </a:srgbClr>
          </a:solidFill>
          <a:ln>
            <a:noFill/>
          </a:ln>
        </p:spPr>
        <p:txBody>
          <a:bodyPr/>
          <a:lstStyle/>
          <a:p>
            <a:endParaRPr lang="en-US"/>
          </a:p>
        </p:txBody>
      </p:sp>
      <p:sp>
        <p:nvSpPr>
          <p:cNvPr id="2" name="Text 1"/>
          <p:cNvSpPr>
            <a:spLocks noGrp="1"/>
          </p:cNvSpPr>
          <p:nvPr>
            <p:ph type="title" idx="101" hasCustomPrompt="1"/>
          </p:nvPr>
        </p:nvSpPr>
        <p:spPr>
          <a:xfrm>
            <a:off x="1168400" y="512064"/>
            <a:ext cx="10566400" cy="512064"/>
          </a:xfrm>
          <a:prstGeom prst="rect">
            <a:avLst/>
          </a:prstGeom>
          <a:noFill/>
          <a:ln/>
        </p:spPr>
        <p:txBody>
          <a:bodyPr wrap="square" lIns="0" tIns="0" rIns="0" bIns="0" rtlCol="0" anchor="t"/>
          <a:lstStyle/>
          <a:p>
            <a:pPr marL="0" indent="0" algn="l">
              <a:buNone/>
            </a:pPr>
            <a:r>
              <a:rPr lang="en-US" sz="3000" b="1" dirty="0">
                <a:solidFill>
                  <a:srgbClr val="FFFFFF"/>
                </a:solidFill>
              </a:rPr>
              <a:t>Trí nhớ — Ví dụ 3.1</a:t>
            </a:r>
            <a:endParaRPr lang="en-US" sz="2800" dirty="0">
              <a:solidFill>
                <a:srgbClr val="FFFFFF"/>
              </a:solidFill>
            </a:endParaRPr>
          </a:p>
        </p:txBody>
      </p:sp>
      <p:sp>
        <p:nvSpPr>
          <p:cNvPr id="34" name="Topic badge"/>
          <p:cNvSpPr/>
          <p:nvPr/>
        </p:nvSpPr>
        <p:spPr>
          <a:xfrm>
            <a:off x="457200" y="524764"/>
            <a:ext cx="508000" cy="508000"/>
          </a:xfrm>
          <a:prstGeom prst="roundRect">
            <a:avLst>
              <a:gd name="adj" fmla="val 22000"/>
            </a:avLst>
          </a:prstGeom>
          <a:solidFill>
            <a:srgbClr val="F4B336"/>
          </a:solidFill>
          <a:ln>
            <a:noFill/>
          </a:ln>
        </p:spPr>
        <p:txBody>
          <a:bodyPr wrap="none" lIns="0" tIns="0" rIns="0" bIns="0" rtlCol="0" anchor="ctr">
            <a:noAutofit/>
          </a:bodyPr>
          <a:lstStyle/>
          <a:p>
            <a:pPr algn="ctr"/>
            <a:r>
              <a:rPr lang="en-US" sz="2000" b="1" dirty="0">
                <a:solidFill>
                  <a:srgbClr val="062F5C"/>
                </a:solidFill>
              </a:rPr>
              <a:t>03</a:t>
            </a:r>
          </a:p>
        </p:txBody>
      </p:sp>
      <p:sp>
        <p:nvSpPr>
          <p:cNvPr id="200" name="Ex card image"/>
          <p:cNvSpPr/>
          <p:nvPr/>
        </p:nvSpPr>
        <p:spPr>
          <a:xfrm>
            <a:off x="457200" y="1143000"/>
            <a:ext cx="3048000" cy="3937000"/>
          </a:xfrm>
          <a:prstGeom prst="roundRect">
            <a:avLst>
              <a:gd name="adj" fmla="val 643"/>
            </a:avLst>
          </a:prstGeom>
          <a:solidFill>
            <a:srgbClr val="FFFFFF"/>
          </a:solidFill>
          <a:ln>
            <a:noFill/>
          </a:ln>
        </p:spPr>
        <p:txBody>
          <a:bodyPr/>
          <a:lstStyle/>
          <a:p>
            <a:endParaRPr lang="en-US"/>
          </a:p>
        </p:txBody>
      </p:sp>
      <p:sp>
        <p:nvSpPr>
          <p:cNvPr id="201" name="Ex image bg"/>
          <p:cNvSpPr/>
          <p:nvPr/>
        </p:nvSpPr>
        <p:spPr>
          <a:xfrm>
            <a:off x="609600" y="1295400"/>
            <a:ext cx="2743200" cy="2717800"/>
          </a:xfrm>
          <a:prstGeom prst="roundRect">
            <a:avLst>
              <a:gd name="adj" fmla="val 1543"/>
            </a:avLst>
          </a:prstGeom>
          <a:solidFill>
            <a:srgbClr val="EEF2F6"/>
          </a:solidFill>
          <a:ln>
            <a:noFill/>
          </a:ln>
        </p:spPr>
        <p:txBody>
          <a:bodyPr/>
          <a:lstStyle/>
          <a:p>
            <a:endParaRPr lang="en-US"/>
          </a:p>
        </p:txBody>
      </p:sp>
      <p:sp>
        <p:nvSpPr>
          <p:cNvPr id="202" name="Ex caption"/>
          <p:cNvSpPr txBox="1"/>
          <p:nvPr/>
        </p:nvSpPr>
        <p:spPr>
          <a:xfrm>
            <a:off x="609600" y="4089400"/>
            <a:ext cx="2743200" cy="838200"/>
          </a:xfrm>
          <a:prstGeom prst="rect">
            <a:avLst/>
          </a:prstGeom>
          <a:noFill/>
          <a:ln>
            <a:noFill/>
          </a:ln>
        </p:spPr>
        <p:txBody>
          <a:bodyPr wrap="square" lIns="0" tIns="0" rIns="0" bIns="0" rtlCol="0" anchor="t">
            <a:noAutofit/>
          </a:bodyPr>
          <a:lstStyle/>
          <a:p>
            <a:pPr marL="0" indent="0">
              <a:lnSpc>
                <a:spcPct val="105000"/>
              </a:lnSpc>
              <a:spcAft>
                <a:spcPts val="100"/>
              </a:spcAft>
              <a:buNone/>
            </a:pPr>
            <a:r>
              <a:rPr lang="vi-VN" sz="1200" i="1" dirty="0">
                <a:solidFill>
                  <a:srgbClr val="344054"/>
                </a:solidFill>
              </a:rPr>
              <a:t>Hình 3.1. Giao diện gợi ý tìm kiếm trên ứng dụng Shopee</a:t>
            </a:r>
          </a:p>
          <a:p>
            <a:pPr marL="0" indent="0">
              <a:lnSpc>
                <a:spcPct val="105000"/>
              </a:lnSpc>
              <a:buNone/>
            </a:pPr>
            <a:r>
              <a:rPr lang="vi-VN" sz="1100" i="1" dirty="0">
                <a:solidFill>
                  <a:srgbClr val="475467"/>
                </a:solidFill>
              </a:rPr>
              <a:t>Nguồn: Chụp màn hình ứng dụng Shopee</a:t>
            </a:r>
          </a:p>
        </p:txBody>
      </p:sp>
      <p:sp>
        <p:nvSpPr>
          <p:cNvPr id="203" name="Ex card text"/>
          <p:cNvSpPr/>
          <p:nvPr/>
        </p:nvSpPr>
        <p:spPr>
          <a:xfrm>
            <a:off x="3657600" y="1143000"/>
            <a:ext cx="8077200" cy="3937000"/>
          </a:xfrm>
          <a:prstGeom prst="roundRect">
            <a:avLst>
              <a:gd name="adj" fmla="val 643"/>
            </a:avLst>
          </a:prstGeom>
          <a:solidFill>
            <a:srgbClr val="FFFFFF"/>
          </a:solidFill>
          <a:ln>
            <a:noFill/>
          </a:ln>
        </p:spPr>
        <p:txBody>
          <a:bodyPr/>
          <a:lstStyle/>
          <a:p>
            <a:endParaRPr lang="en-US"/>
          </a:p>
        </p:txBody>
      </p:sp>
      <p:sp>
        <p:nvSpPr>
          <p:cNvPr id="204" name="Ex name"/>
          <p:cNvSpPr txBox="1"/>
          <p:nvPr/>
        </p:nvSpPr>
        <p:spPr>
          <a:xfrm>
            <a:off x="3886200" y="1244600"/>
            <a:ext cx="7620000" cy="681736"/>
          </a:xfrm>
          <a:prstGeom prst="rect">
            <a:avLst/>
          </a:prstGeom>
          <a:noFill/>
          <a:ln>
            <a:noFill/>
          </a:ln>
        </p:spPr>
        <p:txBody>
          <a:bodyPr wrap="square" lIns="0" tIns="0" rIns="0" bIns="0" rtlCol="0" anchor="t">
            <a:noAutofit/>
          </a:bodyPr>
          <a:lstStyle/>
          <a:p>
            <a:pPr marL="0" indent="0">
              <a:lnSpc>
                <a:spcPct val="105000"/>
              </a:lnSpc>
              <a:buNone/>
            </a:pPr>
            <a:r>
              <a:rPr lang="vi-VN" sz="2200" b="1" dirty="0">
                <a:solidFill>
                  <a:srgbClr val="1677B8"/>
                </a:solidFill>
              </a:rPr>
              <a:t>Ví dụ 3.1: </a:t>
            </a:r>
            <a:r>
              <a:rPr lang="vi-VN" sz="2200" b="1" dirty="0">
                <a:solidFill>
                  <a:srgbClr val="062F5C"/>
                </a:solidFill>
              </a:rPr>
              <a:t>Gợi ý lịch sử tìm kiếm và Auto-complete trên Shopee / Lazada</a:t>
            </a:r>
          </a:p>
        </p:txBody>
      </p:sp>
      <p:sp>
        <p:nvSpPr>
          <p:cNvPr id="205" name="Ex body"/>
          <p:cNvSpPr txBox="1"/>
          <p:nvPr/>
        </p:nvSpPr>
        <p:spPr>
          <a:xfrm>
            <a:off x="3886200" y="2002536"/>
            <a:ext cx="7620000" cy="2975864"/>
          </a:xfrm>
          <a:prstGeom prst="rect">
            <a:avLst/>
          </a:prstGeom>
          <a:noFill/>
          <a:ln>
            <a:noFill/>
          </a:ln>
        </p:spPr>
        <p:txBody>
          <a:bodyPr wrap="square" lIns="0" tIns="0" rIns="0" bIns="0" rtlCol="0" anchor="t">
            <a:noAutofit/>
          </a:bodyPr>
          <a:lstStyle/>
          <a:p>
            <a:pPr marL="0" indent="0">
              <a:lnSpc>
                <a:spcPct val="98000"/>
              </a:lnSpc>
              <a:spcAft>
                <a:spcPts val="300"/>
              </a:spcAft>
              <a:buNone/>
            </a:pPr>
            <a:r>
              <a:rPr lang="vi-VN" sz="2000" b="1" dirty="0"/>
              <a:t>Là gì, có gì:</a:t>
            </a:r>
            <a:br>
              <a:rPr lang="vi-VN" sz="2000" dirty="0"/>
            </a:br>
            <a:r>
              <a:rPr lang="vi-VN" sz="2000" dirty="0">
                <a:solidFill>
                  <a:srgbClr val="344054"/>
                </a:solidFill>
              </a:rPr>
              <a:t>Khi nhấp vào thanh tìm kiếm, ứng dụng hiển thị danh sách các từ khóa đã tìm gần đây và tự động điền gợi ý từ khóa khi người dùng gõ từng ký tự.</a:t>
            </a:r>
          </a:p>
          <a:p>
            <a:pPr marL="0" indent="0">
              <a:lnSpc>
                <a:spcPct val="98000"/>
              </a:lnSpc>
              <a:spcAft>
                <a:spcPts val="0"/>
              </a:spcAft>
              <a:buNone/>
            </a:pPr>
            <a:r>
              <a:rPr lang="vi-VN" sz="2000" b="1" dirty="0"/>
              <a:t>Liên hệ đặc điểm nhận thức:</a:t>
            </a:r>
            <a:br>
              <a:rPr lang="vi-VN" sz="2000" dirty="0"/>
            </a:br>
            <a:r>
              <a:rPr lang="vi-VN" sz="2000" dirty="0">
                <a:solidFill>
                  <a:srgbClr val="344054"/>
                </a:solidFill>
              </a:rPr>
              <a:t>Áp dụng nguyên lý </a:t>
            </a:r>
            <a:r>
              <a:rPr lang="vi-VN" sz="2000" b="1" dirty="0">
                <a:solidFill>
                  <a:srgbClr val="344054"/>
                </a:solidFill>
              </a:rPr>
              <a:t>Nhận biết thay vì Bắt nhớ lại </a:t>
            </a:r>
            <a:r>
              <a:rPr lang="vi-VN" sz="2000" dirty="0">
                <a:solidFill>
                  <a:srgbClr val="344054"/>
                </a:solidFill>
              </a:rPr>
              <a:t>(Recognition over Recall). Người dùng không cần cố nhớ chính xác tên sản phẩm dài phức tạp mà họ từng xem.</a:t>
            </a:r>
          </a:p>
        </p:txBody>
      </p:sp>
      <p:sp>
        <p:nvSpPr>
          <p:cNvPr id="206" name="Ex lesson bg"/>
          <p:cNvSpPr/>
          <p:nvPr/>
        </p:nvSpPr>
        <p:spPr>
          <a:xfrm>
            <a:off x="457200" y="5156200"/>
            <a:ext cx="11277600" cy="635000"/>
          </a:xfrm>
          <a:prstGeom prst="rect">
            <a:avLst/>
          </a:prstGeom>
          <a:solidFill>
            <a:srgbClr val="EAF5EF"/>
          </a:solidFill>
          <a:ln>
            <a:noFill/>
          </a:ln>
        </p:spPr>
        <p:txBody>
          <a:bodyPr/>
          <a:lstStyle/>
          <a:p>
            <a:endParaRPr lang="en-US"/>
          </a:p>
        </p:txBody>
      </p:sp>
      <p:sp>
        <p:nvSpPr>
          <p:cNvPr id="207" name="Ex lesson bar"/>
          <p:cNvSpPr/>
          <p:nvPr/>
        </p:nvSpPr>
        <p:spPr>
          <a:xfrm>
            <a:off x="457200" y="5156200"/>
            <a:ext cx="50800" cy="635000"/>
          </a:xfrm>
          <a:prstGeom prst="rect">
            <a:avLst/>
          </a:prstGeom>
          <a:solidFill>
            <a:srgbClr val="2E9B67"/>
          </a:solidFill>
          <a:ln>
            <a:noFill/>
          </a:ln>
        </p:spPr>
        <p:txBody>
          <a:bodyPr/>
          <a:lstStyle/>
          <a:p>
            <a:endParaRPr lang="en-US"/>
          </a:p>
        </p:txBody>
      </p:sp>
      <p:sp>
        <p:nvSpPr>
          <p:cNvPr id="208" name="Ex lesson"/>
          <p:cNvSpPr txBox="1"/>
          <p:nvPr/>
        </p:nvSpPr>
        <p:spPr>
          <a:xfrm>
            <a:off x="685800" y="5156200"/>
            <a:ext cx="10820400" cy="635000"/>
          </a:xfrm>
          <a:prstGeom prst="rect">
            <a:avLst/>
          </a:prstGeom>
          <a:noFill/>
          <a:ln>
            <a:noFill/>
          </a:ln>
        </p:spPr>
        <p:txBody>
          <a:bodyPr wrap="square" lIns="0" tIns="0" rIns="0" bIns="0" rtlCol="0" anchor="ctr">
            <a:noAutofit/>
          </a:bodyPr>
          <a:lstStyle/>
          <a:p>
            <a:pPr marL="0" indent="0">
              <a:lnSpc>
                <a:spcPct val="105000"/>
              </a:lnSpc>
              <a:buNone/>
            </a:pPr>
            <a:r>
              <a:rPr lang="vi-VN" sz="1800" b="1" dirty="0">
                <a:solidFill>
                  <a:srgbClr val="1E7F53"/>
                </a:solidFill>
              </a:rPr>
              <a:t>Bài học: </a:t>
            </a:r>
            <a:r>
              <a:rPr lang="vi-VN" sz="1800" b="1" dirty="0">
                <a:solidFill>
                  <a:srgbClr val="062F5C"/>
                </a:solidFill>
              </a:rPr>
              <a:t>Lưu trữ thao tác quá khứ của người dùng và hiển thị dưới dạng gợi ý trực quan ngay tại nơi thao tác.</a:t>
            </a:r>
          </a:p>
        </p:txBody>
      </p:sp>
      <p:pic>
        <p:nvPicPr>
          <p:cNvPr id="3" name="Ex image">
            <a:extLst>
              <a:ext uri="{FF2B5EF4-FFF2-40B4-BE49-F238E27FC236}">
                <a16:creationId xmlns:a16="http://schemas.microsoft.com/office/drawing/2014/main" id="{FCA1975E-BC5A-6F1D-74A5-C2B72C9430A8}"/>
              </a:ext>
            </a:extLst>
          </p:cNvPr>
          <p:cNvPicPr>
            <a:picLocks noChangeAspect="1"/>
          </p:cNvPicPr>
          <p:nvPr/>
        </p:nvPicPr>
        <p:blipFill>
          <a:blip r:embed="rId3"/>
          <a:stretch>
            <a:fillRect/>
          </a:stretch>
        </p:blipFill>
        <p:spPr>
          <a:xfrm>
            <a:off x="609600" y="2163472"/>
            <a:ext cx="2743200" cy="981656"/>
          </a:xfrm>
          <a:prstGeom prst="rect">
            <a:avLst/>
          </a:prstGeom>
        </p:spPr>
      </p:pic>
      <p:sp>
        <p:nvSpPr>
          <p:cNvPr id="209" name="Ex badge"/>
          <p:cNvSpPr/>
          <p:nvPr/>
        </p:nvSpPr>
        <p:spPr>
          <a:xfrm>
            <a:off x="711200" y="1397000"/>
            <a:ext cx="381000" cy="381000"/>
          </a:xfrm>
          <a:prstGeom prst="ellipse">
            <a:avLst/>
          </a:prstGeom>
          <a:solidFill>
            <a:srgbClr val="073B6F"/>
          </a:solidFill>
          <a:ln w="28575">
            <a:solidFill>
              <a:srgbClr val="F4B336"/>
            </a:solidFill>
          </a:ln>
        </p:spPr>
        <p:txBody>
          <a:bodyPr/>
          <a:lstStyle/>
          <a:p>
            <a:endParaRPr lang="en-US"/>
          </a:p>
        </p:txBody>
      </p:sp>
      <p:sp>
        <p:nvSpPr>
          <p:cNvPr id="210" name="Ex badge num"/>
          <p:cNvSpPr txBox="1"/>
          <p:nvPr/>
        </p:nvSpPr>
        <p:spPr>
          <a:xfrm>
            <a:off x="711200" y="1397000"/>
            <a:ext cx="381000" cy="381000"/>
          </a:xfrm>
          <a:prstGeom prst="rect">
            <a:avLst/>
          </a:prstGeom>
          <a:noFill/>
          <a:ln>
            <a:noFill/>
          </a:ln>
        </p:spPr>
        <p:txBody>
          <a:bodyPr wrap="square" lIns="0" tIns="0" rIns="0" bIns="0" rtlCol="0" anchor="ctr">
            <a:noAutofit/>
          </a:bodyPr>
          <a:lstStyle/>
          <a:p>
            <a:pPr marL="0" indent="0" algn="ctr">
              <a:buNone/>
            </a:pPr>
            <a:r>
              <a:rPr lang="vi-VN" sz="1000" b="1" dirty="0">
                <a:solidFill>
                  <a:srgbClr val="FFFFFF"/>
                </a:solidFill>
              </a:rPr>
              <a:t>3.1</a:t>
            </a:r>
          </a:p>
        </p:txBody>
      </p:sp>
    </p:spTree>
    <p:extLst>
      <p:ext uri="{BB962C8B-B14F-4D97-AF65-F5344CB8AC3E}">
        <p14:creationId xmlns:p14="http://schemas.microsoft.com/office/powerpoint/2010/main" val="11919159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9">
    <p:bg>
      <p:bgPr>
        <a:solidFill>
          <a:srgbClr val="062F5C"/>
        </a:solidFill>
        <a:effectLst/>
      </p:bgPr>
    </p:bg>
    <p:spTree>
      <p:nvGrpSpPr>
        <p:cNvPr id="1" name=""/>
        <p:cNvGrpSpPr/>
        <p:nvPr/>
      </p:nvGrpSpPr>
      <p:grpSpPr>
        <a:xfrm>
          <a:off x="0" y="0"/>
          <a:ext cx="0" cy="0"/>
          <a:chOff x="0" y="0"/>
          <a:chExt cx="0" cy="0"/>
        </a:xfrm>
      </p:grpSpPr>
      <p:sp>
        <p:nvSpPr>
          <p:cNvPr id="35" name="Decor 36"/>
          <p:cNvSpPr/>
          <p:nvPr/>
        </p:nvSpPr>
        <p:spPr>
          <a:xfrm>
            <a:off x="8890000" y="-2286000"/>
            <a:ext cx="5334000" cy="5334000"/>
          </a:xfrm>
          <a:prstGeom prst="ellipse">
            <a:avLst/>
          </a:prstGeom>
          <a:solidFill>
            <a:srgbClr val="FFFFFF">
              <a:alpha val="9000"/>
            </a:srgbClr>
          </a:solidFill>
          <a:ln>
            <a:noFill/>
          </a:ln>
        </p:spPr>
        <p:txBody>
          <a:bodyPr/>
          <a:lstStyle/>
          <a:p>
            <a:endParaRPr lang="en-US"/>
          </a:p>
        </p:txBody>
      </p:sp>
      <p:sp>
        <p:nvSpPr>
          <p:cNvPr id="36" name="Decor 37"/>
          <p:cNvSpPr/>
          <p:nvPr/>
        </p:nvSpPr>
        <p:spPr>
          <a:xfrm>
            <a:off x="-1778000" y="4572000"/>
            <a:ext cx="3810000" cy="3810000"/>
          </a:xfrm>
          <a:prstGeom prst="ellipse">
            <a:avLst/>
          </a:prstGeom>
          <a:noFill/>
          <a:ln w="28575">
            <a:solidFill>
              <a:srgbClr val="FFFFFF">
                <a:alpha val="22000"/>
              </a:srgbClr>
            </a:solidFill>
          </a:ln>
        </p:spPr>
        <p:txBody>
          <a:bodyPr/>
          <a:lstStyle/>
          <a:p>
            <a:endParaRPr lang="en-US"/>
          </a:p>
        </p:txBody>
      </p:sp>
      <p:sp>
        <p:nvSpPr>
          <p:cNvPr id="37" name="Decor 38"/>
          <p:cNvSpPr/>
          <p:nvPr/>
        </p:nvSpPr>
        <p:spPr>
          <a:xfrm>
            <a:off x="11912600" y="6553200"/>
            <a:ext cx="177800" cy="177800"/>
          </a:xfrm>
          <a:prstGeom prst="ellipse">
            <a:avLst/>
          </a:prstGeom>
          <a:solidFill>
            <a:srgbClr val="F4B336">
              <a:alpha val="35000"/>
            </a:srgbClr>
          </a:solidFill>
          <a:ln>
            <a:noFill/>
          </a:ln>
        </p:spPr>
        <p:txBody>
          <a:bodyPr/>
          <a:lstStyle/>
          <a:p>
            <a:endParaRPr lang="en-US"/>
          </a:p>
        </p:txBody>
      </p:sp>
      <p:sp>
        <p:nvSpPr>
          <p:cNvPr id="2" name="Text 1"/>
          <p:cNvSpPr>
            <a:spLocks noGrp="1"/>
          </p:cNvSpPr>
          <p:nvPr>
            <p:ph type="title" idx="101" hasCustomPrompt="1"/>
          </p:nvPr>
        </p:nvSpPr>
        <p:spPr>
          <a:xfrm>
            <a:off x="1168400" y="512064"/>
            <a:ext cx="10566400" cy="512064"/>
          </a:xfrm>
          <a:prstGeom prst="rect">
            <a:avLst/>
          </a:prstGeom>
          <a:noFill/>
          <a:ln/>
        </p:spPr>
        <p:txBody>
          <a:bodyPr wrap="square" lIns="0" tIns="0" rIns="0" bIns="0" rtlCol="0" anchor="t"/>
          <a:lstStyle/>
          <a:p>
            <a:pPr marL="0" indent="0" algn="l">
              <a:buNone/>
            </a:pPr>
            <a:r>
              <a:rPr lang="en-US" sz="3000" b="1" dirty="0">
                <a:solidFill>
                  <a:srgbClr val="FFFFFF"/>
                </a:solidFill>
              </a:rPr>
              <a:t>Trí nhớ — Ví dụ 3.2</a:t>
            </a:r>
            <a:endParaRPr lang="en-US" sz="2800" dirty="0">
              <a:solidFill>
                <a:srgbClr val="FFFFFF"/>
              </a:solidFill>
            </a:endParaRPr>
          </a:p>
        </p:txBody>
      </p:sp>
      <p:sp>
        <p:nvSpPr>
          <p:cNvPr id="34" name="Topic badge"/>
          <p:cNvSpPr/>
          <p:nvPr/>
        </p:nvSpPr>
        <p:spPr>
          <a:xfrm>
            <a:off x="457200" y="524764"/>
            <a:ext cx="508000" cy="508000"/>
          </a:xfrm>
          <a:prstGeom prst="roundRect">
            <a:avLst>
              <a:gd name="adj" fmla="val 22000"/>
            </a:avLst>
          </a:prstGeom>
          <a:solidFill>
            <a:srgbClr val="F4B336"/>
          </a:solidFill>
          <a:ln>
            <a:noFill/>
          </a:ln>
        </p:spPr>
        <p:txBody>
          <a:bodyPr wrap="none" lIns="0" tIns="0" rIns="0" bIns="0" rtlCol="0" anchor="ctr">
            <a:noAutofit/>
          </a:bodyPr>
          <a:lstStyle/>
          <a:p>
            <a:pPr algn="ctr"/>
            <a:r>
              <a:rPr lang="en-US" sz="2000" b="1" dirty="0">
                <a:solidFill>
                  <a:srgbClr val="062F5C"/>
                </a:solidFill>
              </a:rPr>
              <a:t>03</a:t>
            </a:r>
          </a:p>
        </p:txBody>
      </p:sp>
      <p:sp>
        <p:nvSpPr>
          <p:cNvPr id="200" name="Ex card image"/>
          <p:cNvSpPr/>
          <p:nvPr/>
        </p:nvSpPr>
        <p:spPr>
          <a:xfrm>
            <a:off x="457200" y="1143000"/>
            <a:ext cx="3048000" cy="4495800"/>
          </a:xfrm>
          <a:prstGeom prst="roundRect">
            <a:avLst>
              <a:gd name="adj" fmla="val 643"/>
            </a:avLst>
          </a:prstGeom>
          <a:solidFill>
            <a:srgbClr val="FFFFFF"/>
          </a:solidFill>
          <a:ln>
            <a:noFill/>
          </a:ln>
        </p:spPr>
        <p:txBody>
          <a:bodyPr/>
          <a:lstStyle/>
          <a:p>
            <a:endParaRPr lang="en-US"/>
          </a:p>
        </p:txBody>
      </p:sp>
      <p:sp>
        <p:nvSpPr>
          <p:cNvPr id="201" name="Ex image bg"/>
          <p:cNvSpPr/>
          <p:nvPr/>
        </p:nvSpPr>
        <p:spPr>
          <a:xfrm>
            <a:off x="609600" y="1295400"/>
            <a:ext cx="2743200" cy="3225800"/>
          </a:xfrm>
          <a:prstGeom prst="roundRect">
            <a:avLst>
              <a:gd name="adj" fmla="val 1543"/>
            </a:avLst>
          </a:prstGeom>
          <a:solidFill>
            <a:srgbClr val="EEF2F6"/>
          </a:solidFill>
          <a:ln>
            <a:noFill/>
          </a:ln>
        </p:spPr>
        <p:txBody>
          <a:bodyPr/>
          <a:lstStyle/>
          <a:p>
            <a:endParaRPr lang="en-US"/>
          </a:p>
        </p:txBody>
      </p:sp>
      <p:sp>
        <p:nvSpPr>
          <p:cNvPr id="202" name="Ex caption"/>
          <p:cNvSpPr txBox="1"/>
          <p:nvPr/>
        </p:nvSpPr>
        <p:spPr>
          <a:xfrm>
            <a:off x="609600" y="4597400"/>
            <a:ext cx="2743200" cy="889000"/>
          </a:xfrm>
          <a:prstGeom prst="rect">
            <a:avLst/>
          </a:prstGeom>
          <a:noFill/>
          <a:ln>
            <a:noFill/>
          </a:ln>
        </p:spPr>
        <p:txBody>
          <a:bodyPr wrap="square" lIns="0" tIns="0" rIns="0" bIns="0" rtlCol="0" anchor="t">
            <a:noAutofit/>
          </a:bodyPr>
          <a:lstStyle/>
          <a:p>
            <a:pPr marL="0" indent="0">
              <a:lnSpc>
                <a:spcPct val="105000"/>
              </a:lnSpc>
              <a:spcAft>
                <a:spcPts val="100"/>
              </a:spcAft>
              <a:buNone/>
            </a:pPr>
            <a:r>
              <a:rPr lang="vi-VN" sz="1200" i="1" dirty="0">
                <a:solidFill>
                  <a:srgbClr val="344054"/>
                </a:solidFill>
              </a:rPr>
              <a:t>Hình 3.2. Quy trình đặt hàng theo 4 bước với thanh tiến trình</a:t>
            </a:r>
          </a:p>
          <a:p>
            <a:pPr marL="0" indent="0">
              <a:lnSpc>
                <a:spcPct val="105000"/>
              </a:lnSpc>
              <a:buNone/>
            </a:pPr>
            <a:r>
              <a:rPr lang="vi-VN" sz="1100" i="1" dirty="0">
                <a:solidFill>
                  <a:srgbClr val="475467"/>
                </a:solidFill>
              </a:rPr>
              <a:t>Nguồn: Baymard Institute</a:t>
            </a:r>
          </a:p>
        </p:txBody>
      </p:sp>
      <p:sp>
        <p:nvSpPr>
          <p:cNvPr id="203" name="Ex card text"/>
          <p:cNvSpPr/>
          <p:nvPr/>
        </p:nvSpPr>
        <p:spPr>
          <a:xfrm>
            <a:off x="3657600" y="1143000"/>
            <a:ext cx="8077200" cy="4495800"/>
          </a:xfrm>
          <a:prstGeom prst="roundRect">
            <a:avLst>
              <a:gd name="adj" fmla="val 643"/>
            </a:avLst>
          </a:prstGeom>
          <a:solidFill>
            <a:srgbClr val="FFFFFF"/>
          </a:solidFill>
          <a:ln>
            <a:noFill/>
          </a:ln>
        </p:spPr>
        <p:txBody>
          <a:bodyPr/>
          <a:lstStyle/>
          <a:p>
            <a:endParaRPr lang="en-US"/>
          </a:p>
        </p:txBody>
      </p:sp>
      <p:sp>
        <p:nvSpPr>
          <p:cNvPr id="204" name="Ex name"/>
          <p:cNvSpPr txBox="1"/>
          <p:nvPr/>
        </p:nvSpPr>
        <p:spPr>
          <a:xfrm>
            <a:off x="3886200" y="1244600"/>
            <a:ext cx="7620000" cy="681736"/>
          </a:xfrm>
          <a:prstGeom prst="rect">
            <a:avLst/>
          </a:prstGeom>
          <a:noFill/>
          <a:ln>
            <a:noFill/>
          </a:ln>
        </p:spPr>
        <p:txBody>
          <a:bodyPr wrap="square" lIns="0" tIns="0" rIns="0" bIns="0" rtlCol="0" anchor="t">
            <a:noAutofit/>
          </a:bodyPr>
          <a:lstStyle/>
          <a:p>
            <a:pPr marL="0" indent="0">
              <a:lnSpc>
                <a:spcPct val="105000"/>
              </a:lnSpc>
              <a:buNone/>
            </a:pPr>
            <a:r>
              <a:rPr lang="vi-VN" sz="2200" b="1" dirty="0">
                <a:solidFill>
                  <a:srgbClr val="1677B8"/>
                </a:solidFill>
              </a:rPr>
              <a:t>Ví dụ 3.2: </a:t>
            </a:r>
            <a:r>
              <a:rPr lang="vi-VN" sz="2200" b="1" dirty="0">
                <a:solidFill>
                  <a:srgbClr val="062F5C"/>
                </a:solidFill>
              </a:rPr>
              <a:t>Quy trình Thanh toán nhiều bước (Multi-step Checkout)</a:t>
            </a:r>
          </a:p>
        </p:txBody>
      </p:sp>
      <p:sp>
        <p:nvSpPr>
          <p:cNvPr id="205" name="Ex body"/>
          <p:cNvSpPr txBox="1"/>
          <p:nvPr/>
        </p:nvSpPr>
        <p:spPr>
          <a:xfrm>
            <a:off x="3886200" y="2002536"/>
            <a:ext cx="7620000" cy="3534664"/>
          </a:xfrm>
          <a:prstGeom prst="rect">
            <a:avLst/>
          </a:prstGeom>
          <a:noFill/>
          <a:ln>
            <a:noFill/>
          </a:ln>
        </p:spPr>
        <p:txBody>
          <a:bodyPr wrap="square" lIns="0" tIns="0" rIns="0" bIns="0" rtlCol="0" anchor="t">
            <a:noAutofit/>
          </a:bodyPr>
          <a:lstStyle/>
          <a:p>
            <a:pPr marL="0" indent="0">
              <a:lnSpc>
                <a:spcPct val="98000"/>
              </a:lnSpc>
              <a:spcAft>
                <a:spcPts val="300"/>
              </a:spcAft>
              <a:buNone/>
            </a:pPr>
            <a:r>
              <a:rPr lang="vi-VN" sz="2000" b="1" dirty="0"/>
              <a:t>Là gì, có gì:</a:t>
            </a:r>
            <a:br>
              <a:rPr lang="vi-VN" sz="2000" dirty="0"/>
            </a:br>
            <a:r>
              <a:rPr lang="vi-VN" sz="2000" dirty="0">
                <a:solidFill>
                  <a:srgbClr val="344054"/>
                </a:solidFill>
              </a:rPr>
              <a:t>Giao diện đặt hàng chia rõ các bước: 1. Địa chỉ → 2. Vận chuyển → 3. Thanh toán → 4. Xác nhận, đi kèm thanh tiến trình (Progress Bar).</a:t>
            </a:r>
          </a:p>
          <a:p>
            <a:pPr marL="0" indent="0">
              <a:lnSpc>
                <a:spcPct val="98000"/>
              </a:lnSpc>
              <a:spcAft>
                <a:spcPts val="0"/>
              </a:spcAft>
              <a:buNone/>
            </a:pPr>
            <a:r>
              <a:rPr lang="vi-VN" sz="2000" b="1" dirty="0"/>
              <a:t>Liên hệ đặc điểm nhận thức:</a:t>
            </a:r>
            <a:br>
              <a:rPr lang="vi-VN" sz="2000" dirty="0"/>
            </a:br>
            <a:r>
              <a:rPr lang="vi-VN" sz="2000" dirty="0">
                <a:solidFill>
                  <a:srgbClr val="344054"/>
                </a:solidFill>
              </a:rPr>
              <a:t>Giảm tải </a:t>
            </a:r>
            <a:r>
              <a:rPr lang="vi-VN" sz="2000" b="1" dirty="0">
                <a:solidFill>
                  <a:srgbClr val="344054"/>
                </a:solidFill>
              </a:rPr>
              <a:t>bộ nhớ làm việc</a:t>
            </a:r>
            <a:r>
              <a:rPr lang="vi-VN" sz="2000" dirty="0">
                <a:solidFill>
                  <a:srgbClr val="344054"/>
                </a:solidFill>
              </a:rPr>
              <a:t> (Working Memory). Người dùng không bị choáng ngợp bởi một biểu mẫu khổng lồ và không phải ghi nhớ mình đã điền thông tin gì.</a:t>
            </a:r>
          </a:p>
        </p:txBody>
      </p:sp>
      <p:sp>
        <p:nvSpPr>
          <p:cNvPr id="206" name="Ex lesson bg"/>
          <p:cNvSpPr/>
          <p:nvPr/>
        </p:nvSpPr>
        <p:spPr>
          <a:xfrm>
            <a:off x="457200" y="5715000"/>
            <a:ext cx="11277600" cy="635000"/>
          </a:xfrm>
          <a:prstGeom prst="rect">
            <a:avLst/>
          </a:prstGeom>
          <a:solidFill>
            <a:srgbClr val="EAF5EF"/>
          </a:solidFill>
          <a:ln>
            <a:noFill/>
          </a:ln>
        </p:spPr>
        <p:txBody>
          <a:bodyPr/>
          <a:lstStyle/>
          <a:p>
            <a:endParaRPr lang="en-US"/>
          </a:p>
        </p:txBody>
      </p:sp>
      <p:sp>
        <p:nvSpPr>
          <p:cNvPr id="207" name="Ex lesson bar"/>
          <p:cNvSpPr/>
          <p:nvPr/>
        </p:nvSpPr>
        <p:spPr>
          <a:xfrm>
            <a:off x="457200" y="5715000"/>
            <a:ext cx="50800" cy="635000"/>
          </a:xfrm>
          <a:prstGeom prst="rect">
            <a:avLst/>
          </a:prstGeom>
          <a:solidFill>
            <a:srgbClr val="2E9B67"/>
          </a:solidFill>
          <a:ln>
            <a:noFill/>
          </a:ln>
        </p:spPr>
        <p:txBody>
          <a:bodyPr/>
          <a:lstStyle/>
          <a:p>
            <a:endParaRPr lang="en-US"/>
          </a:p>
        </p:txBody>
      </p:sp>
      <p:sp>
        <p:nvSpPr>
          <p:cNvPr id="208" name="Ex lesson"/>
          <p:cNvSpPr txBox="1"/>
          <p:nvPr/>
        </p:nvSpPr>
        <p:spPr>
          <a:xfrm>
            <a:off x="685800" y="5715000"/>
            <a:ext cx="10820400" cy="635000"/>
          </a:xfrm>
          <a:prstGeom prst="rect">
            <a:avLst/>
          </a:prstGeom>
          <a:noFill/>
          <a:ln>
            <a:noFill/>
          </a:ln>
        </p:spPr>
        <p:txBody>
          <a:bodyPr wrap="square" lIns="0" tIns="0" rIns="0" bIns="0" rtlCol="0" anchor="ctr">
            <a:noAutofit/>
          </a:bodyPr>
          <a:lstStyle/>
          <a:p>
            <a:pPr marL="0" indent="0">
              <a:lnSpc>
                <a:spcPct val="105000"/>
              </a:lnSpc>
              <a:buNone/>
            </a:pPr>
            <a:r>
              <a:rPr lang="vi-VN" sz="1800" b="1" dirty="0">
                <a:solidFill>
                  <a:srgbClr val="1E7F53"/>
                </a:solidFill>
              </a:rPr>
              <a:t>Bài học: </a:t>
            </a:r>
            <a:r>
              <a:rPr lang="vi-VN" sz="1800" b="1" dirty="0">
                <a:solidFill>
                  <a:srgbClr val="062F5C"/>
                </a:solidFill>
              </a:rPr>
              <a:t>Chia nhỏ công việc phức tạp thành chuỗi thao tác đơn giản và minh bạch tiến trình.</a:t>
            </a:r>
          </a:p>
        </p:txBody>
      </p:sp>
      <p:pic>
        <p:nvPicPr>
          <p:cNvPr id="3" name="Ex image">
            <a:extLst>
              <a:ext uri="{FF2B5EF4-FFF2-40B4-BE49-F238E27FC236}">
                <a16:creationId xmlns:a16="http://schemas.microsoft.com/office/drawing/2014/main" id="{82825A79-4582-9420-4AB4-C7022788E78A}"/>
              </a:ext>
            </a:extLst>
          </p:cNvPr>
          <p:cNvPicPr>
            <a:picLocks noChangeAspect="1"/>
          </p:cNvPicPr>
          <p:nvPr/>
        </p:nvPicPr>
        <p:blipFill>
          <a:blip r:embed="rId3"/>
          <a:stretch>
            <a:fillRect/>
          </a:stretch>
        </p:blipFill>
        <p:spPr>
          <a:xfrm>
            <a:off x="609600" y="1950768"/>
            <a:ext cx="2743200" cy="1915064"/>
          </a:xfrm>
          <a:prstGeom prst="rect">
            <a:avLst/>
          </a:prstGeom>
        </p:spPr>
      </p:pic>
      <p:sp>
        <p:nvSpPr>
          <p:cNvPr id="209" name="Ex badge"/>
          <p:cNvSpPr/>
          <p:nvPr/>
        </p:nvSpPr>
        <p:spPr>
          <a:xfrm>
            <a:off x="711200" y="1397000"/>
            <a:ext cx="381000" cy="381000"/>
          </a:xfrm>
          <a:prstGeom prst="ellipse">
            <a:avLst/>
          </a:prstGeom>
          <a:solidFill>
            <a:srgbClr val="073B6F"/>
          </a:solidFill>
          <a:ln w="28575">
            <a:solidFill>
              <a:srgbClr val="F4B336"/>
            </a:solidFill>
          </a:ln>
        </p:spPr>
        <p:txBody>
          <a:bodyPr/>
          <a:lstStyle/>
          <a:p>
            <a:endParaRPr lang="en-US"/>
          </a:p>
        </p:txBody>
      </p:sp>
      <p:sp>
        <p:nvSpPr>
          <p:cNvPr id="210" name="Ex badge num"/>
          <p:cNvSpPr txBox="1"/>
          <p:nvPr/>
        </p:nvSpPr>
        <p:spPr>
          <a:xfrm>
            <a:off x="711200" y="1397000"/>
            <a:ext cx="381000" cy="381000"/>
          </a:xfrm>
          <a:prstGeom prst="rect">
            <a:avLst/>
          </a:prstGeom>
          <a:noFill/>
          <a:ln>
            <a:noFill/>
          </a:ln>
        </p:spPr>
        <p:txBody>
          <a:bodyPr wrap="square" lIns="0" tIns="0" rIns="0" bIns="0" rtlCol="0" anchor="ctr">
            <a:noAutofit/>
          </a:bodyPr>
          <a:lstStyle/>
          <a:p>
            <a:pPr marL="0" indent="0" algn="ctr">
              <a:buNone/>
            </a:pPr>
            <a:r>
              <a:rPr lang="vi-VN" sz="1000" b="1" dirty="0">
                <a:solidFill>
                  <a:srgbClr val="FFFFFF"/>
                </a:solidFill>
              </a:rPr>
              <a:t>3.2</a:t>
            </a:r>
          </a:p>
        </p:txBody>
      </p:sp>
    </p:spTree>
    <p:extLst>
      <p:ext uri="{BB962C8B-B14F-4D97-AF65-F5344CB8AC3E}">
        <p14:creationId xmlns:p14="http://schemas.microsoft.com/office/powerpoint/2010/main" val="29196889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9">
    <p:bg>
      <p:bgPr>
        <a:solidFill>
          <a:srgbClr val="062F5C"/>
        </a:solidFill>
        <a:effectLst/>
      </p:bgPr>
    </p:bg>
    <p:spTree>
      <p:nvGrpSpPr>
        <p:cNvPr id="1" name=""/>
        <p:cNvGrpSpPr/>
        <p:nvPr/>
      </p:nvGrpSpPr>
      <p:grpSpPr>
        <a:xfrm>
          <a:off x="0" y="0"/>
          <a:ext cx="0" cy="0"/>
          <a:chOff x="0" y="0"/>
          <a:chExt cx="0" cy="0"/>
        </a:xfrm>
      </p:grpSpPr>
      <p:sp>
        <p:nvSpPr>
          <p:cNvPr id="35" name="Decor 36"/>
          <p:cNvSpPr/>
          <p:nvPr/>
        </p:nvSpPr>
        <p:spPr>
          <a:xfrm>
            <a:off x="8890000" y="-2286000"/>
            <a:ext cx="5334000" cy="5334000"/>
          </a:xfrm>
          <a:prstGeom prst="ellipse">
            <a:avLst/>
          </a:prstGeom>
          <a:solidFill>
            <a:srgbClr val="FFFFFF">
              <a:alpha val="9000"/>
            </a:srgbClr>
          </a:solidFill>
          <a:ln>
            <a:noFill/>
          </a:ln>
        </p:spPr>
        <p:txBody>
          <a:bodyPr/>
          <a:lstStyle/>
          <a:p>
            <a:endParaRPr lang="en-US"/>
          </a:p>
        </p:txBody>
      </p:sp>
      <p:sp>
        <p:nvSpPr>
          <p:cNvPr id="36" name="Decor 37"/>
          <p:cNvSpPr/>
          <p:nvPr/>
        </p:nvSpPr>
        <p:spPr>
          <a:xfrm>
            <a:off x="-1778000" y="4572000"/>
            <a:ext cx="3810000" cy="3810000"/>
          </a:xfrm>
          <a:prstGeom prst="ellipse">
            <a:avLst/>
          </a:prstGeom>
          <a:noFill/>
          <a:ln w="28575">
            <a:solidFill>
              <a:srgbClr val="FFFFFF">
                <a:alpha val="22000"/>
              </a:srgbClr>
            </a:solidFill>
          </a:ln>
        </p:spPr>
        <p:txBody>
          <a:bodyPr/>
          <a:lstStyle/>
          <a:p>
            <a:endParaRPr lang="en-US"/>
          </a:p>
        </p:txBody>
      </p:sp>
      <p:sp>
        <p:nvSpPr>
          <p:cNvPr id="37" name="Decor 38"/>
          <p:cNvSpPr/>
          <p:nvPr/>
        </p:nvSpPr>
        <p:spPr>
          <a:xfrm>
            <a:off x="11912600" y="6553200"/>
            <a:ext cx="177800" cy="177800"/>
          </a:xfrm>
          <a:prstGeom prst="ellipse">
            <a:avLst/>
          </a:prstGeom>
          <a:solidFill>
            <a:srgbClr val="F4B336">
              <a:alpha val="35000"/>
            </a:srgbClr>
          </a:solidFill>
          <a:ln>
            <a:noFill/>
          </a:ln>
        </p:spPr>
        <p:txBody>
          <a:bodyPr/>
          <a:lstStyle/>
          <a:p>
            <a:endParaRPr lang="en-US"/>
          </a:p>
        </p:txBody>
      </p:sp>
      <p:sp>
        <p:nvSpPr>
          <p:cNvPr id="2" name="Text 1"/>
          <p:cNvSpPr>
            <a:spLocks noGrp="1"/>
          </p:cNvSpPr>
          <p:nvPr>
            <p:ph type="title" idx="101" hasCustomPrompt="1"/>
          </p:nvPr>
        </p:nvSpPr>
        <p:spPr>
          <a:xfrm>
            <a:off x="1168400" y="512064"/>
            <a:ext cx="10566400" cy="512064"/>
          </a:xfrm>
          <a:prstGeom prst="rect">
            <a:avLst/>
          </a:prstGeom>
          <a:noFill/>
          <a:ln/>
        </p:spPr>
        <p:txBody>
          <a:bodyPr wrap="square" lIns="0" tIns="0" rIns="0" bIns="0" rtlCol="0" anchor="t"/>
          <a:lstStyle/>
          <a:p>
            <a:pPr marL="0" indent="0" algn="l">
              <a:buNone/>
            </a:pPr>
            <a:r>
              <a:rPr lang="en-US" sz="3000" b="1" dirty="0">
                <a:solidFill>
                  <a:srgbClr val="FFFFFF"/>
                </a:solidFill>
              </a:rPr>
              <a:t>Trí nhớ — Ví dụ 3.3</a:t>
            </a:r>
            <a:endParaRPr lang="en-US" sz="2800" dirty="0">
              <a:solidFill>
                <a:srgbClr val="FFFFFF"/>
              </a:solidFill>
            </a:endParaRPr>
          </a:p>
        </p:txBody>
      </p:sp>
      <p:sp>
        <p:nvSpPr>
          <p:cNvPr id="34" name="Topic badge"/>
          <p:cNvSpPr/>
          <p:nvPr/>
        </p:nvSpPr>
        <p:spPr>
          <a:xfrm>
            <a:off x="457200" y="524764"/>
            <a:ext cx="508000" cy="508000"/>
          </a:xfrm>
          <a:prstGeom prst="roundRect">
            <a:avLst>
              <a:gd name="adj" fmla="val 22000"/>
            </a:avLst>
          </a:prstGeom>
          <a:solidFill>
            <a:srgbClr val="F4B336"/>
          </a:solidFill>
          <a:ln>
            <a:noFill/>
          </a:ln>
        </p:spPr>
        <p:txBody>
          <a:bodyPr wrap="none" lIns="0" tIns="0" rIns="0" bIns="0" rtlCol="0" anchor="ctr">
            <a:noAutofit/>
          </a:bodyPr>
          <a:lstStyle/>
          <a:p>
            <a:pPr algn="ctr"/>
            <a:r>
              <a:rPr lang="en-US" sz="2000" b="1" dirty="0">
                <a:solidFill>
                  <a:srgbClr val="062F5C"/>
                </a:solidFill>
              </a:rPr>
              <a:t>03</a:t>
            </a:r>
          </a:p>
        </p:txBody>
      </p:sp>
      <p:sp>
        <p:nvSpPr>
          <p:cNvPr id="200" name="Ex card image"/>
          <p:cNvSpPr/>
          <p:nvPr/>
        </p:nvSpPr>
        <p:spPr>
          <a:xfrm>
            <a:off x="457200" y="1143000"/>
            <a:ext cx="3048000" cy="4495800"/>
          </a:xfrm>
          <a:prstGeom prst="roundRect">
            <a:avLst>
              <a:gd name="adj" fmla="val 643"/>
            </a:avLst>
          </a:prstGeom>
          <a:solidFill>
            <a:srgbClr val="FFFFFF"/>
          </a:solidFill>
          <a:ln>
            <a:noFill/>
          </a:ln>
        </p:spPr>
        <p:txBody>
          <a:bodyPr/>
          <a:lstStyle/>
          <a:p>
            <a:endParaRPr lang="en-US"/>
          </a:p>
        </p:txBody>
      </p:sp>
      <p:sp>
        <p:nvSpPr>
          <p:cNvPr id="201" name="Ex image bg"/>
          <p:cNvSpPr/>
          <p:nvPr/>
        </p:nvSpPr>
        <p:spPr>
          <a:xfrm>
            <a:off x="609600" y="1295400"/>
            <a:ext cx="2743200" cy="3225800"/>
          </a:xfrm>
          <a:prstGeom prst="roundRect">
            <a:avLst>
              <a:gd name="adj" fmla="val 1543"/>
            </a:avLst>
          </a:prstGeom>
          <a:solidFill>
            <a:srgbClr val="EEF2F6"/>
          </a:solidFill>
          <a:ln>
            <a:noFill/>
          </a:ln>
        </p:spPr>
        <p:txBody>
          <a:bodyPr/>
          <a:lstStyle/>
          <a:p>
            <a:endParaRPr lang="en-US"/>
          </a:p>
        </p:txBody>
      </p:sp>
      <p:sp>
        <p:nvSpPr>
          <p:cNvPr id="202" name="Ex caption"/>
          <p:cNvSpPr txBox="1"/>
          <p:nvPr/>
        </p:nvSpPr>
        <p:spPr>
          <a:xfrm>
            <a:off x="609600" y="4597400"/>
            <a:ext cx="2743200" cy="889000"/>
          </a:xfrm>
          <a:prstGeom prst="rect">
            <a:avLst/>
          </a:prstGeom>
          <a:noFill/>
          <a:ln>
            <a:noFill/>
          </a:ln>
        </p:spPr>
        <p:txBody>
          <a:bodyPr wrap="square" lIns="0" tIns="0" rIns="0" bIns="0" rtlCol="0" anchor="t">
            <a:noAutofit/>
          </a:bodyPr>
          <a:lstStyle/>
          <a:p>
            <a:pPr marL="0" indent="0">
              <a:lnSpc>
                <a:spcPct val="105000"/>
              </a:lnSpc>
              <a:spcAft>
                <a:spcPts val="100"/>
              </a:spcAft>
              <a:buNone/>
            </a:pPr>
            <a:r>
              <a:rPr lang="vi-VN" sz="1200" i="1" dirty="0">
                <a:solidFill>
                  <a:srgbClr val="344054"/>
                </a:solidFill>
              </a:rPr>
              <a:t>Hình 3.3. Giao diện tự động phân cụm số thẻ ngân hàng</a:t>
            </a:r>
          </a:p>
          <a:p>
            <a:pPr marL="0" indent="0">
              <a:lnSpc>
                <a:spcPct val="105000"/>
              </a:lnSpc>
              <a:buNone/>
            </a:pPr>
            <a:r>
              <a:rPr lang="vi-VN" sz="1100" i="1" dirty="0">
                <a:solidFill>
                  <a:srgbClr val="475467"/>
                </a:solidFill>
              </a:rPr>
              <a:t>Nguồn: Stripe UI</a:t>
            </a:r>
          </a:p>
        </p:txBody>
      </p:sp>
      <p:sp>
        <p:nvSpPr>
          <p:cNvPr id="203" name="Ex card text"/>
          <p:cNvSpPr/>
          <p:nvPr/>
        </p:nvSpPr>
        <p:spPr>
          <a:xfrm>
            <a:off x="3657600" y="1143000"/>
            <a:ext cx="8077200" cy="4495800"/>
          </a:xfrm>
          <a:prstGeom prst="roundRect">
            <a:avLst>
              <a:gd name="adj" fmla="val 643"/>
            </a:avLst>
          </a:prstGeom>
          <a:solidFill>
            <a:srgbClr val="FFFFFF"/>
          </a:solidFill>
          <a:ln>
            <a:noFill/>
          </a:ln>
        </p:spPr>
        <p:txBody>
          <a:bodyPr/>
          <a:lstStyle/>
          <a:p>
            <a:endParaRPr lang="en-US"/>
          </a:p>
        </p:txBody>
      </p:sp>
      <p:sp>
        <p:nvSpPr>
          <p:cNvPr id="204" name="Ex name"/>
          <p:cNvSpPr txBox="1"/>
          <p:nvPr/>
        </p:nvSpPr>
        <p:spPr>
          <a:xfrm>
            <a:off x="3886200" y="1244600"/>
            <a:ext cx="7620000" cy="681736"/>
          </a:xfrm>
          <a:prstGeom prst="rect">
            <a:avLst/>
          </a:prstGeom>
          <a:noFill/>
          <a:ln>
            <a:noFill/>
          </a:ln>
        </p:spPr>
        <p:txBody>
          <a:bodyPr wrap="square" lIns="0" tIns="0" rIns="0" bIns="0" rtlCol="0" anchor="t">
            <a:noAutofit/>
          </a:bodyPr>
          <a:lstStyle/>
          <a:p>
            <a:pPr marL="0" indent="0">
              <a:lnSpc>
                <a:spcPct val="105000"/>
              </a:lnSpc>
              <a:buNone/>
            </a:pPr>
            <a:r>
              <a:rPr lang="vi-VN" sz="2200" b="1" dirty="0">
                <a:solidFill>
                  <a:srgbClr val="1677B8"/>
                </a:solidFill>
              </a:rPr>
              <a:t>Ví dụ 3.3: </a:t>
            </a:r>
            <a:r>
              <a:rPr lang="vi-VN" sz="2200" b="1" dirty="0">
                <a:solidFill>
                  <a:srgbClr val="062F5C"/>
                </a:solidFill>
              </a:rPr>
              <a:t>Định dạng tự động số thẻ ngân hàng / số điện thoại (Chunking)</a:t>
            </a:r>
          </a:p>
        </p:txBody>
      </p:sp>
      <p:sp>
        <p:nvSpPr>
          <p:cNvPr id="205" name="Ex body"/>
          <p:cNvSpPr txBox="1"/>
          <p:nvPr/>
        </p:nvSpPr>
        <p:spPr>
          <a:xfrm>
            <a:off x="3886200" y="2002536"/>
            <a:ext cx="7620000" cy="3534664"/>
          </a:xfrm>
          <a:prstGeom prst="rect">
            <a:avLst/>
          </a:prstGeom>
          <a:noFill/>
          <a:ln>
            <a:noFill/>
          </a:ln>
        </p:spPr>
        <p:txBody>
          <a:bodyPr wrap="square" lIns="0" tIns="0" rIns="0" bIns="0" rtlCol="0" anchor="t">
            <a:noAutofit/>
          </a:bodyPr>
          <a:lstStyle/>
          <a:p>
            <a:pPr marL="0" indent="0">
              <a:lnSpc>
                <a:spcPct val="98000"/>
              </a:lnSpc>
              <a:spcAft>
                <a:spcPts val="300"/>
              </a:spcAft>
              <a:buNone/>
            </a:pPr>
            <a:r>
              <a:rPr lang="vi-VN" sz="2000" b="1" dirty="0"/>
              <a:t>Là gì, có gì:</a:t>
            </a:r>
            <a:br>
              <a:rPr lang="vi-VN" sz="2000" dirty="0"/>
            </a:br>
            <a:r>
              <a:rPr lang="vi-VN" sz="2000" dirty="0">
                <a:solidFill>
                  <a:srgbClr val="344054"/>
                </a:solidFill>
              </a:rPr>
              <a:t>Ô nhập số thẻ tự động thêm khoảng trắng thành dạng 4123 - 4567 - 8901 - 2345 thay vì chuỗi liền 4123456789012345.</a:t>
            </a:r>
          </a:p>
          <a:p>
            <a:pPr marL="0" indent="0">
              <a:lnSpc>
                <a:spcPct val="98000"/>
              </a:lnSpc>
              <a:spcAft>
                <a:spcPts val="0"/>
              </a:spcAft>
              <a:buNone/>
            </a:pPr>
            <a:r>
              <a:rPr lang="vi-VN" sz="2000" b="1" dirty="0"/>
              <a:t>Liên hệ đặc điểm nhận thức:</a:t>
            </a:r>
            <a:br>
              <a:rPr lang="vi-VN" sz="2000" b="1" dirty="0"/>
            </a:br>
            <a:r>
              <a:rPr lang="vi-VN" sz="2000" dirty="0">
                <a:solidFill>
                  <a:srgbClr val="344054"/>
                </a:solidFill>
              </a:rPr>
              <a:t>Giới hạn của </a:t>
            </a:r>
            <a:r>
              <a:rPr lang="vi-VN" sz="2000" b="1" dirty="0">
                <a:solidFill>
                  <a:srgbClr val="344054"/>
                </a:solidFill>
              </a:rPr>
              <a:t>trí nhớ ngắn hạn</a:t>
            </a:r>
            <a:r>
              <a:rPr lang="vi-VN" sz="2000" dirty="0">
                <a:solidFill>
                  <a:srgbClr val="344054"/>
                </a:solidFill>
              </a:rPr>
              <a:t> (nhóm thông tin). Chia nhỏ 16 chữ số thành 4 cụm giúp người dùng đối chiếu và phát hiện lỗi sai nhanh chóng.</a:t>
            </a:r>
          </a:p>
        </p:txBody>
      </p:sp>
      <p:sp>
        <p:nvSpPr>
          <p:cNvPr id="206" name="Ex lesson bg"/>
          <p:cNvSpPr/>
          <p:nvPr/>
        </p:nvSpPr>
        <p:spPr>
          <a:xfrm>
            <a:off x="457200" y="5715000"/>
            <a:ext cx="11277600" cy="635000"/>
          </a:xfrm>
          <a:prstGeom prst="rect">
            <a:avLst/>
          </a:prstGeom>
          <a:solidFill>
            <a:srgbClr val="EAF5EF"/>
          </a:solidFill>
          <a:ln>
            <a:noFill/>
          </a:ln>
        </p:spPr>
        <p:txBody>
          <a:bodyPr/>
          <a:lstStyle/>
          <a:p>
            <a:endParaRPr lang="en-US"/>
          </a:p>
        </p:txBody>
      </p:sp>
      <p:sp>
        <p:nvSpPr>
          <p:cNvPr id="207" name="Ex lesson bar"/>
          <p:cNvSpPr/>
          <p:nvPr/>
        </p:nvSpPr>
        <p:spPr>
          <a:xfrm>
            <a:off x="457200" y="5715000"/>
            <a:ext cx="50800" cy="635000"/>
          </a:xfrm>
          <a:prstGeom prst="rect">
            <a:avLst/>
          </a:prstGeom>
          <a:solidFill>
            <a:srgbClr val="2E9B67"/>
          </a:solidFill>
          <a:ln>
            <a:noFill/>
          </a:ln>
        </p:spPr>
        <p:txBody>
          <a:bodyPr/>
          <a:lstStyle/>
          <a:p>
            <a:endParaRPr lang="en-US"/>
          </a:p>
        </p:txBody>
      </p:sp>
      <p:sp>
        <p:nvSpPr>
          <p:cNvPr id="208" name="Ex lesson"/>
          <p:cNvSpPr txBox="1"/>
          <p:nvPr/>
        </p:nvSpPr>
        <p:spPr>
          <a:xfrm>
            <a:off x="685800" y="5715000"/>
            <a:ext cx="10820400" cy="635000"/>
          </a:xfrm>
          <a:prstGeom prst="rect">
            <a:avLst/>
          </a:prstGeom>
          <a:noFill/>
          <a:ln>
            <a:noFill/>
          </a:ln>
        </p:spPr>
        <p:txBody>
          <a:bodyPr wrap="square" lIns="0" tIns="0" rIns="0" bIns="0" rtlCol="0" anchor="ctr">
            <a:noAutofit/>
          </a:bodyPr>
          <a:lstStyle/>
          <a:p>
            <a:pPr marL="0" indent="0">
              <a:lnSpc>
                <a:spcPct val="105000"/>
              </a:lnSpc>
              <a:buNone/>
            </a:pPr>
            <a:r>
              <a:rPr lang="vi-VN" sz="1800" b="1" dirty="0">
                <a:solidFill>
                  <a:srgbClr val="1E7F53"/>
                </a:solidFill>
              </a:rPr>
              <a:t>Bài học: </a:t>
            </a:r>
            <a:r>
              <a:rPr lang="vi-VN" sz="1800" b="1" dirty="0">
                <a:solidFill>
                  <a:srgbClr val="062F5C"/>
                </a:solidFill>
              </a:rPr>
              <a:t>Tự động định dạng dữ liệu đầu vào theo cụm logic để hỗ trợ mắt nhìn và bộ nhớ ngắn hạn.</a:t>
            </a:r>
          </a:p>
        </p:txBody>
      </p:sp>
      <p:pic>
        <p:nvPicPr>
          <p:cNvPr id="3" name="Ex image">
            <a:extLst>
              <a:ext uri="{FF2B5EF4-FFF2-40B4-BE49-F238E27FC236}">
                <a16:creationId xmlns:a16="http://schemas.microsoft.com/office/drawing/2014/main" id="{1948A625-E105-900C-81AA-0D8E97EB14E5}"/>
              </a:ext>
            </a:extLst>
          </p:cNvPr>
          <p:cNvPicPr>
            <a:picLocks noChangeAspect="1"/>
          </p:cNvPicPr>
          <p:nvPr/>
        </p:nvPicPr>
        <p:blipFill>
          <a:blip r:embed="rId3"/>
          <a:stretch>
            <a:fillRect/>
          </a:stretch>
        </p:blipFill>
        <p:spPr>
          <a:xfrm>
            <a:off x="609600" y="1662847"/>
            <a:ext cx="2743200" cy="2490906"/>
          </a:xfrm>
          <a:prstGeom prst="rect">
            <a:avLst/>
          </a:prstGeom>
        </p:spPr>
      </p:pic>
      <p:sp>
        <p:nvSpPr>
          <p:cNvPr id="209" name="Ex badge"/>
          <p:cNvSpPr/>
          <p:nvPr/>
        </p:nvSpPr>
        <p:spPr>
          <a:xfrm>
            <a:off x="711200" y="1397000"/>
            <a:ext cx="381000" cy="381000"/>
          </a:xfrm>
          <a:prstGeom prst="ellipse">
            <a:avLst/>
          </a:prstGeom>
          <a:solidFill>
            <a:srgbClr val="073B6F"/>
          </a:solidFill>
          <a:ln w="28575">
            <a:solidFill>
              <a:srgbClr val="F4B336"/>
            </a:solidFill>
          </a:ln>
        </p:spPr>
        <p:txBody>
          <a:bodyPr/>
          <a:lstStyle/>
          <a:p>
            <a:endParaRPr lang="en-US"/>
          </a:p>
        </p:txBody>
      </p:sp>
      <p:sp>
        <p:nvSpPr>
          <p:cNvPr id="210" name="Ex badge num"/>
          <p:cNvSpPr txBox="1"/>
          <p:nvPr/>
        </p:nvSpPr>
        <p:spPr>
          <a:xfrm>
            <a:off x="711200" y="1397000"/>
            <a:ext cx="381000" cy="381000"/>
          </a:xfrm>
          <a:prstGeom prst="rect">
            <a:avLst/>
          </a:prstGeom>
          <a:noFill/>
          <a:ln>
            <a:noFill/>
          </a:ln>
        </p:spPr>
        <p:txBody>
          <a:bodyPr wrap="square" lIns="0" tIns="0" rIns="0" bIns="0" rtlCol="0" anchor="ctr">
            <a:noAutofit/>
          </a:bodyPr>
          <a:lstStyle/>
          <a:p>
            <a:pPr marL="0" indent="0" algn="ctr">
              <a:buNone/>
            </a:pPr>
            <a:r>
              <a:rPr lang="vi-VN" sz="1000" b="1" dirty="0">
                <a:solidFill>
                  <a:srgbClr val="FFFFFF"/>
                </a:solidFill>
              </a:rPr>
              <a:t>3.3</a:t>
            </a:r>
          </a:p>
        </p:txBody>
      </p:sp>
    </p:spTree>
    <p:extLst>
      <p:ext uri="{BB962C8B-B14F-4D97-AF65-F5344CB8AC3E}">
        <p14:creationId xmlns:p14="http://schemas.microsoft.com/office/powerpoint/2010/main" val="7860966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9">
    <p:bg>
      <p:bgPr>
        <a:solidFill>
          <a:srgbClr val="062F5C"/>
        </a:solidFill>
        <a:effectLst/>
      </p:bgPr>
    </p:bg>
    <p:spTree>
      <p:nvGrpSpPr>
        <p:cNvPr id="1" name=""/>
        <p:cNvGrpSpPr/>
        <p:nvPr/>
      </p:nvGrpSpPr>
      <p:grpSpPr>
        <a:xfrm>
          <a:off x="0" y="0"/>
          <a:ext cx="0" cy="0"/>
          <a:chOff x="0" y="0"/>
          <a:chExt cx="0" cy="0"/>
        </a:xfrm>
      </p:grpSpPr>
      <p:sp>
        <p:nvSpPr>
          <p:cNvPr id="35" name="Decor 36"/>
          <p:cNvSpPr/>
          <p:nvPr/>
        </p:nvSpPr>
        <p:spPr>
          <a:xfrm>
            <a:off x="8890000" y="-2286000"/>
            <a:ext cx="5334000" cy="5334000"/>
          </a:xfrm>
          <a:prstGeom prst="ellipse">
            <a:avLst/>
          </a:prstGeom>
          <a:solidFill>
            <a:srgbClr val="FFFFFF">
              <a:alpha val="9000"/>
            </a:srgbClr>
          </a:solidFill>
          <a:ln>
            <a:noFill/>
          </a:ln>
        </p:spPr>
        <p:txBody>
          <a:bodyPr/>
          <a:lstStyle/>
          <a:p>
            <a:endParaRPr lang="en-US"/>
          </a:p>
        </p:txBody>
      </p:sp>
      <p:sp>
        <p:nvSpPr>
          <p:cNvPr id="36" name="Decor 37"/>
          <p:cNvSpPr/>
          <p:nvPr/>
        </p:nvSpPr>
        <p:spPr>
          <a:xfrm>
            <a:off x="-1778000" y="4572000"/>
            <a:ext cx="3810000" cy="3810000"/>
          </a:xfrm>
          <a:prstGeom prst="ellipse">
            <a:avLst/>
          </a:prstGeom>
          <a:noFill/>
          <a:ln w="28575">
            <a:solidFill>
              <a:srgbClr val="FFFFFF">
                <a:alpha val="22000"/>
              </a:srgbClr>
            </a:solidFill>
          </a:ln>
        </p:spPr>
        <p:txBody>
          <a:bodyPr/>
          <a:lstStyle/>
          <a:p>
            <a:endParaRPr lang="en-US"/>
          </a:p>
        </p:txBody>
      </p:sp>
      <p:sp>
        <p:nvSpPr>
          <p:cNvPr id="37" name="Decor 38"/>
          <p:cNvSpPr/>
          <p:nvPr/>
        </p:nvSpPr>
        <p:spPr>
          <a:xfrm>
            <a:off x="11912600" y="6553200"/>
            <a:ext cx="177800" cy="177800"/>
          </a:xfrm>
          <a:prstGeom prst="ellipse">
            <a:avLst/>
          </a:prstGeom>
          <a:solidFill>
            <a:srgbClr val="F4B336">
              <a:alpha val="35000"/>
            </a:srgbClr>
          </a:solidFill>
          <a:ln>
            <a:noFill/>
          </a:ln>
        </p:spPr>
        <p:txBody>
          <a:bodyPr/>
          <a:lstStyle/>
          <a:p>
            <a:endParaRPr lang="en-US"/>
          </a:p>
        </p:txBody>
      </p:sp>
      <p:sp>
        <p:nvSpPr>
          <p:cNvPr id="2" name="Text 1"/>
          <p:cNvSpPr>
            <a:spLocks noGrp="1"/>
          </p:cNvSpPr>
          <p:nvPr>
            <p:ph type="title" idx="101" hasCustomPrompt="1"/>
          </p:nvPr>
        </p:nvSpPr>
        <p:spPr>
          <a:xfrm>
            <a:off x="1168400" y="512064"/>
            <a:ext cx="10566400" cy="512064"/>
          </a:xfrm>
          <a:prstGeom prst="rect">
            <a:avLst/>
          </a:prstGeom>
          <a:noFill/>
          <a:ln/>
        </p:spPr>
        <p:txBody>
          <a:bodyPr wrap="square" lIns="0" tIns="0" rIns="0" bIns="0" rtlCol="0" anchor="t"/>
          <a:lstStyle/>
          <a:p>
            <a:pPr marL="0" indent="0" algn="l">
              <a:buNone/>
            </a:pPr>
            <a:r>
              <a:rPr lang="en-US" sz="3000" b="1" dirty="0">
                <a:solidFill>
                  <a:srgbClr val="FFFFFF"/>
                </a:solidFill>
              </a:rPr>
              <a:t>Trí nhớ — Ví dụ 3.4</a:t>
            </a:r>
            <a:endParaRPr lang="en-US" sz="2800" dirty="0">
              <a:solidFill>
                <a:srgbClr val="FFFFFF"/>
              </a:solidFill>
            </a:endParaRPr>
          </a:p>
        </p:txBody>
      </p:sp>
      <p:sp>
        <p:nvSpPr>
          <p:cNvPr id="34" name="Topic badge"/>
          <p:cNvSpPr/>
          <p:nvPr/>
        </p:nvSpPr>
        <p:spPr>
          <a:xfrm>
            <a:off x="457200" y="524764"/>
            <a:ext cx="508000" cy="508000"/>
          </a:xfrm>
          <a:prstGeom prst="roundRect">
            <a:avLst>
              <a:gd name="adj" fmla="val 22000"/>
            </a:avLst>
          </a:prstGeom>
          <a:solidFill>
            <a:srgbClr val="F4B336"/>
          </a:solidFill>
          <a:ln>
            <a:noFill/>
          </a:ln>
        </p:spPr>
        <p:txBody>
          <a:bodyPr wrap="none" lIns="0" tIns="0" rIns="0" bIns="0" rtlCol="0" anchor="ctr">
            <a:noAutofit/>
          </a:bodyPr>
          <a:lstStyle/>
          <a:p>
            <a:pPr algn="ctr"/>
            <a:r>
              <a:rPr lang="en-US" sz="2000" b="1" dirty="0">
                <a:solidFill>
                  <a:srgbClr val="062F5C"/>
                </a:solidFill>
              </a:rPr>
              <a:t>03</a:t>
            </a:r>
          </a:p>
        </p:txBody>
      </p:sp>
      <p:sp>
        <p:nvSpPr>
          <p:cNvPr id="200" name="Ex card image"/>
          <p:cNvSpPr/>
          <p:nvPr/>
        </p:nvSpPr>
        <p:spPr>
          <a:xfrm>
            <a:off x="457200" y="1143000"/>
            <a:ext cx="11277600" cy="1879600"/>
          </a:xfrm>
          <a:prstGeom prst="roundRect">
            <a:avLst>
              <a:gd name="adj" fmla="val 643"/>
            </a:avLst>
          </a:prstGeom>
          <a:solidFill>
            <a:srgbClr val="FFFFFF"/>
          </a:solidFill>
          <a:ln>
            <a:noFill/>
          </a:ln>
        </p:spPr>
        <p:txBody>
          <a:bodyPr/>
          <a:lstStyle/>
          <a:p>
            <a:endParaRPr lang="en-US"/>
          </a:p>
        </p:txBody>
      </p:sp>
      <p:sp>
        <p:nvSpPr>
          <p:cNvPr id="202" name="Ex caption"/>
          <p:cNvSpPr txBox="1"/>
          <p:nvPr/>
        </p:nvSpPr>
        <p:spPr>
          <a:xfrm>
            <a:off x="609600" y="2540000"/>
            <a:ext cx="10972800" cy="381000"/>
          </a:xfrm>
          <a:prstGeom prst="rect">
            <a:avLst/>
          </a:prstGeom>
          <a:noFill/>
          <a:ln>
            <a:noFill/>
          </a:ln>
        </p:spPr>
        <p:txBody>
          <a:bodyPr wrap="square" lIns="0" tIns="0" rIns="0" bIns="0" rtlCol="0" anchor="t">
            <a:noAutofit/>
          </a:bodyPr>
          <a:lstStyle/>
          <a:p>
            <a:pPr marL="0" indent="0">
              <a:lnSpc>
                <a:spcPct val="105000"/>
              </a:lnSpc>
              <a:spcAft>
                <a:spcPts val="100"/>
              </a:spcAft>
              <a:buNone/>
            </a:pPr>
            <a:r>
              <a:rPr lang="vi-VN" sz="1200" i="1" dirty="0">
                <a:solidFill>
                  <a:srgbClr val="344054"/>
                </a:solidFill>
              </a:rPr>
              <a:t>Hình 3.4. Thanh công cụ Ribbon với icon trực quan trong Microsoft Word</a:t>
            </a:r>
          </a:p>
          <a:p>
            <a:pPr marL="0" indent="0">
              <a:lnSpc>
                <a:spcPct val="105000"/>
              </a:lnSpc>
              <a:buNone/>
            </a:pPr>
            <a:r>
              <a:rPr lang="vi-VN" sz="1100" i="1" dirty="0">
                <a:solidFill>
                  <a:srgbClr val="475467"/>
                </a:solidFill>
              </a:rPr>
              <a:t>Nguồn: Microsoft</a:t>
            </a:r>
          </a:p>
        </p:txBody>
      </p:sp>
      <p:sp>
        <p:nvSpPr>
          <p:cNvPr id="203" name="Ex card text"/>
          <p:cNvSpPr/>
          <p:nvPr/>
        </p:nvSpPr>
        <p:spPr>
          <a:xfrm>
            <a:off x="457200" y="3124200"/>
            <a:ext cx="11277600" cy="2514600"/>
          </a:xfrm>
          <a:prstGeom prst="roundRect">
            <a:avLst>
              <a:gd name="adj" fmla="val 643"/>
            </a:avLst>
          </a:prstGeom>
          <a:solidFill>
            <a:srgbClr val="FFFFFF"/>
          </a:solidFill>
          <a:ln>
            <a:noFill/>
          </a:ln>
        </p:spPr>
        <p:txBody>
          <a:bodyPr/>
          <a:lstStyle/>
          <a:p>
            <a:endParaRPr lang="en-US"/>
          </a:p>
        </p:txBody>
      </p:sp>
      <p:sp>
        <p:nvSpPr>
          <p:cNvPr id="204" name="Ex name"/>
          <p:cNvSpPr txBox="1"/>
          <p:nvPr/>
        </p:nvSpPr>
        <p:spPr>
          <a:xfrm>
            <a:off x="685800" y="3225800"/>
            <a:ext cx="10820400" cy="619760"/>
          </a:xfrm>
          <a:prstGeom prst="rect">
            <a:avLst/>
          </a:prstGeom>
          <a:noFill/>
          <a:ln>
            <a:noFill/>
          </a:ln>
        </p:spPr>
        <p:txBody>
          <a:bodyPr wrap="square" lIns="0" tIns="0" rIns="0" bIns="0" rtlCol="0" anchor="t">
            <a:noAutofit/>
          </a:bodyPr>
          <a:lstStyle/>
          <a:p>
            <a:pPr marL="0" indent="0">
              <a:lnSpc>
                <a:spcPct val="105000"/>
              </a:lnSpc>
              <a:buNone/>
            </a:pPr>
            <a:r>
              <a:rPr lang="vi-VN" sz="2000" b="1" dirty="0">
                <a:solidFill>
                  <a:srgbClr val="1677B8"/>
                </a:solidFill>
              </a:rPr>
              <a:t>Ví dụ 3.4: </a:t>
            </a:r>
            <a:r>
              <a:rPr lang="vi-VN" sz="2000" b="1" dirty="0">
                <a:solidFill>
                  <a:srgbClr val="062F5C"/>
                </a:solidFill>
              </a:rPr>
              <a:t>Thanh menu công cụ biểu tượng (Icon + Label) trong Microsoft Word / Canva</a:t>
            </a:r>
          </a:p>
        </p:txBody>
      </p:sp>
      <p:sp>
        <p:nvSpPr>
          <p:cNvPr id="205" name="Ex body"/>
          <p:cNvSpPr txBox="1"/>
          <p:nvPr/>
        </p:nvSpPr>
        <p:spPr>
          <a:xfrm>
            <a:off x="685800" y="3921760"/>
            <a:ext cx="10820400" cy="1615440"/>
          </a:xfrm>
          <a:prstGeom prst="rect">
            <a:avLst/>
          </a:prstGeom>
          <a:noFill/>
          <a:ln>
            <a:noFill/>
          </a:ln>
        </p:spPr>
        <p:txBody>
          <a:bodyPr wrap="square" lIns="0" tIns="0" rIns="0" bIns="0" rtlCol="0" anchor="t">
            <a:noAutofit/>
          </a:bodyPr>
          <a:lstStyle/>
          <a:p>
            <a:pPr marL="0" indent="0">
              <a:lnSpc>
                <a:spcPct val="98000"/>
              </a:lnSpc>
              <a:spcAft>
                <a:spcPts val="300"/>
              </a:spcAft>
              <a:buNone/>
            </a:pPr>
            <a:r>
              <a:rPr lang="vi-VN" sz="1800" b="1" dirty="0"/>
              <a:t>Là gì, có gì:</a:t>
            </a:r>
            <a:br>
              <a:rPr lang="vi-VN" sz="1800" dirty="0"/>
            </a:br>
            <a:r>
              <a:rPr lang="vi-VN" sz="1800" dirty="0">
                <a:solidFill>
                  <a:srgbClr val="344054"/>
                </a:solidFill>
              </a:rPr>
              <a:t>Các nút bấm công cụ như In đậm (B), In nghiêng (I), Căn giữa đều có icon mô phỏng kết hợp với nhãn chữ giải thích khi rê chuột vào (Tooltip).</a:t>
            </a:r>
          </a:p>
          <a:p>
            <a:pPr marL="0" indent="0">
              <a:lnSpc>
                <a:spcPct val="98000"/>
              </a:lnSpc>
              <a:spcAft>
                <a:spcPts val="0"/>
              </a:spcAft>
              <a:buNone/>
            </a:pPr>
            <a:r>
              <a:rPr lang="vi-VN" sz="1800" b="1" dirty="0"/>
              <a:t>Liên hệ đặc điểm nhận thức:</a:t>
            </a:r>
            <a:br>
              <a:rPr lang="vi-VN" sz="1800" dirty="0"/>
            </a:br>
            <a:r>
              <a:rPr lang="vi-VN" sz="1800" dirty="0">
                <a:solidFill>
                  <a:srgbClr val="344054"/>
                </a:solidFill>
              </a:rPr>
              <a:t>Mô hình tâm lý (Mental Model) và khả năng </a:t>
            </a:r>
            <a:r>
              <a:rPr lang="vi-VN" sz="1800" b="1" dirty="0">
                <a:solidFill>
                  <a:srgbClr val="344054"/>
                </a:solidFill>
              </a:rPr>
              <a:t>nhận biết hình ảnh nhanh hơn chữ viết</a:t>
            </a:r>
            <a:r>
              <a:rPr lang="vi-VN" sz="1800" dirty="0">
                <a:solidFill>
                  <a:srgbClr val="344054"/>
                </a:solidFill>
              </a:rPr>
              <a:t>.</a:t>
            </a:r>
          </a:p>
        </p:txBody>
      </p:sp>
      <p:sp>
        <p:nvSpPr>
          <p:cNvPr id="206" name="Ex lesson bg"/>
          <p:cNvSpPr/>
          <p:nvPr/>
        </p:nvSpPr>
        <p:spPr>
          <a:xfrm>
            <a:off x="457200" y="5715000"/>
            <a:ext cx="11277600" cy="635000"/>
          </a:xfrm>
          <a:prstGeom prst="rect">
            <a:avLst/>
          </a:prstGeom>
          <a:solidFill>
            <a:srgbClr val="EAF5EF"/>
          </a:solidFill>
          <a:ln>
            <a:noFill/>
          </a:ln>
        </p:spPr>
        <p:txBody>
          <a:bodyPr/>
          <a:lstStyle/>
          <a:p>
            <a:endParaRPr lang="en-US"/>
          </a:p>
        </p:txBody>
      </p:sp>
      <p:sp>
        <p:nvSpPr>
          <p:cNvPr id="207" name="Ex lesson bar"/>
          <p:cNvSpPr/>
          <p:nvPr/>
        </p:nvSpPr>
        <p:spPr>
          <a:xfrm>
            <a:off x="457200" y="5715000"/>
            <a:ext cx="50800" cy="635000"/>
          </a:xfrm>
          <a:prstGeom prst="rect">
            <a:avLst/>
          </a:prstGeom>
          <a:solidFill>
            <a:srgbClr val="2E9B67"/>
          </a:solidFill>
          <a:ln>
            <a:noFill/>
          </a:ln>
        </p:spPr>
        <p:txBody>
          <a:bodyPr/>
          <a:lstStyle/>
          <a:p>
            <a:endParaRPr lang="en-US"/>
          </a:p>
        </p:txBody>
      </p:sp>
      <p:sp>
        <p:nvSpPr>
          <p:cNvPr id="208" name="Ex lesson"/>
          <p:cNvSpPr txBox="1"/>
          <p:nvPr/>
        </p:nvSpPr>
        <p:spPr>
          <a:xfrm>
            <a:off x="685800" y="5715000"/>
            <a:ext cx="10820400" cy="635000"/>
          </a:xfrm>
          <a:prstGeom prst="rect">
            <a:avLst/>
          </a:prstGeom>
          <a:noFill/>
          <a:ln>
            <a:noFill/>
          </a:ln>
        </p:spPr>
        <p:txBody>
          <a:bodyPr wrap="square" lIns="0" tIns="0" rIns="0" bIns="0" rtlCol="0" anchor="ctr">
            <a:noAutofit/>
          </a:bodyPr>
          <a:lstStyle/>
          <a:p>
            <a:pPr marL="0" indent="0">
              <a:lnSpc>
                <a:spcPct val="105000"/>
              </a:lnSpc>
              <a:buNone/>
            </a:pPr>
            <a:r>
              <a:rPr lang="vi-VN" sz="1800" b="1" dirty="0">
                <a:solidFill>
                  <a:srgbClr val="1E7F53"/>
                </a:solidFill>
              </a:rPr>
              <a:t>Bài học: </a:t>
            </a:r>
            <a:r>
              <a:rPr lang="vi-VN" sz="1800" b="1" dirty="0">
                <a:solidFill>
                  <a:srgbClr val="062F5C"/>
                </a:solidFill>
              </a:rPr>
              <a:t>Kết hợp ký hiệu thị giác quen thuộc với văn bản ngắn gọn để người dùng nhận diện chức năng ngay lập tức mà không cần học lại.</a:t>
            </a:r>
          </a:p>
        </p:txBody>
      </p:sp>
      <p:pic>
        <p:nvPicPr>
          <p:cNvPr id="3" name="Ex image">
            <a:extLst>
              <a:ext uri="{FF2B5EF4-FFF2-40B4-BE49-F238E27FC236}">
                <a16:creationId xmlns:a16="http://schemas.microsoft.com/office/drawing/2014/main" id="{B2DED4C5-A539-7264-A9AF-9C70CF482A26}"/>
              </a:ext>
            </a:extLst>
          </p:cNvPr>
          <p:cNvPicPr>
            <a:picLocks noChangeAspect="1"/>
          </p:cNvPicPr>
          <p:nvPr/>
        </p:nvPicPr>
        <p:blipFill>
          <a:blip r:embed="rId3"/>
          <a:srcRect b="29501"/>
          <a:stretch>
            <a:fillRect/>
          </a:stretch>
        </p:blipFill>
        <p:spPr>
          <a:xfrm>
            <a:off x="1802588" y="1295400"/>
            <a:ext cx="8586824" cy="1168400"/>
          </a:xfrm>
          <a:prstGeom prst="rect">
            <a:avLst/>
          </a:prstGeom>
        </p:spPr>
      </p:pic>
      <p:sp>
        <p:nvSpPr>
          <p:cNvPr id="209" name="Ex badge"/>
          <p:cNvSpPr/>
          <p:nvPr/>
        </p:nvSpPr>
        <p:spPr>
          <a:xfrm>
            <a:off x="609600" y="1346200"/>
            <a:ext cx="381000" cy="381000"/>
          </a:xfrm>
          <a:prstGeom prst="ellipse">
            <a:avLst/>
          </a:prstGeom>
          <a:solidFill>
            <a:srgbClr val="073B6F"/>
          </a:solidFill>
          <a:ln w="28575">
            <a:solidFill>
              <a:srgbClr val="F4B336"/>
            </a:solidFill>
          </a:ln>
        </p:spPr>
        <p:txBody>
          <a:bodyPr/>
          <a:lstStyle/>
          <a:p>
            <a:endParaRPr lang="en-US"/>
          </a:p>
        </p:txBody>
      </p:sp>
      <p:sp>
        <p:nvSpPr>
          <p:cNvPr id="210" name="Ex badge num"/>
          <p:cNvSpPr txBox="1"/>
          <p:nvPr/>
        </p:nvSpPr>
        <p:spPr>
          <a:xfrm>
            <a:off x="609600" y="1346200"/>
            <a:ext cx="381000" cy="381000"/>
          </a:xfrm>
          <a:prstGeom prst="rect">
            <a:avLst/>
          </a:prstGeom>
          <a:noFill/>
          <a:ln>
            <a:noFill/>
          </a:ln>
        </p:spPr>
        <p:txBody>
          <a:bodyPr wrap="square" lIns="0" tIns="0" rIns="0" bIns="0" rtlCol="0" anchor="ctr">
            <a:noAutofit/>
          </a:bodyPr>
          <a:lstStyle/>
          <a:p>
            <a:pPr marL="0" indent="0" algn="ctr">
              <a:buNone/>
            </a:pPr>
            <a:r>
              <a:rPr lang="vi-VN" sz="1000" b="1" dirty="0">
                <a:solidFill>
                  <a:srgbClr val="FFFFFF"/>
                </a:solidFill>
              </a:rPr>
              <a:t>3.4</a:t>
            </a:r>
          </a:p>
        </p:txBody>
      </p:sp>
    </p:spTree>
    <p:extLst>
      <p:ext uri="{BB962C8B-B14F-4D97-AF65-F5344CB8AC3E}">
        <p14:creationId xmlns:p14="http://schemas.microsoft.com/office/powerpoint/2010/main" val="4611118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9">
    <p:bg>
      <p:bgPr>
        <a:solidFill>
          <a:srgbClr val="062F5C"/>
        </a:solidFill>
        <a:effectLst/>
      </p:bgPr>
    </p:bg>
    <p:spTree>
      <p:nvGrpSpPr>
        <p:cNvPr id="1" name=""/>
        <p:cNvGrpSpPr/>
        <p:nvPr/>
      </p:nvGrpSpPr>
      <p:grpSpPr>
        <a:xfrm>
          <a:off x="0" y="0"/>
          <a:ext cx="0" cy="0"/>
          <a:chOff x="0" y="0"/>
          <a:chExt cx="0" cy="0"/>
        </a:xfrm>
      </p:grpSpPr>
      <p:sp>
        <p:nvSpPr>
          <p:cNvPr id="14" name="Ex card image">
            <a:extLst>
              <a:ext uri="{FF2B5EF4-FFF2-40B4-BE49-F238E27FC236}">
                <a16:creationId xmlns:a16="http://schemas.microsoft.com/office/drawing/2014/main" id="{9854C3DE-903B-F1AA-63A1-FB3E62028AF4}"/>
              </a:ext>
            </a:extLst>
          </p:cNvPr>
          <p:cNvSpPr/>
          <p:nvPr/>
        </p:nvSpPr>
        <p:spPr>
          <a:xfrm>
            <a:off x="457200" y="1143000"/>
            <a:ext cx="11277600" cy="1879600"/>
          </a:xfrm>
          <a:prstGeom prst="roundRect">
            <a:avLst>
              <a:gd name="adj" fmla="val 643"/>
            </a:avLst>
          </a:prstGeom>
          <a:solidFill>
            <a:srgbClr val="FFFFFF"/>
          </a:solidFill>
          <a:ln>
            <a:noFill/>
          </a:ln>
        </p:spPr>
        <p:txBody>
          <a:bodyPr/>
          <a:lstStyle/>
          <a:p>
            <a:endParaRPr lang="en-US"/>
          </a:p>
        </p:txBody>
      </p:sp>
      <p:sp>
        <p:nvSpPr>
          <p:cNvPr id="16" name="Ex card text">
            <a:extLst>
              <a:ext uri="{FF2B5EF4-FFF2-40B4-BE49-F238E27FC236}">
                <a16:creationId xmlns:a16="http://schemas.microsoft.com/office/drawing/2014/main" id="{80A37719-AE7F-0949-087B-54D7A12984F7}"/>
              </a:ext>
            </a:extLst>
          </p:cNvPr>
          <p:cNvSpPr/>
          <p:nvPr/>
        </p:nvSpPr>
        <p:spPr>
          <a:xfrm>
            <a:off x="457200" y="3124200"/>
            <a:ext cx="11277600" cy="2514600"/>
          </a:xfrm>
          <a:prstGeom prst="roundRect">
            <a:avLst>
              <a:gd name="adj" fmla="val 643"/>
            </a:avLst>
          </a:prstGeom>
          <a:solidFill>
            <a:srgbClr val="FFFFFF"/>
          </a:solidFill>
          <a:ln>
            <a:noFill/>
          </a:ln>
        </p:spPr>
        <p:txBody>
          <a:bodyPr/>
          <a:lstStyle/>
          <a:p>
            <a:endParaRPr lang="en-US"/>
          </a:p>
        </p:txBody>
      </p:sp>
      <p:sp>
        <p:nvSpPr>
          <p:cNvPr id="35" name="Decor 36"/>
          <p:cNvSpPr/>
          <p:nvPr/>
        </p:nvSpPr>
        <p:spPr>
          <a:xfrm>
            <a:off x="8890000" y="-2286000"/>
            <a:ext cx="5334000" cy="5334000"/>
          </a:xfrm>
          <a:prstGeom prst="ellipse">
            <a:avLst/>
          </a:prstGeom>
          <a:solidFill>
            <a:srgbClr val="FFFFFF">
              <a:alpha val="9000"/>
            </a:srgbClr>
          </a:solidFill>
          <a:ln>
            <a:noFill/>
          </a:ln>
        </p:spPr>
        <p:txBody>
          <a:bodyPr/>
          <a:lstStyle/>
          <a:p>
            <a:endParaRPr lang="en-US"/>
          </a:p>
        </p:txBody>
      </p:sp>
      <p:sp>
        <p:nvSpPr>
          <p:cNvPr id="36" name="Decor 37"/>
          <p:cNvSpPr/>
          <p:nvPr/>
        </p:nvSpPr>
        <p:spPr>
          <a:xfrm>
            <a:off x="-1778000" y="4572000"/>
            <a:ext cx="3810000" cy="3810000"/>
          </a:xfrm>
          <a:prstGeom prst="ellipse">
            <a:avLst/>
          </a:prstGeom>
          <a:noFill/>
          <a:ln w="28575">
            <a:solidFill>
              <a:srgbClr val="FFFFFF">
                <a:alpha val="22000"/>
              </a:srgbClr>
            </a:solidFill>
          </a:ln>
        </p:spPr>
        <p:txBody>
          <a:bodyPr/>
          <a:lstStyle/>
          <a:p>
            <a:endParaRPr lang="en-US"/>
          </a:p>
        </p:txBody>
      </p:sp>
      <p:sp>
        <p:nvSpPr>
          <p:cNvPr id="37" name="Decor 38"/>
          <p:cNvSpPr/>
          <p:nvPr/>
        </p:nvSpPr>
        <p:spPr>
          <a:xfrm>
            <a:off x="11912600" y="6553200"/>
            <a:ext cx="177800" cy="177800"/>
          </a:xfrm>
          <a:prstGeom prst="ellipse">
            <a:avLst/>
          </a:prstGeom>
          <a:solidFill>
            <a:srgbClr val="F4B336">
              <a:alpha val="35000"/>
            </a:srgbClr>
          </a:solidFill>
          <a:ln>
            <a:noFill/>
          </a:ln>
        </p:spPr>
        <p:txBody>
          <a:bodyPr/>
          <a:lstStyle/>
          <a:p>
            <a:endParaRPr lang="en-US"/>
          </a:p>
        </p:txBody>
      </p:sp>
      <p:sp>
        <p:nvSpPr>
          <p:cNvPr id="2" name="Text 1"/>
          <p:cNvSpPr>
            <a:spLocks noGrp="1"/>
          </p:cNvSpPr>
          <p:nvPr>
            <p:ph type="title" idx="101" hasCustomPrompt="1"/>
          </p:nvPr>
        </p:nvSpPr>
        <p:spPr>
          <a:xfrm>
            <a:off x="1168400" y="512064"/>
            <a:ext cx="10566400" cy="512064"/>
          </a:xfrm>
          <a:prstGeom prst="rect">
            <a:avLst/>
          </a:prstGeom>
          <a:noFill/>
          <a:ln/>
        </p:spPr>
        <p:txBody>
          <a:bodyPr wrap="square" lIns="0" tIns="0" rIns="0" bIns="0" rtlCol="0" anchor="t"/>
          <a:lstStyle/>
          <a:p>
            <a:pPr marL="0" indent="0" algn="l">
              <a:buNone/>
            </a:pPr>
            <a:r>
              <a:rPr lang="en-US" sz="3000" b="1" dirty="0">
                <a:solidFill>
                  <a:srgbClr val="FFFFFF"/>
                </a:solidFill>
              </a:rPr>
              <a:t>Trí nhớ — Ví dụ 3.5</a:t>
            </a:r>
            <a:endParaRPr lang="en-US" sz="2800" dirty="0">
              <a:solidFill>
                <a:srgbClr val="FFFFFF"/>
              </a:solidFill>
            </a:endParaRPr>
          </a:p>
        </p:txBody>
      </p:sp>
      <p:sp>
        <p:nvSpPr>
          <p:cNvPr id="34" name="Topic badge"/>
          <p:cNvSpPr/>
          <p:nvPr/>
        </p:nvSpPr>
        <p:spPr>
          <a:xfrm>
            <a:off x="457200" y="524764"/>
            <a:ext cx="508000" cy="508000"/>
          </a:xfrm>
          <a:prstGeom prst="roundRect">
            <a:avLst>
              <a:gd name="adj" fmla="val 22000"/>
            </a:avLst>
          </a:prstGeom>
          <a:solidFill>
            <a:srgbClr val="F4B336"/>
          </a:solidFill>
          <a:ln>
            <a:noFill/>
          </a:ln>
        </p:spPr>
        <p:txBody>
          <a:bodyPr wrap="none" lIns="0" tIns="0" rIns="0" bIns="0" rtlCol="0" anchor="ctr">
            <a:noAutofit/>
          </a:bodyPr>
          <a:lstStyle/>
          <a:p>
            <a:pPr algn="ctr"/>
            <a:r>
              <a:rPr lang="en-US" sz="2000" b="1" dirty="0">
                <a:solidFill>
                  <a:srgbClr val="062F5C"/>
                </a:solidFill>
              </a:rPr>
              <a:t>03</a:t>
            </a:r>
          </a:p>
        </p:txBody>
      </p:sp>
      <p:sp>
        <p:nvSpPr>
          <p:cNvPr id="202" name="Ex caption"/>
          <p:cNvSpPr txBox="1"/>
          <p:nvPr/>
        </p:nvSpPr>
        <p:spPr>
          <a:xfrm>
            <a:off x="609600" y="2540000"/>
            <a:ext cx="10972800" cy="381000"/>
          </a:xfrm>
          <a:prstGeom prst="rect">
            <a:avLst/>
          </a:prstGeom>
          <a:noFill/>
          <a:ln>
            <a:noFill/>
          </a:ln>
        </p:spPr>
        <p:txBody>
          <a:bodyPr wrap="square" lIns="0" tIns="0" rIns="0" bIns="0" rtlCol="0" anchor="t">
            <a:noAutofit/>
          </a:bodyPr>
          <a:lstStyle/>
          <a:p>
            <a:pPr marL="0" indent="0">
              <a:lnSpc>
                <a:spcPct val="105000"/>
              </a:lnSpc>
              <a:spcAft>
                <a:spcPts val="100"/>
              </a:spcAft>
              <a:buNone/>
            </a:pPr>
            <a:r>
              <a:rPr lang="vi-VN" sz="1200" i="1" dirty="0">
                <a:solidFill>
                  <a:srgbClr val="344054"/>
                </a:solidFill>
              </a:rPr>
              <a:t>Hình 3.5. Thông báo khôi phục các tab làm việc trên Google Chrome</a:t>
            </a:r>
          </a:p>
          <a:p>
            <a:pPr marL="0" indent="0">
              <a:lnSpc>
                <a:spcPct val="105000"/>
              </a:lnSpc>
              <a:buNone/>
            </a:pPr>
            <a:r>
              <a:rPr lang="vi-VN" sz="1100" i="1" dirty="0">
                <a:solidFill>
                  <a:srgbClr val="475467"/>
                </a:solidFill>
              </a:rPr>
              <a:t>Nguồn: Chụp màn hình Google Chrome</a:t>
            </a:r>
          </a:p>
        </p:txBody>
      </p:sp>
      <p:sp>
        <p:nvSpPr>
          <p:cNvPr id="204" name="Ex name"/>
          <p:cNvSpPr txBox="1"/>
          <p:nvPr/>
        </p:nvSpPr>
        <p:spPr>
          <a:xfrm>
            <a:off x="685800" y="3225800"/>
            <a:ext cx="10820400" cy="619760"/>
          </a:xfrm>
          <a:prstGeom prst="rect">
            <a:avLst/>
          </a:prstGeom>
          <a:noFill/>
          <a:ln>
            <a:noFill/>
          </a:ln>
        </p:spPr>
        <p:txBody>
          <a:bodyPr wrap="square" lIns="0" tIns="0" rIns="0" bIns="0" rtlCol="0" anchor="t">
            <a:noAutofit/>
          </a:bodyPr>
          <a:lstStyle/>
          <a:p>
            <a:pPr marL="0" indent="0">
              <a:lnSpc>
                <a:spcPct val="105000"/>
              </a:lnSpc>
              <a:buNone/>
            </a:pPr>
            <a:r>
              <a:rPr lang="vi-VN" sz="2000" b="1" dirty="0">
                <a:solidFill>
                  <a:srgbClr val="1677B8"/>
                </a:solidFill>
              </a:rPr>
              <a:t>Ví dụ 3.5: </a:t>
            </a:r>
            <a:r>
              <a:rPr lang="vi-VN" sz="2000" b="1" dirty="0">
                <a:solidFill>
                  <a:srgbClr val="062F5C"/>
                </a:solidFill>
              </a:rPr>
              <a:t>Tính năng khôi phục phiên làm việc (Restore Session) trên Google Chrome</a:t>
            </a:r>
          </a:p>
        </p:txBody>
      </p:sp>
      <p:sp>
        <p:nvSpPr>
          <p:cNvPr id="205" name="Ex body"/>
          <p:cNvSpPr txBox="1"/>
          <p:nvPr/>
        </p:nvSpPr>
        <p:spPr>
          <a:xfrm>
            <a:off x="685800" y="3921760"/>
            <a:ext cx="10820400" cy="1615440"/>
          </a:xfrm>
          <a:prstGeom prst="rect">
            <a:avLst/>
          </a:prstGeom>
          <a:noFill/>
          <a:ln>
            <a:noFill/>
          </a:ln>
        </p:spPr>
        <p:txBody>
          <a:bodyPr wrap="square" lIns="0" tIns="0" rIns="0" bIns="0" rtlCol="0" anchor="t">
            <a:noAutofit/>
          </a:bodyPr>
          <a:lstStyle/>
          <a:p>
            <a:pPr marL="0" indent="0">
              <a:lnSpc>
                <a:spcPct val="98000"/>
              </a:lnSpc>
              <a:spcAft>
                <a:spcPts val="300"/>
              </a:spcAft>
              <a:buNone/>
            </a:pPr>
            <a:r>
              <a:rPr lang="vi-VN" sz="1800" b="1" dirty="0"/>
              <a:t>Là gì, có gì:</a:t>
            </a:r>
            <a:br>
              <a:rPr lang="vi-VN" sz="1800" dirty="0"/>
            </a:br>
            <a:r>
              <a:rPr lang="vi-VN" sz="1800" dirty="0">
                <a:solidFill>
                  <a:srgbClr val="344054"/>
                </a:solidFill>
              </a:rPr>
              <a:t>Khi trình duyệt bị tắt đột ngột, khi mở lại Chrome sẽ hỏi: "Bạn có muốn khôi phục lại các trang web đang mở không?".</a:t>
            </a:r>
          </a:p>
          <a:p>
            <a:pPr marL="0" indent="0">
              <a:lnSpc>
                <a:spcPct val="98000"/>
              </a:lnSpc>
              <a:spcAft>
                <a:spcPts val="0"/>
              </a:spcAft>
              <a:buNone/>
            </a:pPr>
            <a:r>
              <a:rPr lang="vi-VN" sz="1800" b="1" dirty="0"/>
              <a:t>Liên hệ đặc điểm nhận thức:</a:t>
            </a:r>
            <a:br>
              <a:rPr lang="vi-VN" sz="1800" dirty="0"/>
            </a:br>
            <a:r>
              <a:rPr lang="vi-VN" sz="1800" b="1" dirty="0">
                <a:solidFill>
                  <a:srgbClr val="344054"/>
                </a:solidFill>
              </a:rPr>
              <a:t>Ngữ cảnh phụ thuộc của trí nhớ</a:t>
            </a:r>
            <a:r>
              <a:rPr lang="vi-VN" sz="1800" dirty="0">
                <a:solidFill>
                  <a:srgbClr val="344054"/>
                </a:solidFill>
              </a:rPr>
              <a:t>. Người dùng khó có thể nhớ lại chính xác 10–20 đường link họ đang đọc dở trước khi sập nguồn.</a:t>
            </a:r>
          </a:p>
        </p:txBody>
      </p:sp>
      <p:sp>
        <p:nvSpPr>
          <p:cNvPr id="206" name="Ex lesson bg"/>
          <p:cNvSpPr/>
          <p:nvPr/>
        </p:nvSpPr>
        <p:spPr>
          <a:xfrm>
            <a:off x="457200" y="5715000"/>
            <a:ext cx="11277600" cy="635000"/>
          </a:xfrm>
          <a:prstGeom prst="rect">
            <a:avLst/>
          </a:prstGeom>
          <a:solidFill>
            <a:srgbClr val="EAF5EF"/>
          </a:solidFill>
          <a:ln>
            <a:noFill/>
          </a:ln>
        </p:spPr>
        <p:txBody>
          <a:bodyPr/>
          <a:lstStyle/>
          <a:p>
            <a:endParaRPr lang="en-US"/>
          </a:p>
        </p:txBody>
      </p:sp>
      <p:sp>
        <p:nvSpPr>
          <p:cNvPr id="207" name="Ex lesson bar"/>
          <p:cNvSpPr/>
          <p:nvPr/>
        </p:nvSpPr>
        <p:spPr>
          <a:xfrm>
            <a:off x="457200" y="5715000"/>
            <a:ext cx="50800" cy="635000"/>
          </a:xfrm>
          <a:prstGeom prst="rect">
            <a:avLst/>
          </a:prstGeom>
          <a:solidFill>
            <a:srgbClr val="2E9B67"/>
          </a:solidFill>
          <a:ln>
            <a:noFill/>
          </a:ln>
        </p:spPr>
        <p:txBody>
          <a:bodyPr/>
          <a:lstStyle/>
          <a:p>
            <a:endParaRPr lang="en-US"/>
          </a:p>
        </p:txBody>
      </p:sp>
      <p:sp>
        <p:nvSpPr>
          <p:cNvPr id="208" name="Ex lesson"/>
          <p:cNvSpPr txBox="1"/>
          <p:nvPr/>
        </p:nvSpPr>
        <p:spPr>
          <a:xfrm>
            <a:off x="685800" y="5715000"/>
            <a:ext cx="10820400" cy="635000"/>
          </a:xfrm>
          <a:prstGeom prst="rect">
            <a:avLst/>
          </a:prstGeom>
          <a:noFill/>
          <a:ln>
            <a:noFill/>
          </a:ln>
        </p:spPr>
        <p:txBody>
          <a:bodyPr wrap="square" lIns="0" tIns="0" rIns="0" bIns="0" rtlCol="0" anchor="ctr">
            <a:noAutofit/>
          </a:bodyPr>
          <a:lstStyle/>
          <a:p>
            <a:pPr marL="0" indent="0">
              <a:lnSpc>
                <a:spcPct val="105000"/>
              </a:lnSpc>
              <a:buNone/>
            </a:pPr>
            <a:r>
              <a:rPr lang="vi-VN" sz="1800" b="1" dirty="0">
                <a:solidFill>
                  <a:srgbClr val="1E7F53"/>
                </a:solidFill>
              </a:rPr>
              <a:t>Bài học: </a:t>
            </a:r>
            <a:r>
              <a:rPr lang="vi-VN" sz="1800" b="1" dirty="0">
                <a:solidFill>
                  <a:srgbClr val="062F5C"/>
                </a:solidFill>
              </a:rPr>
              <a:t>Hệ thống phải chủ động lưu trữ ngữ cảnh làm việc của người dùng để giảm thiểu rủi ro mất dữ liệu và giảm áp lực ghi nhớ.</a:t>
            </a:r>
          </a:p>
        </p:txBody>
      </p:sp>
      <p:pic>
        <p:nvPicPr>
          <p:cNvPr id="3" name="Ex image">
            <a:extLst>
              <a:ext uri="{FF2B5EF4-FFF2-40B4-BE49-F238E27FC236}">
                <a16:creationId xmlns:a16="http://schemas.microsoft.com/office/drawing/2014/main" id="{203A1F5C-91E5-9D59-3296-5112EDE68E12}"/>
              </a:ext>
            </a:extLst>
          </p:cNvPr>
          <p:cNvPicPr>
            <a:picLocks noChangeAspect="1"/>
          </p:cNvPicPr>
          <p:nvPr/>
        </p:nvPicPr>
        <p:blipFill>
          <a:blip r:embed="rId3"/>
          <a:stretch>
            <a:fillRect/>
          </a:stretch>
        </p:blipFill>
        <p:spPr>
          <a:xfrm>
            <a:off x="3252351" y="1295400"/>
            <a:ext cx="5687299" cy="1168400"/>
          </a:xfrm>
          <a:prstGeom prst="rect">
            <a:avLst/>
          </a:prstGeom>
        </p:spPr>
      </p:pic>
      <p:sp>
        <p:nvSpPr>
          <p:cNvPr id="209" name="Ex badge"/>
          <p:cNvSpPr/>
          <p:nvPr/>
        </p:nvSpPr>
        <p:spPr>
          <a:xfrm>
            <a:off x="609600" y="1346200"/>
            <a:ext cx="381000" cy="381000"/>
          </a:xfrm>
          <a:prstGeom prst="ellipse">
            <a:avLst/>
          </a:prstGeom>
          <a:solidFill>
            <a:srgbClr val="073B6F"/>
          </a:solidFill>
          <a:ln w="28575">
            <a:solidFill>
              <a:srgbClr val="F4B336"/>
            </a:solidFill>
          </a:ln>
        </p:spPr>
        <p:txBody>
          <a:bodyPr/>
          <a:lstStyle/>
          <a:p>
            <a:endParaRPr lang="en-US"/>
          </a:p>
        </p:txBody>
      </p:sp>
      <p:sp>
        <p:nvSpPr>
          <p:cNvPr id="210" name="Ex badge num"/>
          <p:cNvSpPr txBox="1"/>
          <p:nvPr/>
        </p:nvSpPr>
        <p:spPr>
          <a:xfrm>
            <a:off x="609600" y="1346200"/>
            <a:ext cx="381000" cy="381000"/>
          </a:xfrm>
          <a:prstGeom prst="rect">
            <a:avLst/>
          </a:prstGeom>
          <a:noFill/>
          <a:ln>
            <a:noFill/>
          </a:ln>
        </p:spPr>
        <p:txBody>
          <a:bodyPr wrap="square" lIns="0" tIns="0" rIns="0" bIns="0" rtlCol="0" anchor="ctr">
            <a:noAutofit/>
          </a:bodyPr>
          <a:lstStyle/>
          <a:p>
            <a:pPr marL="0" indent="0" algn="ctr">
              <a:buNone/>
            </a:pPr>
            <a:r>
              <a:rPr lang="vi-VN" sz="1000" b="1" dirty="0">
                <a:solidFill>
                  <a:srgbClr val="FFFFFF"/>
                </a:solidFill>
              </a:rPr>
              <a:t>3.5</a:t>
            </a:r>
          </a:p>
        </p:txBody>
      </p:sp>
    </p:spTree>
    <p:extLst>
      <p:ext uri="{BB962C8B-B14F-4D97-AF65-F5344CB8AC3E}">
        <p14:creationId xmlns:p14="http://schemas.microsoft.com/office/powerpoint/2010/main" val="41090484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0">
    <p:bg>
      <p:bgPr>
        <a:solidFill>
          <a:srgbClr val="062F5C"/>
        </a:solidFill>
        <a:effectLst/>
      </p:bgPr>
    </p:bg>
    <p:spTree>
      <p:nvGrpSpPr>
        <p:cNvPr id="1" name=""/>
        <p:cNvGrpSpPr/>
        <p:nvPr/>
      </p:nvGrpSpPr>
      <p:grpSpPr>
        <a:xfrm>
          <a:off x="0" y="0"/>
          <a:ext cx="0" cy="0"/>
          <a:chOff x="0" y="0"/>
          <a:chExt cx="0" cy="0"/>
        </a:xfrm>
      </p:grpSpPr>
      <p:sp>
        <p:nvSpPr>
          <p:cNvPr id="22" name="Decor 23"/>
          <p:cNvSpPr/>
          <p:nvPr/>
        </p:nvSpPr>
        <p:spPr>
          <a:xfrm rot="1200000">
            <a:off x="9398000" y="-1778000"/>
            <a:ext cx="4064000" cy="4064000"/>
          </a:xfrm>
          <a:prstGeom prst="rect">
            <a:avLst/>
          </a:prstGeom>
          <a:solidFill>
            <a:srgbClr val="FFFFFF">
              <a:alpha val="9000"/>
            </a:srgbClr>
          </a:solidFill>
          <a:ln>
            <a:noFill/>
          </a:ln>
        </p:spPr>
        <p:txBody>
          <a:bodyPr/>
          <a:lstStyle/>
          <a:p>
            <a:endParaRPr lang="en-US"/>
          </a:p>
        </p:txBody>
      </p:sp>
      <p:sp>
        <p:nvSpPr>
          <p:cNvPr id="23" name="Decor 24"/>
          <p:cNvSpPr/>
          <p:nvPr/>
        </p:nvSpPr>
        <p:spPr>
          <a:xfrm>
            <a:off x="-762000" y="5461000"/>
            <a:ext cx="2032000" cy="2032000"/>
          </a:xfrm>
          <a:prstGeom prst="ellipse">
            <a:avLst/>
          </a:prstGeom>
          <a:noFill/>
          <a:ln w="28575">
            <a:solidFill>
              <a:srgbClr val="FFFFFF">
                <a:alpha val="22000"/>
              </a:srgbClr>
            </a:solidFill>
          </a:ln>
        </p:spPr>
        <p:txBody>
          <a:bodyPr/>
          <a:lstStyle/>
          <a:p>
            <a:endParaRPr lang="en-US"/>
          </a:p>
        </p:txBody>
      </p:sp>
      <p:sp>
        <p:nvSpPr>
          <p:cNvPr id="24" name="Decor 25"/>
          <p:cNvSpPr/>
          <p:nvPr/>
        </p:nvSpPr>
        <p:spPr>
          <a:xfrm rot="2700000">
            <a:off x="11912600" y="6553200"/>
            <a:ext cx="177800" cy="177800"/>
          </a:xfrm>
          <a:prstGeom prst="rect">
            <a:avLst/>
          </a:prstGeom>
          <a:solidFill>
            <a:srgbClr val="F4B336">
              <a:alpha val="35000"/>
            </a:srgbClr>
          </a:solidFill>
          <a:ln>
            <a:noFill/>
          </a:ln>
        </p:spPr>
        <p:txBody>
          <a:bodyPr/>
          <a:lstStyle/>
          <a:p>
            <a:endParaRPr lang="en-US"/>
          </a:p>
        </p:txBody>
      </p:sp>
      <p:sp>
        <p:nvSpPr>
          <p:cNvPr id="2" name="Text 1"/>
          <p:cNvSpPr>
            <a:spLocks noGrp="1"/>
          </p:cNvSpPr>
          <p:nvPr>
            <p:ph type="title" idx="101" hasCustomPrompt="1"/>
          </p:nvPr>
        </p:nvSpPr>
        <p:spPr>
          <a:xfrm>
            <a:off x="1168400" y="512064"/>
            <a:ext cx="10566400" cy="512064"/>
          </a:xfrm>
          <a:prstGeom prst="rect">
            <a:avLst/>
          </a:prstGeom>
          <a:noFill/>
          <a:ln/>
        </p:spPr>
        <p:txBody>
          <a:bodyPr wrap="square" lIns="0" tIns="0" rIns="0" bIns="0" rtlCol="0" anchor="t"/>
          <a:lstStyle/>
          <a:p>
            <a:pPr marL="0" indent="0" algn="l">
              <a:buNone/>
            </a:pPr>
            <a:r>
              <a:rPr lang="en-US" sz="3000" b="1" dirty="0">
                <a:solidFill>
                  <a:srgbClr val="FFFFFF"/>
                </a:solidFill>
              </a:rPr>
              <a:t>Học</a:t>
            </a:r>
            <a:r>
              <a:rPr lang="en-US" sz="2000" b="0" dirty="0">
                <a:solidFill>
                  <a:srgbClr val="9FB2C8"/>
                </a:solidFill>
              </a:rPr>
              <a:t>   Learning</a:t>
            </a:r>
            <a:endParaRPr lang="en-US" sz="2800" dirty="0">
              <a:solidFill>
                <a:srgbClr val="FFFFFF"/>
              </a:solidFill>
            </a:endParaRPr>
          </a:p>
        </p:txBody>
      </p:sp>
      <p:sp>
        <p:nvSpPr>
          <p:cNvPr id="901" name="Deco 901"/>
          <p:cNvSpPr/>
          <p:nvPr/>
        </p:nvSpPr>
        <p:spPr>
          <a:xfrm>
            <a:off x="457200" y="1320800"/>
            <a:ext cx="50800" cy="1612900"/>
          </a:xfrm>
          <a:prstGeom prst="rect">
            <a:avLst/>
          </a:prstGeom>
          <a:solidFill>
            <a:srgbClr val="F4B336"/>
          </a:solidFill>
          <a:ln>
            <a:noFill/>
          </a:ln>
        </p:spPr>
        <p:txBody>
          <a:bodyPr/>
          <a:lstStyle/>
          <a:p>
            <a:endParaRPr lang="en-US"/>
          </a:p>
        </p:txBody>
      </p:sp>
      <p:sp>
        <p:nvSpPr>
          <p:cNvPr id="5" name="Text 3"/>
          <p:cNvSpPr txBox="1"/>
          <p:nvPr/>
        </p:nvSpPr>
        <p:spPr>
          <a:xfrm>
            <a:off x="736600" y="1320800"/>
            <a:ext cx="10998200" cy="1612900"/>
          </a:xfrm>
          <a:prstGeom prst="rect">
            <a:avLst/>
          </a:prstGeom>
          <a:noFill/>
          <a:ln/>
        </p:spPr>
        <p:txBody>
          <a:bodyPr wrap="square" lIns="0" tIns="0" rIns="0" bIns="0" rtlCol="0" anchor="t"/>
          <a:lstStyle/>
          <a:p>
            <a:pPr marL="0" indent="0">
              <a:lnSpc>
                <a:spcPct val="105000"/>
              </a:lnSpc>
              <a:spcAft>
                <a:spcPts val="0"/>
              </a:spcAft>
              <a:buNone/>
            </a:pPr>
            <a:r>
              <a:rPr lang="en-US" sz="3200" b="1" dirty="0">
                <a:solidFill>
                  <a:srgbClr val="F4B336"/>
                </a:solidFill>
              </a:rPr>
              <a:t>4.1. Khái niệm: </a:t>
            </a:r>
            <a:r>
              <a:rPr lang="en-US" sz="3200" dirty="0">
                <a:solidFill>
                  <a:srgbClr val="FFFFFF"/>
                </a:solidFill>
              </a:rPr>
              <a:t>Learning là quá trình con người tích lũy kiến thức và kỹ năng thông qua trải nghiệm và tương tác, có mối liên hệ chặt chẽ với trí nhớ.</a:t>
            </a:r>
          </a:p>
        </p:txBody>
      </p:sp>
      <p:sp>
        <p:nvSpPr>
          <p:cNvPr id="17" name="Card left"/>
          <p:cNvSpPr/>
          <p:nvPr/>
        </p:nvSpPr>
        <p:spPr>
          <a:xfrm>
            <a:off x="457200" y="3314700"/>
            <a:ext cx="11277600" cy="2908300"/>
          </a:xfrm>
          <a:prstGeom prst="roundRect">
            <a:avLst>
              <a:gd name="adj" fmla="val 643"/>
            </a:avLst>
          </a:prstGeom>
          <a:solidFill>
            <a:srgbClr val="FFFFFF"/>
          </a:solidFill>
          <a:ln w="9525">
            <a:noFill/>
          </a:ln>
        </p:spPr>
        <p:txBody>
          <a:bodyPr rtlCol="0" anchor="ctr"/>
          <a:lstStyle/>
          <a:p>
            <a:endParaRPr lang="en-US"/>
          </a:p>
        </p:txBody>
      </p:sp>
      <p:sp>
        <p:nvSpPr>
          <p:cNvPr id="8" name="Shape 6"/>
          <p:cNvSpPr/>
          <p:nvPr/>
        </p:nvSpPr>
        <p:spPr>
          <a:xfrm>
            <a:off x="457200" y="3314700"/>
            <a:ext cx="11277600" cy="63500"/>
          </a:xfrm>
          <a:prstGeom prst="rect">
            <a:avLst/>
          </a:prstGeom>
          <a:solidFill>
            <a:srgbClr val="1677B8"/>
          </a:solidFill>
          <a:ln w="12700">
            <a:noFill/>
          </a:ln>
        </p:spPr>
        <p:txBody>
          <a:bodyPr/>
          <a:lstStyle/>
          <a:p>
            <a:endParaRPr lang="en-US"/>
          </a:p>
        </p:txBody>
      </p:sp>
      <p:sp>
        <p:nvSpPr>
          <p:cNvPr id="21" name="Topic badge"/>
          <p:cNvSpPr/>
          <p:nvPr/>
        </p:nvSpPr>
        <p:spPr>
          <a:xfrm>
            <a:off x="457200" y="524764"/>
            <a:ext cx="508000" cy="508000"/>
          </a:xfrm>
          <a:prstGeom prst="roundRect">
            <a:avLst>
              <a:gd name="adj" fmla="val 22000"/>
            </a:avLst>
          </a:prstGeom>
          <a:solidFill>
            <a:srgbClr val="F4B336"/>
          </a:solidFill>
          <a:ln>
            <a:noFill/>
          </a:ln>
        </p:spPr>
        <p:txBody>
          <a:bodyPr wrap="none" lIns="0" tIns="0" rIns="0" bIns="0" rtlCol="0" anchor="ctr">
            <a:noAutofit/>
          </a:bodyPr>
          <a:lstStyle/>
          <a:p>
            <a:pPr algn="ctr"/>
            <a:r>
              <a:rPr lang="en-US" sz="2000" b="1" dirty="0">
                <a:solidFill>
                  <a:srgbClr val="062F5C"/>
                </a:solidFill>
              </a:rPr>
              <a:t>04</a:t>
            </a:r>
          </a:p>
        </p:txBody>
      </p:sp>
      <p:sp>
        <p:nvSpPr>
          <p:cNvPr id="6" name="Text 4"/>
          <p:cNvSpPr txBox="1"/>
          <p:nvPr/>
        </p:nvSpPr>
        <p:spPr>
          <a:xfrm>
            <a:off x="812800" y="3492500"/>
            <a:ext cx="10617200" cy="2603500"/>
          </a:xfrm>
          <a:prstGeom prst="rect">
            <a:avLst/>
          </a:prstGeom>
          <a:noFill/>
          <a:ln/>
        </p:spPr>
        <p:txBody>
          <a:bodyPr wrap="square" lIns="0" tIns="0" rIns="0" bIns="0" rtlCol="0" anchor="ctr"/>
          <a:lstStyle/>
          <a:p>
            <a:pPr marL="0" indent="0">
              <a:lnSpc>
                <a:spcPct val="105000"/>
              </a:lnSpc>
              <a:spcAft>
                <a:spcPts val="0"/>
              </a:spcAft>
              <a:buNone/>
            </a:pPr>
            <a:r>
              <a:rPr lang="en-US" sz="2600" dirty="0">
                <a:solidFill>
                  <a:srgbClr val="2B3642"/>
                </a:solidFill>
              </a:rPr>
              <a:t>Trong thiết kế tương tác, con người thường học hiệu quả hơn khi được trực tiếp thực hành, khám phá và thử nghiệm, thay vì chỉ đọc và làm theo các hướng dẫn có sẵn.</a:t>
            </a:r>
          </a:p>
        </p:txBody>
      </p:sp>
    </p:spTree>
    <p:extLst>
      <p:ext uri="{BB962C8B-B14F-4D97-AF65-F5344CB8AC3E}">
        <p14:creationId xmlns:p14="http://schemas.microsoft.com/office/powerpoint/2010/main" val="18881911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0">
    <p:bg>
      <p:bgPr>
        <a:solidFill>
          <a:srgbClr val="062F5C"/>
        </a:solidFill>
        <a:effectLst/>
      </p:bgPr>
    </p:bg>
    <p:spTree>
      <p:nvGrpSpPr>
        <p:cNvPr id="1" name=""/>
        <p:cNvGrpSpPr/>
        <p:nvPr/>
      </p:nvGrpSpPr>
      <p:grpSpPr>
        <a:xfrm>
          <a:off x="0" y="0"/>
          <a:ext cx="0" cy="0"/>
          <a:chOff x="0" y="0"/>
          <a:chExt cx="0" cy="0"/>
        </a:xfrm>
      </p:grpSpPr>
      <p:sp>
        <p:nvSpPr>
          <p:cNvPr id="22" name="Decor 23"/>
          <p:cNvSpPr/>
          <p:nvPr/>
        </p:nvSpPr>
        <p:spPr>
          <a:xfrm rot="1200000">
            <a:off x="9398000" y="-1778000"/>
            <a:ext cx="4064000" cy="4064000"/>
          </a:xfrm>
          <a:prstGeom prst="rect">
            <a:avLst/>
          </a:prstGeom>
          <a:solidFill>
            <a:srgbClr val="FFFFFF">
              <a:alpha val="9000"/>
            </a:srgbClr>
          </a:solidFill>
          <a:ln>
            <a:noFill/>
          </a:ln>
        </p:spPr>
        <p:txBody>
          <a:bodyPr/>
          <a:lstStyle/>
          <a:p>
            <a:endParaRPr lang="en-US"/>
          </a:p>
        </p:txBody>
      </p:sp>
      <p:sp>
        <p:nvSpPr>
          <p:cNvPr id="23" name="Decor 24"/>
          <p:cNvSpPr/>
          <p:nvPr/>
        </p:nvSpPr>
        <p:spPr>
          <a:xfrm>
            <a:off x="-762000" y="5461000"/>
            <a:ext cx="2032000" cy="2032000"/>
          </a:xfrm>
          <a:prstGeom prst="ellipse">
            <a:avLst/>
          </a:prstGeom>
          <a:noFill/>
          <a:ln w="28575">
            <a:solidFill>
              <a:srgbClr val="FFFFFF">
                <a:alpha val="22000"/>
              </a:srgbClr>
            </a:solidFill>
          </a:ln>
        </p:spPr>
        <p:txBody>
          <a:bodyPr/>
          <a:lstStyle/>
          <a:p>
            <a:endParaRPr lang="en-US"/>
          </a:p>
        </p:txBody>
      </p:sp>
      <p:sp>
        <p:nvSpPr>
          <p:cNvPr id="24" name="Decor 25"/>
          <p:cNvSpPr/>
          <p:nvPr/>
        </p:nvSpPr>
        <p:spPr>
          <a:xfrm rot="2700000">
            <a:off x="11912600" y="6553200"/>
            <a:ext cx="177800" cy="177800"/>
          </a:xfrm>
          <a:prstGeom prst="rect">
            <a:avLst/>
          </a:prstGeom>
          <a:solidFill>
            <a:srgbClr val="F4B336">
              <a:alpha val="35000"/>
            </a:srgbClr>
          </a:solidFill>
          <a:ln>
            <a:noFill/>
          </a:ln>
        </p:spPr>
        <p:txBody>
          <a:bodyPr/>
          <a:lstStyle/>
          <a:p>
            <a:endParaRPr lang="en-US"/>
          </a:p>
        </p:txBody>
      </p:sp>
      <p:sp>
        <p:nvSpPr>
          <p:cNvPr id="2" name="Text 1"/>
          <p:cNvSpPr>
            <a:spLocks noGrp="1"/>
          </p:cNvSpPr>
          <p:nvPr>
            <p:ph type="title" idx="101" hasCustomPrompt="1"/>
          </p:nvPr>
        </p:nvSpPr>
        <p:spPr>
          <a:xfrm>
            <a:off x="1168400" y="512064"/>
            <a:ext cx="10566400" cy="512064"/>
          </a:xfrm>
          <a:prstGeom prst="rect">
            <a:avLst/>
          </a:prstGeom>
          <a:noFill/>
          <a:ln/>
        </p:spPr>
        <p:txBody>
          <a:bodyPr wrap="square" lIns="0" tIns="0" rIns="0" bIns="0" rtlCol="0" anchor="t"/>
          <a:lstStyle/>
          <a:p>
            <a:pPr marL="0" indent="0" algn="l">
              <a:buNone/>
            </a:pPr>
            <a:r>
              <a:rPr lang="en-US" sz="3000" b="1" dirty="0">
                <a:solidFill>
                  <a:srgbClr val="FFFFFF"/>
                </a:solidFill>
              </a:rPr>
              <a:t>Học</a:t>
            </a:r>
            <a:r>
              <a:rPr lang="en-US" sz="2000" b="0" dirty="0">
                <a:solidFill>
                  <a:srgbClr val="9FB2C8"/>
                </a:solidFill>
              </a:rPr>
              <a:t>   Learning</a:t>
            </a:r>
            <a:endParaRPr lang="en-US" sz="2800" dirty="0">
              <a:solidFill>
                <a:srgbClr val="FFFFFF"/>
              </a:solidFill>
            </a:endParaRPr>
          </a:p>
        </p:txBody>
      </p:sp>
      <p:sp>
        <p:nvSpPr>
          <p:cNvPr id="17" name="Card left"/>
          <p:cNvSpPr/>
          <p:nvPr/>
        </p:nvSpPr>
        <p:spPr>
          <a:xfrm>
            <a:off x="457200" y="1117600"/>
            <a:ext cx="11277600" cy="5257800"/>
          </a:xfrm>
          <a:prstGeom prst="roundRect">
            <a:avLst>
              <a:gd name="adj" fmla="val 643"/>
            </a:avLst>
          </a:prstGeom>
          <a:solidFill>
            <a:srgbClr val="FFFFFF"/>
          </a:solidFill>
          <a:ln w="9525">
            <a:noFill/>
          </a:ln>
        </p:spPr>
        <p:txBody>
          <a:bodyPr rtlCol="0" anchor="ctr"/>
          <a:lstStyle/>
          <a:p>
            <a:endParaRPr lang="en-US"/>
          </a:p>
        </p:txBody>
      </p:sp>
      <p:sp>
        <p:nvSpPr>
          <p:cNvPr id="8" name="Shape 6"/>
          <p:cNvSpPr/>
          <p:nvPr/>
        </p:nvSpPr>
        <p:spPr>
          <a:xfrm>
            <a:off x="457200" y="1117600"/>
            <a:ext cx="11277600" cy="63500"/>
          </a:xfrm>
          <a:prstGeom prst="rect">
            <a:avLst/>
          </a:prstGeom>
          <a:solidFill>
            <a:srgbClr val="1677B8"/>
          </a:solidFill>
          <a:ln w="12700">
            <a:noFill/>
          </a:ln>
        </p:spPr>
        <p:txBody>
          <a:bodyPr/>
          <a:lstStyle/>
          <a:p>
            <a:endParaRPr lang="en-US"/>
          </a:p>
        </p:txBody>
      </p:sp>
      <p:sp>
        <p:nvSpPr>
          <p:cNvPr id="9" name="Text 7"/>
          <p:cNvSpPr txBox="1"/>
          <p:nvPr/>
        </p:nvSpPr>
        <p:spPr>
          <a:xfrm>
            <a:off x="736600" y="1244600"/>
            <a:ext cx="8890000" cy="330200"/>
          </a:xfrm>
          <a:prstGeom prst="rect">
            <a:avLst/>
          </a:prstGeom>
          <a:noFill/>
          <a:ln/>
        </p:spPr>
        <p:txBody>
          <a:bodyPr wrap="square" lIns="0" tIns="0" rIns="0" bIns="0" rtlCol="0" anchor="t"/>
          <a:lstStyle/>
          <a:p>
            <a:pPr marL="0" indent="0">
              <a:buNone/>
            </a:pPr>
            <a:r>
              <a:rPr lang="en-US" sz="2200" b="1" kern="0" spc="50" dirty="0">
                <a:solidFill>
                  <a:srgbClr val="1677B8"/>
                </a:solidFill>
              </a:rPr>
              <a:t>4.2. CÁC ĐẶC ĐIỂM</a:t>
            </a:r>
          </a:p>
        </p:txBody>
      </p:sp>
      <p:sp>
        <p:nvSpPr>
          <p:cNvPr id="12" name="Text 10"/>
          <p:cNvSpPr txBox="1"/>
          <p:nvPr/>
        </p:nvSpPr>
        <p:spPr>
          <a:xfrm>
            <a:off x="736600" y="1612900"/>
            <a:ext cx="10795000" cy="4724400"/>
          </a:xfrm>
          <a:prstGeom prst="rect">
            <a:avLst/>
          </a:prstGeom>
          <a:noFill/>
          <a:ln/>
        </p:spPr>
        <p:txBody>
          <a:bodyPr wrap="square" lIns="0" tIns="0" rIns="0" bIns="0" rtlCol="0" anchor="t"/>
          <a:lstStyle/>
          <a:p>
            <a:pPr marL="285750" indent="-285750">
              <a:lnSpc>
                <a:spcPct val="100000"/>
              </a:lnSpc>
              <a:spcAft>
                <a:spcPts val="100"/>
              </a:spcAft>
              <a:buNone/>
            </a:pPr>
            <a:r>
              <a:rPr lang="en-US" sz="2000" b="1" dirty="0">
                <a:solidFill>
                  <a:srgbClr val="1677B8"/>
                </a:solidFill>
              </a:rPr>
              <a:t>1. </a:t>
            </a:r>
            <a:r>
              <a:rPr lang="en-US" sz="2000" b="1" dirty="0">
                <a:solidFill>
                  <a:srgbClr val="062F5C"/>
                </a:solidFill>
              </a:rPr>
              <a:t>Học gắn liền với trí nhớ</a:t>
            </a:r>
          </a:p>
          <a:p>
            <a:pPr marL="285750" indent="0">
              <a:lnSpc>
                <a:spcPct val="100000"/>
              </a:lnSpc>
              <a:spcAft>
                <a:spcPts val="100"/>
              </a:spcAft>
              <a:buNone/>
            </a:pPr>
            <a:r>
              <a:rPr lang="en-US" sz="1600" i="1" dirty="0">
                <a:solidFill>
                  <a:srgbClr val="1677B8"/>
                </a:solidFill>
              </a:rPr>
              <a:t>Learning &amp; Memory</a:t>
            </a:r>
          </a:p>
          <a:p>
            <a:pPr marL="285750" indent="0">
              <a:lnSpc>
                <a:spcPct val="102000"/>
              </a:lnSpc>
              <a:spcAft>
                <a:spcPts val="250"/>
              </a:spcAft>
              <a:buNone/>
            </a:pPr>
            <a:r>
              <a:rPr lang="en-US" sz="1800" dirty="0">
                <a:solidFill>
                  <a:srgbClr val="17212B"/>
                </a:solidFill>
              </a:rPr>
              <a:t>Học tập và trí nhớ có mối quan hệ chặt chẽ với nhau. Con người tích lũy kiến thức và kỹ năng thông qua học tập, đồng thời cần trí nhớ để lưu giữ và sử dụng lại những gì đã học.</a:t>
            </a:r>
          </a:p>
          <a:p>
            <a:pPr marL="285750" indent="-285750">
              <a:lnSpc>
                <a:spcPct val="100000"/>
              </a:lnSpc>
              <a:spcAft>
                <a:spcPts val="100"/>
              </a:spcAft>
              <a:buNone/>
            </a:pPr>
            <a:r>
              <a:rPr lang="en-US" sz="2000" b="1" dirty="0">
                <a:solidFill>
                  <a:srgbClr val="1677B8"/>
                </a:solidFill>
              </a:rPr>
              <a:t>2. </a:t>
            </a:r>
            <a:r>
              <a:rPr lang="en-US" sz="2000" b="1" dirty="0">
                <a:solidFill>
                  <a:srgbClr val="062F5C"/>
                </a:solidFill>
              </a:rPr>
              <a:t>Con người thích học thông qua thực hành</a:t>
            </a:r>
          </a:p>
          <a:p>
            <a:pPr marL="285750" indent="0">
              <a:lnSpc>
                <a:spcPct val="100000"/>
              </a:lnSpc>
              <a:spcAft>
                <a:spcPts val="100"/>
              </a:spcAft>
              <a:buNone/>
            </a:pPr>
            <a:r>
              <a:rPr lang="en-US" sz="1600" i="1" dirty="0">
                <a:solidFill>
                  <a:srgbClr val="1677B8"/>
                </a:solidFill>
              </a:rPr>
              <a:t>Learning by Doing / Active Learning</a:t>
            </a:r>
          </a:p>
          <a:p>
            <a:pPr marL="285750" indent="0">
              <a:lnSpc>
                <a:spcPct val="102000"/>
              </a:lnSpc>
              <a:spcAft>
                <a:spcPts val="100"/>
              </a:spcAft>
              <a:buNone/>
            </a:pPr>
            <a:r>
              <a:rPr lang="en-US" sz="1800" dirty="0">
                <a:solidFill>
                  <a:srgbClr val="17212B"/>
                </a:solidFill>
              </a:rPr>
              <a:t>Con người thường khó học khi chỉ làm theo một loạt hướng dẫn và có xu hướng học tốt hơn bằng cách trực tiếp thực hiện, thử nghiệm và khám phá.</a:t>
            </a:r>
          </a:p>
          <a:p>
            <a:pPr marL="285750" indent="0">
              <a:lnSpc>
                <a:spcPct val="102000"/>
              </a:lnSpc>
              <a:spcAft>
                <a:spcPts val="250"/>
              </a:spcAft>
              <a:buNone/>
            </a:pPr>
            <a:r>
              <a:rPr lang="en-US" sz="1800" dirty="0">
                <a:solidFill>
                  <a:srgbClr val="17212B"/>
                </a:solidFill>
              </a:rPr>
              <a:t>Các giao diện cho phép người dùng thao tác trực tiếp, thử các chức năng và hoàn tác khi mắc lỗi có thể hỗ trợ quá trình học hiệu quả hơn.</a:t>
            </a:r>
          </a:p>
          <a:p>
            <a:pPr marL="285750" indent="-285750">
              <a:lnSpc>
                <a:spcPct val="100000"/>
              </a:lnSpc>
              <a:spcAft>
                <a:spcPts val="100"/>
              </a:spcAft>
              <a:buNone/>
            </a:pPr>
            <a:r>
              <a:rPr lang="en-US" sz="2000" b="1" dirty="0">
                <a:solidFill>
                  <a:srgbClr val="1677B8"/>
                </a:solidFill>
              </a:rPr>
              <a:t>3. </a:t>
            </a:r>
            <a:r>
              <a:rPr lang="en-US" sz="2000" b="1" dirty="0">
                <a:solidFill>
                  <a:srgbClr val="062F5C"/>
                </a:solidFill>
              </a:rPr>
              <a:t>Công nghệ có thể trở thành công cụ hỗ trợ nhận thức</a:t>
            </a:r>
          </a:p>
          <a:p>
            <a:pPr marL="285750" indent="0">
              <a:lnSpc>
                <a:spcPct val="100000"/>
              </a:lnSpc>
              <a:spcAft>
                <a:spcPts val="100"/>
              </a:spcAft>
              <a:buNone/>
            </a:pPr>
            <a:r>
              <a:rPr lang="en-US" sz="1600" i="1" dirty="0">
                <a:solidFill>
                  <a:srgbClr val="1677B8"/>
                </a:solidFill>
              </a:rPr>
              <a:t>Cognitive Prosthesis / Extended Mind</a:t>
            </a:r>
          </a:p>
          <a:p>
            <a:pPr marL="285750" indent="0">
              <a:lnSpc>
                <a:spcPct val="102000"/>
              </a:lnSpc>
              <a:spcAft>
                <a:spcPts val="100"/>
              </a:spcAft>
              <a:buNone/>
            </a:pPr>
            <a:r>
              <a:rPr lang="en-US" sz="1800" dirty="0">
                <a:solidFill>
                  <a:srgbClr val="17212B"/>
                </a:solidFill>
              </a:rPr>
              <a:t>Internet và smartphone có thể đóng vai trò như nguồn hỗ trợ nhận thức, giúp con người truy cập thông tin khi cần thay vì phải ghi nhớ toàn bộ nội dung.</a:t>
            </a:r>
          </a:p>
          <a:p>
            <a:pPr marL="285750" indent="0">
              <a:lnSpc>
                <a:spcPct val="102000"/>
              </a:lnSpc>
              <a:spcAft>
                <a:spcPts val="250"/>
              </a:spcAft>
              <a:buNone/>
            </a:pPr>
            <a:r>
              <a:rPr lang="en-US" sz="1800" dirty="0">
                <a:solidFill>
                  <a:srgbClr val="17212B"/>
                </a:solidFill>
              </a:rPr>
              <a:t>Khi biết rằng thông tin có thể được tìm lại trên Internet, con người có xu hướng ghi nhớ nơi có thể tìm thấy thông tin thay vì cố ghi nhớ chính xác toàn bộ thông tin đó.</a:t>
            </a:r>
          </a:p>
        </p:txBody>
      </p:sp>
      <p:sp>
        <p:nvSpPr>
          <p:cNvPr id="21" name="Topic badge"/>
          <p:cNvSpPr/>
          <p:nvPr/>
        </p:nvSpPr>
        <p:spPr>
          <a:xfrm>
            <a:off x="457200" y="524764"/>
            <a:ext cx="508000" cy="508000"/>
          </a:xfrm>
          <a:prstGeom prst="roundRect">
            <a:avLst>
              <a:gd name="adj" fmla="val 22000"/>
            </a:avLst>
          </a:prstGeom>
          <a:solidFill>
            <a:srgbClr val="F4B336"/>
          </a:solidFill>
          <a:ln>
            <a:noFill/>
          </a:ln>
        </p:spPr>
        <p:txBody>
          <a:bodyPr wrap="none" lIns="0" tIns="0" rIns="0" bIns="0" rtlCol="0" anchor="ctr">
            <a:noAutofit/>
          </a:bodyPr>
          <a:lstStyle/>
          <a:p>
            <a:pPr algn="ctr"/>
            <a:r>
              <a:rPr lang="en-US" sz="2000" b="1" dirty="0">
                <a:solidFill>
                  <a:srgbClr val="062F5C"/>
                </a:solidFill>
              </a:rPr>
              <a:t>04</a:t>
            </a:r>
          </a:p>
        </p:txBody>
      </p:sp>
    </p:spTree>
    <p:extLst>
      <p:ext uri="{BB962C8B-B14F-4D97-AF65-F5344CB8AC3E}">
        <p14:creationId xmlns:p14="http://schemas.microsoft.com/office/powerpoint/2010/main" val="10894975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0">
    <p:bg>
      <p:bgPr>
        <a:solidFill>
          <a:srgbClr val="062F5C"/>
        </a:solidFill>
        <a:effectLst/>
      </p:bgPr>
    </p:bg>
    <p:spTree>
      <p:nvGrpSpPr>
        <p:cNvPr id="1" name=""/>
        <p:cNvGrpSpPr/>
        <p:nvPr/>
      </p:nvGrpSpPr>
      <p:grpSpPr>
        <a:xfrm>
          <a:off x="0" y="0"/>
          <a:ext cx="0" cy="0"/>
          <a:chOff x="0" y="0"/>
          <a:chExt cx="0" cy="0"/>
        </a:xfrm>
      </p:grpSpPr>
      <p:sp>
        <p:nvSpPr>
          <p:cNvPr id="22" name="Decor 23"/>
          <p:cNvSpPr/>
          <p:nvPr/>
        </p:nvSpPr>
        <p:spPr>
          <a:xfrm rot="1200000">
            <a:off x="9398000" y="-1778000"/>
            <a:ext cx="4064000" cy="4064000"/>
          </a:xfrm>
          <a:prstGeom prst="rect">
            <a:avLst/>
          </a:prstGeom>
          <a:solidFill>
            <a:srgbClr val="FFFFFF">
              <a:alpha val="9000"/>
            </a:srgbClr>
          </a:solidFill>
          <a:ln>
            <a:noFill/>
          </a:ln>
        </p:spPr>
        <p:txBody>
          <a:bodyPr/>
          <a:lstStyle/>
          <a:p>
            <a:endParaRPr lang="en-US"/>
          </a:p>
        </p:txBody>
      </p:sp>
      <p:sp>
        <p:nvSpPr>
          <p:cNvPr id="23" name="Decor 24"/>
          <p:cNvSpPr/>
          <p:nvPr/>
        </p:nvSpPr>
        <p:spPr>
          <a:xfrm>
            <a:off x="-762000" y="5461000"/>
            <a:ext cx="2032000" cy="2032000"/>
          </a:xfrm>
          <a:prstGeom prst="ellipse">
            <a:avLst/>
          </a:prstGeom>
          <a:noFill/>
          <a:ln w="28575">
            <a:solidFill>
              <a:srgbClr val="FFFFFF">
                <a:alpha val="22000"/>
              </a:srgbClr>
            </a:solidFill>
          </a:ln>
        </p:spPr>
        <p:txBody>
          <a:bodyPr/>
          <a:lstStyle/>
          <a:p>
            <a:endParaRPr lang="en-US"/>
          </a:p>
        </p:txBody>
      </p:sp>
      <p:sp>
        <p:nvSpPr>
          <p:cNvPr id="24" name="Decor 25"/>
          <p:cNvSpPr/>
          <p:nvPr/>
        </p:nvSpPr>
        <p:spPr>
          <a:xfrm rot="2700000">
            <a:off x="11912600" y="6553200"/>
            <a:ext cx="177800" cy="177800"/>
          </a:xfrm>
          <a:prstGeom prst="rect">
            <a:avLst/>
          </a:prstGeom>
          <a:solidFill>
            <a:srgbClr val="F4B336">
              <a:alpha val="35000"/>
            </a:srgbClr>
          </a:solidFill>
          <a:ln>
            <a:noFill/>
          </a:ln>
        </p:spPr>
        <p:txBody>
          <a:bodyPr/>
          <a:lstStyle/>
          <a:p>
            <a:endParaRPr lang="en-US"/>
          </a:p>
        </p:txBody>
      </p:sp>
      <p:sp>
        <p:nvSpPr>
          <p:cNvPr id="2" name="Text 1"/>
          <p:cNvSpPr>
            <a:spLocks noGrp="1"/>
          </p:cNvSpPr>
          <p:nvPr>
            <p:ph type="title" idx="101" hasCustomPrompt="1"/>
          </p:nvPr>
        </p:nvSpPr>
        <p:spPr>
          <a:xfrm>
            <a:off x="1168400" y="512064"/>
            <a:ext cx="10566400" cy="512064"/>
          </a:xfrm>
          <a:prstGeom prst="rect">
            <a:avLst/>
          </a:prstGeom>
          <a:noFill/>
          <a:ln/>
        </p:spPr>
        <p:txBody>
          <a:bodyPr wrap="square" lIns="0" tIns="0" rIns="0" bIns="0" rtlCol="0" anchor="t"/>
          <a:lstStyle/>
          <a:p>
            <a:pPr marL="0" indent="0" algn="l">
              <a:buNone/>
            </a:pPr>
            <a:r>
              <a:rPr lang="en-US" sz="3000" b="1" dirty="0">
                <a:solidFill>
                  <a:srgbClr val="FFFFFF"/>
                </a:solidFill>
              </a:rPr>
              <a:t>Học</a:t>
            </a:r>
            <a:r>
              <a:rPr lang="en-US" sz="2000" b="0" dirty="0">
                <a:solidFill>
                  <a:srgbClr val="9FB2C8"/>
                </a:solidFill>
              </a:rPr>
              <a:t>   Learning</a:t>
            </a:r>
            <a:endParaRPr lang="en-US" sz="2800" dirty="0">
              <a:solidFill>
                <a:srgbClr val="FFFFFF"/>
              </a:solidFill>
            </a:endParaRPr>
          </a:p>
        </p:txBody>
      </p:sp>
      <p:sp>
        <p:nvSpPr>
          <p:cNvPr id="901" name="Deco 901"/>
          <p:cNvSpPr/>
          <p:nvPr/>
        </p:nvSpPr>
        <p:spPr>
          <a:xfrm>
            <a:off x="457200" y="1143000"/>
            <a:ext cx="38100" cy="939800"/>
          </a:xfrm>
          <a:prstGeom prst="rect">
            <a:avLst/>
          </a:prstGeom>
          <a:solidFill>
            <a:srgbClr val="F4B336"/>
          </a:solidFill>
          <a:ln>
            <a:noFill/>
          </a:ln>
        </p:spPr>
        <p:txBody>
          <a:bodyPr/>
          <a:lstStyle/>
          <a:p>
            <a:endParaRPr lang="en-US"/>
          </a:p>
        </p:txBody>
      </p:sp>
      <p:sp>
        <p:nvSpPr>
          <p:cNvPr id="5" name="Text 3"/>
          <p:cNvSpPr txBox="1"/>
          <p:nvPr/>
        </p:nvSpPr>
        <p:spPr>
          <a:xfrm>
            <a:off x="660400" y="1117600"/>
            <a:ext cx="11074400" cy="609600"/>
          </a:xfrm>
          <a:prstGeom prst="rect">
            <a:avLst/>
          </a:prstGeom>
          <a:noFill/>
          <a:ln/>
        </p:spPr>
        <p:txBody>
          <a:bodyPr wrap="square" lIns="0" tIns="0" rIns="0" bIns="0" rtlCol="0" anchor="t"/>
          <a:lstStyle/>
          <a:p>
            <a:pPr marL="0" indent="0">
              <a:lnSpc>
                <a:spcPct val="105000"/>
              </a:lnSpc>
              <a:buNone/>
            </a:pPr>
            <a:r>
              <a:rPr lang="en-US" sz="1900" b="1" dirty="0">
                <a:solidFill>
                  <a:srgbClr val="F4B336"/>
                </a:solidFill>
              </a:rPr>
              <a:t>Lời khuyên thiết kế: </a:t>
            </a:r>
            <a:r>
              <a:rPr lang="en-US" sz="1900" dirty="0">
                <a:solidFill>
                  <a:srgbClr val="FFFFFF"/>
                </a:solidFill>
              </a:rPr>
              <a:t>cho người dùng khám phá an toàn, dẫn dắt khi mới học, và nối cái cụ thể với cái trừu tượng.</a:t>
            </a:r>
          </a:p>
        </p:txBody>
      </p:sp>
      <p:sp>
        <p:nvSpPr>
          <p:cNvPr id="6" name="Text 4"/>
          <p:cNvSpPr txBox="1"/>
          <p:nvPr/>
        </p:nvSpPr>
        <p:spPr>
          <a:xfrm>
            <a:off x="660400" y="1778000"/>
            <a:ext cx="11074400" cy="254000"/>
          </a:xfrm>
          <a:prstGeom prst="rect">
            <a:avLst/>
          </a:prstGeom>
          <a:noFill/>
          <a:ln/>
        </p:spPr>
        <p:txBody>
          <a:bodyPr wrap="square" lIns="0" tIns="0" rIns="0" bIns="0" rtlCol="0" anchor="t"/>
          <a:lstStyle/>
          <a:p>
            <a:pPr marL="0" indent="0">
              <a:buNone/>
            </a:pPr>
            <a:r>
              <a:rPr lang="en-US" sz="1400" i="1" dirty="0">
                <a:solidFill>
                  <a:srgbClr val="9FB3CC"/>
                </a:solidFill>
              </a:rPr>
              <a:t>Design Implications – Learning. Nguồn: Preece, Rogers &amp; Sharp, Interaction Design, 4th ed., 2015 – mục 3.2.4</a:t>
            </a:r>
          </a:p>
        </p:txBody>
      </p:sp>
      <p:sp>
        <p:nvSpPr>
          <p:cNvPr id="21" name="Topic badge"/>
          <p:cNvSpPr/>
          <p:nvPr/>
        </p:nvSpPr>
        <p:spPr>
          <a:xfrm>
            <a:off x="457200" y="524764"/>
            <a:ext cx="508000" cy="508000"/>
          </a:xfrm>
          <a:prstGeom prst="roundRect">
            <a:avLst>
              <a:gd name="adj" fmla="val 22000"/>
            </a:avLst>
          </a:prstGeom>
          <a:solidFill>
            <a:srgbClr val="F4B336"/>
          </a:solidFill>
          <a:ln>
            <a:noFill/>
          </a:ln>
        </p:spPr>
        <p:txBody>
          <a:bodyPr wrap="none" lIns="0" tIns="0" rIns="0" bIns="0" rtlCol="0" anchor="ctr">
            <a:noAutofit/>
          </a:bodyPr>
          <a:lstStyle/>
          <a:p>
            <a:pPr algn="ctr"/>
            <a:r>
              <a:rPr lang="en-US" sz="2000" b="1" dirty="0">
                <a:solidFill>
                  <a:srgbClr val="062F5C"/>
                </a:solidFill>
              </a:rPr>
              <a:t>04</a:t>
            </a:r>
          </a:p>
        </p:txBody>
      </p:sp>
      <p:graphicFrame>
        <p:nvGraphicFramePr>
          <p:cNvPr id="4" name="Learning advice table">
            <a:extLst>
              <a:ext uri="{FF2B5EF4-FFF2-40B4-BE49-F238E27FC236}">
                <a16:creationId xmlns:a16="http://schemas.microsoft.com/office/drawing/2014/main" id="{9EFDD4B2-7E20-474F-B700-5D85CC3D67E8}"/>
              </a:ext>
            </a:extLst>
          </p:cNvPr>
          <p:cNvGraphicFramePr>
            <a:graphicFrameLocks noGrp="1"/>
          </p:cNvGraphicFramePr>
          <p:nvPr>
            <p:extLst>
              <p:ext uri="{D42A27DB-BD31-4B8C-83A1-F6EECF244321}">
                <p14:modId xmlns:p14="http://schemas.microsoft.com/office/powerpoint/2010/main" val="3708460822"/>
              </p:ext>
            </p:extLst>
          </p:nvPr>
        </p:nvGraphicFramePr>
        <p:xfrm>
          <a:off x="457200" y="2133600"/>
          <a:ext cx="11277600" cy="4165600"/>
        </p:xfrm>
        <a:graphic>
          <a:graphicData uri="http://schemas.openxmlformats.org/drawingml/2006/table">
            <a:tbl>
              <a:tblPr firstRow="1" bandRow="1">
                <a:tableStyleId>{5C22544A-7EE6-4342-B048-85BDC9FD1C3A}</a:tableStyleId>
              </a:tblPr>
              <a:tblGrid>
                <a:gridCol w="3881120">
                  <a:extLst>
                    <a:ext uri="{9D8B030D-6E8A-4147-A177-3AD203B41FA5}">
                      <a16:colId xmlns:a16="http://schemas.microsoft.com/office/drawing/2014/main" val="3620476739"/>
                    </a:ext>
                  </a:extLst>
                </a:gridCol>
                <a:gridCol w="7396480">
                  <a:extLst>
                    <a:ext uri="{9D8B030D-6E8A-4147-A177-3AD203B41FA5}">
                      <a16:colId xmlns:a16="http://schemas.microsoft.com/office/drawing/2014/main" val="3890497968"/>
                    </a:ext>
                  </a:extLst>
                </a:gridCol>
              </a:tblGrid>
              <a:tr h="508000">
                <a:tc>
                  <a:txBody>
                    <a:bodyPr/>
                    <a:lstStyle/>
                    <a:p>
                      <a:pPr marL="0" indent="0" algn="l">
                        <a:lnSpc>
                          <a:spcPct val="104000"/>
                        </a:lnSpc>
                        <a:buNone/>
                      </a:pPr>
                      <a:r>
                        <a:rPr lang="en-US" sz="1700" b="1" dirty="0">
                          <a:solidFill>
                            <a:srgbClr val="FFFFFF"/>
                          </a:solidFill>
                        </a:rPr>
                        <a:t>Nguyên văn (EN)</a:t>
                      </a:r>
                    </a:p>
                  </a:txBody>
                  <a:tcPr anchor="ctr">
                    <a:solidFill>
                      <a:srgbClr val="0B2D55"/>
                    </a:solidFill>
                  </a:tcPr>
                </a:tc>
                <a:tc>
                  <a:txBody>
                    <a:bodyPr/>
                    <a:lstStyle/>
                    <a:p>
                      <a:pPr marL="0" indent="0" algn="l">
                        <a:lnSpc>
                          <a:spcPct val="104000"/>
                        </a:lnSpc>
                        <a:buNone/>
                      </a:pPr>
                      <a:r>
                        <a:rPr lang="en-US" sz="1700" b="1" dirty="0">
                          <a:solidFill>
                            <a:srgbClr val="FFFFFF"/>
                          </a:solidFill>
                        </a:rPr>
                        <a:t>Diễn giải (VI)</a:t>
                      </a:r>
                    </a:p>
                  </a:txBody>
                  <a:tcPr anchor="ctr">
                    <a:solidFill>
                      <a:srgbClr val="0B2D55"/>
                    </a:solidFill>
                  </a:tcPr>
                </a:tc>
                <a:extLst>
                  <a:ext uri="{0D108BD9-81ED-4DB2-BD59-A6C34878D82A}">
                    <a16:rowId xmlns:a16="http://schemas.microsoft.com/office/drawing/2014/main" val="2469536054"/>
                  </a:ext>
                </a:extLst>
              </a:tr>
              <a:tr h="1219200">
                <a:tc>
                  <a:txBody>
                    <a:bodyPr/>
                    <a:lstStyle/>
                    <a:p>
                      <a:pPr marL="0" indent="0" algn="l">
                        <a:lnSpc>
                          <a:spcPct val="104000"/>
                        </a:lnSpc>
                        <a:buNone/>
                      </a:pPr>
                      <a:r>
                        <a:rPr lang="en-US" sz="1400" i="1" dirty="0">
                          <a:solidFill>
                            <a:srgbClr val="3A4A5C"/>
                          </a:solidFill>
                        </a:rPr>
                        <a:t>Design interfaces that encourage exploration.</a:t>
                      </a:r>
                    </a:p>
                  </a:txBody>
                  <a:tcPr anchor="ctr">
                    <a:solidFill>
                      <a:srgbClr val="FFFFFF"/>
                    </a:solidFill>
                  </a:tcPr>
                </a:tc>
                <a:tc>
                  <a:txBody>
                    <a:bodyPr/>
                    <a:lstStyle/>
                    <a:p>
                      <a:pPr marL="0" indent="0" algn="l">
                        <a:lnSpc>
                          <a:spcPct val="104000"/>
                        </a:lnSpc>
                        <a:buNone/>
                      </a:pPr>
                      <a:r>
                        <a:rPr lang="en-US" sz="1800" dirty="0">
                          <a:solidFill>
                            <a:srgbClr val="17212B"/>
                          </a:solidFill>
                        </a:rPr>
                        <a:t>Thiết kế giao diện khuyến khích khám phá (thử – xem kết quả – hoàn tác được).</a:t>
                      </a:r>
                    </a:p>
                  </a:txBody>
                  <a:tcPr anchor="ctr">
                    <a:solidFill>
                      <a:srgbClr val="FFFFFF"/>
                    </a:solidFill>
                  </a:tcPr>
                </a:tc>
                <a:extLst>
                  <a:ext uri="{0D108BD9-81ED-4DB2-BD59-A6C34878D82A}">
                    <a16:rowId xmlns:a16="http://schemas.microsoft.com/office/drawing/2014/main" val="4190176496"/>
                  </a:ext>
                </a:extLst>
              </a:tr>
              <a:tr h="1219200">
                <a:tc>
                  <a:txBody>
                    <a:bodyPr/>
                    <a:lstStyle/>
                    <a:p>
                      <a:pPr marL="0" indent="0" algn="l">
                        <a:lnSpc>
                          <a:spcPct val="104000"/>
                        </a:lnSpc>
                        <a:buNone/>
                      </a:pPr>
                      <a:r>
                        <a:rPr lang="en-US" sz="1400" i="1" dirty="0">
                          <a:solidFill>
                            <a:srgbClr val="3A4A5C"/>
                          </a:solidFill>
                        </a:rPr>
                        <a:t>Design interfaces that constrain and guide users to select appropriate actions when initially learning.</a:t>
                      </a:r>
                    </a:p>
                  </a:txBody>
                  <a:tcPr anchor="ctr">
                    <a:solidFill>
                      <a:srgbClr val="F2F6FA"/>
                    </a:solidFill>
                  </a:tcPr>
                </a:tc>
                <a:tc>
                  <a:txBody>
                    <a:bodyPr/>
                    <a:lstStyle/>
                    <a:p>
                      <a:pPr marL="0" indent="0" algn="l">
                        <a:lnSpc>
                          <a:spcPct val="104000"/>
                        </a:lnSpc>
                        <a:buNone/>
                      </a:pPr>
                      <a:r>
                        <a:rPr lang="en-US" sz="1800" dirty="0">
                          <a:solidFill>
                            <a:srgbClr val="17212B"/>
                          </a:solidFill>
                        </a:rPr>
                        <a:t>Ràng buộc và dẫn dắt người dùng chọn hành động phù hợp khi mới học.</a:t>
                      </a:r>
                    </a:p>
                  </a:txBody>
                  <a:tcPr anchor="ctr">
                    <a:solidFill>
                      <a:srgbClr val="F2F6FA"/>
                    </a:solidFill>
                  </a:tcPr>
                </a:tc>
                <a:extLst>
                  <a:ext uri="{0D108BD9-81ED-4DB2-BD59-A6C34878D82A}">
                    <a16:rowId xmlns:a16="http://schemas.microsoft.com/office/drawing/2014/main" val="2528240739"/>
                  </a:ext>
                </a:extLst>
              </a:tr>
              <a:tr h="1219200">
                <a:tc>
                  <a:txBody>
                    <a:bodyPr/>
                    <a:lstStyle/>
                    <a:p>
                      <a:pPr marL="0" indent="0" algn="l">
                        <a:lnSpc>
                          <a:spcPct val="104000"/>
                        </a:lnSpc>
                        <a:buNone/>
                      </a:pPr>
                      <a:r>
                        <a:rPr lang="en-US" sz="1400" i="1" dirty="0">
                          <a:solidFill>
                            <a:srgbClr val="3A4A5C"/>
                          </a:solidFill>
                        </a:rPr>
                        <a:t>Dynamically link concrete representations and abstract concepts to facilitate the learning of complex material.</a:t>
                      </a:r>
                    </a:p>
                  </a:txBody>
                  <a:tcPr anchor="ctr">
                    <a:solidFill>
                      <a:srgbClr val="FFFFFF"/>
                    </a:solidFill>
                  </a:tcPr>
                </a:tc>
                <a:tc>
                  <a:txBody>
                    <a:bodyPr/>
                    <a:lstStyle/>
                    <a:p>
                      <a:pPr marL="0" indent="0" algn="l">
                        <a:lnSpc>
                          <a:spcPct val="104000"/>
                        </a:lnSpc>
                        <a:buNone/>
                      </a:pPr>
                      <a:r>
                        <a:rPr lang="en-US" sz="1800" dirty="0">
                          <a:solidFill>
                            <a:srgbClr val="17212B"/>
                          </a:solidFill>
                        </a:rPr>
                        <a:t>Liên kết động giữa biểu diễn cụ thể và khái niệm trừu tượng để hỗ trợ học nội dung phức tạp.</a:t>
                      </a:r>
                    </a:p>
                  </a:txBody>
                  <a:tcPr anchor="ctr">
                    <a:solidFill>
                      <a:srgbClr val="FFFFFF"/>
                    </a:solidFill>
                  </a:tcPr>
                </a:tc>
                <a:extLst>
                  <a:ext uri="{0D108BD9-81ED-4DB2-BD59-A6C34878D82A}">
                    <a16:rowId xmlns:a16="http://schemas.microsoft.com/office/drawing/2014/main" val="3736258955"/>
                  </a:ext>
                </a:extLst>
              </a:tr>
            </a:tbl>
          </a:graphicData>
        </a:graphic>
      </p:graphicFrame>
    </p:spTree>
    <p:extLst>
      <p:ext uri="{BB962C8B-B14F-4D97-AF65-F5344CB8AC3E}">
        <p14:creationId xmlns:p14="http://schemas.microsoft.com/office/powerpoint/2010/main" val="23998165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1">
    <p:bg>
      <p:bgPr>
        <a:solidFill>
          <a:srgbClr val="062F5C"/>
        </a:solidFill>
        <a:effectLst/>
      </p:bgPr>
    </p:bg>
    <p:spTree>
      <p:nvGrpSpPr>
        <p:cNvPr id="1" name=""/>
        <p:cNvGrpSpPr/>
        <p:nvPr/>
      </p:nvGrpSpPr>
      <p:grpSpPr>
        <a:xfrm>
          <a:off x="0" y="0"/>
          <a:ext cx="0" cy="0"/>
          <a:chOff x="0" y="0"/>
          <a:chExt cx="0" cy="0"/>
        </a:xfrm>
      </p:grpSpPr>
      <p:sp>
        <p:nvSpPr>
          <p:cNvPr id="35" name="Decor 36"/>
          <p:cNvSpPr/>
          <p:nvPr/>
        </p:nvSpPr>
        <p:spPr>
          <a:xfrm>
            <a:off x="9144000" y="3810000"/>
            <a:ext cx="4826000" cy="4826000"/>
          </a:xfrm>
          <a:prstGeom prst="ellipse">
            <a:avLst/>
          </a:prstGeom>
          <a:solidFill>
            <a:srgbClr val="FFFFFF">
              <a:alpha val="9000"/>
            </a:srgbClr>
          </a:solidFill>
          <a:ln>
            <a:noFill/>
          </a:ln>
        </p:spPr>
        <p:txBody>
          <a:bodyPr/>
          <a:lstStyle/>
          <a:p>
            <a:endParaRPr lang="en-US"/>
          </a:p>
        </p:txBody>
      </p:sp>
      <p:sp>
        <p:nvSpPr>
          <p:cNvPr id="36" name="Decor 37"/>
          <p:cNvSpPr/>
          <p:nvPr/>
        </p:nvSpPr>
        <p:spPr>
          <a:xfrm rot="900000">
            <a:off x="-1397000" y="-1905000"/>
            <a:ext cx="3302000" cy="3302000"/>
          </a:xfrm>
          <a:prstGeom prst="rect">
            <a:avLst/>
          </a:prstGeom>
          <a:noFill/>
          <a:ln w="28575">
            <a:solidFill>
              <a:srgbClr val="FFFFFF">
                <a:alpha val="22000"/>
              </a:srgbClr>
            </a:solidFill>
          </a:ln>
        </p:spPr>
        <p:txBody>
          <a:bodyPr/>
          <a:lstStyle/>
          <a:p>
            <a:endParaRPr lang="en-US"/>
          </a:p>
        </p:txBody>
      </p:sp>
      <p:sp>
        <p:nvSpPr>
          <p:cNvPr id="37" name="Decor 38"/>
          <p:cNvSpPr/>
          <p:nvPr/>
        </p:nvSpPr>
        <p:spPr>
          <a:xfrm>
            <a:off x="11557000" y="508000"/>
            <a:ext cx="254000" cy="254000"/>
          </a:xfrm>
          <a:prstGeom prst="ellipse">
            <a:avLst/>
          </a:prstGeom>
          <a:solidFill>
            <a:srgbClr val="F4B336">
              <a:alpha val="35000"/>
            </a:srgbClr>
          </a:solidFill>
          <a:ln>
            <a:noFill/>
          </a:ln>
        </p:spPr>
        <p:txBody>
          <a:bodyPr/>
          <a:lstStyle/>
          <a:p>
            <a:endParaRPr lang="en-US"/>
          </a:p>
        </p:txBody>
      </p:sp>
      <p:sp>
        <p:nvSpPr>
          <p:cNvPr id="2" name="Text 1"/>
          <p:cNvSpPr>
            <a:spLocks noGrp="1"/>
          </p:cNvSpPr>
          <p:nvPr>
            <p:ph type="title" idx="101" hasCustomPrompt="1"/>
          </p:nvPr>
        </p:nvSpPr>
        <p:spPr>
          <a:xfrm>
            <a:off x="1168400" y="512064"/>
            <a:ext cx="10566400" cy="512064"/>
          </a:xfrm>
          <a:prstGeom prst="rect">
            <a:avLst/>
          </a:prstGeom>
          <a:noFill/>
          <a:ln/>
        </p:spPr>
        <p:txBody>
          <a:bodyPr wrap="square" lIns="0" tIns="0" rIns="0" bIns="0" rtlCol="0" anchor="t"/>
          <a:lstStyle/>
          <a:p>
            <a:pPr marL="0" indent="0" algn="l">
              <a:buNone/>
            </a:pPr>
            <a:r>
              <a:rPr lang="en-US" sz="3000" b="1" dirty="0">
                <a:solidFill>
                  <a:srgbClr val="FFFFFF"/>
                </a:solidFill>
              </a:rPr>
              <a:t>Học — Ví dụ 4.1</a:t>
            </a:r>
            <a:endParaRPr lang="en-US" sz="2800" dirty="0">
              <a:solidFill>
                <a:srgbClr val="FFFFFF"/>
              </a:solidFill>
            </a:endParaRPr>
          </a:p>
        </p:txBody>
      </p:sp>
      <p:sp>
        <p:nvSpPr>
          <p:cNvPr id="34" name="Topic badge"/>
          <p:cNvSpPr/>
          <p:nvPr/>
        </p:nvSpPr>
        <p:spPr>
          <a:xfrm>
            <a:off x="457200" y="524764"/>
            <a:ext cx="508000" cy="508000"/>
          </a:xfrm>
          <a:prstGeom prst="roundRect">
            <a:avLst>
              <a:gd name="adj" fmla="val 22000"/>
            </a:avLst>
          </a:prstGeom>
          <a:solidFill>
            <a:srgbClr val="F4B336"/>
          </a:solidFill>
          <a:ln>
            <a:noFill/>
          </a:ln>
        </p:spPr>
        <p:txBody>
          <a:bodyPr wrap="none" lIns="0" tIns="0" rIns="0" bIns="0" rtlCol="0" anchor="ctr">
            <a:noAutofit/>
          </a:bodyPr>
          <a:lstStyle/>
          <a:p>
            <a:pPr algn="ctr"/>
            <a:r>
              <a:rPr lang="en-US" sz="2000" b="1" dirty="0">
                <a:solidFill>
                  <a:srgbClr val="062F5C"/>
                </a:solidFill>
              </a:rPr>
              <a:t>04</a:t>
            </a:r>
          </a:p>
        </p:txBody>
      </p:sp>
      <p:sp>
        <p:nvSpPr>
          <p:cNvPr id="200" name="Ex card image"/>
          <p:cNvSpPr/>
          <p:nvPr/>
        </p:nvSpPr>
        <p:spPr>
          <a:xfrm>
            <a:off x="457200" y="1143000"/>
            <a:ext cx="3048000" cy="3937000"/>
          </a:xfrm>
          <a:prstGeom prst="roundRect">
            <a:avLst>
              <a:gd name="adj" fmla="val 643"/>
            </a:avLst>
          </a:prstGeom>
          <a:solidFill>
            <a:srgbClr val="FFFFFF"/>
          </a:solidFill>
          <a:ln>
            <a:noFill/>
          </a:ln>
        </p:spPr>
        <p:txBody>
          <a:bodyPr/>
          <a:lstStyle/>
          <a:p>
            <a:endParaRPr lang="en-US"/>
          </a:p>
        </p:txBody>
      </p:sp>
      <p:sp>
        <p:nvSpPr>
          <p:cNvPr id="201" name="Ex image bg"/>
          <p:cNvSpPr/>
          <p:nvPr/>
        </p:nvSpPr>
        <p:spPr>
          <a:xfrm>
            <a:off x="609600" y="1295400"/>
            <a:ext cx="2743200" cy="2717800"/>
          </a:xfrm>
          <a:prstGeom prst="roundRect">
            <a:avLst>
              <a:gd name="adj" fmla="val 1543"/>
            </a:avLst>
          </a:prstGeom>
          <a:solidFill>
            <a:srgbClr val="EEF2F6"/>
          </a:solidFill>
          <a:ln>
            <a:noFill/>
          </a:ln>
        </p:spPr>
        <p:txBody>
          <a:bodyPr/>
          <a:lstStyle/>
          <a:p>
            <a:endParaRPr lang="en-US"/>
          </a:p>
        </p:txBody>
      </p:sp>
      <p:sp>
        <p:nvSpPr>
          <p:cNvPr id="202" name="Ex caption"/>
          <p:cNvSpPr txBox="1"/>
          <p:nvPr/>
        </p:nvSpPr>
        <p:spPr>
          <a:xfrm>
            <a:off x="609600" y="4089400"/>
            <a:ext cx="2743200" cy="838200"/>
          </a:xfrm>
          <a:prstGeom prst="rect">
            <a:avLst/>
          </a:prstGeom>
          <a:noFill/>
          <a:ln>
            <a:noFill/>
          </a:ln>
        </p:spPr>
        <p:txBody>
          <a:bodyPr wrap="square" lIns="0" tIns="0" rIns="0" bIns="0" rtlCol="0" anchor="t">
            <a:noAutofit/>
          </a:bodyPr>
          <a:lstStyle/>
          <a:p>
            <a:pPr marL="0" indent="0">
              <a:lnSpc>
                <a:spcPct val="105000"/>
              </a:lnSpc>
              <a:spcAft>
                <a:spcPts val="100"/>
              </a:spcAft>
              <a:buNone/>
            </a:pPr>
            <a:r>
              <a:rPr lang="vi-VN" sz="1200" i="1" dirty="0">
                <a:solidFill>
                  <a:srgbClr val="344054"/>
                </a:solidFill>
              </a:rPr>
              <a:t>Hình 4.1. Người dùng vừa xem video hướng dẫn vừa thực hiện lại thao tác</a:t>
            </a:r>
          </a:p>
          <a:p>
            <a:pPr marL="0" indent="0">
              <a:lnSpc>
                <a:spcPct val="105000"/>
              </a:lnSpc>
              <a:buNone/>
            </a:pPr>
            <a:r>
              <a:rPr lang="vi-VN" sz="1100" i="1" dirty="0">
                <a:solidFill>
                  <a:srgbClr val="475467"/>
                </a:solidFill>
              </a:rPr>
              <a:t>Nguồn: YouTube</a:t>
            </a:r>
          </a:p>
        </p:txBody>
      </p:sp>
      <p:sp>
        <p:nvSpPr>
          <p:cNvPr id="203" name="Ex card text"/>
          <p:cNvSpPr/>
          <p:nvPr/>
        </p:nvSpPr>
        <p:spPr>
          <a:xfrm>
            <a:off x="3657600" y="1143000"/>
            <a:ext cx="8077200" cy="3937000"/>
          </a:xfrm>
          <a:prstGeom prst="roundRect">
            <a:avLst>
              <a:gd name="adj" fmla="val 643"/>
            </a:avLst>
          </a:prstGeom>
          <a:solidFill>
            <a:srgbClr val="FFFFFF"/>
          </a:solidFill>
          <a:ln>
            <a:noFill/>
          </a:ln>
        </p:spPr>
        <p:txBody>
          <a:bodyPr/>
          <a:lstStyle/>
          <a:p>
            <a:endParaRPr lang="en-US"/>
          </a:p>
        </p:txBody>
      </p:sp>
      <p:sp>
        <p:nvSpPr>
          <p:cNvPr id="204" name="Ex name"/>
          <p:cNvSpPr txBox="1"/>
          <p:nvPr/>
        </p:nvSpPr>
        <p:spPr>
          <a:xfrm>
            <a:off x="3886200" y="1244600"/>
            <a:ext cx="7620000" cy="340868"/>
          </a:xfrm>
          <a:prstGeom prst="rect">
            <a:avLst/>
          </a:prstGeom>
          <a:noFill/>
          <a:ln>
            <a:noFill/>
          </a:ln>
        </p:spPr>
        <p:txBody>
          <a:bodyPr wrap="square" lIns="0" tIns="0" rIns="0" bIns="0" rtlCol="0" anchor="t">
            <a:noAutofit/>
          </a:bodyPr>
          <a:lstStyle/>
          <a:p>
            <a:pPr marL="0" indent="0">
              <a:lnSpc>
                <a:spcPct val="105000"/>
              </a:lnSpc>
              <a:buNone/>
            </a:pPr>
            <a:r>
              <a:rPr lang="vi-VN" sz="2200" b="1" dirty="0">
                <a:solidFill>
                  <a:srgbClr val="1677B8"/>
                </a:solidFill>
              </a:rPr>
              <a:t>Ví dụ 4.1: </a:t>
            </a:r>
            <a:r>
              <a:rPr lang="vi-VN" sz="2200" b="1" dirty="0">
                <a:solidFill>
                  <a:srgbClr val="062F5C"/>
                </a:solidFill>
              </a:rPr>
              <a:t>Học sử dụng YouTube</a:t>
            </a:r>
          </a:p>
        </p:txBody>
      </p:sp>
      <p:sp>
        <p:nvSpPr>
          <p:cNvPr id="205" name="Ex body"/>
          <p:cNvSpPr txBox="1"/>
          <p:nvPr/>
        </p:nvSpPr>
        <p:spPr>
          <a:xfrm>
            <a:off x="3886200" y="1661668"/>
            <a:ext cx="7620000" cy="3316732"/>
          </a:xfrm>
          <a:prstGeom prst="rect">
            <a:avLst/>
          </a:prstGeom>
          <a:noFill/>
          <a:ln>
            <a:noFill/>
          </a:ln>
        </p:spPr>
        <p:txBody>
          <a:bodyPr wrap="square" lIns="0" tIns="0" rIns="0" bIns="0" rtlCol="0" anchor="t">
            <a:noAutofit/>
          </a:bodyPr>
          <a:lstStyle/>
          <a:p>
            <a:pPr marL="0" indent="0">
              <a:lnSpc>
                <a:spcPct val="98000"/>
              </a:lnSpc>
              <a:spcAft>
                <a:spcPts val="300"/>
              </a:spcAft>
              <a:buNone/>
            </a:pPr>
            <a:r>
              <a:rPr lang="vi-VN" sz="2000" b="1" dirty="0"/>
              <a:t>Là gì, có gì:</a:t>
            </a:r>
            <a:br>
              <a:rPr lang="vi-VN" sz="2000" dirty="0"/>
            </a:br>
            <a:r>
              <a:rPr lang="vi-VN" sz="2000" dirty="0">
                <a:solidFill>
                  <a:srgbClr val="344054"/>
                </a:solidFill>
              </a:rPr>
              <a:t>YouTube là nền tảng xem và chia sẻ video, trong đó người dùng có thể tìm kiếm các video hướng dẫn về học tập, phần mềm, kỹ năng hoặc các chủ đề khác. Người dùng vừa quan sát video vừa có thể thực hiện lại các thao tác được hướng dẫn.</a:t>
            </a:r>
          </a:p>
          <a:p>
            <a:pPr marL="0" indent="0">
              <a:lnSpc>
                <a:spcPct val="98000"/>
              </a:lnSpc>
              <a:spcAft>
                <a:spcPts val="0"/>
              </a:spcAft>
              <a:buNone/>
            </a:pPr>
            <a:r>
              <a:rPr lang="vi-VN" sz="2000" b="1" dirty="0"/>
              <a:t>Liên hệ đặc điểm nhận thức:</a:t>
            </a:r>
            <a:br>
              <a:rPr lang="vi-VN" sz="2000" dirty="0"/>
            </a:br>
            <a:r>
              <a:rPr lang="vi-VN" sz="2000" dirty="0">
                <a:solidFill>
                  <a:srgbClr val="344054"/>
                </a:solidFill>
              </a:rPr>
              <a:t>Người dùng </a:t>
            </a:r>
            <a:r>
              <a:rPr lang="vi-VN" sz="2000" b="1" dirty="0">
                <a:solidFill>
                  <a:srgbClr val="344054"/>
                </a:solidFill>
              </a:rPr>
              <a:t>học thông qua việc quan sát và “learn by doing” – học bằng cách thực hành</a:t>
            </a:r>
            <a:r>
              <a:rPr lang="vi-VN" sz="2000" dirty="0">
                <a:solidFill>
                  <a:srgbClr val="344054"/>
                </a:solidFill>
              </a:rPr>
              <a:t>. Thay vì chỉ đọc hướng dẫn, người dùng có thể xem thao tác, thực hiện lại và kiểm tra kết quả.</a:t>
            </a:r>
          </a:p>
        </p:txBody>
      </p:sp>
      <p:sp>
        <p:nvSpPr>
          <p:cNvPr id="206" name="Ex lesson bg"/>
          <p:cNvSpPr/>
          <p:nvPr/>
        </p:nvSpPr>
        <p:spPr>
          <a:xfrm>
            <a:off x="457200" y="5156200"/>
            <a:ext cx="11277600" cy="635000"/>
          </a:xfrm>
          <a:prstGeom prst="rect">
            <a:avLst/>
          </a:prstGeom>
          <a:solidFill>
            <a:srgbClr val="EAF5EF"/>
          </a:solidFill>
          <a:ln>
            <a:noFill/>
          </a:ln>
        </p:spPr>
        <p:txBody>
          <a:bodyPr/>
          <a:lstStyle/>
          <a:p>
            <a:endParaRPr lang="en-US"/>
          </a:p>
        </p:txBody>
      </p:sp>
      <p:sp>
        <p:nvSpPr>
          <p:cNvPr id="207" name="Ex lesson bar"/>
          <p:cNvSpPr/>
          <p:nvPr/>
        </p:nvSpPr>
        <p:spPr>
          <a:xfrm>
            <a:off x="457200" y="5156200"/>
            <a:ext cx="50800" cy="635000"/>
          </a:xfrm>
          <a:prstGeom prst="rect">
            <a:avLst/>
          </a:prstGeom>
          <a:solidFill>
            <a:srgbClr val="2E9B67"/>
          </a:solidFill>
          <a:ln>
            <a:noFill/>
          </a:ln>
        </p:spPr>
        <p:txBody>
          <a:bodyPr/>
          <a:lstStyle/>
          <a:p>
            <a:endParaRPr lang="en-US"/>
          </a:p>
        </p:txBody>
      </p:sp>
      <p:sp>
        <p:nvSpPr>
          <p:cNvPr id="208" name="Ex lesson"/>
          <p:cNvSpPr txBox="1"/>
          <p:nvPr/>
        </p:nvSpPr>
        <p:spPr>
          <a:xfrm>
            <a:off x="685800" y="5156200"/>
            <a:ext cx="10820400" cy="635000"/>
          </a:xfrm>
          <a:prstGeom prst="rect">
            <a:avLst/>
          </a:prstGeom>
          <a:noFill/>
          <a:ln>
            <a:noFill/>
          </a:ln>
        </p:spPr>
        <p:txBody>
          <a:bodyPr wrap="square" lIns="0" tIns="0" rIns="0" bIns="0" rtlCol="0" anchor="ctr">
            <a:noAutofit/>
          </a:bodyPr>
          <a:lstStyle/>
          <a:p>
            <a:pPr marL="0" indent="0">
              <a:lnSpc>
                <a:spcPct val="105000"/>
              </a:lnSpc>
              <a:buNone/>
            </a:pPr>
            <a:r>
              <a:rPr lang="vi-VN" sz="1800" b="1" dirty="0">
                <a:solidFill>
                  <a:srgbClr val="1E7F53"/>
                </a:solidFill>
              </a:rPr>
              <a:t>Bài học: </a:t>
            </a:r>
            <a:r>
              <a:rPr lang="vi-VN" sz="1800" b="1" dirty="0">
                <a:solidFill>
                  <a:srgbClr val="062F5C"/>
                </a:solidFill>
              </a:rPr>
              <a:t>Nên kết hợp hướng dẫn trực quan với thao tác thực tế, cho phép người dùng vừa xem hướng dẫn vừa thực hành để quá trình học trở nên dễ hiểu và hiệu quả hơn.</a:t>
            </a:r>
          </a:p>
        </p:txBody>
      </p:sp>
      <p:pic>
        <p:nvPicPr>
          <p:cNvPr id="3" name="Ex image">
            <a:extLst>
              <a:ext uri="{FF2B5EF4-FFF2-40B4-BE49-F238E27FC236}">
                <a16:creationId xmlns:a16="http://schemas.microsoft.com/office/drawing/2014/main" id="{D889D8C1-E574-7639-9538-C05EBC880EB7}"/>
              </a:ext>
            </a:extLst>
          </p:cNvPr>
          <p:cNvPicPr>
            <a:picLocks noChangeAspect="1"/>
          </p:cNvPicPr>
          <p:nvPr/>
        </p:nvPicPr>
        <p:blipFill>
          <a:blip r:embed="rId3"/>
          <a:stretch>
            <a:fillRect/>
          </a:stretch>
        </p:blipFill>
        <p:spPr>
          <a:xfrm>
            <a:off x="609600" y="1739900"/>
            <a:ext cx="2743200" cy="1828800"/>
          </a:xfrm>
          <a:prstGeom prst="rect">
            <a:avLst/>
          </a:prstGeom>
        </p:spPr>
      </p:pic>
      <p:sp>
        <p:nvSpPr>
          <p:cNvPr id="209" name="Ex badge"/>
          <p:cNvSpPr/>
          <p:nvPr/>
        </p:nvSpPr>
        <p:spPr>
          <a:xfrm>
            <a:off x="711200" y="1397000"/>
            <a:ext cx="381000" cy="381000"/>
          </a:xfrm>
          <a:prstGeom prst="ellipse">
            <a:avLst/>
          </a:prstGeom>
          <a:solidFill>
            <a:srgbClr val="073B6F"/>
          </a:solidFill>
          <a:ln w="28575">
            <a:solidFill>
              <a:srgbClr val="F4B336"/>
            </a:solidFill>
          </a:ln>
        </p:spPr>
        <p:txBody>
          <a:bodyPr/>
          <a:lstStyle/>
          <a:p>
            <a:endParaRPr lang="en-US"/>
          </a:p>
        </p:txBody>
      </p:sp>
      <p:sp>
        <p:nvSpPr>
          <p:cNvPr id="210" name="Ex badge num"/>
          <p:cNvSpPr txBox="1"/>
          <p:nvPr/>
        </p:nvSpPr>
        <p:spPr>
          <a:xfrm>
            <a:off x="711200" y="1397000"/>
            <a:ext cx="381000" cy="381000"/>
          </a:xfrm>
          <a:prstGeom prst="rect">
            <a:avLst/>
          </a:prstGeom>
          <a:noFill/>
          <a:ln>
            <a:noFill/>
          </a:ln>
        </p:spPr>
        <p:txBody>
          <a:bodyPr wrap="square" lIns="0" tIns="0" rIns="0" bIns="0" rtlCol="0" anchor="ctr">
            <a:noAutofit/>
          </a:bodyPr>
          <a:lstStyle/>
          <a:p>
            <a:pPr marL="0" indent="0" algn="ctr">
              <a:buNone/>
            </a:pPr>
            <a:r>
              <a:rPr lang="vi-VN" sz="1000" b="1" dirty="0">
                <a:solidFill>
                  <a:srgbClr val="FFFFFF"/>
                </a:solidFill>
              </a:rPr>
              <a:t>4.1</a:t>
            </a:r>
          </a:p>
        </p:txBody>
      </p:sp>
    </p:spTree>
    <p:extLst>
      <p:ext uri="{BB962C8B-B14F-4D97-AF65-F5344CB8AC3E}">
        <p14:creationId xmlns:p14="http://schemas.microsoft.com/office/powerpoint/2010/main" val="37991011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1">
    <p:bg>
      <p:bgPr>
        <a:solidFill>
          <a:srgbClr val="062F5C"/>
        </a:solidFill>
        <a:effectLst/>
      </p:bgPr>
    </p:bg>
    <p:spTree>
      <p:nvGrpSpPr>
        <p:cNvPr id="1" name=""/>
        <p:cNvGrpSpPr/>
        <p:nvPr/>
      </p:nvGrpSpPr>
      <p:grpSpPr>
        <a:xfrm>
          <a:off x="0" y="0"/>
          <a:ext cx="0" cy="0"/>
          <a:chOff x="0" y="0"/>
          <a:chExt cx="0" cy="0"/>
        </a:xfrm>
      </p:grpSpPr>
      <p:sp>
        <p:nvSpPr>
          <p:cNvPr id="35" name="Decor 36"/>
          <p:cNvSpPr/>
          <p:nvPr/>
        </p:nvSpPr>
        <p:spPr>
          <a:xfrm>
            <a:off x="9144000" y="3810000"/>
            <a:ext cx="4826000" cy="4826000"/>
          </a:xfrm>
          <a:prstGeom prst="ellipse">
            <a:avLst/>
          </a:prstGeom>
          <a:solidFill>
            <a:srgbClr val="FFFFFF">
              <a:alpha val="9000"/>
            </a:srgbClr>
          </a:solidFill>
          <a:ln>
            <a:noFill/>
          </a:ln>
        </p:spPr>
        <p:txBody>
          <a:bodyPr/>
          <a:lstStyle/>
          <a:p>
            <a:endParaRPr lang="en-US"/>
          </a:p>
        </p:txBody>
      </p:sp>
      <p:sp>
        <p:nvSpPr>
          <p:cNvPr id="36" name="Decor 37"/>
          <p:cNvSpPr/>
          <p:nvPr/>
        </p:nvSpPr>
        <p:spPr>
          <a:xfrm rot="900000">
            <a:off x="-1397000" y="-1905000"/>
            <a:ext cx="3302000" cy="3302000"/>
          </a:xfrm>
          <a:prstGeom prst="rect">
            <a:avLst/>
          </a:prstGeom>
          <a:noFill/>
          <a:ln w="28575">
            <a:solidFill>
              <a:srgbClr val="FFFFFF">
                <a:alpha val="22000"/>
              </a:srgbClr>
            </a:solidFill>
          </a:ln>
        </p:spPr>
        <p:txBody>
          <a:bodyPr/>
          <a:lstStyle/>
          <a:p>
            <a:endParaRPr lang="en-US"/>
          </a:p>
        </p:txBody>
      </p:sp>
      <p:sp>
        <p:nvSpPr>
          <p:cNvPr id="37" name="Decor 38"/>
          <p:cNvSpPr/>
          <p:nvPr/>
        </p:nvSpPr>
        <p:spPr>
          <a:xfrm>
            <a:off x="11557000" y="508000"/>
            <a:ext cx="254000" cy="254000"/>
          </a:xfrm>
          <a:prstGeom prst="ellipse">
            <a:avLst/>
          </a:prstGeom>
          <a:solidFill>
            <a:srgbClr val="F4B336">
              <a:alpha val="35000"/>
            </a:srgbClr>
          </a:solidFill>
          <a:ln>
            <a:noFill/>
          </a:ln>
        </p:spPr>
        <p:txBody>
          <a:bodyPr/>
          <a:lstStyle/>
          <a:p>
            <a:endParaRPr lang="en-US"/>
          </a:p>
        </p:txBody>
      </p:sp>
      <p:sp>
        <p:nvSpPr>
          <p:cNvPr id="2" name="Text 1"/>
          <p:cNvSpPr>
            <a:spLocks noGrp="1"/>
          </p:cNvSpPr>
          <p:nvPr>
            <p:ph type="title" idx="101" hasCustomPrompt="1"/>
          </p:nvPr>
        </p:nvSpPr>
        <p:spPr>
          <a:xfrm>
            <a:off x="1168400" y="512064"/>
            <a:ext cx="10566400" cy="512064"/>
          </a:xfrm>
          <a:prstGeom prst="rect">
            <a:avLst/>
          </a:prstGeom>
          <a:noFill/>
          <a:ln/>
        </p:spPr>
        <p:txBody>
          <a:bodyPr wrap="square" lIns="0" tIns="0" rIns="0" bIns="0" rtlCol="0" anchor="t"/>
          <a:lstStyle/>
          <a:p>
            <a:pPr marL="0" indent="0" algn="l">
              <a:buNone/>
            </a:pPr>
            <a:r>
              <a:rPr lang="en-US" sz="3000" b="1" dirty="0">
                <a:solidFill>
                  <a:srgbClr val="FFFFFF"/>
                </a:solidFill>
              </a:rPr>
              <a:t>Học — Ví dụ 4.2</a:t>
            </a:r>
            <a:endParaRPr lang="en-US" sz="2800" dirty="0">
              <a:solidFill>
                <a:srgbClr val="FFFFFF"/>
              </a:solidFill>
            </a:endParaRPr>
          </a:p>
        </p:txBody>
      </p:sp>
      <p:sp>
        <p:nvSpPr>
          <p:cNvPr id="34" name="Topic badge"/>
          <p:cNvSpPr/>
          <p:nvPr/>
        </p:nvSpPr>
        <p:spPr>
          <a:xfrm>
            <a:off x="457200" y="524764"/>
            <a:ext cx="508000" cy="508000"/>
          </a:xfrm>
          <a:prstGeom prst="roundRect">
            <a:avLst>
              <a:gd name="adj" fmla="val 22000"/>
            </a:avLst>
          </a:prstGeom>
          <a:solidFill>
            <a:srgbClr val="F4B336"/>
          </a:solidFill>
          <a:ln>
            <a:noFill/>
          </a:ln>
        </p:spPr>
        <p:txBody>
          <a:bodyPr wrap="none" lIns="0" tIns="0" rIns="0" bIns="0" rtlCol="0" anchor="ctr">
            <a:noAutofit/>
          </a:bodyPr>
          <a:lstStyle/>
          <a:p>
            <a:pPr algn="ctr"/>
            <a:r>
              <a:rPr lang="en-US" sz="2000" b="1" dirty="0">
                <a:solidFill>
                  <a:srgbClr val="062F5C"/>
                </a:solidFill>
              </a:rPr>
              <a:t>04</a:t>
            </a:r>
          </a:p>
        </p:txBody>
      </p:sp>
      <p:sp>
        <p:nvSpPr>
          <p:cNvPr id="200" name="Ex card image"/>
          <p:cNvSpPr/>
          <p:nvPr/>
        </p:nvSpPr>
        <p:spPr>
          <a:xfrm>
            <a:off x="457200" y="1143000"/>
            <a:ext cx="3048000" cy="4495800"/>
          </a:xfrm>
          <a:prstGeom prst="roundRect">
            <a:avLst>
              <a:gd name="adj" fmla="val 643"/>
            </a:avLst>
          </a:prstGeom>
          <a:solidFill>
            <a:srgbClr val="FFFFFF"/>
          </a:solidFill>
          <a:ln>
            <a:noFill/>
          </a:ln>
        </p:spPr>
        <p:txBody>
          <a:bodyPr/>
          <a:lstStyle/>
          <a:p>
            <a:endParaRPr lang="en-US"/>
          </a:p>
        </p:txBody>
      </p:sp>
      <p:sp>
        <p:nvSpPr>
          <p:cNvPr id="201" name="Ex image bg"/>
          <p:cNvSpPr/>
          <p:nvPr/>
        </p:nvSpPr>
        <p:spPr>
          <a:xfrm>
            <a:off x="609600" y="1295400"/>
            <a:ext cx="2743200" cy="3225800"/>
          </a:xfrm>
          <a:prstGeom prst="roundRect">
            <a:avLst>
              <a:gd name="adj" fmla="val 1543"/>
            </a:avLst>
          </a:prstGeom>
          <a:solidFill>
            <a:srgbClr val="EEF2F6"/>
          </a:solidFill>
          <a:ln>
            <a:noFill/>
          </a:ln>
        </p:spPr>
        <p:txBody>
          <a:bodyPr/>
          <a:lstStyle/>
          <a:p>
            <a:endParaRPr lang="en-US"/>
          </a:p>
        </p:txBody>
      </p:sp>
      <p:sp>
        <p:nvSpPr>
          <p:cNvPr id="202" name="Ex caption"/>
          <p:cNvSpPr txBox="1"/>
          <p:nvPr/>
        </p:nvSpPr>
        <p:spPr>
          <a:xfrm>
            <a:off x="609600" y="4597400"/>
            <a:ext cx="2743200" cy="889000"/>
          </a:xfrm>
          <a:prstGeom prst="rect">
            <a:avLst/>
          </a:prstGeom>
          <a:noFill/>
          <a:ln>
            <a:noFill/>
          </a:ln>
        </p:spPr>
        <p:txBody>
          <a:bodyPr wrap="square" lIns="0" tIns="0" rIns="0" bIns="0" rtlCol="0" anchor="t">
            <a:noAutofit/>
          </a:bodyPr>
          <a:lstStyle/>
          <a:p>
            <a:pPr marL="0" indent="0">
              <a:lnSpc>
                <a:spcPct val="105000"/>
              </a:lnSpc>
              <a:spcAft>
                <a:spcPts val="100"/>
              </a:spcAft>
              <a:buNone/>
            </a:pPr>
            <a:r>
              <a:rPr lang="vi-VN" sz="1200" i="1" dirty="0">
                <a:solidFill>
                  <a:srgbClr val="344054"/>
                </a:solidFill>
              </a:rPr>
              <a:t>Hình 4.2. Giao diện Photoshop hỗ trợ học qua thao tác trực tiếp</a:t>
            </a:r>
          </a:p>
          <a:p>
            <a:pPr marL="0" indent="0">
              <a:lnSpc>
                <a:spcPct val="105000"/>
              </a:lnSpc>
              <a:buNone/>
            </a:pPr>
            <a:r>
              <a:rPr lang="vi-VN" sz="1100" i="1" dirty="0">
                <a:solidFill>
                  <a:srgbClr val="475467"/>
                </a:solidFill>
              </a:rPr>
              <a:t>Nguồn: Adobe Photoshop</a:t>
            </a:r>
          </a:p>
        </p:txBody>
      </p:sp>
      <p:sp>
        <p:nvSpPr>
          <p:cNvPr id="203" name="Ex card text"/>
          <p:cNvSpPr/>
          <p:nvPr/>
        </p:nvSpPr>
        <p:spPr>
          <a:xfrm>
            <a:off x="3657600" y="1143000"/>
            <a:ext cx="8077200" cy="4495800"/>
          </a:xfrm>
          <a:prstGeom prst="roundRect">
            <a:avLst>
              <a:gd name="adj" fmla="val 643"/>
            </a:avLst>
          </a:prstGeom>
          <a:solidFill>
            <a:srgbClr val="FFFFFF"/>
          </a:solidFill>
          <a:ln>
            <a:noFill/>
          </a:ln>
        </p:spPr>
        <p:txBody>
          <a:bodyPr/>
          <a:lstStyle/>
          <a:p>
            <a:endParaRPr lang="en-US"/>
          </a:p>
        </p:txBody>
      </p:sp>
      <p:sp>
        <p:nvSpPr>
          <p:cNvPr id="204" name="Ex name"/>
          <p:cNvSpPr txBox="1"/>
          <p:nvPr/>
        </p:nvSpPr>
        <p:spPr>
          <a:xfrm>
            <a:off x="3886200" y="1244600"/>
            <a:ext cx="7620000" cy="402844"/>
          </a:xfrm>
          <a:prstGeom prst="rect">
            <a:avLst/>
          </a:prstGeom>
          <a:noFill/>
          <a:ln>
            <a:noFill/>
          </a:ln>
        </p:spPr>
        <p:txBody>
          <a:bodyPr wrap="square" lIns="0" tIns="0" rIns="0" bIns="0" rtlCol="0" anchor="t">
            <a:noAutofit/>
          </a:bodyPr>
          <a:lstStyle/>
          <a:p>
            <a:pPr marL="0" indent="0">
              <a:lnSpc>
                <a:spcPct val="105000"/>
              </a:lnSpc>
              <a:buNone/>
            </a:pPr>
            <a:r>
              <a:rPr lang="vi-VN" sz="2600" b="1" dirty="0">
                <a:solidFill>
                  <a:srgbClr val="1677B8"/>
                </a:solidFill>
              </a:rPr>
              <a:t>Ví dụ 4.2: </a:t>
            </a:r>
            <a:r>
              <a:rPr lang="vi-VN" sz="2600" b="1" dirty="0">
                <a:solidFill>
                  <a:srgbClr val="062F5C"/>
                </a:solidFill>
              </a:rPr>
              <a:t>Học sử dụng Photoshop</a:t>
            </a:r>
          </a:p>
        </p:txBody>
      </p:sp>
      <p:sp>
        <p:nvSpPr>
          <p:cNvPr id="205" name="Ex body"/>
          <p:cNvSpPr txBox="1"/>
          <p:nvPr/>
        </p:nvSpPr>
        <p:spPr>
          <a:xfrm>
            <a:off x="3886200" y="1723644"/>
            <a:ext cx="7620000" cy="3813556"/>
          </a:xfrm>
          <a:prstGeom prst="rect">
            <a:avLst/>
          </a:prstGeom>
          <a:noFill/>
          <a:ln>
            <a:noFill/>
          </a:ln>
        </p:spPr>
        <p:txBody>
          <a:bodyPr wrap="square" lIns="0" tIns="0" rIns="0" bIns="0" rtlCol="0" anchor="t">
            <a:noAutofit/>
          </a:bodyPr>
          <a:lstStyle/>
          <a:p>
            <a:pPr marL="0" indent="0">
              <a:lnSpc>
                <a:spcPct val="98000"/>
              </a:lnSpc>
              <a:spcAft>
                <a:spcPts val="300"/>
              </a:spcAft>
              <a:buNone/>
            </a:pPr>
            <a:r>
              <a:rPr lang="vi-VN" sz="2400" b="1" dirty="0"/>
              <a:t>Là gì, có gì:</a:t>
            </a:r>
            <a:br>
              <a:rPr lang="vi-VN" sz="2400" dirty="0"/>
            </a:br>
            <a:r>
              <a:rPr lang="vi-VN" sz="2400" dirty="0">
                <a:solidFill>
                  <a:srgbClr val="344054"/>
                </a:solidFill>
              </a:rPr>
              <a:t>Phần mềm chỉnh sửa ảnh cho phép người dùng trực </a:t>
            </a:r>
            <a:r>
              <a:rPr lang="vi-VN" sz="2400" dirty="0"/>
              <a:t>tiếp thử nghiệm các công cụ.</a:t>
            </a:r>
          </a:p>
          <a:p>
            <a:pPr marL="0" indent="0">
              <a:lnSpc>
                <a:spcPct val="98000"/>
              </a:lnSpc>
              <a:spcAft>
                <a:spcPts val="0"/>
              </a:spcAft>
              <a:buNone/>
            </a:pPr>
            <a:r>
              <a:rPr lang="vi-VN" sz="2400" b="1" dirty="0"/>
              <a:t>Liên hệ đặc điểm nhận thức:</a:t>
            </a:r>
            <a:br>
              <a:rPr lang="vi-VN" sz="2400" dirty="0"/>
            </a:br>
            <a:r>
              <a:rPr lang="vi-VN" sz="2400" dirty="0">
                <a:solidFill>
                  <a:srgbClr val="344054"/>
                </a:solidFill>
              </a:rPr>
              <a:t>Học thông qua khám phá và thực hành.</a:t>
            </a:r>
          </a:p>
        </p:txBody>
      </p:sp>
      <p:sp>
        <p:nvSpPr>
          <p:cNvPr id="206" name="Ex lesson bg"/>
          <p:cNvSpPr/>
          <p:nvPr/>
        </p:nvSpPr>
        <p:spPr>
          <a:xfrm>
            <a:off x="457200" y="5715000"/>
            <a:ext cx="11277600" cy="635000"/>
          </a:xfrm>
          <a:prstGeom prst="rect">
            <a:avLst/>
          </a:prstGeom>
          <a:solidFill>
            <a:srgbClr val="EAF5EF"/>
          </a:solidFill>
          <a:ln>
            <a:noFill/>
          </a:ln>
        </p:spPr>
        <p:txBody>
          <a:bodyPr/>
          <a:lstStyle/>
          <a:p>
            <a:endParaRPr lang="en-US"/>
          </a:p>
        </p:txBody>
      </p:sp>
      <p:sp>
        <p:nvSpPr>
          <p:cNvPr id="207" name="Ex lesson bar"/>
          <p:cNvSpPr/>
          <p:nvPr/>
        </p:nvSpPr>
        <p:spPr>
          <a:xfrm>
            <a:off x="457200" y="5715000"/>
            <a:ext cx="50800" cy="635000"/>
          </a:xfrm>
          <a:prstGeom prst="rect">
            <a:avLst/>
          </a:prstGeom>
          <a:solidFill>
            <a:srgbClr val="2E9B67"/>
          </a:solidFill>
          <a:ln>
            <a:noFill/>
          </a:ln>
        </p:spPr>
        <p:txBody>
          <a:bodyPr/>
          <a:lstStyle/>
          <a:p>
            <a:endParaRPr lang="en-US"/>
          </a:p>
        </p:txBody>
      </p:sp>
      <p:sp>
        <p:nvSpPr>
          <p:cNvPr id="208" name="Ex lesson"/>
          <p:cNvSpPr txBox="1"/>
          <p:nvPr/>
        </p:nvSpPr>
        <p:spPr>
          <a:xfrm>
            <a:off x="685800" y="5715000"/>
            <a:ext cx="10820400" cy="635000"/>
          </a:xfrm>
          <a:prstGeom prst="rect">
            <a:avLst/>
          </a:prstGeom>
          <a:noFill/>
          <a:ln>
            <a:noFill/>
          </a:ln>
        </p:spPr>
        <p:txBody>
          <a:bodyPr wrap="square" lIns="0" tIns="0" rIns="0" bIns="0" rtlCol="0" anchor="ctr">
            <a:noAutofit/>
          </a:bodyPr>
          <a:lstStyle/>
          <a:p>
            <a:pPr marL="0" indent="0">
              <a:lnSpc>
                <a:spcPct val="105000"/>
              </a:lnSpc>
              <a:buNone/>
            </a:pPr>
            <a:r>
              <a:rPr lang="vi-VN" sz="1800" b="1" dirty="0">
                <a:solidFill>
                  <a:srgbClr val="1E7F53"/>
                </a:solidFill>
              </a:rPr>
              <a:t>Bài học: </a:t>
            </a:r>
            <a:r>
              <a:rPr lang="vi-VN" sz="1800" b="1" dirty="0">
                <a:solidFill>
                  <a:srgbClr val="062F5C"/>
                </a:solidFill>
              </a:rPr>
              <a:t>Khuyến khích khám phá và cho phép hoàn tác khi người dùng mắc lỗi.</a:t>
            </a:r>
          </a:p>
        </p:txBody>
      </p:sp>
      <p:pic>
        <p:nvPicPr>
          <p:cNvPr id="3" name="Ex image">
            <a:extLst>
              <a:ext uri="{FF2B5EF4-FFF2-40B4-BE49-F238E27FC236}">
                <a16:creationId xmlns:a16="http://schemas.microsoft.com/office/drawing/2014/main" id="{F4EB20A6-3DEA-F2A9-D941-533DEF80ABBF}"/>
              </a:ext>
            </a:extLst>
          </p:cNvPr>
          <p:cNvPicPr>
            <a:picLocks noChangeAspect="1"/>
          </p:cNvPicPr>
          <p:nvPr/>
        </p:nvPicPr>
        <p:blipFill>
          <a:blip r:embed="rId3"/>
          <a:stretch>
            <a:fillRect/>
          </a:stretch>
        </p:blipFill>
        <p:spPr>
          <a:xfrm>
            <a:off x="609600" y="2096666"/>
            <a:ext cx="2743200" cy="1623269"/>
          </a:xfrm>
          <a:prstGeom prst="rect">
            <a:avLst/>
          </a:prstGeom>
        </p:spPr>
      </p:pic>
      <p:sp>
        <p:nvSpPr>
          <p:cNvPr id="209" name="Ex badge"/>
          <p:cNvSpPr/>
          <p:nvPr/>
        </p:nvSpPr>
        <p:spPr>
          <a:xfrm>
            <a:off x="711200" y="1397000"/>
            <a:ext cx="381000" cy="381000"/>
          </a:xfrm>
          <a:prstGeom prst="ellipse">
            <a:avLst/>
          </a:prstGeom>
          <a:solidFill>
            <a:srgbClr val="073B6F"/>
          </a:solidFill>
          <a:ln w="28575">
            <a:solidFill>
              <a:srgbClr val="F4B336"/>
            </a:solidFill>
          </a:ln>
        </p:spPr>
        <p:txBody>
          <a:bodyPr/>
          <a:lstStyle/>
          <a:p>
            <a:endParaRPr lang="en-US"/>
          </a:p>
        </p:txBody>
      </p:sp>
      <p:sp>
        <p:nvSpPr>
          <p:cNvPr id="210" name="Ex badge num"/>
          <p:cNvSpPr txBox="1"/>
          <p:nvPr/>
        </p:nvSpPr>
        <p:spPr>
          <a:xfrm>
            <a:off x="711200" y="1397000"/>
            <a:ext cx="381000" cy="381000"/>
          </a:xfrm>
          <a:prstGeom prst="rect">
            <a:avLst/>
          </a:prstGeom>
          <a:noFill/>
          <a:ln>
            <a:noFill/>
          </a:ln>
        </p:spPr>
        <p:txBody>
          <a:bodyPr wrap="square" lIns="0" tIns="0" rIns="0" bIns="0" rtlCol="0" anchor="ctr">
            <a:noAutofit/>
          </a:bodyPr>
          <a:lstStyle/>
          <a:p>
            <a:pPr marL="0" indent="0" algn="ctr">
              <a:buNone/>
            </a:pPr>
            <a:r>
              <a:rPr lang="vi-VN" sz="1000" b="1" dirty="0">
                <a:solidFill>
                  <a:srgbClr val="FFFFFF"/>
                </a:solidFill>
              </a:rPr>
              <a:t>4.2</a:t>
            </a:r>
          </a:p>
        </p:txBody>
      </p:sp>
    </p:spTree>
    <p:extLst>
      <p:ext uri="{BB962C8B-B14F-4D97-AF65-F5344CB8AC3E}">
        <p14:creationId xmlns:p14="http://schemas.microsoft.com/office/powerpoint/2010/main" val="11754464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1">
    <p:bg>
      <p:bgPr>
        <a:solidFill>
          <a:srgbClr val="062F5C"/>
        </a:solidFill>
        <a:effectLst/>
      </p:bgPr>
    </p:bg>
    <p:spTree>
      <p:nvGrpSpPr>
        <p:cNvPr id="1" name=""/>
        <p:cNvGrpSpPr/>
        <p:nvPr/>
      </p:nvGrpSpPr>
      <p:grpSpPr>
        <a:xfrm>
          <a:off x="0" y="0"/>
          <a:ext cx="0" cy="0"/>
          <a:chOff x="0" y="0"/>
          <a:chExt cx="0" cy="0"/>
        </a:xfrm>
      </p:grpSpPr>
      <p:sp>
        <p:nvSpPr>
          <p:cNvPr id="35" name="Decor 36"/>
          <p:cNvSpPr/>
          <p:nvPr/>
        </p:nvSpPr>
        <p:spPr>
          <a:xfrm>
            <a:off x="9144000" y="3810000"/>
            <a:ext cx="4826000" cy="4826000"/>
          </a:xfrm>
          <a:prstGeom prst="ellipse">
            <a:avLst/>
          </a:prstGeom>
          <a:solidFill>
            <a:srgbClr val="FFFFFF">
              <a:alpha val="9000"/>
            </a:srgbClr>
          </a:solidFill>
          <a:ln>
            <a:noFill/>
          </a:ln>
        </p:spPr>
        <p:txBody>
          <a:bodyPr/>
          <a:lstStyle/>
          <a:p>
            <a:endParaRPr lang="en-US"/>
          </a:p>
        </p:txBody>
      </p:sp>
      <p:sp>
        <p:nvSpPr>
          <p:cNvPr id="36" name="Decor 37"/>
          <p:cNvSpPr/>
          <p:nvPr/>
        </p:nvSpPr>
        <p:spPr>
          <a:xfrm rot="900000">
            <a:off x="-1397000" y="-1905000"/>
            <a:ext cx="3302000" cy="3302000"/>
          </a:xfrm>
          <a:prstGeom prst="rect">
            <a:avLst/>
          </a:prstGeom>
          <a:noFill/>
          <a:ln w="28575">
            <a:solidFill>
              <a:srgbClr val="FFFFFF">
                <a:alpha val="22000"/>
              </a:srgbClr>
            </a:solidFill>
          </a:ln>
        </p:spPr>
        <p:txBody>
          <a:bodyPr/>
          <a:lstStyle/>
          <a:p>
            <a:endParaRPr lang="en-US"/>
          </a:p>
        </p:txBody>
      </p:sp>
      <p:sp>
        <p:nvSpPr>
          <p:cNvPr id="37" name="Decor 38"/>
          <p:cNvSpPr/>
          <p:nvPr/>
        </p:nvSpPr>
        <p:spPr>
          <a:xfrm>
            <a:off x="11557000" y="508000"/>
            <a:ext cx="254000" cy="254000"/>
          </a:xfrm>
          <a:prstGeom prst="ellipse">
            <a:avLst/>
          </a:prstGeom>
          <a:solidFill>
            <a:srgbClr val="F4B336">
              <a:alpha val="35000"/>
            </a:srgbClr>
          </a:solidFill>
          <a:ln>
            <a:noFill/>
          </a:ln>
        </p:spPr>
        <p:txBody>
          <a:bodyPr/>
          <a:lstStyle/>
          <a:p>
            <a:endParaRPr lang="en-US"/>
          </a:p>
        </p:txBody>
      </p:sp>
      <p:sp>
        <p:nvSpPr>
          <p:cNvPr id="2" name="Text 1"/>
          <p:cNvSpPr>
            <a:spLocks noGrp="1"/>
          </p:cNvSpPr>
          <p:nvPr>
            <p:ph type="title" idx="101" hasCustomPrompt="1"/>
          </p:nvPr>
        </p:nvSpPr>
        <p:spPr>
          <a:xfrm>
            <a:off x="1168400" y="512064"/>
            <a:ext cx="10566400" cy="512064"/>
          </a:xfrm>
          <a:prstGeom prst="rect">
            <a:avLst/>
          </a:prstGeom>
          <a:noFill/>
          <a:ln/>
        </p:spPr>
        <p:txBody>
          <a:bodyPr wrap="square" lIns="0" tIns="0" rIns="0" bIns="0" rtlCol="0" anchor="t"/>
          <a:lstStyle/>
          <a:p>
            <a:pPr marL="0" indent="0" algn="l">
              <a:buNone/>
            </a:pPr>
            <a:r>
              <a:rPr lang="en-US" sz="3000" b="1" dirty="0">
                <a:solidFill>
                  <a:srgbClr val="FFFFFF"/>
                </a:solidFill>
              </a:rPr>
              <a:t>Học — Ví dụ 4.3</a:t>
            </a:r>
            <a:endParaRPr lang="en-US" sz="2800" dirty="0">
              <a:solidFill>
                <a:srgbClr val="FFFFFF"/>
              </a:solidFill>
            </a:endParaRPr>
          </a:p>
        </p:txBody>
      </p:sp>
      <p:sp>
        <p:nvSpPr>
          <p:cNvPr id="34" name="Topic badge"/>
          <p:cNvSpPr/>
          <p:nvPr/>
        </p:nvSpPr>
        <p:spPr>
          <a:xfrm>
            <a:off x="457200" y="524764"/>
            <a:ext cx="508000" cy="508000"/>
          </a:xfrm>
          <a:prstGeom prst="roundRect">
            <a:avLst>
              <a:gd name="adj" fmla="val 22000"/>
            </a:avLst>
          </a:prstGeom>
          <a:solidFill>
            <a:srgbClr val="F4B336"/>
          </a:solidFill>
          <a:ln>
            <a:noFill/>
          </a:ln>
        </p:spPr>
        <p:txBody>
          <a:bodyPr wrap="none" lIns="0" tIns="0" rIns="0" bIns="0" rtlCol="0" anchor="ctr">
            <a:noAutofit/>
          </a:bodyPr>
          <a:lstStyle/>
          <a:p>
            <a:pPr algn="ctr"/>
            <a:r>
              <a:rPr lang="en-US" sz="2000" b="1" dirty="0">
                <a:solidFill>
                  <a:srgbClr val="062F5C"/>
                </a:solidFill>
              </a:rPr>
              <a:t>04</a:t>
            </a:r>
          </a:p>
        </p:txBody>
      </p:sp>
      <p:sp>
        <p:nvSpPr>
          <p:cNvPr id="200" name="Ex card image"/>
          <p:cNvSpPr/>
          <p:nvPr/>
        </p:nvSpPr>
        <p:spPr>
          <a:xfrm>
            <a:off x="457200" y="1143000"/>
            <a:ext cx="3048000" cy="4495800"/>
          </a:xfrm>
          <a:prstGeom prst="roundRect">
            <a:avLst>
              <a:gd name="adj" fmla="val 643"/>
            </a:avLst>
          </a:prstGeom>
          <a:solidFill>
            <a:srgbClr val="FFFFFF"/>
          </a:solidFill>
          <a:ln>
            <a:noFill/>
          </a:ln>
        </p:spPr>
        <p:txBody>
          <a:bodyPr/>
          <a:lstStyle/>
          <a:p>
            <a:endParaRPr lang="en-US"/>
          </a:p>
        </p:txBody>
      </p:sp>
      <p:sp>
        <p:nvSpPr>
          <p:cNvPr id="201" name="Ex image bg"/>
          <p:cNvSpPr/>
          <p:nvPr/>
        </p:nvSpPr>
        <p:spPr>
          <a:xfrm>
            <a:off x="609600" y="1295400"/>
            <a:ext cx="2743200" cy="3225800"/>
          </a:xfrm>
          <a:prstGeom prst="roundRect">
            <a:avLst>
              <a:gd name="adj" fmla="val 1543"/>
            </a:avLst>
          </a:prstGeom>
          <a:solidFill>
            <a:srgbClr val="EEF2F6"/>
          </a:solidFill>
          <a:ln>
            <a:noFill/>
          </a:ln>
        </p:spPr>
        <p:txBody>
          <a:bodyPr/>
          <a:lstStyle/>
          <a:p>
            <a:endParaRPr lang="en-US"/>
          </a:p>
        </p:txBody>
      </p:sp>
      <p:sp>
        <p:nvSpPr>
          <p:cNvPr id="202" name="Ex caption"/>
          <p:cNvSpPr txBox="1"/>
          <p:nvPr/>
        </p:nvSpPr>
        <p:spPr>
          <a:xfrm>
            <a:off x="609600" y="4597400"/>
            <a:ext cx="2743200" cy="889000"/>
          </a:xfrm>
          <a:prstGeom prst="rect">
            <a:avLst/>
          </a:prstGeom>
          <a:noFill/>
          <a:ln>
            <a:noFill/>
          </a:ln>
        </p:spPr>
        <p:txBody>
          <a:bodyPr wrap="square" lIns="0" tIns="0" rIns="0" bIns="0" rtlCol="0" anchor="t">
            <a:noAutofit/>
          </a:bodyPr>
          <a:lstStyle/>
          <a:p>
            <a:pPr marL="0" indent="0">
              <a:lnSpc>
                <a:spcPct val="105000"/>
              </a:lnSpc>
              <a:spcAft>
                <a:spcPts val="100"/>
              </a:spcAft>
              <a:buNone/>
            </a:pPr>
            <a:r>
              <a:rPr lang="vi-VN" sz="1200" i="1" dirty="0">
                <a:solidFill>
                  <a:srgbClr val="344054"/>
                </a:solidFill>
              </a:rPr>
              <a:t>Hình 4.3. Bài tập học ngoại ngữ trên Duolingo với phản hồi trực tiếp</a:t>
            </a:r>
          </a:p>
          <a:p>
            <a:pPr marL="0" indent="0">
              <a:lnSpc>
                <a:spcPct val="105000"/>
              </a:lnSpc>
              <a:buNone/>
            </a:pPr>
            <a:r>
              <a:rPr lang="vi-VN" sz="1100" i="1" dirty="0">
                <a:solidFill>
                  <a:srgbClr val="475467"/>
                </a:solidFill>
              </a:rPr>
              <a:t>Nguồn: Duolingo</a:t>
            </a:r>
          </a:p>
        </p:txBody>
      </p:sp>
      <p:sp>
        <p:nvSpPr>
          <p:cNvPr id="203" name="Ex card text"/>
          <p:cNvSpPr/>
          <p:nvPr/>
        </p:nvSpPr>
        <p:spPr>
          <a:xfrm>
            <a:off x="3657600" y="1143000"/>
            <a:ext cx="8077200" cy="4495800"/>
          </a:xfrm>
          <a:prstGeom prst="roundRect">
            <a:avLst>
              <a:gd name="adj" fmla="val 643"/>
            </a:avLst>
          </a:prstGeom>
          <a:solidFill>
            <a:srgbClr val="FFFFFF"/>
          </a:solidFill>
          <a:ln>
            <a:noFill/>
          </a:ln>
        </p:spPr>
        <p:txBody>
          <a:bodyPr/>
          <a:lstStyle/>
          <a:p>
            <a:endParaRPr lang="en-US"/>
          </a:p>
        </p:txBody>
      </p:sp>
      <p:sp>
        <p:nvSpPr>
          <p:cNvPr id="204" name="Ex name"/>
          <p:cNvSpPr txBox="1"/>
          <p:nvPr/>
        </p:nvSpPr>
        <p:spPr>
          <a:xfrm>
            <a:off x="3886200" y="1244600"/>
            <a:ext cx="7620000" cy="402844"/>
          </a:xfrm>
          <a:prstGeom prst="rect">
            <a:avLst/>
          </a:prstGeom>
          <a:noFill/>
          <a:ln>
            <a:noFill/>
          </a:ln>
        </p:spPr>
        <p:txBody>
          <a:bodyPr wrap="square" lIns="0" tIns="0" rIns="0" bIns="0" rtlCol="0" anchor="t">
            <a:noAutofit/>
          </a:bodyPr>
          <a:lstStyle/>
          <a:p>
            <a:pPr marL="0" indent="0">
              <a:lnSpc>
                <a:spcPct val="105000"/>
              </a:lnSpc>
              <a:buNone/>
            </a:pPr>
            <a:r>
              <a:rPr lang="vi-VN" sz="2600" b="1" dirty="0">
                <a:solidFill>
                  <a:srgbClr val="1677B8"/>
                </a:solidFill>
              </a:rPr>
              <a:t>Ví dụ 4.3: </a:t>
            </a:r>
            <a:r>
              <a:rPr lang="vi-VN" sz="2600" b="1" dirty="0">
                <a:solidFill>
                  <a:srgbClr val="062F5C"/>
                </a:solidFill>
              </a:rPr>
              <a:t>Học ngoại ngữ bằng Duolingo</a:t>
            </a:r>
          </a:p>
        </p:txBody>
      </p:sp>
      <p:sp>
        <p:nvSpPr>
          <p:cNvPr id="205" name="Ex body"/>
          <p:cNvSpPr txBox="1"/>
          <p:nvPr/>
        </p:nvSpPr>
        <p:spPr>
          <a:xfrm>
            <a:off x="3886200" y="1723644"/>
            <a:ext cx="7620000" cy="3813556"/>
          </a:xfrm>
          <a:prstGeom prst="rect">
            <a:avLst/>
          </a:prstGeom>
          <a:noFill/>
          <a:ln>
            <a:noFill/>
          </a:ln>
        </p:spPr>
        <p:txBody>
          <a:bodyPr wrap="square" lIns="0" tIns="0" rIns="0" bIns="0" rtlCol="0" anchor="t">
            <a:noAutofit/>
          </a:bodyPr>
          <a:lstStyle/>
          <a:p>
            <a:pPr marL="0" indent="0">
              <a:lnSpc>
                <a:spcPct val="98000"/>
              </a:lnSpc>
              <a:spcAft>
                <a:spcPts val="300"/>
              </a:spcAft>
              <a:buNone/>
            </a:pPr>
            <a:r>
              <a:rPr lang="vi-VN" sz="2400" b="1" dirty="0"/>
              <a:t>Là gì, có gì:</a:t>
            </a:r>
            <a:br>
              <a:rPr lang="vi-VN" sz="2400" dirty="0"/>
            </a:br>
            <a:r>
              <a:rPr lang="vi-VN" sz="2400" dirty="0">
                <a:solidFill>
                  <a:srgbClr val="344054"/>
                </a:solidFill>
              </a:rPr>
              <a:t>Ứng dụng học ngoại ngữ thông qua các bài tập ngắn và phản hồi trực tiếp.</a:t>
            </a:r>
          </a:p>
          <a:p>
            <a:pPr marL="0" indent="0">
              <a:lnSpc>
                <a:spcPct val="98000"/>
              </a:lnSpc>
              <a:spcAft>
                <a:spcPts val="0"/>
              </a:spcAft>
              <a:buNone/>
            </a:pPr>
            <a:r>
              <a:rPr lang="vi-VN" sz="2400" b="1" dirty="0"/>
              <a:t>Liên hệ đặc điểm nhận thức:</a:t>
            </a:r>
            <a:br>
              <a:rPr lang="vi-VN" sz="2400" dirty="0"/>
            </a:br>
            <a:r>
              <a:rPr lang="vi-VN" sz="2400" dirty="0">
                <a:solidFill>
                  <a:srgbClr val="344054"/>
                </a:solidFill>
              </a:rPr>
              <a:t>Học thông qua thực hành lặp lại và phản hồi.</a:t>
            </a:r>
          </a:p>
        </p:txBody>
      </p:sp>
      <p:sp>
        <p:nvSpPr>
          <p:cNvPr id="206" name="Ex lesson bg"/>
          <p:cNvSpPr/>
          <p:nvPr/>
        </p:nvSpPr>
        <p:spPr>
          <a:xfrm>
            <a:off x="457200" y="5715000"/>
            <a:ext cx="11277600" cy="635000"/>
          </a:xfrm>
          <a:prstGeom prst="rect">
            <a:avLst/>
          </a:prstGeom>
          <a:solidFill>
            <a:srgbClr val="EAF5EF"/>
          </a:solidFill>
          <a:ln>
            <a:noFill/>
          </a:ln>
        </p:spPr>
        <p:txBody>
          <a:bodyPr/>
          <a:lstStyle/>
          <a:p>
            <a:endParaRPr lang="en-US"/>
          </a:p>
        </p:txBody>
      </p:sp>
      <p:sp>
        <p:nvSpPr>
          <p:cNvPr id="207" name="Ex lesson bar"/>
          <p:cNvSpPr/>
          <p:nvPr/>
        </p:nvSpPr>
        <p:spPr>
          <a:xfrm>
            <a:off x="457200" y="5715000"/>
            <a:ext cx="50800" cy="635000"/>
          </a:xfrm>
          <a:prstGeom prst="rect">
            <a:avLst/>
          </a:prstGeom>
          <a:solidFill>
            <a:srgbClr val="2E9B67"/>
          </a:solidFill>
          <a:ln>
            <a:noFill/>
          </a:ln>
        </p:spPr>
        <p:txBody>
          <a:bodyPr/>
          <a:lstStyle/>
          <a:p>
            <a:endParaRPr lang="en-US"/>
          </a:p>
        </p:txBody>
      </p:sp>
      <p:sp>
        <p:nvSpPr>
          <p:cNvPr id="208" name="Ex lesson"/>
          <p:cNvSpPr txBox="1"/>
          <p:nvPr/>
        </p:nvSpPr>
        <p:spPr>
          <a:xfrm>
            <a:off x="685800" y="5715000"/>
            <a:ext cx="10820400" cy="635000"/>
          </a:xfrm>
          <a:prstGeom prst="rect">
            <a:avLst/>
          </a:prstGeom>
          <a:noFill/>
          <a:ln>
            <a:noFill/>
          </a:ln>
        </p:spPr>
        <p:txBody>
          <a:bodyPr wrap="square" lIns="0" tIns="0" rIns="0" bIns="0" rtlCol="0" anchor="ctr">
            <a:noAutofit/>
          </a:bodyPr>
          <a:lstStyle/>
          <a:p>
            <a:pPr marL="0" indent="0">
              <a:lnSpc>
                <a:spcPct val="105000"/>
              </a:lnSpc>
              <a:buNone/>
            </a:pPr>
            <a:r>
              <a:rPr lang="vi-VN" sz="1800" b="1" dirty="0">
                <a:solidFill>
                  <a:srgbClr val="1E7F53"/>
                </a:solidFill>
              </a:rPr>
              <a:t>Bài học: </a:t>
            </a:r>
            <a:r>
              <a:rPr lang="vi-VN" sz="1800" b="1" dirty="0">
                <a:solidFill>
                  <a:srgbClr val="062F5C"/>
                </a:solidFill>
              </a:rPr>
              <a:t>Chia nhỏ nội dung và cung cấp phản hồi ngay sau thao tác.</a:t>
            </a:r>
          </a:p>
        </p:txBody>
      </p:sp>
      <p:pic>
        <p:nvPicPr>
          <p:cNvPr id="3" name="Ex image">
            <a:extLst>
              <a:ext uri="{FF2B5EF4-FFF2-40B4-BE49-F238E27FC236}">
                <a16:creationId xmlns:a16="http://schemas.microsoft.com/office/drawing/2014/main" id="{D85A4CAA-5AF5-A33D-2574-A43F9A50E27D}"/>
              </a:ext>
            </a:extLst>
          </p:cNvPr>
          <p:cNvPicPr>
            <a:picLocks noChangeAspect="1"/>
          </p:cNvPicPr>
          <p:nvPr/>
        </p:nvPicPr>
        <p:blipFill>
          <a:blip r:embed="rId3"/>
          <a:stretch>
            <a:fillRect/>
          </a:stretch>
        </p:blipFill>
        <p:spPr>
          <a:xfrm>
            <a:off x="609600" y="1993900"/>
            <a:ext cx="2743200" cy="1828800"/>
          </a:xfrm>
          <a:prstGeom prst="rect">
            <a:avLst/>
          </a:prstGeom>
        </p:spPr>
      </p:pic>
      <p:sp>
        <p:nvSpPr>
          <p:cNvPr id="209" name="Ex badge"/>
          <p:cNvSpPr/>
          <p:nvPr/>
        </p:nvSpPr>
        <p:spPr>
          <a:xfrm>
            <a:off x="711200" y="1397000"/>
            <a:ext cx="381000" cy="381000"/>
          </a:xfrm>
          <a:prstGeom prst="ellipse">
            <a:avLst/>
          </a:prstGeom>
          <a:solidFill>
            <a:srgbClr val="073B6F"/>
          </a:solidFill>
          <a:ln w="28575">
            <a:solidFill>
              <a:srgbClr val="F4B336"/>
            </a:solidFill>
          </a:ln>
        </p:spPr>
        <p:txBody>
          <a:bodyPr/>
          <a:lstStyle/>
          <a:p>
            <a:endParaRPr lang="en-US"/>
          </a:p>
        </p:txBody>
      </p:sp>
      <p:sp>
        <p:nvSpPr>
          <p:cNvPr id="210" name="Ex badge num"/>
          <p:cNvSpPr txBox="1"/>
          <p:nvPr/>
        </p:nvSpPr>
        <p:spPr>
          <a:xfrm>
            <a:off x="711200" y="1397000"/>
            <a:ext cx="381000" cy="381000"/>
          </a:xfrm>
          <a:prstGeom prst="rect">
            <a:avLst/>
          </a:prstGeom>
          <a:noFill/>
          <a:ln>
            <a:noFill/>
          </a:ln>
        </p:spPr>
        <p:txBody>
          <a:bodyPr wrap="square" lIns="0" tIns="0" rIns="0" bIns="0" rtlCol="0" anchor="ctr">
            <a:noAutofit/>
          </a:bodyPr>
          <a:lstStyle/>
          <a:p>
            <a:pPr marL="0" indent="0" algn="ctr">
              <a:buNone/>
            </a:pPr>
            <a:r>
              <a:rPr lang="vi-VN" sz="1000" b="1" dirty="0">
                <a:solidFill>
                  <a:srgbClr val="FFFFFF"/>
                </a:solidFill>
              </a:rPr>
              <a:t>4.3</a:t>
            </a:r>
          </a:p>
        </p:txBody>
      </p:sp>
    </p:spTree>
    <p:extLst>
      <p:ext uri="{BB962C8B-B14F-4D97-AF65-F5344CB8AC3E}">
        <p14:creationId xmlns:p14="http://schemas.microsoft.com/office/powerpoint/2010/main" val="11993947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11">
    <p:bg>
      <p:bgPr>
        <a:solidFill>
          <a:srgbClr val="062F5C"/>
        </a:solidFill>
        <a:effectLst/>
      </p:bgPr>
    </p:bg>
    <p:spTree>
      <p:nvGrpSpPr>
        <p:cNvPr id="1" name=""/>
        <p:cNvGrpSpPr/>
        <p:nvPr/>
      </p:nvGrpSpPr>
      <p:grpSpPr>
        <a:xfrm>
          <a:off x="0" y="0"/>
          <a:ext cx="0" cy="0"/>
          <a:chOff x="0" y="0"/>
          <a:chExt cx="0" cy="0"/>
        </a:xfrm>
      </p:grpSpPr>
      <p:sp>
        <p:nvSpPr>
          <p:cNvPr id="35" name="Decor 36"/>
          <p:cNvSpPr/>
          <p:nvPr/>
        </p:nvSpPr>
        <p:spPr>
          <a:xfrm>
            <a:off x="9144000" y="3810000"/>
            <a:ext cx="4826000" cy="4826000"/>
          </a:xfrm>
          <a:prstGeom prst="ellipse">
            <a:avLst/>
          </a:prstGeom>
          <a:solidFill>
            <a:srgbClr val="FFFFFF">
              <a:alpha val="9000"/>
            </a:srgbClr>
          </a:solidFill>
          <a:ln>
            <a:noFill/>
          </a:ln>
        </p:spPr>
        <p:txBody>
          <a:bodyPr/>
          <a:lstStyle/>
          <a:p>
            <a:endParaRPr lang="en-US"/>
          </a:p>
        </p:txBody>
      </p:sp>
      <p:sp>
        <p:nvSpPr>
          <p:cNvPr id="36" name="Decor 37"/>
          <p:cNvSpPr/>
          <p:nvPr/>
        </p:nvSpPr>
        <p:spPr>
          <a:xfrm rot="900000">
            <a:off x="-1397000" y="-1905000"/>
            <a:ext cx="3302000" cy="3302000"/>
          </a:xfrm>
          <a:prstGeom prst="rect">
            <a:avLst/>
          </a:prstGeom>
          <a:noFill/>
          <a:ln w="28575">
            <a:solidFill>
              <a:srgbClr val="FFFFFF">
                <a:alpha val="22000"/>
              </a:srgbClr>
            </a:solidFill>
          </a:ln>
        </p:spPr>
        <p:txBody>
          <a:bodyPr/>
          <a:lstStyle/>
          <a:p>
            <a:endParaRPr lang="en-US"/>
          </a:p>
        </p:txBody>
      </p:sp>
      <p:sp>
        <p:nvSpPr>
          <p:cNvPr id="37" name="Decor 38"/>
          <p:cNvSpPr/>
          <p:nvPr/>
        </p:nvSpPr>
        <p:spPr>
          <a:xfrm>
            <a:off x="11557000" y="508000"/>
            <a:ext cx="254000" cy="254000"/>
          </a:xfrm>
          <a:prstGeom prst="ellipse">
            <a:avLst/>
          </a:prstGeom>
          <a:solidFill>
            <a:srgbClr val="F4B336">
              <a:alpha val="35000"/>
            </a:srgbClr>
          </a:solidFill>
          <a:ln>
            <a:noFill/>
          </a:ln>
        </p:spPr>
        <p:txBody>
          <a:bodyPr/>
          <a:lstStyle/>
          <a:p>
            <a:endParaRPr lang="en-US"/>
          </a:p>
        </p:txBody>
      </p:sp>
      <p:sp>
        <p:nvSpPr>
          <p:cNvPr id="2" name="Text 1"/>
          <p:cNvSpPr>
            <a:spLocks noGrp="1"/>
          </p:cNvSpPr>
          <p:nvPr>
            <p:ph type="title" idx="101" hasCustomPrompt="1"/>
          </p:nvPr>
        </p:nvSpPr>
        <p:spPr>
          <a:xfrm>
            <a:off x="1168400" y="512064"/>
            <a:ext cx="10566400" cy="512064"/>
          </a:xfrm>
          <a:prstGeom prst="rect">
            <a:avLst/>
          </a:prstGeom>
          <a:noFill/>
          <a:ln/>
        </p:spPr>
        <p:txBody>
          <a:bodyPr wrap="square" lIns="0" tIns="0" rIns="0" bIns="0" rtlCol="0" anchor="t"/>
          <a:lstStyle/>
          <a:p>
            <a:pPr marL="0" indent="0" algn="l">
              <a:buNone/>
            </a:pPr>
            <a:r>
              <a:rPr lang="en-US" sz="3000" b="1" dirty="0">
                <a:solidFill>
                  <a:srgbClr val="FFFFFF"/>
                </a:solidFill>
              </a:rPr>
              <a:t>Học — Ví dụ 4.4</a:t>
            </a:r>
            <a:endParaRPr lang="en-US" sz="2800" dirty="0">
              <a:solidFill>
                <a:srgbClr val="FFFFFF"/>
              </a:solidFill>
            </a:endParaRPr>
          </a:p>
        </p:txBody>
      </p:sp>
      <p:sp>
        <p:nvSpPr>
          <p:cNvPr id="34" name="Topic badge"/>
          <p:cNvSpPr/>
          <p:nvPr/>
        </p:nvSpPr>
        <p:spPr>
          <a:xfrm>
            <a:off x="457200" y="524764"/>
            <a:ext cx="508000" cy="508000"/>
          </a:xfrm>
          <a:prstGeom prst="roundRect">
            <a:avLst>
              <a:gd name="adj" fmla="val 22000"/>
            </a:avLst>
          </a:prstGeom>
          <a:solidFill>
            <a:srgbClr val="F4B336"/>
          </a:solidFill>
          <a:ln>
            <a:noFill/>
          </a:ln>
        </p:spPr>
        <p:txBody>
          <a:bodyPr wrap="none" lIns="0" tIns="0" rIns="0" bIns="0" rtlCol="0" anchor="ctr">
            <a:noAutofit/>
          </a:bodyPr>
          <a:lstStyle/>
          <a:p>
            <a:pPr algn="ctr"/>
            <a:r>
              <a:rPr lang="en-US" sz="2000" b="1" dirty="0">
                <a:solidFill>
                  <a:srgbClr val="062F5C"/>
                </a:solidFill>
              </a:rPr>
              <a:t>04</a:t>
            </a:r>
          </a:p>
        </p:txBody>
      </p:sp>
      <p:sp>
        <p:nvSpPr>
          <p:cNvPr id="200" name="Ex card image"/>
          <p:cNvSpPr/>
          <p:nvPr/>
        </p:nvSpPr>
        <p:spPr>
          <a:xfrm>
            <a:off x="457200" y="1143000"/>
            <a:ext cx="3048000" cy="4495800"/>
          </a:xfrm>
          <a:prstGeom prst="roundRect">
            <a:avLst>
              <a:gd name="adj" fmla="val 643"/>
            </a:avLst>
          </a:prstGeom>
          <a:solidFill>
            <a:srgbClr val="FFFFFF"/>
          </a:solidFill>
          <a:ln>
            <a:noFill/>
          </a:ln>
        </p:spPr>
        <p:txBody>
          <a:bodyPr/>
          <a:lstStyle/>
          <a:p>
            <a:endParaRPr lang="en-US"/>
          </a:p>
        </p:txBody>
      </p:sp>
      <p:sp>
        <p:nvSpPr>
          <p:cNvPr id="201" name="Ex image bg"/>
          <p:cNvSpPr/>
          <p:nvPr/>
        </p:nvSpPr>
        <p:spPr>
          <a:xfrm>
            <a:off x="609600" y="1295400"/>
            <a:ext cx="2743200" cy="3225800"/>
          </a:xfrm>
          <a:prstGeom prst="roundRect">
            <a:avLst>
              <a:gd name="adj" fmla="val 1543"/>
            </a:avLst>
          </a:prstGeom>
          <a:solidFill>
            <a:srgbClr val="EEF2F6"/>
          </a:solidFill>
          <a:ln>
            <a:noFill/>
          </a:ln>
        </p:spPr>
        <p:txBody>
          <a:bodyPr/>
          <a:lstStyle/>
          <a:p>
            <a:endParaRPr lang="en-US"/>
          </a:p>
        </p:txBody>
      </p:sp>
      <p:sp>
        <p:nvSpPr>
          <p:cNvPr id="202" name="Ex caption"/>
          <p:cNvSpPr txBox="1"/>
          <p:nvPr/>
        </p:nvSpPr>
        <p:spPr>
          <a:xfrm>
            <a:off x="609600" y="4597400"/>
            <a:ext cx="2743200" cy="889000"/>
          </a:xfrm>
          <a:prstGeom prst="rect">
            <a:avLst/>
          </a:prstGeom>
          <a:noFill/>
          <a:ln>
            <a:noFill/>
          </a:ln>
        </p:spPr>
        <p:txBody>
          <a:bodyPr wrap="square" lIns="0" tIns="0" rIns="0" bIns="0" rtlCol="0" anchor="t">
            <a:noAutofit/>
          </a:bodyPr>
          <a:lstStyle/>
          <a:p>
            <a:pPr marL="0" indent="0">
              <a:lnSpc>
                <a:spcPct val="105000"/>
              </a:lnSpc>
              <a:spcAft>
                <a:spcPts val="100"/>
              </a:spcAft>
              <a:buNone/>
            </a:pPr>
            <a:r>
              <a:rPr lang="vi-VN" sz="1200" i="1" dirty="0">
                <a:solidFill>
                  <a:srgbClr val="344054"/>
                </a:solidFill>
              </a:rPr>
              <a:t>Hình 4.4. Mô phỏng lái xe tạo môi trường an toàn để thực hành</a:t>
            </a:r>
          </a:p>
          <a:p>
            <a:pPr marL="0" indent="0">
              <a:lnSpc>
                <a:spcPct val="105000"/>
              </a:lnSpc>
              <a:buNone/>
            </a:pPr>
            <a:r>
              <a:rPr lang="vi-VN" sz="1100" i="1" dirty="0">
                <a:solidFill>
                  <a:srgbClr val="475467"/>
                </a:solidFill>
              </a:rPr>
              <a:t>Nguồn: Wikimedia Commons</a:t>
            </a:r>
          </a:p>
        </p:txBody>
      </p:sp>
      <p:sp>
        <p:nvSpPr>
          <p:cNvPr id="203" name="Ex card text"/>
          <p:cNvSpPr/>
          <p:nvPr/>
        </p:nvSpPr>
        <p:spPr>
          <a:xfrm>
            <a:off x="3657600" y="1143000"/>
            <a:ext cx="8077200" cy="4495800"/>
          </a:xfrm>
          <a:prstGeom prst="roundRect">
            <a:avLst>
              <a:gd name="adj" fmla="val 643"/>
            </a:avLst>
          </a:prstGeom>
          <a:solidFill>
            <a:srgbClr val="FFFFFF"/>
          </a:solidFill>
          <a:ln>
            <a:noFill/>
          </a:ln>
        </p:spPr>
        <p:txBody>
          <a:bodyPr/>
          <a:lstStyle/>
          <a:p>
            <a:endParaRPr lang="en-US"/>
          </a:p>
        </p:txBody>
      </p:sp>
      <p:sp>
        <p:nvSpPr>
          <p:cNvPr id="204" name="Ex name"/>
          <p:cNvSpPr txBox="1"/>
          <p:nvPr/>
        </p:nvSpPr>
        <p:spPr>
          <a:xfrm>
            <a:off x="3886200" y="1244600"/>
            <a:ext cx="7620000" cy="402844"/>
          </a:xfrm>
          <a:prstGeom prst="rect">
            <a:avLst/>
          </a:prstGeom>
          <a:noFill/>
          <a:ln>
            <a:noFill/>
          </a:ln>
        </p:spPr>
        <p:txBody>
          <a:bodyPr wrap="square" lIns="0" tIns="0" rIns="0" bIns="0" rtlCol="0" anchor="t">
            <a:noAutofit/>
          </a:bodyPr>
          <a:lstStyle/>
          <a:p>
            <a:pPr marL="0" indent="0">
              <a:lnSpc>
                <a:spcPct val="105000"/>
              </a:lnSpc>
              <a:buNone/>
            </a:pPr>
            <a:r>
              <a:rPr lang="vi-VN" sz="2600" b="1" dirty="0">
                <a:solidFill>
                  <a:srgbClr val="1677B8"/>
                </a:solidFill>
              </a:rPr>
              <a:t>Ví dụ 4.4: </a:t>
            </a:r>
            <a:r>
              <a:rPr lang="vi-VN" sz="2600" b="1" dirty="0">
                <a:solidFill>
                  <a:srgbClr val="062F5C"/>
                </a:solidFill>
              </a:rPr>
              <a:t>Học lái xe bằng ứng dụng mô phỏng</a:t>
            </a:r>
          </a:p>
        </p:txBody>
      </p:sp>
      <p:sp>
        <p:nvSpPr>
          <p:cNvPr id="205" name="Ex body"/>
          <p:cNvSpPr txBox="1"/>
          <p:nvPr/>
        </p:nvSpPr>
        <p:spPr>
          <a:xfrm>
            <a:off x="3886200" y="1723644"/>
            <a:ext cx="7620000" cy="3813556"/>
          </a:xfrm>
          <a:prstGeom prst="rect">
            <a:avLst/>
          </a:prstGeom>
          <a:noFill/>
          <a:ln>
            <a:noFill/>
          </a:ln>
        </p:spPr>
        <p:txBody>
          <a:bodyPr wrap="square" lIns="0" tIns="0" rIns="0" bIns="0" rtlCol="0" anchor="t">
            <a:noAutofit/>
          </a:bodyPr>
          <a:lstStyle/>
          <a:p>
            <a:pPr marL="0" indent="0">
              <a:lnSpc>
                <a:spcPct val="98000"/>
              </a:lnSpc>
              <a:spcAft>
                <a:spcPts val="300"/>
              </a:spcAft>
              <a:buNone/>
            </a:pPr>
            <a:r>
              <a:rPr lang="vi-VN" sz="2400" b="1" dirty="0"/>
              <a:t>Là gì, có gì:</a:t>
            </a:r>
            <a:br>
              <a:rPr lang="vi-VN" sz="2400" dirty="0"/>
            </a:br>
            <a:r>
              <a:rPr lang="vi-VN" sz="2400" dirty="0">
                <a:solidFill>
                  <a:srgbClr val="344054"/>
                </a:solidFill>
              </a:rPr>
              <a:t>Môi trường mô phỏng cho phép người dùng thực hành lái xe trong không gian ảo.</a:t>
            </a:r>
          </a:p>
          <a:p>
            <a:pPr marL="0" indent="0">
              <a:lnSpc>
                <a:spcPct val="98000"/>
              </a:lnSpc>
              <a:spcAft>
                <a:spcPts val="0"/>
              </a:spcAft>
              <a:buNone/>
            </a:pPr>
            <a:r>
              <a:rPr lang="vi-VN" sz="2400" b="1" dirty="0"/>
              <a:t>Liên hệ đặc điểm nhận thức:</a:t>
            </a:r>
            <a:br>
              <a:rPr lang="vi-VN" sz="2400" dirty="0"/>
            </a:br>
            <a:r>
              <a:rPr lang="vi-VN" sz="2400" dirty="0">
                <a:solidFill>
                  <a:srgbClr val="344054"/>
                </a:solidFill>
              </a:rPr>
              <a:t>Người dùng học qua thực hành, thử nghiệm và nhận phản hồi.</a:t>
            </a:r>
          </a:p>
        </p:txBody>
      </p:sp>
      <p:sp>
        <p:nvSpPr>
          <p:cNvPr id="206" name="Ex lesson bg"/>
          <p:cNvSpPr/>
          <p:nvPr/>
        </p:nvSpPr>
        <p:spPr>
          <a:xfrm>
            <a:off x="457200" y="5715000"/>
            <a:ext cx="11277600" cy="635000"/>
          </a:xfrm>
          <a:prstGeom prst="rect">
            <a:avLst/>
          </a:prstGeom>
          <a:solidFill>
            <a:srgbClr val="EAF5EF"/>
          </a:solidFill>
          <a:ln>
            <a:noFill/>
          </a:ln>
        </p:spPr>
        <p:txBody>
          <a:bodyPr/>
          <a:lstStyle/>
          <a:p>
            <a:endParaRPr lang="en-US"/>
          </a:p>
        </p:txBody>
      </p:sp>
      <p:sp>
        <p:nvSpPr>
          <p:cNvPr id="207" name="Ex lesson bar"/>
          <p:cNvSpPr/>
          <p:nvPr/>
        </p:nvSpPr>
        <p:spPr>
          <a:xfrm>
            <a:off x="457200" y="5715000"/>
            <a:ext cx="50800" cy="635000"/>
          </a:xfrm>
          <a:prstGeom prst="rect">
            <a:avLst/>
          </a:prstGeom>
          <a:solidFill>
            <a:srgbClr val="2E9B67"/>
          </a:solidFill>
          <a:ln>
            <a:noFill/>
          </a:ln>
        </p:spPr>
        <p:txBody>
          <a:bodyPr/>
          <a:lstStyle/>
          <a:p>
            <a:endParaRPr lang="en-US"/>
          </a:p>
        </p:txBody>
      </p:sp>
      <p:sp>
        <p:nvSpPr>
          <p:cNvPr id="208" name="Ex lesson"/>
          <p:cNvSpPr txBox="1"/>
          <p:nvPr/>
        </p:nvSpPr>
        <p:spPr>
          <a:xfrm>
            <a:off x="685800" y="5715000"/>
            <a:ext cx="10820400" cy="635000"/>
          </a:xfrm>
          <a:prstGeom prst="rect">
            <a:avLst/>
          </a:prstGeom>
          <a:noFill/>
          <a:ln>
            <a:noFill/>
          </a:ln>
        </p:spPr>
        <p:txBody>
          <a:bodyPr wrap="square" lIns="0" tIns="0" rIns="0" bIns="0" rtlCol="0" anchor="ctr">
            <a:noAutofit/>
          </a:bodyPr>
          <a:lstStyle/>
          <a:p>
            <a:pPr marL="0" indent="0">
              <a:lnSpc>
                <a:spcPct val="105000"/>
              </a:lnSpc>
              <a:buNone/>
            </a:pPr>
            <a:r>
              <a:rPr lang="vi-VN" sz="1800" b="1" dirty="0">
                <a:solidFill>
                  <a:srgbClr val="1E7F53"/>
                </a:solidFill>
              </a:rPr>
              <a:t>Bài học: </a:t>
            </a:r>
            <a:r>
              <a:rPr lang="vi-VN" sz="1800" b="1" dirty="0">
                <a:solidFill>
                  <a:srgbClr val="062F5C"/>
                </a:solidFill>
              </a:rPr>
              <a:t>Tạo môi trường an toàn để người dùng thử, sai và thực hành lại.</a:t>
            </a:r>
          </a:p>
        </p:txBody>
      </p:sp>
      <p:pic>
        <p:nvPicPr>
          <p:cNvPr id="3" name="Ex image">
            <a:extLst>
              <a:ext uri="{FF2B5EF4-FFF2-40B4-BE49-F238E27FC236}">
                <a16:creationId xmlns:a16="http://schemas.microsoft.com/office/drawing/2014/main" id="{FA88850E-AC77-C134-38C8-B0BC12E7AAC9}"/>
              </a:ext>
            </a:extLst>
          </p:cNvPr>
          <p:cNvPicPr>
            <a:picLocks noChangeAspect="1"/>
          </p:cNvPicPr>
          <p:nvPr/>
        </p:nvPicPr>
        <p:blipFill>
          <a:blip r:embed="rId3"/>
          <a:stretch>
            <a:fillRect/>
          </a:stretch>
        </p:blipFill>
        <p:spPr>
          <a:xfrm>
            <a:off x="609600" y="1993443"/>
            <a:ext cx="2743200" cy="1829714"/>
          </a:xfrm>
          <a:prstGeom prst="rect">
            <a:avLst/>
          </a:prstGeom>
        </p:spPr>
      </p:pic>
      <p:sp>
        <p:nvSpPr>
          <p:cNvPr id="209" name="Ex badge"/>
          <p:cNvSpPr/>
          <p:nvPr/>
        </p:nvSpPr>
        <p:spPr>
          <a:xfrm>
            <a:off x="711200" y="1397000"/>
            <a:ext cx="381000" cy="381000"/>
          </a:xfrm>
          <a:prstGeom prst="ellipse">
            <a:avLst/>
          </a:prstGeom>
          <a:solidFill>
            <a:srgbClr val="073B6F"/>
          </a:solidFill>
          <a:ln w="28575">
            <a:solidFill>
              <a:srgbClr val="F4B336"/>
            </a:solidFill>
          </a:ln>
        </p:spPr>
        <p:txBody>
          <a:bodyPr/>
          <a:lstStyle/>
          <a:p>
            <a:endParaRPr lang="en-US"/>
          </a:p>
        </p:txBody>
      </p:sp>
      <p:sp>
        <p:nvSpPr>
          <p:cNvPr id="210" name="Ex badge num"/>
          <p:cNvSpPr txBox="1"/>
          <p:nvPr/>
        </p:nvSpPr>
        <p:spPr>
          <a:xfrm>
            <a:off x="711200" y="1397000"/>
            <a:ext cx="381000" cy="381000"/>
          </a:xfrm>
          <a:prstGeom prst="rect">
            <a:avLst/>
          </a:prstGeom>
          <a:noFill/>
          <a:ln>
            <a:noFill/>
          </a:ln>
        </p:spPr>
        <p:txBody>
          <a:bodyPr wrap="square" lIns="0" tIns="0" rIns="0" bIns="0" rtlCol="0" anchor="ctr">
            <a:noAutofit/>
          </a:bodyPr>
          <a:lstStyle/>
          <a:p>
            <a:pPr marL="0" indent="0" algn="ctr">
              <a:buNone/>
            </a:pPr>
            <a:r>
              <a:rPr lang="vi-VN" sz="1000" b="1" dirty="0">
                <a:solidFill>
                  <a:srgbClr val="FFFFFF"/>
                </a:solidFill>
              </a:rPr>
              <a:t>4.4</a:t>
            </a:r>
          </a:p>
        </p:txBody>
      </p:sp>
    </p:spTree>
    <p:extLst>
      <p:ext uri="{BB962C8B-B14F-4D97-AF65-F5344CB8AC3E}">
        <p14:creationId xmlns:p14="http://schemas.microsoft.com/office/powerpoint/2010/main" val="34905149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1">
    <p:bg>
      <p:bgPr>
        <a:solidFill>
          <a:srgbClr val="062F5C"/>
        </a:solidFill>
        <a:effectLst/>
      </p:bgPr>
    </p:bg>
    <p:spTree>
      <p:nvGrpSpPr>
        <p:cNvPr id="1" name=""/>
        <p:cNvGrpSpPr/>
        <p:nvPr/>
      </p:nvGrpSpPr>
      <p:grpSpPr>
        <a:xfrm>
          <a:off x="0" y="0"/>
          <a:ext cx="0" cy="0"/>
          <a:chOff x="0" y="0"/>
          <a:chExt cx="0" cy="0"/>
        </a:xfrm>
      </p:grpSpPr>
      <p:sp>
        <p:nvSpPr>
          <p:cNvPr id="35" name="Decor 36"/>
          <p:cNvSpPr/>
          <p:nvPr/>
        </p:nvSpPr>
        <p:spPr>
          <a:xfrm>
            <a:off x="9144000" y="3810000"/>
            <a:ext cx="4826000" cy="4826000"/>
          </a:xfrm>
          <a:prstGeom prst="ellipse">
            <a:avLst/>
          </a:prstGeom>
          <a:solidFill>
            <a:srgbClr val="FFFFFF">
              <a:alpha val="9000"/>
            </a:srgbClr>
          </a:solidFill>
          <a:ln>
            <a:noFill/>
          </a:ln>
        </p:spPr>
        <p:txBody>
          <a:bodyPr/>
          <a:lstStyle/>
          <a:p>
            <a:endParaRPr lang="en-US"/>
          </a:p>
        </p:txBody>
      </p:sp>
      <p:sp>
        <p:nvSpPr>
          <p:cNvPr id="36" name="Decor 37"/>
          <p:cNvSpPr/>
          <p:nvPr/>
        </p:nvSpPr>
        <p:spPr>
          <a:xfrm rot="900000">
            <a:off x="-1397000" y="-1905000"/>
            <a:ext cx="3302000" cy="3302000"/>
          </a:xfrm>
          <a:prstGeom prst="rect">
            <a:avLst/>
          </a:prstGeom>
          <a:noFill/>
          <a:ln w="28575">
            <a:solidFill>
              <a:srgbClr val="FFFFFF">
                <a:alpha val="22000"/>
              </a:srgbClr>
            </a:solidFill>
          </a:ln>
        </p:spPr>
        <p:txBody>
          <a:bodyPr/>
          <a:lstStyle/>
          <a:p>
            <a:endParaRPr lang="en-US"/>
          </a:p>
        </p:txBody>
      </p:sp>
      <p:sp>
        <p:nvSpPr>
          <p:cNvPr id="37" name="Decor 38"/>
          <p:cNvSpPr/>
          <p:nvPr/>
        </p:nvSpPr>
        <p:spPr>
          <a:xfrm>
            <a:off x="11557000" y="508000"/>
            <a:ext cx="254000" cy="254000"/>
          </a:xfrm>
          <a:prstGeom prst="ellipse">
            <a:avLst/>
          </a:prstGeom>
          <a:solidFill>
            <a:srgbClr val="F4B336">
              <a:alpha val="35000"/>
            </a:srgbClr>
          </a:solidFill>
          <a:ln>
            <a:noFill/>
          </a:ln>
        </p:spPr>
        <p:txBody>
          <a:bodyPr/>
          <a:lstStyle/>
          <a:p>
            <a:endParaRPr lang="en-US"/>
          </a:p>
        </p:txBody>
      </p:sp>
      <p:sp>
        <p:nvSpPr>
          <p:cNvPr id="2" name="Text 1"/>
          <p:cNvSpPr>
            <a:spLocks noGrp="1"/>
          </p:cNvSpPr>
          <p:nvPr>
            <p:ph type="title" idx="101" hasCustomPrompt="1"/>
          </p:nvPr>
        </p:nvSpPr>
        <p:spPr>
          <a:xfrm>
            <a:off x="1168400" y="512064"/>
            <a:ext cx="10566400" cy="512064"/>
          </a:xfrm>
          <a:prstGeom prst="rect">
            <a:avLst/>
          </a:prstGeom>
          <a:noFill/>
          <a:ln/>
        </p:spPr>
        <p:txBody>
          <a:bodyPr wrap="square" lIns="0" tIns="0" rIns="0" bIns="0" rtlCol="0" anchor="t"/>
          <a:lstStyle/>
          <a:p>
            <a:pPr marL="0" indent="0" algn="l">
              <a:buNone/>
            </a:pPr>
            <a:r>
              <a:rPr lang="en-US" sz="3000" b="1" dirty="0">
                <a:solidFill>
                  <a:srgbClr val="FFFFFF"/>
                </a:solidFill>
              </a:rPr>
              <a:t>Học — Ví dụ 4.5</a:t>
            </a:r>
            <a:endParaRPr lang="en-US" sz="2800" dirty="0">
              <a:solidFill>
                <a:srgbClr val="FFFFFF"/>
              </a:solidFill>
            </a:endParaRPr>
          </a:p>
        </p:txBody>
      </p:sp>
      <p:sp>
        <p:nvSpPr>
          <p:cNvPr id="34" name="Topic badge"/>
          <p:cNvSpPr/>
          <p:nvPr/>
        </p:nvSpPr>
        <p:spPr>
          <a:xfrm>
            <a:off x="457200" y="524764"/>
            <a:ext cx="508000" cy="508000"/>
          </a:xfrm>
          <a:prstGeom prst="roundRect">
            <a:avLst>
              <a:gd name="adj" fmla="val 22000"/>
            </a:avLst>
          </a:prstGeom>
          <a:solidFill>
            <a:srgbClr val="F4B336"/>
          </a:solidFill>
          <a:ln>
            <a:noFill/>
          </a:ln>
        </p:spPr>
        <p:txBody>
          <a:bodyPr wrap="none" lIns="0" tIns="0" rIns="0" bIns="0" rtlCol="0" anchor="ctr">
            <a:noAutofit/>
          </a:bodyPr>
          <a:lstStyle/>
          <a:p>
            <a:pPr algn="ctr"/>
            <a:r>
              <a:rPr lang="en-US" sz="2000" b="1" dirty="0">
                <a:solidFill>
                  <a:srgbClr val="062F5C"/>
                </a:solidFill>
              </a:rPr>
              <a:t>04</a:t>
            </a:r>
          </a:p>
        </p:txBody>
      </p:sp>
      <p:sp>
        <p:nvSpPr>
          <p:cNvPr id="200" name="Ex card image"/>
          <p:cNvSpPr/>
          <p:nvPr/>
        </p:nvSpPr>
        <p:spPr>
          <a:xfrm>
            <a:off x="457200" y="1143000"/>
            <a:ext cx="3048000" cy="4495800"/>
          </a:xfrm>
          <a:prstGeom prst="roundRect">
            <a:avLst>
              <a:gd name="adj" fmla="val 643"/>
            </a:avLst>
          </a:prstGeom>
          <a:solidFill>
            <a:srgbClr val="FFFFFF"/>
          </a:solidFill>
          <a:ln>
            <a:noFill/>
          </a:ln>
        </p:spPr>
        <p:txBody>
          <a:bodyPr/>
          <a:lstStyle/>
          <a:p>
            <a:endParaRPr lang="en-US"/>
          </a:p>
        </p:txBody>
      </p:sp>
      <p:sp>
        <p:nvSpPr>
          <p:cNvPr id="201" name="Ex image bg"/>
          <p:cNvSpPr/>
          <p:nvPr/>
        </p:nvSpPr>
        <p:spPr>
          <a:xfrm>
            <a:off x="609600" y="1295400"/>
            <a:ext cx="2743200" cy="3225800"/>
          </a:xfrm>
          <a:prstGeom prst="roundRect">
            <a:avLst>
              <a:gd name="adj" fmla="val 1543"/>
            </a:avLst>
          </a:prstGeom>
          <a:solidFill>
            <a:srgbClr val="EEF2F6"/>
          </a:solidFill>
          <a:ln>
            <a:noFill/>
          </a:ln>
        </p:spPr>
        <p:txBody>
          <a:bodyPr/>
          <a:lstStyle/>
          <a:p>
            <a:endParaRPr lang="en-US"/>
          </a:p>
        </p:txBody>
      </p:sp>
      <p:sp>
        <p:nvSpPr>
          <p:cNvPr id="202" name="Ex caption"/>
          <p:cNvSpPr txBox="1"/>
          <p:nvPr/>
        </p:nvSpPr>
        <p:spPr>
          <a:xfrm>
            <a:off x="609600" y="4597400"/>
            <a:ext cx="2743200" cy="889000"/>
          </a:xfrm>
          <a:prstGeom prst="rect">
            <a:avLst/>
          </a:prstGeom>
          <a:noFill/>
          <a:ln>
            <a:noFill/>
          </a:ln>
        </p:spPr>
        <p:txBody>
          <a:bodyPr wrap="square" lIns="0" tIns="0" rIns="0" bIns="0" rtlCol="0" anchor="t">
            <a:noAutofit/>
          </a:bodyPr>
          <a:lstStyle/>
          <a:p>
            <a:pPr marL="0" indent="0">
              <a:lnSpc>
                <a:spcPct val="105000"/>
              </a:lnSpc>
              <a:spcAft>
                <a:spcPts val="100"/>
              </a:spcAft>
              <a:buNone/>
            </a:pPr>
            <a:r>
              <a:rPr lang="vi-VN" sz="1200" i="1" dirty="0">
                <a:solidFill>
                  <a:srgbClr val="344054"/>
                </a:solidFill>
              </a:rPr>
              <a:t>Hình 4.5. Google Maps cung cấp chỉ dẫn đường đi thay vì buộc ghi nhớ</a:t>
            </a:r>
          </a:p>
          <a:p>
            <a:pPr marL="0" indent="0">
              <a:lnSpc>
                <a:spcPct val="105000"/>
              </a:lnSpc>
              <a:buNone/>
            </a:pPr>
            <a:r>
              <a:rPr lang="vi-VN" sz="1100" i="1" dirty="0">
                <a:solidFill>
                  <a:srgbClr val="475467"/>
                </a:solidFill>
              </a:rPr>
              <a:t>Nguồn: Google Maps Navigation</a:t>
            </a:r>
          </a:p>
        </p:txBody>
      </p:sp>
      <p:sp>
        <p:nvSpPr>
          <p:cNvPr id="203" name="Ex card text"/>
          <p:cNvSpPr/>
          <p:nvPr/>
        </p:nvSpPr>
        <p:spPr>
          <a:xfrm>
            <a:off x="3657600" y="1143000"/>
            <a:ext cx="8077200" cy="4495800"/>
          </a:xfrm>
          <a:prstGeom prst="roundRect">
            <a:avLst>
              <a:gd name="adj" fmla="val 643"/>
            </a:avLst>
          </a:prstGeom>
          <a:solidFill>
            <a:srgbClr val="FFFFFF"/>
          </a:solidFill>
          <a:ln>
            <a:noFill/>
          </a:ln>
        </p:spPr>
        <p:txBody>
          <a:bodyPr/>
          <a:lstStyle/>
          <a:p>
            <a:endParaRPr lang="en-US"/>
          </a:p>
        </p:txBody>
      </p:sp>
      <p:sp>
        <p:nvSpPr>
          <p:cNvPr id="204" name="Ex name"/>
          <p:cNvSpPr txBox="1"/>
          <p:nvPr/>
        </p:nvSpPr>
        <p:spPr>
          <a:xfrm>
            <a:off x="3886200" y="1244600"/>
            <a:ext cx="7620000" cy="805688"/>
          </a:xfrm>
          <a:prstGeom prst="rect">
            <a:avLst/>
          </a:prstGeom>
          <a:noFill/>
          <a:ln>
            <a:noFill/>
          </a:ln>
        </p:spPr>
        <p:txBody>
          <a:bodyPr wrap="square" lIns="0" tIns="0" rIns="0" bIns="0" rtlCol="0" anchor="t">
            <a:noAutofit/>
          </a:bodyPr>
          <a:lstStyle/>
          <a:p>
            <a:pPr marL="0" indent="0">
              <a:lnSpc>
                <a:spcPct val="105000"/>
              </a:lnSpc>
              <a:buNone/>
            </a:pPr>
            <a:r>
              <a:rPr lang="vi-VN" sz="2600" b="1" dirty="0">
                <a:solidFill>
                  <a:srgbClr val="1677B8"/>
                </a:solidFill>
              </a:rPr>
              <a:t>Ví dụ 4.5: </a:t>
            </a:r>
            <a:r>
              <a:rPr lang="vi-VN" sz="2600" b="1" dirty="0">
                <a:solidFill>
                  <a:srgbClr val="062F5C"/>
                </a:solidFill>
              </a:rPr>
              <a:t>Google Maps hỗ trợ học và ghi nhớ đường đi</a:t>
            </a:r>
          </a:p>
        </p:txBody>
      </p:sp>
      <p:sp>
        <p:nvSpPr>
          <p:cNvPr id="205" name="Ex body"/>
          <p:cNvSpPr txBox="1"/>
          <p:nvPr/>
        </p:nvSpPr>
        <p:spPr>
          <a:xfrm>
            <a:off x="3886200" y="2126488"/>
            <a:ext cx="7620000" cy="3410712"/>
          </a:xfrm>
          <a:prstGeom prst="rect">
            <a:avLst/>
          </a:prstGeom>
          <a:noFill/>
          <a:ln>
            <a:noFill/>
          </a:ln>
        </p:spPr>
        <p:txBody>
          <a:bodyPr wrap="square" lIns="0" tIns="0" rIns="0" bIns="0" rtlCol="0" anchor="t">
            <a:noAutofit/>
          </a:bodyPr>
          <a:lstStyle/>
          <a:p>
            <a:pPr marL="0" indent="0">
              <a:lnSpc>
                <a:spcPct val="98000"/>
              </a:lnSpc>
              <a:spcAft>
                <a:spcPts val="300"/>
              </a:spcAft>
              <a:buNone/>
            </a:pPr>
            <a:r>
              <a:rPr lang="vi-VN" sz="2400" b="1" dirty="0"/>
              <a:t>Là gì, có gì:</a:t>
            </a:r>
            <a:br>
              <a:rPr lang="vi-VN" sz="2400" dirty="0"/>
            </a:br>
            <a:r>
              <a:rPr lang="vi-VN" sz="2400" dirty="0">
                <a:solidFill>
                  <a:srgbClr val="344054"/>
                </a:solidFill>
              </a:rPr>
              <a:t>Ứng dụng cung cấp bản đồ, chỉ đường và thông tin địa điểm.</a:t>
            </a:r>
          </a:p>
          <a:p>
            <a:pPr marL="0" indent="0">
              <a:lnSpc>
                <a:spcPct val="98000"/>
              </a:lnSpc>
              <a:spcAft>
                <a:spcPts val="300"/>
              </a:spcAft>
              <a:buNone/>
            </a:pPr>
            <a:endParaRPr lang="vi-VN" sz="2400" dirty="0">
              <a:solidFill>
                <a:srgbClr val="344054"/>
              </a:solidFill>
            </a:endParaRPr>
          </a:p>
          <a:p>
            <a:pPr marL="0" indent="0">
              <a:lnSpc>
                <a:spcPct val="98000"/>
              </a:lnSpc>
              <a:spcAft>
                <a:spcPts val="0"/>
              </a:spcAft>
              <a:buNone/>
            </a:pPr>
            <a:r>
              <a:rPr lang="vi-VN" sz="2400" b="1" dirty="0"/>
              <a:t>Liên hệ đặc điểm nhận thức:</a:t>
            </a:r>
            <a:br>
              <a:rPr lang="vi-VN" sz="2400" dirty="0"/>
            </a:br>
            <a:r>
              <a:rPr lang="vi-VN" sz="2400" dirty="0">
                <a:solidFill>
                  <a:srgbClr val="344054"/>
                </a:solidFill>
              </a:rPr>
              <a:t>Công nghệ đóng vai trò như một </a:t>
            </a:r>
            <a:r>
              <a:rPr lang="vi-VN" sz="2400" b="1" dirty="0">
                <a:solidFill>
                  <a:srgbClr val="344054"/>
                </a:solidFill>
              </a:rPr>
              <a:t>công cụ hỗ trợ nhận thức</a:t>
            </a:r>
            <a:r>
              <a:rPr lang="vi-VN" sz="2400" dirty="0">
                <a:solidFill>
                  <a:srgbClr val="344054"/>
                </a:solidFill>
              </a:rPr>
              <a:t>, giúp người dùng tìm lại thông tin thay vì phải ghi nhớ toàn bộ.</a:t>
            </a:r>
          </a:p>
        </p:txBody>
      </p:sp>
      <p:sp>
        <p:nvSpPr>
          <p:cNvPr id="206" name="Ex lesson bg"/>
          <p:cNvSpPr/>
          <p:nvPr/>
        </p:nvSpPr>
        <p:spPr>
          <a:xfrm>
            <a:off x="457200" y="5715000"/>
            <a:ext cx="11277600" cy="635000"/>
          </a:xfrm>
          <a:prstGeom prst="rect">
            <a:avLst/>
          </a:prstGeom>
          <a:solidFill>
            <a:srgbClr val="EAF5EF"/>
          </a:solidFill>
          <a:ln>
            <a:noFill/>
          </a:ln>
        </p:spPr>
        <p:txBody>
          <a:bodyPr/>
          <a:lstStyle/>
          <a:p>
            <a:endParaRPr lang="en-US"/>
          </a:p>
        </p:txBody>
      </p:sp>
      <p:sp>
        <p:nvSpPr>
          <p:cNvPr id="207" name="Ex lesson bar"/>
          <p:cNvSpPr/>
          <p:nvPr/>
        </p:nvSpPr>
        <p:spPr>
          <a:xfrm>
            <a:off x="457200" y="5715000"/>
            <a:ext cx="50800" cy="635000"/>
          </a:xfrm>
          <a:prstGeom prst="rect">
            <a:avLst/>
          </a:prstGeom>
          <a:solidFill>
            <a:srgbClr val="2E9B67"/>
          </a:solidFill>
          <a:ln>
            <a:noFill/>
          </a:ln>
        </p:spPr>
        <p:txBody>
          <a:bodyPr/>
          <a:lstStyle/>
          <a:p>
            <a:endParaRPr lang="en-US"/>
          </a:p>
        </p:txBody>
      </p:sp>
      <p:sp>
        <p:nvSpPr>
          <p:cNvPr id="208" name="Ex lesson"/>
          <p:cNvSpPr txBox="1"/>
          <p:nvPr/>
        </p:nvSpPr>
        <p:spPr>
          <a:xfrm>
            <a:off x="685800" y="5715000"/>
            <a:ext cx="10820400" cy="635000"/>
          </a:xfrm>
          <a:prstGeom prst="rect">
            <a:avLst/>
          </a:prstGeom>
          <a:noFill/>
          <a:ln>
            <a:noFill/>
          </a:ln>
        </p:spPr>
        <p:txBody>
          <a:bodyPr wrap="square" lIns="0" tIns="0" rIns="0" bIns="0" rtlCol="0" anchor="ctr">
            <a:noAutofit/>
          </a:bodyPr>
          <a:lstStyle/>
          <a:p>
            <a:pPr marL="0" indent="0">
              <a:lnSpc>
                <a:spcPct val="105000"/>
              </a:lnSpc>
              <a:buNone/>
            </a:pPr>
            <a:r>
              <a:rPr lang="vi-VN" sz="1800" b="1" dirty="0">
                <a:solidFill>
                  <a:srgbClr val="1E7F53"/>
                </a:solidFill>
              </a:rPr>
              <a:t>Bài học: </a:t>
            </a:r>
            <a:r>
              <a:rPr lang="vi-VN" sz="1800" b="1" dirty="0">
                <a:solidFill>
                  <a:srgbClr val="062F5C"/>
                </a:solidFill>
              </a:rPr>
              <a:t>Hỗ trợ người dùng tìm kiếm và truy cập lại thông tin khi cần.</a:t>
            </a:r>
          </a:p>
        </p:txBody>
      </p:sp>
      <p:pic>
        <p:nvPicPr>
          <p:cNvPr id="3" name="Ex image">
            <a:extLst>
              <a:ext uri="{FF2B5EF4-FFF2-40B4-BE49-F238E27FC236}">
                <a16:creationId xmlns:a16="http://schemas.microsoft.com/office/drawing/2014/main" id="{09A45AA3-D567-C0E2-737D-53DA74C1DF42}"/>
              </a:ext>
            </a:extLst>
          </p:cNvPr>
          <p:cNvPicPr>
            <a:picLocks noChangeAspect="1"/>
          </p:cNvPicPr>
          <p:nvPr/>
        </p:nvPicPr>
        <p:blipFill>
          <a:blip r:embed="rId3"/>
          <a:stretch>
            <a:fillRect/>
          </a:stretch>
        </p:blipFill>
        <p:spPr>
          <a:xfrm>
            <a:off x="609600" y="1745831"/>
            <a:ext cx="2743200" cy="2324938"/>
          </a:xfrm>
          <a:prstGeom prst="rect">
            <a:avLst/>
          </a:prstGeom>
        </p:spPr>
      </p:pic>
      <p:sp>
        <p:nvSpPr>
          <p:cNvPr id="209" name="Ex badge"/>
          <p:cNvSpPr/>
          <p:nvPr/>
        </p:nvSpPr>
        <p:spPr>
          <a:xfrm>
            <a:off x="711200" y="1397000"/>
            <a:ext cx="381000" cy="381000"/>
          </a:xfrm>
          <a:prstGeom prst="ellipse">
            <a:avLst/>
          </a:prstGeom>
          <a:solidFill>
            <a:srgbClr val="073B6F"/>
          </a:solidFill>
          <a:ln w="28575">
            <a:solidFill>
              <a:srgbClr val="F4B336"/>
            </a:solidFill>
          </a:ln>
        </p:spPr>
        <p:txBody>
          <a:bodyPr/>
          <a:lstStyle/>
          <a:p>
            <a:endParaRPr lang="en-US"/>
          </a:p>
        </p:txBody>
      </p:sp>
      <p:sp>
        <p:nvSpPr>
          <p:cNvPr id="210" name="Ex badge num"/>
          <p:cNvSpPr txBox="1"/>
          <p:nvPr/>
        </p:nvSpPr>
        <p:spPr>
          <a:xfrm>
            <a:off x="711200" y="1397000"/>
            <a:ext cx="381000" cy="381000"/>
          </a:xfrm>
          <a:prstGeom prst="rect">
            <a:avLst/>
          </a:prstGeom>
          <a:noFill/>
          <a:ln>
            <a:noFill/>
          </a:ln>
        </p:spPr>
        <p:txBody>
          <a:bodyPr wrap="square" lIns="0" tIns="0" rIns="0" bIns="0" rtlCol="0" anchor="ctr">
            <a:noAutofit/>
          </a:bodyPr>
          <a:lstStyle/>
          <a:p>
            <a:pPr marL="0" indent="0" algn="ctr">
              <a:buNone/>
            </a:pPr>
            <a:r>
              <a:rPr lang="vi-VN" sz="1000" b="1" dirty="0">
                <a:solidFill>
                  <a:srgbClr val="FFFFFF"/>
                </a:solidFill>
              </a:rPr>
              <a:t>4.5</a:t>
            </a:r>
          </a:p>
        </p:txBody>
      </p:sp>
    </p:spTree>
    <p:extLst>
      <p:ext uri="{BB962C8B-B14F-4D97-AF65-F5344CB8AC3E}">
        <p14:creationId xmlns:p14="http://schemas.microsoft.com/office/powerpoint/2010/main" val="12072495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12">
    <p:bg>
      <p:bgPr>
        <a:solidFill>
          <a:srgbClr val="062F5C"/>
        </a:solidFill>
        <a:effectLst/>
      </p:bgPr>
    </p:bg>
    <p:spTree>
      <p:nvGrpSpPr>
        <p:cNvPr id="1" name=""/>
        <p:cNvGrpSpPr/>
        <p:nvPr/>
      </p:nvGrpSpPr>
      <p:grpSpPr>
        <a:xfrm>
          <a:off x="0" y="0"/>
          <a:ext cx="0" cy="0"/>
          <a:chOff x="0" y="0"/>
          <a:chExt cx="0" cy="0"/>
        </a:xfrm>
      </p:grpSpPr>
      <p:sp>
        <p:nvSpPr>
          <p:cNvPr id="22" name="Decor 23"/>
          <p:cNvSpPr/>
          <p:nvPr/>
        </p:nvSpPr>
        <p:spPr>
          <a:xfrm rot="720000">
            <a:off x="10922000" y="-762000"/>
            <a:ext cx="2286000" cy="8382000"/>
          </a:xfrm>
          <a:prstGeom prst="rect">
            <a:avLst/>
          </a:prstGeom>
          <a:solidFill>
            <a:srgbClr val="FFFFFF">
              <a:alpha val="9000"/>
            </a:srgbClr>
          </a:solidFill>
          <a:ln>
            <a:noFill/>
          </a:ln>
        </p:spPr>
        <p:txBody>
          <a:bodyPr/>
          <a:lstStyle/>
          <a:p>
            <a:endParaRPr lang="en-US"/>
          </a:p>
        </p:txBody>
      </p:sp>
      <p:sp>
        <p:nvSpPr>
          <p:cNvPr id="23" name="Decor 24"/>
          <p:cNvSpPr/>
          <p:nvPr/>
        </p:nvSpPr>
        <p:spPr>
          <a:xfrm>
            <a:off x="-1524000" y="-2159000"/>
            <a:ext cx="4064000" cy="4064000"/>
          </a:xfrm>
          <a:prstGeom prst="ellipse">
            <a:avLst/>
          </a:prstGeom>
          <a:noFill/>
          <a:ln w="28575">
            <a:solidFill>
              <a:srgbClr val="FFFFFF">
                <a:alpha val="22000"/>
              </a:srgbClr>
            </a:solidFill>
          </a:ln>
        </p:spPr>
        <p:txBody>
          <a:bodyPr/>
          <a:lstStyle/>
          <a:p>
            <a:endParaRPr lang="en-US"/>
          </a:p>
        </p:txBody>
      </p:sp>
      <p:sp>
        <p:nvSpPr>
          <p:cNvPr id="24" name="Decor 25"/>
          <p:cNvSpPr/>
          <p:nvPr/>
        </p:nvSpPr>
        <p:spPr>
          <a:xfrm>
            <a:off x="11912600" y="6553200"/>
            <a:ext cx="177800" cy="101600"/>
          </a:xfrm>
          <a:prstGeom prst="rect">
            <a:avLst/>
          </a:prstGeom>
          <a:solidFill>
            <a:srgbClr val="F4B336">
              <a:alpha val="35000"/>
            </a:srgbClr>
          </a:solidFill>
          <a:ln>
            <a:noFill/>
          </a:ln>
        </p:spPr>
        <p:txBody>
          <a:bodyPr/>
          <a:lstStyle/>
          <a:p>
            <a:endParaRPr lang="en-US"/>
          </a:p>
        </p:txBody>
      </p:sp>
      <p:sp>
        <p:nvSpPr>
          <p:cNvPr id="2" name="Text 1"/>
          <p:cNvSpPr>
            <a:spLocks noGrp="1"/>
          </p:cNvSpPr>
          <p:nvPr>
            <p:ph type="title" idx="101" hasCustomPrompt="1"/>
          </p:nvPr>
        </p:nvSpPr>
        <p:spPr>
          <a:xfrm>
            <a:off x="1168400" y="512064"/>
            <a:ext cx="10566400" cy="512064"/>
          </a:xfrm>
          <a:prstGeom prst="rect">
            <a:avLst/>
          </a:prstGeom>
          <a:noFill/>
          <a:ln/>
        </p:spPr>
        <p:txBody>
          <a:bodyPr wrap="square" lIns="0" tIns="0" rIns="0" bIns="0" rtlCol="0" anchor="t"/>
          <a:lstStyle/>
          <a:p>
            <a:pPr marL="0" indent="0" algn="l">
              <a:buNone/>
            </a:pPr>
            <a:r>
              <a:rPr lang="en-US" sz="3000" b="1" dirty="0">
                <a:solidFill>
                  <a:srgbClr val="FFFFFF"/>
                </a:solidFill>
              </a:rPr>
              <a:t>Đọc, nghe, nói</a:t>
            </a:r>
            <a:r>
              <a:rPr lang="en-US" sz="2000" b="0" dirty="0">
                <a:solidFill>
                  <a:srgbClr val="9FB2C8"/>
                </a:solidFill>
              </a:rPr>
              <a:t>   Reading, Speaking &amp; Listening</a:t>
            </a:r>
            <a:endParaRPr lang="en-US" sz="2800" dirty="0">
              <a:solidFill>
                <a:srgbClr val="FFFFFF"/>
              </a:solidFill>
            </a:endParaRPr>
          </a:p>
        </p:txBody>
      </p:sp>
      <p:sp>
        <p:nvSpPr>
          <p:cNvPr id="901" name="Deco 901"/>
          <p:cNvSpPr/>
          <p:nvPr/>
        </p:nvSpPr>
        <p:spPr>
          <a:xfrm>
            <a:off x="457200" y="1320800"/>
            <a:ext cx="50800" cy="1104900"/>
          </a:xfrm>
          <a:prstGeom prst="rect">
            <a:avLst/>
          </a:prstGeom>
          <a:solidFill>
            <a:srgbClr val="F4B336"/>
          </a:solidFill>
          <a:ln>
            <a:noFill/>
          </a:ln>
        </p:spPr>
        <p:txBody>
          <a:bodyPr/>
          <a:lstStyle/>
          <a:p>
            <a:endParaRPr lang="en-US"/>
          </a:p>
        </p:txBody>
      </p:sp>
      <p:sp>
        <p:nvSpPr>
          <p:cNvPr id="5" name="Text 3"/>
          <p:cNvSpPr txBox="1"/>
          <p:nvPr/>
        </p:nvSpPr>
        <p:spPr>
          <a:xfrm>
            <a:off x="736600" y="1320800"/>
            <a:ext cx="10998200" cy="1104900"/>
          </a:xfrm>
          <a:prstGeom prst="rect">
            <a:avLst/>
          </a:prstGeom>
          <a:noFill/>
          <a:ln/>
        </p:spPr>
        <p:txBody>
          <a:bodyPr wrap="square" lIns="0" tIns="0" rIns="0" bIns="0" rtlCol="0" anchor="t"/>
          <a:lstStyle/>
          <a:p>
            <a:pPr marL="0" indent="0">
              <a:lnSpc>
                <a:spcPct val="105000"/>
              </a:lnSpc>
              <a:spcAft>
                <a:spcPts val="0"/>
              </a:spcAft>
              <a:buNone/>
            </a:pPr>
            <a:r>
              <a:rPr lang="en-US" sz="3200" b="1" dirty="0">
                <a:solidFill>
                  <a:srgbClr val="F4B336"/>
                </a:solidFill>
              </a:rPr>
              <a:t>5.1. Khái niệm: </a:t>
            </a:r>
            <a:r>
              <a:rPr lang="en-US" sz="3200" dirty="0">
                <a:solidFill>
                  <a:srgbClr val="FFFFFF"/>
                </a:solidFill>
              </a:rPr>
              <a:t>Reading, Speaking, and Listening là ba hình thức xử lý ngôn ngữ có những điểm giống và khác nhau.</a:t>
            </a:r>
          </a:p>
        </p:txBody>
      </p:sp>
      <p:sp>
        <p:nvSpPr>
          <p:cNvPr id="17" name="Card left"/>
          <p:cNvSpPr/>
          <p:nvPr/>
        </p:nvSpPr>
        <p:spPr>
          <a:xfrm>
            <a:off x="457200" y="2806700"/>
            <a:ext cx="11277600" cy="3416300"/>
          </a:xfrm>
          <a:prstGeom prst="roundRect">
            <a:avLst>
              <a:gd name="adj" fmla="val 643"/>
            </a:avLst>
          </a:prstGeom>
          <a:solidFill>
            <a:srgbClr val="FFFFFF"/>
          </a:solidFill>
          <a:ln w="9525">
            <a:noFill/>
          </a:ln>
        </p:spPr>
        <p:txBody>
          <a:bodyPr rtlCol="0" anchor="ctr"/>
          <a:lstStyle/>
          <a:p>
            <a:endParaRPr lang="en-US"/>
          </a:p>
        </p:txBody>
      </p:sp>
      <p:sp>
        <p:nvSpPr>
          <p:cNvPr id="8" name="Shape 6"/>
          <p:cNvSpPr/>
          <p:nvPr/>
        </p:nvSpPr>
        <p:spPr>
          <a:xfrm>
            <a:off x="457200" y="2806700"/>
            <a:ext cx="11277600" cy="63500"/>
          </a:xfrm>
          <a:prstGeom prst="rect">
            <a:avLst/>
          </a:prstGeom>
          <a:solidFill>
            <a:srgbClr val="1677B8"/>
          </a:solidFill>
          <a:ln w="12700">
            <a:noFill/>
          </a:ln>
        </p:spPr>
        <p:txBody>
          <a:bodyPr/>
          <a:lstStyle/>
          <a:p>
            <a:endParaRPr lang="en-US"/>
          </a:p>
        </p:txBody>
      </p:sp>
      <p:sp>
        <p:nvSpPr>
          <p:cNvPr id="21" name="Topic badge"/>
          <p:cNvSpPr/>
          <p:nvPr/>
        </p:nvSpPr>
        <p:spPr>
          <a:xfrm>
            <a:off x="457200" y="524764"/>
            <a:ext cx="508000" cy="508000"/>
          </a:xfrm>
          <a:prstGeom prst="roundRect">
            <a:avLst>
              <a:gd name="adj" fmla="val 22000"/>
            </a:avLst>
          </a:prstGeom>
          <a:solidFill>
            <a:srgbClr val="F4B336"/>
          </a:solidFill>
          <a:ln>
            <a:noFill/>
          </a:ln>
        </p:spPr>
        <p:txBody>
          <a:bodyPr wrap="none" lIns="0" tIns="0" rIns="0" bIns="0" rtlCol="0" anchor="ctr">
            <a:noAutofit/>
          </a:bodyPr>
          <a:lstStyle/>
          <a:p>
            <a:pPr algn="ctr"/>
            <a:r>
              <a:rPr lang="en-US" sz="2000" b="1" dirty="0">
                <a:solidFill>
                  <a:srgbClr val="062F5C"/>
                </a:solidFill>
              </a:rPr>
              <a:t>05</a:t>
            </a:r>
          </a:p>
        </p:txBody>
      </p:sp>
      <p:sp>
        <p:nvSpPr>
          <p:cNvPr id="6" name="Text 4"/>
          <p:cNvSpPr txBox="1"/>
          <p:nvPr/>
        </p:nvSpPr>
        <p:spPr>
          <a:xfrm>
            <a:off x="812800" y="2984500"/>
            <a:ext cx="10617200" cy="3111500"/>
          </a:xfrm>
          <a:prstGeom prst="rect">
            <a:avLst/>
          </a:prstGeom>
          <a:noFill/>
          <a:ln/>
        </p:spPr>
        <p:txBody>
          <a:bodyPr wrap="square" lIns="0" tIns="0" rIns="0" bIns="0" rtlCol="0" anchor="ctr"/>
          <a:lstStyle/>
          <a:p>
            <a:pPr marL="0" indent="0">
              <a:lnSpc>
                <a:spcPct val="105000"/>
              </a:lnSpc>
              <a:spcAft>
                <a:spcPts val="0"/>
              </a:spcAft>
              <a:buNone/>
            </a:pPr>
            <a:r>
              <a:rPr lang="en-US" sz="2600" dirty="0">
                <a:solidFill>
                  <a:srgbClr val="2B3642"/>
                </a:solidFill>
              </a:rPr>
              <a:t>Ý nghĩa của thông tin về cơ bản không thay đổi dù được truyền đạt bằng cách đọc, nói hay nghe, nhưng mức độ dễ dàng khi tiếp nhận thông tin sẽ phụ thuộc vào từng người, nhiệm vụ và bối cảnh.</a:t>
            </a:r>
          </a:p>
        </p:txBody>
      </p:sp>
    </p:spTree>
    <p:extLst>
      <p:ext uri="{BB962C8B-B14F-4D97-AF65-F5344CB8AC3E}">
        <p14:creationId xmlns:p14="http://schemas.microsoft.com/office/powerpoint/2010/main" val="17596812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12">
    <p:bg>
      <p:bgPr>
        <a:solidFill>
          <a:srgbClr val="062F5C"/>
        </a:solidFill>
        <a:effectLst/>
      </p:bgPr>
    </p:bg>
    <p:spTree>
      <p:nvGrpSpPr>
        <p:cNvPr id="1" name=""/>
        <p:cNvGrpSpPr/>
        <p:nvPr/>
      </p:nvGrpSpPr>
      <p:grpSpPr>
        <a:xfrm>
          <a:off x="0" y="0"/>
          <a:ext cx="0" cy="0"/>
          <a:chOff x="0" y="0"/>
          <a:chExt cx="0" cy="0"/>
        </a:xfrm>
      </p:grpSpPr>
      <p:sp>
        <p:nvSpPr>
          <p:cNvPr id="22" name="Decor 23"/>
          <p:cNvSpPr/>
          <p:nvPr/>
        </p:nvSpPr>
        <p:spPr>
          <a:xfrm rot="720000">
            <a:off x="10922000" y="-762000"/>
            <a:ext cx="2286000" cy="8382000"/>
          </a:xfrm>
          <a:prstGeom prst="rect">
            <a:avLst/>
          </a:prstGeom>
          <a:solidFill>
            <a:srgbClr val="FFFFFF">
              <a:alpha val="9000"/>
            </a:srgbClr>
          </a:solidFill>
          <a:ln>
            <a:noFill/>
          </a:ln>
        </p:spPr>
        <p:txBody>
          <a:bodyPr/>
          <a:lstStyle/>
          <a:p>
            <a:endParaRPr lang="en-US"/>
          </a:p>
        </p:txBody>
      </p:sp>
      <p:sp>
        <p:nvSpPr>
          <p:cNvPr id="23" name="Decor 24"/>
          <p:cNvSpPr/>
          <p:nvPr/>
        </p:nvSpPr>
        <p:spPr>
          <a:xfrm>
            <a:off x="-1524000" y="-2159000"/>
            <a:ext cx="4064000" cy="4064000"/>
          </a:xfrm>
          <a:prstGeom prst="ellipse">
            <a:avLst/>
          </a:prstGeom>
          <a:noFill/>
          <a:ln w="28575">
            <a:solidFill>
              <a:srgbClr val="FFFFFF">
                <a:alpha val="22000"/>
              </a:srgbClr>
            </a:solidFill>
          </a:ln>
        </p:spPr>
        <p:txBody>
          <a:bodyPr/>
          <a:lstStyle/>
          <a:p>
            <a:endParaRPr lang="en-US"/>
          </a:p>
        </p:txBody>
      </p:sp>
      <p:sp>
        <p:nvSpPr>
          <p:cNvPr id="24" name="Decor 25"/>
          <p:cNvSpPr/>
          <p:nvPr/>
        </p:nvSpPr>
        <p:spPr>
          <a:xfrm>
            <a:off x="11912600" y="6553200"/>
            <a:ext cx="177800" cy="101600"/>
          </a:xfrm>
          <a:prstGeom prst="rect">
            <a:avLst/>
          </a:prstGeom>
          <a:solidFill>
            <a:srgbClr val="F4B336">
              <a:alpha val="35000"/>
            </a:srgbClr>
          </a:solidFill>
          <a:ln>
            <a:noFill/>
          </a:ln>
        </p:spPr>
        <p:txBody>
          <a:bodyPr/>
          <a:lstStyle/>
          <a:p>
            <a:endParaRPr lang="en-US"/>
          </a:p>
        </p:txBody>
      </p:sp>
      <p:sp>
        <p:nvSpPr>
          <p:cNvPr id="2" name="Text 1"/>
          <p:cNvSpPr>
            <a:spLocks noGrp="1"/>
          </p:cNvSpPr>
          <p:nvPr>
            <p:ph type="title" idx="101" hasCustomPrompt="1"/>
          </p:nvPr>
        </p:nvSpPr>
        <p:spPr>
          <a:xfrm>
            <a:off x="1168400" y="512064"/>
            <a:ext cx="10566400" cy="512064"/>
          </a:xfrm>
          <a:prstGeom prst="rect">
            <a:avLst/>
          </a:prstGeom>
          <a:noFill/>
          <a:ln/>
        </p:spPr>
        <p:txBody>
          <a:bodyPr wrap="square" lIns="0" tIns="0" rIns="0" bIns="0" rtlCol="0" anchor="t"/>
          <a:lstStyle/>
          <a:p>
            <a:pPr marL="0" indent="0" algn="l">
              <a:buNone/>
            </a:pPr>
            <a:r>
              <a:rPr lang="en-US" sz="3000" b="1" dirty="0">
                <a:solidFill>
                  <a:srgbClr val="FFFFFF"/>
                </a:solidFill>
              </a:rPr>
              <a:t>Đọc, nghe, nói</a:t>
            </a:r>
            <a:r>
              <a:rPr lang="en-US" sz="2000" b="0" dirty="0">
                <a:solidFill>
                  <a:srgbClr val="9FB2C8"/>
                </a:solidFill>
              </a:rPr>
              <a:t>   Reading, Speaking &amp; Listening</a:t>
            </a:r>
            <a:endParaRPr lang="en-US" sz="2800" dirty="0">
              <a:solidFill>
                <a:srgbClr val="FFFFFF"/>
              </a:solidFill>
            </a:endParaRPr>
          </a:p>
        </p:txBody>
      </p:sp>
      <p:sp>
        <p:nvSpPr>
          <p:cNvPr id="17" name="Card left"/>
          <p:cNvSpPr/>
          <p:nvPr/>
        </p:nvSpPr>
        <p:spPr>
          <a:xfrm>
            <a:off x="457200" y="1117600"/>
            <a:ext cx="11277600" cy="5257800"/>
          </a:xfrm>
          <a:prstGeom prst="roundRect">
            <a:avLst>
              <a:gd name="adj" fmla="val 643"/>
            </a:avLst>
          </a:prstGeom>
          <a:solidFill>
            <a:srgbClr val="FFFFFF"/>
          </a:solidFill>
          <a:ln w="9525">
            <a:noFill/>
          </a:ln>
        </p:spPr>
        <p:txBody>
          <a:bodyPr rtlCol="0" anchor="ctr"/>
          <a:lstStyle/>
          <a:p>
            <a:endParaRPr lang="en-US"/>
          </a:p>
        </p:txBody>
      </p:sp>
      <p:sp>
        <p:nvSpPr>
          <p:cNvPr id="8" name="Shape 6"/>
          <p:cNvSpPr/>
          <p:nvPr/>
        </p:nvSpPr>
        <p:spPr>
          <a:xfrm>
            <a:off x="457200" y="1117600"/>
            <a:ext cx="11277600" cy="63500"/>
          </a:xfrm>
          <a:prstGeom prst="rect">
            <a:avLst/>
          </a:prstGeom>
          <a:solidFill>
            <a:srgbClr val="1677B8"/>
          </a:solidFill>
          <a:ln w="12700">
            <a:noFill/>
          </a:ln>
        </p:spPr>
        <p:txBody>
          <a:bodyPr/>
          <a:lstStyle/>
          <a:p>
            <a:endParaRPr lang="en-US"/>
          </a:p>
        </p:txBody>
      </p:sp>
      <p:sp>
        <p:nvSpPr>
          <p:cNvPr id="9" name="Text 7"/>
          <p:cNvSpPr txBox="1"/>
          <p:nvPr/>
        </p:nvSpPr>
        <p:spPr>
          <a:xfrm>
            <a:off x="736600" y="1244600"/>
            <a:ext cx="8890000" cy="330200"/>
          </a:xfrm>
          <a:prstGeom prst="rect">
            <a:avLst/>
          </a:prstGeom>
          <a:noFill/>
          <a:ln/>
        </p:spPr>
        <p:txBody>
          <a:bodyPr wrap="square" lIns="0" tIns="0" rIns="0" bIns="0" rtlCol="0" anchor="t"/>
          <a:lstStyle/>
          <a:p>
            <a:pPr marL="0" indent="0">
              <a:buNone/>
            </a:pPr>
            <a:r>
              <a:rPr lang="en-US" sz="2200" b="1" kern="0" spc="50" dirty="0">
                <a:solidFill>
                  <a:srgbClr val="1677B8"/>
                </a:solidFill>
              </a:rPr>
              <a:t>5.2. CÁC ĐẶC ĐIỂM</a:t>
            </a:r>
          </a:p>
        </p:txBody>
      </p:sp>
      <p:sp>
        <p:nvSpPr>
          <p:cNvPr id="12" name="Text 10"/>
          <p:cNvSpPr txBox="1"/>
          <p:nvPr/>
        </p:nvSpPr>
        <p:spPr>
          <a:xfrm>
            <a:off x="736600" y="1612900"/>
            <a:ext cx="10795000" cy="4724400"/>
          </a:xfrm>
          <a:prstGeom prst="rect">
            <a:avLst/>
          </a:prstGeom>
          <a:noFill/>
          <a:ln/>
        </p:spPr>
        <p:txBody>
          <a:bodyPr wrap="square" lIns="0" tIns="0" rIns="0" bIns="0" rtlCol="0" anchor="t"/>
          <a:lstStyle/>
          <a:p>
            <a:pPr marL="285750" indent="-285750">
              <a:lnSpc>
                <a:spcPct val="100000"/>
              </a:lnSpc>
              <a:spcAft>
                <a:spcPts val="100"/>
              </a:spcAft>
              <a:buNone/>
            </a:pPr>
            <a:r>
              <a:rPr lang="en-US" sz="2000" b="1" dirty="0">
                <a:solidFill>
                  <a:srgbClr val="1677B8"/>
                </a:solidFill>
              </a:rPr>
              <a:t>1. </a:t>
            </a:r>
            <a:r>
              <a:rPr lang="en-US" sz="2000" b="1" dirty="0">
                <a:solidFill>
                  <a:srgbClr val="062F5C"/>
                </a:solidFill>
              </a:rPr>
              <a:t>Ngôn ngữ viết có tính lâu dài, trong khi thông tin nghe có tính tạm thời</a:t>
            </a:r>
          </a:p>
          <a:p>
            <a:pPr marL="285750" indent="0">
              <a:lnSpc>
                <a:spcPct val="100000"/>
              </a:lnSpc>
              <a:spcAft>
                <a:spcPts val="100"/>
              </a:spcAft>
              <a:buNone/>
            </a:pPr>
            <a:r>
              <a:rPr lang="en-US" sz="1600" i="1" dirty="0">
                <a:solidFill>
                  <a:srgbClr val="1677B8"/>
                </a:solidFill>
              </a:rPr>
              <a:t>Written Language is Permanent / Listening is Transient</a:t>
            </a:r>
          </a:p>
          <a:p>
            <a:pPr marL="285750" indent="0">
              <a:lnSpc>
                <a:spcPct val="100000"/>
              </a:lnSpc>
              <a:spcAft>
                <a:spcPts val="100"/>
              </a:spcAft>
              <a:buNone/>
            </a:pPr>
            <a:r>
              <a:rPr lang="en-US" sz="1800" dirty="0">
                <a:solidFill>
                  <a:srgbClr val="17212B"/>
                </a:solidFill>
              </a:rPr>
              <a:t>Khi đọc, người dùng có thể quay lại và đọc lại thông tin nếu chưa hiểu ở lần đầu.</a:t>
            </a:r>
          </a:p>
          <a:p>
            <a:pPr marL="285750" indent="0">
              <a:lnSpc>
                <a:spcPct val="100000"/>
              </a:lnSpc>
              <a:spcAft>
                <a:spcPts val="250"/>
              </a:spcAft>
              <a:buNone/>
            </a:pPr>
            <a:r>
              <a:rPr lang="en-US" sz="1800" dirty="0">
                <a:solidFill>
                  <a:srgbClr val="17212B"/>
                </a:solidFill>
              </a:rPr>
              <a:t>Ngược lại, thông tin được truyền bằng lời nói thường diễn ra theo thời gian, nên người nghe khó quay lại nội dung đã nói nếu không có bản ghi hoặc chức năng phát lại.</a:t>
            </a:r>
          </a:p>
          <a:p>
            <a:pPr marL="285750" indent="-285750">
              <a:lnSpc>
                <a:spcPct val="100000"/>
              </a:lnSpc>
              <a:spcAft>
                <a:spcPts val="100"/>
              </a:spcAft>
              <a:buNone/>
            </a:pPr>
            <a:r>
              <a:rPr lang="en-US" sz="2000" b="1" dirty="0">
                <a:solidFill>
                  <a:srgbClr val="1677B8"/>
                </a:solidFill>
              </a:rPr>
              <a:t>2. </a:t>
            </a:r>
            <a:r>
              <a:rPr lang="en-US" sz="2000" b="1" dirty="0">
                <a:solidFill>
                  <a:srgbClr val="062F5C"/>
                </a:solidFill>
              </a:rPr>
              <a:t>Đọc có thể nhanh hơn nói hoặc nghe</a:t>
            </a:r>
          </a:p>
          <a:p>
            <a:pPr marL="285750" indent="0">
              <a:lnSpc>
                <a:spcPct val="100000"/>
              </a:lnSpc>
              <a:spcAft>
                <a:spcPts val="100"/>
              </a:spcAft>
              <a:buNone/>
            </a:pPr>
            <a:r>
              <a:rPr lang="en-US" sz="1600" i="1" dirty="0">
                <a:solidFill>
                  <a:srgbClr val="1677B8"/>
                </a:solidFill>
              </a:rPr>
              <a:t>Reading can be Quicker than Speaking or Listening</a:t>
            </a:r>
          </a:p>
          <a:p>
            <a:pPr marL="285750" indent="0">
              <a:lnSpc>
                <a:spcPct val="100000"/>
              </a:lnSpc>
              <a:spcAft>
                <a:spcPts val="100"/>
              </a:spcAft>
              <a:buNone/>
            </a:pPr>
            <a:r>
              <a:rPr lang="en-US" sz="1800" dirty="0">
                <a:solidFill>
                  <a:srgbClr val="17212B"/>
                </a:solidFill>
              </a:rPr>
              <a:t>Khi đọc, người dùng có thể quét nhanh văn bản để tìm phần thông tin cần thiết.</a:t>
            </a:r>
          </a:p>
          <a:p>
            <a:pPr marL="285750" indent="0">
              <a:lnSpc>
                <a:spcPct val="100000"/>
              </a:lnSpc>
              <a:spcAft>
                <a:spcPts val="250"/>
              </a:spcAft>
              <a:buNone/>
            </a:pPr>
            <a:r>
              <a:rPr lang="en-US" sz="1800" dirty="0">
                <a:solidFill>
                  <a:srgbClr val="17212B"/>
                </a:solidFill>
              </a:rPr>
              <a:t>Trong khi đó, lời nói thường được truyền tải theo trình tự, khiến người nghe phải tiếp nhận thông tin lần lượt thay vì chủ động lướt qua nội dung.</a:t>
            </a:r>
          </a:p>
          <a:p>
            <a:pPr marL="285750" indent="-285750">
              <a:lnSpc>
                <a:spcPct val="100000"/>
              </a:lnSpc>
              <a:spcAft>
                <a:spcPts val="100"/>
              </a:spcAft>
              <a:buNone/>
            </a:pPr>
            <a:r>
              <a:rPr lang="en-US" sz="2000" b="1" dirty="0">
                <a:solidFill>
                  <a:srgbClr val="1677B8"/>
                </a:solidFill>
              </a:rPr>
              <a:t>3. </a:t>
            </a:r>
            <a:r>
              <a:rPr lang="en-US" sz="2000" b="1" dirty="0">
                <a:solidFill>
                  <a:srgbClr val="062F5C"/>
                </a:solidFill>
              </a:rPr>
              <a:t>Nghe đòi hỏi ít nỗ lực nhận thức hơn đọc hoặc nói</a:t>
            </a:r>
          </a:p>
          <a:p>
            <a:pPr marL="285750" indent="0">
              <a:lnSpc>
                <a:spcPct val="100000"/>
              </a:lnSpc>
              <a:spcAft>
                <a:spcPts val="100"/>
              </a:spcAft>
              <a:buNone/>
            </a:pPr>
            <a:r>
              <a:rPr lang="en-US" sz="1600" i="1" dirty="0">
                <a:solidFill>
                  <a:srgbClr val="1677B8"/>
                </a:solidFill>
              </a:rPr>
              <a:t>Listening Requires Less Cognitive Effort</a:t>
            </a:r>
          </a:p>
          <a:p>
            <a:pPr marL="285750" indent="0">
              <a:lnSpc>
                <a:spcPct val="100000"/>
              </a:lnSpc>
              <a:spcAft>
                <a:spcPts val="100"/>
              </a:spcAft>
              <a:buNone/>
            </a:pPr>
            <a:r>
              <a:rPr lang="en-US" sz="1800" dirty="0">
                <a:solidFill>
                  <a:srgbClr val="17212B"/>
                </a:solidFill>
              </a:rPr>
              <a:t>Nghe thường yêu cầu ít nỗ lực nhận thức hơn so với đọc hoặc nói, vì người dùng chủ yếu tiếp nhận thông tin được truyền đạt bằng lời nói.</a:t>
            </a:r>
          </a:p>
          <a:p>
            <a:pPr marL="285750" indent="0">
              <a:lnSpc>
                <a:spcPct val="100000"/>
              </a:lnSpc>
              <a:spcAft>
                <a:spcPts val="0"/>
              </a:spcAft>
              <a:buNone/>
            </a:pPr>
            <a:r>
              <a:rPr lang="en-US" sz="1800" dirty="0">
                <a:solidFill>
                  <a:srgbClr val="17212B"/>
                </a:solidFill>
              </a:rPr>
              <a:t>Điều này đặc biệt rõ ở trẻ em, khi chúng thường thích nghe nội dung kể chuyện hơn là phải tự đọc cùng một nội dung trên màn hình.</a:t>
            </a:r>
          </a:p>
        </p:txBody>
      </p:sp>
      <p:sp>
        <p:nvSpPr>
          <p:cNvPr id="21" name="Topic badge"/>
          <p:cNvSpPr/>
          <p:nvPr/>
        </p:nvSpPr>
        <p:spPr>
          <a:xfrm>
            <a:off x="457200" y="524764"/>
            <a:ext cx="508000" cy="508000"/>
          </a:xfrm>
          <a:prstGeom prst="roundRect">
            <a:avLst>
              <a:gd name="adj" fmla="val 22000"/>
            </a:avLst>
          </a:prstGeom>
          <a:solidFill>
            <a:srgbClr val="F4B336"/>
          </a:solidFill>
          <a:ln>
            <a:noFill/>
          </a:ln>
        </p:spPr>
        <p:txBody>
          <a:bodyPr wrap="none" lIns="0" tIns="0" rIns="0" bIns="0" rtlCol="0" anchor="ctr">
            <a:noAutofit/>
          </a:bodyPr>
          <a:lstStyle/>
          <a:p>
            <a:pPr algn="ctr"/>
            <a:r>
              <a:rPr lang="en-US" sz="2000" b="1" dirty="0">
                <a:solidFill>
                  <a:srgbClr val="062F5C"/>
                </a:solidFill>
              </a:rPr>
              <a:t>05</a:t>
            </a:r>
          </a:p>
        </p:txBody>
      </p:sp>
    </p:spTree>
    <p:extLst>
      <p:ext uri="{BB962C8B-B14F-4D97-AF65-F5344CB8AC3E}">
        <p14:creationId xmlns:p14="http://schemas.microsoft.com/office/powerpoint/2010/main" val="23145138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12">
    <p:bg>
      <p:bgPr>
        <a:solidFill>
          <a:srgbClr val="062F5C"/>
        </a:solidFill>
        <a:effectLst/>
      </p:bgPr>
    </p:bg>
    <p:spTree>
      <p:nvGrpSpPr>
        <p:cNvPr id="1" name=""/>
        <p:cNvGrpSpPr/>
        <p:nvPr/>
      </p:nvGrpSpPr>
      <p:grpSpPr>
        <a:xfrm>
          <a:off x="0" y="0"/>
          <a:ext cx="0" cy="0"/>
          <a:chOff x="0" y="0"/>
          <a:chExt cx="0" cy="0"/>
        </a:xfrm>
      </p:grpSpPr>
      <p:sp>
        <p:nvSpPr>
          <p:cNvPr id="22" name="Decor 23"/>
          <p:cNvSpPr/>
          <p:nvPr/>
        </p:nvSpPr>
        <p:spPr>
          <a:xfrm rot="720000">
            <a:off x="10922000" y="-762000"/>
            <a:ext cx="2286000" cy="8382000"/>
          </a:xfrm>
          <a:prstGeom prst="rect">
            <a:avLst/>
          </a:prstGeom>
          <a:solidFill>
            <a:srgbClr val="FFFFFF">
              <a:alpha val="9000"/>
            </a:srgbClr>
          </a:solidFill>
          <a:ln>
            <a:noFill/>
          </a:ln>
        </p:spPr>
        <p:txBody>
          <a:bodyPr/>
          <a:lstStyle/>
          <a:p>
            <a:endParaRPr lang="en-US"/>
          </a:p>
        </p:txBody>
      </p:sp>
      <p:sp>
        <p:nvSpPr>
          <p:cNvPr id="23" name="Decor 24"/>
          <p:cNvSpPr/>
          <p:nvPr/>
        </p:nvSpPr>
        <p:spPr>
          <a:xfrm>
            <a:off x="-1524000" y="-2159000"/>
            <a:ext cx="4064000" cy="4064000"/>
          </a:xfrm>
          <a:prstGeom prst="ellipse">
            <a:avLst/>
          </a:prstGeom>
          <a:noFill/>
          <a:ln w="28575">
            <a:solidFill>
              <a:srgbClr val="FFFFFF">
                <a:alpha val="22000"/>
              </a:srgbClr>
            </a:solidFill>
          </a:ln>
        </p:spPr>
        <p:txBody>
          <a:bodyPr/>
          <a:lstStyle/>
          <a:p>
            <a:endParaRPr lang="en-US"/>
          </a:p>
        </p:txBody>
      </p:sp>
      <p:sp>
        <p:nvSpPr>
          <p:cNvPr id="24" name="Decor 25"/>
          <p:cNvSpPr/>
          <p:nvPr/>
        </p:nvSpPr>
        <p:spPr>
          <a:xfrm>
            <a:off x="11912600" y="6553200"/>
            <a:ext cx="177800" cy="101600"/>
          </a:xfrm>
          <a:prstGeom prst="rect">
            <a:avLst/>
          </a:prstGeom>
          <a:solidFill>
            <a:srgbClr val="F4B336">
              <a:alpha val="35000"/>
            </a:srgbClr>
          </a:solidFill>
          <a:ln>
            <a:noFill/>
          </a:ln>
        </p:spPr>
        <p:txBody>
          <a:bodyPr/>
          <a:lstStyle/>
          <a:p>
            <a:endParaRPr lang="en-US"/>
          </a:p>
        </p:txBody>
      </p:sp>
      <p:sp>
        <p:nvSpPr>
          <p:cNvPr id="2" name="Text 1"/>
          <p:cNvSpPr>
            <a:spLocks noGrp="1"/>
          </p:cNvSpPr>
          <p:nvPr>
            <p:ph type="title" idx="101" hasCustomPrompt="1"/>
          </p:nvPr>
        </p:nvSpPr>
        <p:spPr>
          <a:xfrm>
            <a:off x="1168400" y="512064"/>
            <a:ext cx="10566400" cy="512064"/>
          </a:xfrm>
          <a:prstGeom prst="rect">
            <a:avLst/>
          </a:prstGeom>
          <a:noFill/>
          <a:ln/>
        </p:spPr>
        <p:txBody>
          <a:bodyPr wrap="square" lIns="0" tIns="0" rIns="0" bIns="0" rtlCol="0" anchor="t"/>
          <a:lstStyle/>
          <a:p>
            <a:pPr marL="0" indent="0" algn="l">
              <a:buNone/>
            </a:pPr>
            <a:r>
              <a:rPr lang="en-US" sz="3000" b="1" dirty="0">
                <a:solidFill>
                  <a:srgbClr val="FFFFFF"/>
                </a:solidFill>
              </a:rPr>
              <a:t>Đọc, nghe, nói</a:t>
            </a:r>
            <a:r>
              <a:rPr lang="en-US" sz="2000" b="0" dirty="0">
                <a:solidFill>
                  <a:srgbClr val="9FB2C8"/>
                </a:solidFill>
              </a:rPr>
              <a:t>   Reading, Speaking &amp; Listening</a:t>
            </a:r>
            <a:endParaRPr lang="en-US" sz="2800" dirty="0">
              <a:solidFill>
                <a:srgbClr val="FFFFFF"/>
              </a:solidFill>
            </a:endParaRPr>
          </a:p>
        </p:txBody>
      </p:sp>
      <p:sp>
        <p:nvSpPr>
          <p:cNvPr id="901" name="Deco 901"/>
          <p:cNvSpPr/>
          <p:nvPr/>
        </p:nvSpPr>
        <p:spPr>
          <a:xfrm>
            <a:off x="457200" y="1143000"/>
            <a:ext cx="38100" cy="939800"/>
          </a:xfrm>
          <a:prstGeom prst="rect">
            <a:avLst/>
          </a:prstGeom>
          <a:solidFill>
            <a:srgbClr val="F4B336"/>
          </a:solidFill>
          <a:ln>
            <a:noFill/>
          </a:ln>
        </p:spPr>
        <p:txBody>
          <a:bodyPr/>
          <a:lstStyle/>
          <a:p>
            <a:endParaRPr lang="en-US"/>
          </a:p>
        </p:txBody>
      </p:sp>
      <p:sp>
        <p:nvSpPr>
          <p:cNvPr id="5" name="Text 3"/>
          <p:cNvSpPr txBox="1"/>
          <p:nvPr/>
        </p:nvSpPr>
        <p:spPr>
          <a:xfrm>
            <a:off x="660400" y="1117600"/>
            <a:ext cx="11074400" cy="609600"/>
          </a:xfrm>
          <a:prstGeom prst="rect">
            <a:avLst/>
          </a:prstGeom>
          <a:noFill/>
          <a:ln/>
        </p:spPr>
        <p:txBody>
          <a:bodyPr wrap="square" lIns="0" tIns="0" rIns="0" bIns="0" rtlCol="0" anchor="t"/>
          <a:lstStyle/>
          <a:p>
            <a:pPr marL="0" indent="0">
              <a:lnSpc>
                <a:spcPct val="105000"/>
              </a:lnSpc>
              <a:buNone/>
            </a:pPr>
            <a:r>
              <a:rPr lang="en-US" sz="1900" b="1" dirty="0">
                <a:solidFill>
                  <a:srgbClr val="F4B336"/>
                </a:solidFill>
              </a:rPr>
              <a:t>Lời khuyên thiết kế: </a:t>
            </a:r>
            <a:r>
              <a:rPr lang="en-US" sz="1900" dirty="0">
                <a:solidFill>
                  <a:srgbClr val="FFFFFF"/>
                </a:solidFill>
              </a:rPr>
              <a:t>giữ nội dung nói thật ngắn, làm giọng máy dễ nghe, và để người dùng phóng to chữ.</a:t>
            </a:r>
          </a:p>
        </p:txBody>
      </p:sp>
      <p:sp>
        <p:nvSpPr>
          <p:cNvPr id="6" name="Text 4"/>
          <p:cNvSpPr txBox="1"/>
          <p:nvPr/>
        </p:nvSpPr>
        <p:spPr>
          <a:xfrm>
            <a:off x="660400" y="1778000"/>
            <a:ext cx="11074400" cy="254000"/>
          </a:xfrm>
          <a:prstGeom prst="rect">
            <a:avLst/>
          </a:prstGeom>
          <a:noFill/>
          <a:ln/>
        </p:spPr>
        <p:txBody>
          <a:bodyPr wrap="square" lIns="0" tIns="0" rIns="0" bIns="0" rtlCol="0" anchor="t"/>
          <a:lstStyle/>
          <a:p>
            <a:pPr marL="0" indent="0">
              <a:buNone/>
            </a:pPr>
            <a:r>
              <a:rPr lang="en-US" sz="1400" i="1" dirty="0">
                <a:solidFill>
                  <a:srgbClr val="9FB3CC"/>
                </a:solidFill>
              </a:rPr>
              <a:t>Design Implications – Reading, Speaking and Listening. Nguồn: Preece, Rogers &amp; Sharp (2015) – mục 3.2.5</a:t>
            </a:r>
          </a:p>
        </p:txBody>
      </p:sp>
      <p:sp>
        <p:nvSpPr>
          <p:cNvPr id="21" name="Topic badge"/>
          <p:cNvSpPr/>
          <p:nvPr/>
        </p:nvSpPr>
        <p:spPr>
          <a:xfrm>
            <a:off x="457200" y="524764"/>
            <a:ext cx="508000" cy="508000"/>
          </a:xfrm>
          <a:prstGeom prst="roundRect">
            <a:avLst>
              <a:gd name="adj" fmla="val 22000"/>
            </a:avLst>
          </a:prstGeom>
          <a:solidFill>
            <a:srgbClr val="F4B336"/>
          </a:solidFill>
          <a:ln>
            <a:noFill/>
          </a:ln>
        </p:spPr>
        <p:txBody>
          <a:bodyPr wrap="none" lIns="0" tIns="0" rIns="0" bIns="0" rtlCol="0" anchor="ctr">
            <a:noAutofit/>
          </a:bodyPr>
          <a:lstStyle/>
          <a:p>
            <a:pPr algn="ctr"/>
            <a:r>
              <a:rPr lang="en-US" sz="2000" b="1" dirty="0">
                <a:solidFill>
                  <a:srgbClr val="062F5C"/>
                </a:solidFill>
              </a:rPr>
              <a:t>05</a:t>
            </a:r>
          </a:p>
        </p:txBody>
      </p:sp>
      <p:graphicFrame>
        <p:nvGraphicFramePr>
          <p:cNvPr id="4" name="RSL advice table">
            <a:extLst>
              <a:ext uri="{FF2B5EF4-FFF2-40B4-BE49-F238E27FC236}">
                <a16:creationId xmlns:a16="http://schemas.microsoft.com/office/drawing/2014/main" id="{4A70D4CF-45AE-4322-A953-ED00C33DF20B}"/>
              </a:ext>
            </a:extLst>
          </p:cNvPr>
          <p:cNvGraphicFramePr>
            <a:graphicFrameLocks noGrp="1"/>
          </p:cNvGraphicFramePr>
          <p:nvPr>
            <p:extLst>
              <p:ext uri="{D42A27DB-BD31-4B8C-83A1-F6EECF244321}">
                <p14:modId xmlns:p14="http://schemas.microsoft.com/office/powerpoint/2010/main" val="2125819821"/>
              </p:ext>
            </p:extLst>
          </p:nvPr>
        </p:nvGraphicFramePr>
        <p:xfrm>
          <a:off x="457200" y="2133600"/>
          <a:ext cx="11277600" cy="4165600"/>
        </p:xfrm>
        <a:graphic>
          <a:graphicData uri="http://schemas.openxmlformats.org/drawingml/2006/table">
            <a:tbl>
              <a:tblPr firstRow="1" bandRow="1">
                <a:tableStyleId>{5C22544A-7EE6-4342-B048-85BDC9FD1C3A}</a:tableStyleId>
              </a:tblPr>
              <a:tblGrid>
                <a:gridCol w="3779520">
                  <a:extLst>
                    <a:ext uri="{9D8B030D-6E8A-4147-A177-3AD203B41FA5}">
                      <a16:colId xmlns:a16="http://schemas.microsoft.com/office/drawing/2014/main" val="1031086129"/>
                    </a:ext>
                  </a:extLst>
                </a:gridCol>
                <a:gridCol w="7498080">
                  <a:extLst>
                    <a:ext uri="{9D8B030D-6E8A-4147-A177-3AD203B41FA5}">
                      <a16:colId xmlns:a16="http://schemas.microsoft.com/office/drawing/2014/main" val="2721947567"/>
                    </a:ext>
                  </a:extLst>
                </a:gridCol>
              </a:tblGrid>
              <a:tr h="508000">
                <a:tc>
                  <a:txBody>
                    <a:bodyPr/>
                    <a:lstStyle/>
                    <a:p>
                      <a:pPr marL="0" indent="0" algn="l">
                        <a:lnSpc>
                          <a:spcPct val="104000"/>
                        </a:lnSpc>
                        <a:buNone/>
                      </a:pPr>
                      <a:r>
                        <a:rPr lang="en-US" sz="1700" b="1" dirty="0">
                          <a:solidFill>
                            <a:srgbClr val="FFFFFF"/>
                          </a:solidFill>
                        </a:rPr>
                        <a:t>Nguyên văn (EN)</a:t>
                      </a:r>
                    </a:p>
                  </a:txBody>
                  <a:tcPr anchor="ctr">
                    <a:solidFill>
                      <a:srgbClr val="0B2D55"/>
                    </a:solidFill>
                  </a:tcPr>
                </a:tc>
                <a:tc>
                  <a:txBody>
                    <a:bodyPr/>
                    <a:lstStyle/>
                    <a:p>
                      <a:pPr marL="0" indent="0" algn="l">
                        <a:lnSpc>
                          <a:spcPct val="104000"/>
                        </a:lnSpc>
                        <a:buNone/>
                      </a:pPr>
                      <a:r>
                        <a:rPr lang="en-US" sz="1700" b="1" dirty="0">
                          <a:solidFill>
                            <a:srgbClr val="FFFFFF"/>
                          </a:solidFill>
                        </a:rPr>
                        <a:t>Diễn giải (VI)</a:t>
                      </a:r>
                    </a:p>
                  </a:txBody>
                  <a:tcPr anchor="ctr">
                    <a:solidFill>
                      <a:srgbClr val="0B2D55"/>
                    </a:solidFill>
                  </a:tcPr>
                </a:tc>
                <a:extLst>
                  <a:ext uri="{0D108BD9-81ED-4DB2-BD59-A6C34878D82A}">
                    <a16:rowId xmlns:a16="http://schemas.microsoft.com/office/drawing/2014/main" val="320004781"/>
                  </a:ext>
                </a:extLst>
              </a:tr>
              <a:tr h="1219200">
                <a:tc>
                  <a:txBody>
                    <a:bodyPr/>
                    <a:lstStyle/>
                    <a:p>
                      <a:pPr marL="0" indent="0" algn="l">
                        <a:lnSpc>
                          <a:spcPct val="104000"/>
                        </a:lnSpc>
                        <a:buNone/>
                      </a:pPr>
                      <a:r>
                        <a:rPr lang="en-US" sz="1400" i="1" dirty="0">
                          <a:solidFill>
                            <a:srgbClr val="3A4A5C"/>
                          </a:solidFill>
                        </a:rPr>
                        <a:t>Keep the length of speech-based menus and instructions to a minimum. People find it hard to follow spoken menus with more than three or four options, and to remember instructions with more than a few parts.</a:t>
                      </a:r>
                    </a:p>
                  </a:txBody>
                  <a:tcPr anchor="ctr">
                    <a:solidFill>
                      <a:srgbClr val="FFFFFF"/>
                    </a:solidFill>
                  </a:tcPr>
                </a:tc>
                <a:tc>
                  <a:txBody>
                    <a:bodyPr/>
                    <a:lstStyle/>
                    <a:p>
                      <a:pPr marL="0" indent="0" algn="l">
                        <a:lnSpc>
                          <a:spcPct val="104000"/>
                        </a:lnSpc>
                        <a:buNone/>
                      </a:pPr>
                      <a:r>
                        <a:rPr lang="en-US" sz="1800" dirty="0">
                          <a:solidFill>
                            <a:srgbClr val="17212B"/>
                          </a:solidFill>
                        </a:rPr>
                        <a:t>Giữ menu và hướng dẫn bằng giọng nói ngắn nhất có thể: người dùng khó theo dõi menu nói có hơn 3–4 lựa chọn và khó nhớ chỉ dẫn nhiều phần.</a:t>
                      </a:r>
                    </a:p>
                  </a:txBody>
                  <a:tcPr anchor="ctr">
                    <a:solidFill>
                      <a:srgbClr val="FFFFFF"/>
                    </a:solidFill>
                  </a:tcPr>
                </a:tc>
                <a:extLst>
                  <a:ext uri="{0D108BD9-81ED-4DB2-BD59-A6C34878D82A}">
                    <a16:rowId xmlns:a16="http://schemas.microsoft.com/office/drawing/2014/main" val="2804938690"/>
                  </a:ext>
                </a:extLst>
              </a:tr>
              <a:tr h="1219200">
                <a:tc>
                  <a:txBody>
                    <a:bodyPr/>
                    <a:lstStyle/>
                    <a:p>
                      <a:pPr marL="0" indent="0" algn="l">
                        <a:lnSpc>
                          <a:spcPct val="104000"/>
                        </a:lnSpc>
                        <a:buNone/>
                      </a:pPr>
                      <a:r>
                        <a:rPr lang="en-US" sz="1400" i="1" dirty="0">
                          <a:solidFill>
                            <a:srgbClr val="3A4A5C"/>
                          </a:solidFill>
                        </a:rPr>
                        <a:t>Accentuate the intonation of artificially generated speech voices, as they are harder to understand than human voices.</a:t>
                      </a:r>
                    </a:p>
                  </a:txBody>
                  <a:tcPr anchor="ctr">
                    <a:solidFill>
                      <a:srgbClr val="F2F6FA"/>
                    </a:solidFill>
                  </a:tcPr>
                </a:tc>
                <a:tc>
                  <a:txBody>
                    <a:bodyPr/>
                    <a:lstStyle/>
                    <a:p>
                      <a:pPr marL="0" indent="0" algn="l">
                        <a:lnSpc>
                          <a:spcPct val="104000"/>
                        </a:lnSpc>
                        <a:buNone/>
                      </a:pPr>
                      <a:r>
                        <a:rPr lang="en-US" sz="1800" dirty="0">
                          <a:solidFill>
                            <a:srgbClr val="17212B"/>
                          </a:solidFill>
                        </a:rPr>
                        <a:t>Nhấn mạnh ngữ điệu của giọng nói nhân tạo, vì giọng máy khó hiểu hơn giọng người thật.</a:t>
                      </a:r>
                    </a:p>
                  </a:txBody>
                  <a:tcPr anchor="ctr">
                    <a:solidFill>
                      <a:srgbClr val="F2F6FA"/>
                    </a:solidFill>
                  </a:tcPr>
                </a:tc>
                <a:extLst>
                  <a:ext uri="{0D108BD9-81ED-4DB2-BD59-A6C34878D82A}">
                    <a16:rowId xmlns:a16="http://schemas.microsoft.com/office/drawing/2014/main" val="2229468434"/>
                  </a:ext>
                </a:extLst>
              </a:tr>
              <a:tr h="1219200">
                <a:tc>
                  <a:txBody>
                    <a:bodyPr/>
                    <a:lstStyle/>
                    <a:p>
                      <a:pPr marL="0" indent="0" algn="l">
                        <a:lnSpc>
                          <a:spcPct val="104000"/>
                        </a:lnSpc>
                        <a:buNone/>
                      </a:pPr>
                      <a:r>
                        <a:rPr lang="en-US" sz="1400" i="1" dirty="0">
                          <a:solidFill>
                            <a:srgbClr val="3A4A5C"/>
                          </a:solidFill>
                        </a:rPr>
                        <a:t>Provide opportunities for making text large on a screen, without affecting the formatting.</a:t>
                      </a:r>
                    </a:p>
                  </a:txBody>
                  <a:tcPr anchor="ctr">
                    <a:solidFill>
                      <a:srgbClr val="FFFFFF"/>
                    </a:solidFill>
                  </a:tcPr>
                </a:tc>
                <a:tc>
                  <a:txBody>
                    <a:bodyPr/>
                    <a:lstStyle/>
                    <a:p>
                      <a:pPr marL="0" indent="0" algn="l">
                        <a:lnSpc>
                          <a:spcPct val="104000"/>
                        </a:lnSpc>
                        <a:buNone/>
                      </a:pPr>
                      <a:r>
                        <a:rPr lang="en-US" sz="1800" dirty="0">
                          <a:solidFill>
                            <a:srgbClr val="17212B"/>
                          </a:solidFill>
                        </a:rPr>
                        <a:t>Cho phép phóng to chữ trên màn hình mà không làm vỡ định dạng, dành cho người khó đọc chữ nhỏ.</a:t>
                      </a:r>
                    </a:p>
                  </a:txBody>
                  <a:tcPr anchor="ctr">
                    <a:solidFill>
                      <a:srgbClr val="FFFFFF"/>
                    </a:solidFill>
                  </a:tcPr>
                </a:tc>
                <a:extLst>
                  <a:ext uri="{0D108BD9-81ED-4DB2-BD59-A6C34878D82A}">
                    <a16:rowId xmlns:a16="http://schemas.microsoft.com/office/drawing/2014/main" val="573216357"/>
                  </a:ext>
                </a:extLst>
              </a:tr>
            </a:tbl>
          </a:graphicData>
        </a:graphic>
      </p:graphicFrame>
    </p:spTree>
    <p:extLst>
      <p:ext uri="{BB962C8B-B14F-4D97-AF65-F5344CB8AC3E}">
        <p14:creationId xmlns:p14="http://schemas.microsoft.com/office/powerpoint/2010/main" val="24592011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7">
    <p:bg>
      <p:bgPr>
        <a:solidFill>
          <a:srgbClr val="062F5C"/>
        </a:solidFill>
        <a:effectLst/>
      </p:bgPr>
    </p:bg>
    <p:spTree>
      <p:nvGrpSpPr>
        <p:cNvPr id="1" name=""/>
        <p:cNvGrpSpPr/>
        <p:nvPr/>
      </p:nvGrpSpPr>
      <p:grpSpPr>
        <a:xfrm>
          <a:off x="0" y="0"/>
          <a:ext cx="0" cy="0"/>
          <a:chOff x="0" y="0"/>
          <a:chExt cx="0" cy="0"/>
        </a:xfrm>
      </p:grpSpPr>
      <p:sp>
        <p:nvSpPr>
          <p:cNvPr id="35" name="Decor 36"/>
          <p:cNvSpPr/>
          <p:nvPr/>
        </p:nvSpPr>
        <p:spPr>
          <a:xfrm>
            <a:off x="-2413000" y="2794000"/>
            <a:ext cx="4826000" cy="4826000"/>
          </a:xfrm>
          <a:prstGeom prst="ellipse">
            <a:avLst/>
          </a:prstGeom>
          <a:solidFill>
            <a:srgbClr val="FFFFFF">
              <a:alpha val="9000"/>
            </a:srgbClr>
          </a:solidFill>
          <a:ln>
            <a:noFill/>
          </a:ln>
        </p:spPr>
        <p:txBody>
          <a:bodyPr/>
          <a:lstStyle/>
          <a:p>
            <a:endParaRPr lang="en-US"/>
          </a:p>
        </p:txBody>
      </p:sp>
      <p:sp>
        <p:nvSpPr>
          <p:cNvPr id="36" name="Decor 37"/>
          <p:cNvSpPr/>
          <p:nvPr/>
        </p:nvSpPr>
        <p:spPr>
          <a:xfrm rot="1800000">
            <a:off x="9779000" y="-1143000"/>
            <a:ext cx="3048000" cy="3048000"/>
          </a:xfrm>
          <a:prstGeom prst="rect">
            <a:avLst/>
          </a:prstGeom>
          <a:noFill/>
          <a:ln w="28575">
            <a:solidFill>
              <a:srgbClr val="FFFFFF">
                <a:alpha val="22000"/>
              </a:srgbClr>
            </a:solidFill>
          </a:ln>
        </p:spPr>
        <p:txBody>
          <a:bodyPr/>
          <a:lstStyle/>
          <a:p>
            <a:endParaRPr lang="en-US"/>
          </a:p>
        </p:txBody>
      </p:sp>
      <p:sp>
        <p:nvSpPr>
          <p:cNvPr id="37" name="Decor 38"/>
          <p:cNvSpPr/>
          <p:nvPr/>
        </p:nvSpPr>
        <p:spPr>
          <a:xfrm>
            <a:off x="11912600" y="6553200"/>
            <a:ext cx="177800" cy="177800"/>
          </a:xfrm>
          <a:prstGeom prst="ellipse">
            <a:avLst/>
          </a:prstGeom>
          <a:solidFill>
            <a:srgbClr val="F4B336">
              <a:alpha val="35000"/>
            </a:srgbClr>
          </a:solidFill>
          <a:ln>
            <a:noFill/>
          </a:ln>
        </p:spPr>
        <p:txBody>
          <a:bodyPr/>
          <a:lstStyle/>
          <a:p>
            <a:endParaRPr lang="en-US"/>
          </a:p>
        </p:txBody>
      </p:sp>
      <p:sp>
        <p:nvSpPr>
          <p:cNvPr id="2" name="Text 1"/>
          <p:cNvSpPr>
            <a:spLocks noGrp="1"/>
          </p:cNvSpPr>
          <p:nvPr>
            <p:ph type="title" idx="101" hasCustomPrompt="1"/>
          </p:nvPr>
        </p:nvSpPr>
        <p:spPr>
          <a:xfrm>
            <a:off x="1168400" y="512064"/>
            <a:ext cx="10566400" cy="512064"/>
          </a:xfrm>
          <a:prstGeom prst="rect">
            <a:avLst/>
          </a:prstGeom>
          <a:noFill/>
          <a:ln/>
        </p:spPr>
        <p:txBody>
          <a:bodyPr wrap="square" lIns="0" tIns="0" rIns="0" bIns="0" rtlCol="0" anchor="t"/>
          <a:lstStyle/>
          <a:p>
            <a:pPr marL="0" indent="0" algn="l">
              <a:buNone/>
            </a:pPr>
            <a:r>
              <a:rPr lang="vi-VN" sz="3000" b="1" dirty="0">
                <a:solidFill>
                  <a:srgbClr val="FFFFFF"/>
                </a:solidFill>
              </a:rPr>
              <a:t>Đọc, nghe, nói — Ví dụ 5.1</a:t>
            </a:r>
          </a:p>
        </p:txBody>
      </p:sp>
      <p:sp>
        <p:nvSpPr>
          <p:cNvPr id="34" name="Topic badge"/>
          <p:cNvSpPr/>
          <p:nvPr/>
        </p:nvSpPr>
        <p:spPr>
          <a:xfrm>
            <a:off x="457200" y="524764"/>
            <a:ext cx="508000" cy="508000"/>
          </a:xfrm>
          <a:prstGeom prst="roundRect">
            <a:avLst>
              <a:gd name="adj" fmla="val 22000"/>
            </a:avLst>
          </a:prstGeom>
          <a:solidFill>
            <a:srgbClr val="F4B336"/>
          </a:solidFill>
          <a:ln>
            <a:noFill/>
          </a:ln>
        </p:spPr>
        <p:txBody>
          <a:bodyPr wrap="none" lIns="0" tIns="0" rIns="0" bIns="0" rtlCol="0" anchor="ctr">
            <a:noAutofit/>
          </a:bodyPr>
          <a:lstStyle/>
          <a:p>
            <a:pPr algn="ctr"/>
            <a:r>
              <a:rPr lang="en-US" sz="2000" b="1" dirty="0">
                <a:solidFill>
                  <a:srgbClr val="062F5C"/>
                </a:solidFill>
              </a:rPr>
              <a:t>05</a:t>
            </a:r>
          </a:p>
        </p:txBody>
      </p:sp>
      <p:sp>
        <p:nvSpPr>
          <p:cNvPr id="200" name="Ex card image"/>
          <p:cNvSpPr/>
          <p:nvPr/>
        </p:nvSpPr>
        <p:spPr>
          <a:xfrm>
            <a:off x="457200" y="1143000"/>
            <a:ext cx="4826000" cy="4495800"/>
          </a:xfrm>
          <a:prstGeom prst="roundRect">
            <a:avLst>
              <a:gd name="adj" fmla="val 643"/>
            </a:avLst>
          </a:prstGeom>
          <a:solidFill>
            <a:srgbClr val="FFFFFF"/>
          </a:solidFill>
          <a:ln>
            <a:noFill/>
          </a:ln>
        </p:spPr>
        <p:txBody>
          <a:bodyPr/>
          <a:lstStyle/>
          <a:p>
            <a:endParaRPr lang="en-US"/>
          </a:p>
        </p:txBody>
      </p:sp>
      <p:sp>
        <p:nvSpPr>
          <p:cNvPr id="201" name="Ex image bg"/>
          <p:cNvSpPr/>
          <p:nvPr/>
        </p:nvSpPr>
        <p:spPr>
          <a:xfrm>
            <a:off x="609600" y="1295400"/>
            <a:ext cx="4521200" cy="3225800"/>
          </a:xfrm>
          <a:prstGeom prst="roundRect">
            <a:avLst>
              <a:gd name="adj" fmla="val 1543"/>
            </a:avLst>
          </a:prstGeom>
          <a:solidFill>
            <a:srgbClr val="EEF2F6"/>
          </a:solidFill>
          <a:ln>
            <a:noFill/>
          </a:ln>
        </p:spPr>
        <p:txBody>
          <a:bodyPr/>
          <a:lstStyle/>
          <a:p>
            <a:endParaRPr lang="en-US"/>
          </a:p>
        </p:txBody>
      </p:sp>
      <p:sp>
        <p:nvSpPr>
          <p:cNvPr id="202" name="Ex caption"/>
          <p:cNvSpPr txBox="1"/>
          <p:nvPr/>
        </p:nvSpPr>
        <p:spPr>
          <a:xfrm>
            <a:off x="609600" y="4597400"/>
            <a:ext cx="4521200" cy="889000"/>
          </a:xfrm>
          <a:prstGeom prst="rect">
            <a:avLst/>
          </a:prstGeom>
          <a:noFill/>
          <a:ln>
            <a:noFill/>
          </a:ln>
        </p:spPr>
        <p:txBody>
          <a:bodyPr wrap="square" lIns="0" tIns="0" rIns="0" bIns="0" rtlCol="0" anchor="t">
            <a:noAutofit/>
          </a:bodyPr>
          <a:lstStyle/>
          <a:p>
            <a:pPr marL="0" indent="0">
              <a:lnSpc>
                <a:spcPct val="105000"/>
              </a:lnSpc>
              <a:spcAft>
                <a:spcPts val="100"/>
              </a:spcAft>
              <a:buNone/>
            </a:pPr>
            <a:r>
              <a:rPr lang="vi-VN" sz="1200" i="1" dirty="0">
                <a:solidFill>
                  <a:srgbClr val="344054"/>
                </a:solidFill>
              </a:rPr>
              <a:t>Hình 5.1. Version history của Google Docs</a:t>
            </a:r>
          </a:p>
          <a:p>
            <a:pPr marL="0" indent="0">
              <a:lnSpc>
                <a:spcPct val="105000"/>
              </a:lnSpc>
              <a:spcAft>
                <a:spcPts val="0"/>
              </a:spcAft>
              <a:buNone/>
            </a:pPr>
            <a:r>
              <a:rPr lang="vi-VN" sz="1100" i="1" dirty="0">
                <a:solidFill>
                  <a:srgbClr val="475467"/>
                </a:solidFill>
              </a:rPr>
              <a:t>Nguồn: guidingtech.com/how-to-view-and-manage-version-history-in-google-docs</a:t>
            </a:r>
          </a:p>
        </p:txBody>
      </p:sp>
      <p:sp>
        <p:nvSpPr>
          <p:cNvPr id="203" name="Ex card text"/>
          <p:cNvSpPr/>
          <p:nvPr/>
        </p:nvSpPr>
        <p:spPr>
          <a:xfrm>
            <a:off x="5435600" y="1143000"/>
            <a:ext cx="6299200" cy="4495800"/>
          </a:xfrm>
          <a:prstGeom prst="roundRect">
            <a:avLst>
              <a:gd name="adj" fmla="val 643"/>
            </a:avLst>
          </a:prstGeom>
          <a:solidFill>
            <a:srgbClr val="FFFFFF"/>
          </a:solidFill>
          <a:ln>
            <a:noFill/>
          </a:ln>
        </p:spPr>
        <p:txBody>
          <a:bodyPr/>
          <a:lstStyle/>
          <a:p>
            <a:endParaRPr lang="en-US"/>
          </a:p>
        </p:txBody>
      </p:sp>
      <p:sp>
        <p:nvSpPr>
          <p:cNvPr id="204" name="Ex name"/>
          <p:cNvSpPr txBox="1"/>
          <p:nvPr/>
        </p:nvSpPr>
        <p:spPr>
          <a:xfrm>
            <a:off x="5664200" y="1244600"/>
            <a:ext cx="5842000" cy="650748"/>
          </a:xfrm>
          <a:prstGeom prst="rect">
            <a:avLst/>
          </a:prstGeom>
          <a:noFill/>
          <a:ln>
            <a:noFill/>
          </a:ln>
        </p:spPr>
        <p:txBody>
          <a:bodyPr wrap="square" lIns="0" tIns="0" rIns="0" bIns="0" rtlCol="0" anchor="t">
            <a:noAutofit/>
          </a:bodyPr>
          <a:lstStyle/>
          <a:p>
            <a:pPr marL="0" indent="0">
              <a:lnSpc>
                <a:spcPct val="100000"/>
              </a:lnSpc>
              <a:spcAft>
                <a:spcPts val="0"/>
              </a:spcAft>
              <a:buNone/>
            </a:pPr>
            <a:r>
              <a:rPr lang="vi-VN" sz="2100" b="1" dirty="0">
                <a:solidFill>
                  <a:srgbClr val="1677B8"/>
                </a:solidFill>
              </a:rPr>
              <a:t>Ví dụ 5.1: </a:t>
            </a:r>
            <a:r>
              <a:rPr lang="vi-VN" sz="2100" b="1" dirty="0">
                <a:solidFill>
                  <a:srgbClr val="062F5C"/>
                </a:solidFill>
              </a:rPr>
              <a:t>Google Docs – Có thể đọc lại nội dung</a:t>
            </a:r>
          </a:p>
        </p:txBody>
      </p:sp>
      <p:sp>
        <p:nvSpPr>
          <p:cNvPr id="205" name="Ex body"/>
          <p:cNvSpPr txBox="1"/>
          <p:nvPr/>
        </p:nvSpPr>
        <p:spPr>
          <a:xfrm>
            <a:off x="5664200" y="1971548"/>
            <a:ext cx="5842000" cy="3565652"/>
          </a:xfrm>
          <a:prstGeom prst="rect">
            <a:avLst/>
          </a:prstGeom>
          <a:noFill/>
          <a:ln>
            <a:noFill/>
          </a:ln>
        </p:spPr>
        <p:txBody>
          <a:bodyPr wrap="square" lIns="0" tIns="0" rIns="0" bIns="0" rtlCol="0" anchor="t">
            <a:noAutofit/>
          </a:bodyPr>
          <a:lstStyle/>
          <a:p>
            <a:pPr marL="0" indent="0">
              <a:lnSpc>
                <a:spcPct val="98000"/>
              </a:lnSpc>
              <a:spcAft>
                <a:spcPts val="300"/>
              </a:spcAft>
              <a:buNone/>
            </a:pPr>
            <a:r>
              <a:rPr lang="vi-VN" sz="1900" b="1" dirty="0"/>
              <a:t>Là gì, có gì:</a:t>
            </a:r>
            <a:br>
              <a:rPr lang="vi-VN" sz="1900" b="1" dirty="0">
                <a:solidFill>
                  <a:srgbClr val="667085"/>
                </a:solidFill>
              </a:rPr>
            </a:br>
            <a:r>
              <a:rPr lang="vi-VN" sz="1900" dirty="0">
                <a:solidFill>
                  <a:srgbClr val="344054"/>
                </a:solidFill>
              </a:rPr>
              <a:t>Google Docs là công cụ soạn thảo văn bản trực tuyến, cho phép người dùng tạo, lưu và chỉnh sửa tài liệu. Người dùng cũng có thể xem lại các phiên bản trước của tài liệu thông qua tính năng Version history.</a:t>
            </a:r>
          </a:p>
          <a:p>
            <a:pPr marL="0" indent="0">
              <a:lnSpc>
                <a:spcPct val="98000"/>
              </a:lnSpc>
              <a:spcAft>
                <a:spcPts val="300"/>
              </a:spcAft>
              <a:buNone/>
            </a:pPr>
            <a:endParaRPr lang="vi-VN" sz="1900" dirty="0">
              <a:solidFill>
                <a:srgbClr val="344054"/>
              </a:solidFill>
            </a:endParaRPr>
          </a:p>
          <a:p>
            <a:pPr marL="0" indent="0">
              <a:lnSpc>
                <a:spcPct val="98000"/>
              </a:lnSpc>
              <a:spcAft>
                <a:spcPts val="0"/>
              </a:spcAft>
              <a:buNone/>
            </a:pPr>
            <a:r>
              <a:rPr lang="vi-VN" sz="1900" b="1" dirty="0"/>
              <a:t>Liên hệ đặc điểm nhận thức:</a:t>
            </a:r>
            <a:br>
              <a:rPr lang="vi-VN" sz="1900" b="1" dirty="0">
                <a:solidFill>
                  <a:srgbClr val="667085"/>
                </a:solidFill>
              </a:rPr>
            </a:br>
            <a:r>
              <a:rPr lang="vi-VN" sz="1900" b="1" dirty="0">
                <a:solidFill>
                  <a:srgbClr val="344054"/>
                </a:solidFill>
              </a:rPr>
              <a:t>Ngôn ngữ </a:t>
            </a:r>
            <a:r>
              <a:rPr lang="vi-VN" sz="1900" dirty="0">
                <a:solidFill>
                  <a:srgbClr val="344054"/>
                </a:solidFill>
              </a:rPr>
              <a:t>viết mang </a:t>
            </a:r>
            <a:r>
              <a:rPr lang="vi-VN" sz="1900" b="1" dirty="0">
                <a:solidFill>
                  <a:schemeClr val="accent4"/>
                </a:solidFill>
              </a:rPr>
              <a:t>tính lâu dài </a:t>
            </a:r>
            <a:r>
              <a:rPr lang="vi-VN" sz="1900" dirty="0">
                <a:solidFill>
                  <a:srgbClr val="344054"/>
                </a:solidFill>
              </a:rPr>
              <a:t>trong khi </a:t>
            </a:r>
            <a:r>
              <a:rPr lang="vi-VN" sz="1900" b="1" dirty="0">
                <a:solidFill>
                  <a:srgbClr val="344054"/>
                </a:solidFill>
              </a:rPr>
              <a:t>nghe</a:t>
            </a:r>
            <a:r>
              <a:rPr lang="vi-VN" sz="1900" dirty="0">
                <a:solidFill>
                  <a:srgbClr val="344054"/>
                </a:solidFill>
              </a:rPr>
              <a:t> chỉ là tạm thời. Khi đọc văn bản trên Google Docs, người dùng có thể quay lại tài liệu và đọc lại phần thông tin chưa hiểu.</a:t>
            </a:r>
          </a:p>
        </p:txBody>
      </p:sp>
      <p:sp>
        <p:nvSpPr>
          <p:cNvPr id="206" name="Ex lesson bg"/>
          <p:cNvSpPr/>
          <p:nvPr/>
        </p:nvSpPr>
        <p:spPr>
          <a:xfrm>
            <a:off x="457200" y="5715000"/>
            <a:ext cx="11277600" cy="635000"/>
          </a:xfrm>
          <a:prstGeom prst="rect">
            <a:avLst/>
          </a:prstGeom>
          <a:solidFill>
            <a:srgbClr val="EAF5EF"/>
          </a:solidFill>
          <a:ln>
            <a:noFill/>
          </a:ln>
        </p:spPr>
        <p:txBody>
          <a:bodyPr/>
          <a:lstStyle/>
          <a:p>
            <a:endParaRPr lang="en-US"/>
          </a:p>
        </p:txBody>
      </p:sp>
      <p:sp>
        <p:nvSpPr>
          <p:cNvPr id="207" name="Ex lesson bar"/>
          <p:cNvSpPr/>
          <p:nvPr/>
        </p:nvSpPr>
        <p:spPr>
          <a:xfrm>
            <a:off x="457200" y="5715000"/>
            <a:ext cx="50800" cy="635000"/>
          </a:xfrm>
          <a:prstGeom prst="rect">
            <a:avLst/>
          </a:prstGeom>
          <a:solidFill>
            <a:srgbClr val="2E9B67"/>
          </a:solidFill>
          <a:ln>
            <a:noFill/>
          </a:ln>
        </p:spPr>
        <p:txBody>
          <a:bodyPr/>
          <a:lstStyle/>
          <a:p>
            <a:endParaRPr lang="en-US"/>
          </a:p>
        </p:txBody>
      </p:sp>
      <p:sp>
        <p:nvSpPr>
          <p:cNvPr id="208" name="Ex lesson"/>
          <p:cNvSpPr txBox="1"/>
          <p:nvPr/>
        </p:nvSpPr>
        <p:spPr>
          <a:xfrm>
            <a:off x="685800" y="5715000"/>
            <a:ext cx="10820400" cy="635000"/>
          </a:xfrm>
          <a:prstGeom prst="rect">
            <a:avLst/>
          </a:prstGeom>
          <a:noFill/>
          <a:ln>
            <a:noFill/>
          </a:ln>
        </p:spPr>
        <p:txBody>
          <a:bodyPr wrap="square" lIns="0" tIns="0" rIns="0" bIns="0" rtlCol="0" anchor="ctr">
            <a:noAutofit/>
          </a:bodyPr>
          <a:lstStyle/>
          <a:p>
            <a:pPr marL="0" indent="0">
              <a:lnSpc>
                <a:spcPct val="100000"/>
              </a:lnSpc>
              <a:spcAft>
                <a:spcPts val="0"/>
              </a:spcAft>
              <a:buNone/>
            </a:pPr>
            <a:r>
              <a:rPr lang="vi-VN" sz="1800" b="1" dirty="0">
                <a:solidFill>
                  <a:srgbClr val="1E7F53"/>
                </a:solidFill>
              </a:rPr>
              <a:t>Bài học: </a:t>
            </a:r>
            <a:r>
              <a:rPr lang="vi-VN" sz="1800" b="1" dirty="0">
                <a:solidFill>
                  <a:srgbClr val="062F5C"/>
                </a:solidFill>
              </a:rPr>
              <a:t>Khi thiết kế hệ thống cung cấp thông tin bằng văn bản, nên cho phép người dùng lưu trữ và truy cập lại nội dung, để họ có thể đọc lại khi cần.</a:t>
            </a:r>
          </a:p>
        </p:txBody>
      </p:sp>
      <p:pic>
        <p:nvPicPr>
          <p:cNvPr id="3" name="Picture 2">
            <a:extLst>
              <a:ext uri="{FF2B5EF4-FFF2-40B4-BE49-F238E27FC236}">
                <a16:creationId xmlns:a16="http://schemas.microsoft.com/office/drawing/2014/main" id="{BE552C01-7607-E110-5E4C-4464367E7150}"/>
              </a:ext>
            </a:extLst>
          </p:cNvPr>
          <p:cNvPicPr>
            <a:picLocks noChangeAspect="1"/>
          </p:cNvPicPr>
          <p:nvPr/>
        </p:nvPicPr>
        <p:blipFill>
          <a:blip r:embed="rId3"/>
          <a:stretch>
            <a:fillRect/>
          </a:stretch>
        </p:blipFill>
        <p:spPr>
          <a:xfrm>
            <a:off x="690565" y="1752600"/>
            <a:ext cx="4359270" cy="2768600"/>
          </a:xfrm>
          <a:prstGeom prst="rect">
            <a:avLst/>
          </a:prstGeom>
        </p:spPr>
      </p:pic>
      <p:sp>
        <p:nvSpPr>
          <p:cNvPr id="209" name="Ex badge"/>
          <p:cNvSpPr/>
          <p:nvPr/>
        </p:nvSpPr>
        <p:spPr>
          <a:xfrm>
            <a:off x="711200" y="1397000"/>
            <a:ext cx="381000" cy="381000"/>
          </a:xfrm>
          <a:prstGeom prst="ellipse">
            <a:avLst/>
          </a:prstGeom>
          <a:solidFill>
            <a:srgbClr val="073B6F"/>
          </a:solidFill>
          <a:ln w="28575">
            <a:solidFill>
              <a:srgbClr val="F4B336"/>
            </a:solidFill>
          </a:ln>
        </p:spPr>
        <p:txBody>
          <a:bodyPr/>
          <a:lstStyle/>
          <a:p>
            <a:endParaRPr lang="en-US"/>
          </a:p>
        </p:txBody>
      </p:sp>
      <p:sp>
        <p:nvSpPr>
          <p:cNvPr id="210" name="Ex badge num"/>
          <p:cNvSpPr txBox="1"/>
          <p:nvPr/>
        </p:nvSpPr>
        <p:spPr>
          <a:xfrm>
            <a:off x="711200" y="1397000"/>
            <a:ext cx="381000" cy="381000"/>
          </a:xfrm>
          <a:prstGeom prst="rect">
            <a:avLst/>
          </a:prstGeom>
          <a:noFill/>
          <a:ln>
            <a:noFill/>
          </a:ln>
        </p:spPr>
        <p:txBody>
          <a:bodyPr wrap="square" lIns="0" tIns="0" rIns="0" bIns="0" rtlCol="0" anchor="ctr">
            <a:noAutofit/>
          </a:bodyPr>
          <a:lstStyle/>
          <a:p>
            <a:pPr marL="0" indent="0" algn="ctr">
              <a:buNone/>
            </a:pPr>
            <a:r>
              <a:rPr lang="vi-VN" sz="1000" b="1" dirty="0">
                <a:solidFill>
                  <a:srgbClr val="FFFFFF"/>
                </a:solidFill>
              </a:rPr>
              <a:t>5.1</a:t>
            </a:r>
          </a:p>
        </p:txBody>
      </p:sp>
    </p:spTree>
    <p:extLst>
      <p:ext uri="{BB962C8B-B14F-4D97-AF65-F5344CB8AC3E}">
        <p14:creationId xmlns:p14="http://schemas.microsoft.com/office/powerpoint/2010/main" val="32518231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7">
    <p:bg>
      <p:bgPr>
        <a:solidFill>
          <a:srgbClr val="062F5C"/>
        </a:solidFill>
        <a:effectLst/>
      </p:bgPr>
    </p:bg>
    <p:spTree>
      <p:nvGrpSpPr>
        <p:cNvPr id="1" name=""/>
        <p:cNvGrpSpPr/>
        <p:nvPr/>
      </p:nvGrpSpPr>
      <p:grpSpPr>
        <a:xfrm>
          <a:off x="0" y="0"/>
          <a:ext cx="0" cy="0"/>
          <a:chOff x="0" y="0"/>
          <a:chExt cx="0" cy="0"/>
        </a:xfrm>
      </p:grpSpPr>
      <p:sp>
        <p:nvSpPr>
          <p:cNvPr id="35" name="Decor 36"/>
          <p:cNvSpPr/>
          <p:nvPr/>
        </p:nvSpPr>
        <p:spPr>
          <a:xfrm>
            <a:off x="-2413000" y="2794000"/>
            <a:ext cx="4826000" cy="4826000"/>
          </a:xfrm>
          <a:prstGeom prst="ellipse">
            <a:avLst/>
          </a:prstGeom>
          <a:solidFill>
            <a:srgbClr val="FFFFFF">
              <a:alpha val="9000"/>
            </a:srgbClr>
          </a:solidFill>
          <a:ln>
            <a:noFill/>
          </a:ln>
        </p:spPr>
        <p:txBody>
          <a:bodyPr/>
          <a:lstStyle/>
          <a:p>
            <a:endParaRPr lang="en-US"/>
          </a:p>
        </p:txBody>
      </p:sp>
      <p:sp>
        <p:nvSpPr>
          <p:cNvPr id="36" name="Decor 37"/>
          <p:cNvSpPr/>
          <p:nvPr/>
        </p:nvSpPr>
        <p:spPr>
          <a:xfrm rot="1800000">
            <a:off x="9779000" y="-1143000"/>
            <a:ext cx="3048000" cy="3048000"/>
          </a:xfrm>
          <a:prstGeom prst="rect">
            <a:avLst/>
          </a:prstGeom>
          <a:noFill/>
          <a:ln w="28575">
            <a:solidFill>
              <a:srgbClr val="FFFFFF">
                <a:alpha val="22000"/>
              </a:srgbClr>
            </a:solidFill>
          </a:ln>
        </p:spPr>
        <p:txBody>
          <a:bodyPr/>
          <a:lstStyle/>
          <a:p>
            <a:endParaRPr lang="en-US"/>
          </a:p>
        </p:txBody>
      </p:sp>
      <p:sp>
        <p:nvSpPr>
          <p:cNvPr id="37" name="Decor 38"/>
          <p:cNvSpPr/>
          <p:nvPr/>
        </p:nvSpPr>
        <p:spPr>
          <a:xfrm>
            <a:off x="11912600" y="6553200"/>
            <a:ext cx="177800" cy="177800"/>
          </a:xfrm>
          <a:prstGeom prst="ellipse">
            <a:avLst/>
          </a:prstGeom>
          <a:solidFill>
            <a:srgbClr val="F4B336">
              <a:alpha val="35000"/>
            </a:srgbClr>
          </a:solidFill>
          <a:ln>
            <a:noFill/>
          </a:ln>
        </p:spPr>
        <p:txBody>
          <a:bodyPr/>
          <a:lstStyle/>
          <a:p>
            <a:endParaRPr lang="en-US"/>
          </a:p>
        </p:txBody>
      </p:sp>
      <p:sp>
        <p:nvSpPr>
          <p:cNvPr id="2" name="Text 1"/>
          <p:cNvSpPr>
            <a:spLocks noGrp="1"/>
          </p:cNvSpPr>
          <p:nvPr>
            <p:ph type="title" idx="101" hasCustomPrompt="1"/>
          </p:nvPr>
        </p:nvSpPr>
        <p:spPr>
          <a:xfrm>
            <a:off x="1168400" y="512064"/>
            <a:ext cx="10566400" cy="512064"/>
          </a:xfrm>
          <a:prstGeom prst="rect">
            <a:avLst/>
          </a:prstGeom>
          <a:noFill/>
          <a:ln/>
        </p:spPr>
        <p:txBody>
          <a:bodyPr wrap="square" lIns="0" tIns="0" rIns="0" bIns="0" rtlCol="0" anchor="t"/>
          <a:lstStyle/>
          <a:p>
            <a:pPr marL="0" indent="0" algn="l">
              <a:buNone/>
            </a:pPr>
            <a:r>
              <a:rPr lang="vi-VN" sz="3000" b="1" dirty="0">
                <a:solidFill>
                  <a:srgbClr val="FFFFFF"/>
                </a:solidFill>
              </a:rPr>
              <a:t>Đọc, nghe, nói — Ví dụ 5.2</a:t>
            </a:r>
          </a:p>
        </p:txBody>
      </p:sp>
      <p:sp>
        <p:nvSpPr>
          <p:cNvPr id="34" name="Topic badge"/>
          <p:cNvSpPr/>
          <p:nvPr/>
        </p:nvSpPr>
        <p:spPr>
          <a:xfrm>
            <a:off x="457200" y="524764"/>
            <a:ext cx="508000" cy="508000"/>
          </a:xfrm>
          <a:prstGeom prst="roundRect">
            <a:avLst>
              <a:gd name="adj" fmla="val 22000"/>
            </a:avLst>
          </a:prstGeom>
          <a:solidFill>
            <a:srgbClr val="F4B336"/>
          </a:solidFill>
          <a:ln>
            <a:noFill/>
          </a:ln>
        </p:spPr>
        <p:txBody>
          <a:bodyPr wrap="none" lIns="0" tIns="0" rIns="0" bIns="0" rtlCol="0" anchor="ctr">
            <a:noAutofit/>
          </a:bodyPr>
          <a:lstStyle/>
          <a:p>
            <a:pPr algn="ctr"/>
            <a:r>
              <a:rPr lang="en-US" sz="2000" b="1" dirty="0">
                <a:solidFill>
                  <a:srgbClr val="062F5C"/>
                </a:solidFill>
              </a:rPr>
              <a:t>05</a:t>
            </a:r>
          </a:p>
        </p:txBody>
      </p:sp>
      <p:sp>
        <p:nvSpPr>
          <p:cNvPr id="200" name="Ex card image"/>
          <p:cNvSpPr/>
          <p:nvPr/>
        </p:nvSpPr>
        <p:spPr>
          <a:xfrm>
            <a:off x="457200" y="1143000"/>
            <a:ext cx="4826000" cy="4495800"/>
          </a:xfrm>
          <a:prstGeom prst="roundRect">
            <a:avLst>
              <a:gd name="adj" fmla="val 643"/>
            </a:avLst>
          </a:prstGeom>
          <a:solidFill>
            <a:srgbClr val="FFFFFF"/>
          </a:solidFill>
          <a:ln>
            <a:noFill/>
          </a:ln>
        </p:spPr>
        <p:txBody>
          <a:bodyPr/>
          <a:lstStyle/>
          <a:p>
            <a:endParaRPr lang="en-US"/>
          </a:p>
        </p:txBody>
      </p:sp>
      <p:sp>
        <p:nvSpPr>
          <p:cNvPr id="201" name="Ex image bg"/>
          <p:cNvSpPr/>
          <p:nvPr/>
        </p:nvSpPr>
        <p:spPr>
          <a:xfrm>
            <a:off x="609600" y="1295400"/>
            <a:ext cx="4521200" cy="3225800"/>
          </a:xfrm>
          <a:prstGeom prst="roundRect">
            <a:avLst>
              <a:gd name="adj" fmla="val 1543"/>
            </a:avLst>
          </a:prstGeom>
          <a:solidFill>
            <a:srgbClr val="EEF2F6"/>
          </a:solidFill>
          <a:ln>
            <a:noFill/>
          </a:ln>
        </p:spPr>
        <p:txBody>
          <a:bodyPr/>
          <a:lstStyle/>
          <a:p>
            <a:endParaRPr lang="en-US"/>
          </a:p>
        </p:txBody>
      </p:sp>
      <p:sp>
        <p:nvSpPr>
          <p:cNvPr id="202" name="Ex caption"/>
          <p:cNvSpPr txBox="1"/>
          <p:nvPr/>
        </p:nvSpPr>
        <p:spPr>
          <a:xfrm>
            <a:off x="609600" y="4597400"/>
            <a:ext cx="4521200" cy="889000"/>
          </a:xfrm>
          <a:prstGeom prst="rect">
            <a:avLst/>
          </a:prstGeom>
          <a:noFill/>
          <a:ln>
            <a:noFill/>
          </a:ln>
        </p:spPr>
        <p:txBody>
          <a:bodyPr wrap="square" lIns="0" tIns="0" rIns="0" bIns="0" rtlCol="0" anchor="t">
            <a:noAutofit/>
          </a:bodyPr>
          <a:lstStyle/>
          <a:p>
            <a:pPr marL="0" indent="0">
              <a:lnSpc>
                <a:spcPct val="105000"/>
              </a:lnSpc>
              <a:spcAft>
                <a:spcPts val="100"/>
              </a:spcAft>
              <a:buNone/>
            </a:pPr>
            <a:r>
              <a:rPr lang="vi-VN" sz="1200" i="1" dirty="0">
                <a:solidFill>
                  <a:srgbClr val="344054"/>
                </a:solidFill>
              </a:rPr>
              <a:t>Hình 5.2. Giao diện luyện nghe của Duolingo</a:t>
            </a:r>
          </a:p>
          <a:p>
            <a:pPr marL="0" indent="0">
              <a:lnSpc>
                <a:spcPct val="105000"/>
              </a:lnSpc>
              <a:spcAft>
                <a:spcPts val="0"/>
              </a:spcAft>
              <a:buNone/>
            </a:pPr>
            <a:r>
              <a:rPr lang="vi-VN" sz="1100" i="1" dirty="0">
                <a:solidFill>
                  <a:srgbClr val="475467"/>
                </a:solidFill>
              </a:rPr>
              <a:t>Nguồn: Ứng dụng Duolingo</a:t>
            </a:r>
          </a:p>
        </p:txBody>
      </p:sp>
      <p:sp>
        <p:nvSpPr>
          <p:cNvPr id="203" name="Ex card text"/>
          <p:cNvSpPr/>
          <p:nvPr/>
        </p:nvSpPr>
        <p:spPr>
          <a:xfrm>
            <a:off x="5435600" y="1143000"/>
            <a:ext cx="6299200" cy="4495800"/>
          </a:xfrm>
          <a:prstGeom prst="roundRect">
            <a:avLst>
              <a:gd name="adj" fmla="val 643"/>
            </a:avLst>
          </a:prstGeom>
          <a:solidFill>
            <a:srgbClr val="FFFFFF"/>
          </a:solidFill>
          <a:ln>
            <a:noFill/>
          </a:ln>
        </p:spPr>
        <p:txBody>
          <a:bodyPr/>
          <a:lstStyle/>
          <a:p>
            <a:endParaRPr lang="en-US"/>
          </a:p>
        </p:txBody>
      </p:sp>
      <p:sp>
        <p:nvSpPr>
          <p:cNvPr id="204" name="Ex name"/>
          <p:cNvSpPr txBox="1"/>
          <p:nvPr/>
        </p:nvSpPr>
        <p:spPr>
          <a:xfrm>
            <a:off x="5664200" y="1244600"/>
            <a:ext cx="5842000" cy="340868"/>
          </a:xfrm>
          <a:prstGeom prst="rect">
            <a:avLst/>
          </a:prstGeom>
          <a:noFill/>
          <a:ln>
            <a:noFill/>
          </a:ln>
        </p:spPr>
        <p:txBody>
          <a:bodyPr wrap="square" lIns="0" tIns="0" rIns="0" bIns="0" rtlCol="0" anchor="t">
            <a:noAutofit/>
          </a:bodyPr>
          <a:lstStyle/>
          <a:p>
            <a:pPr marL="0" indent="0">
              <a:lnSpc>
                <a:spcPct val="100000"/>
              </a:lnSpc>
              <a:spcAft>
                <a:spcPts val="0"/>
              </a:spcAft>
              <a:buNone/>
            </a:pPr>
            <a:r>
              <a:rPr lang="vi-VN" sz="2200" b="1" dirty="0">
                <a:solidFill>
                  <a:srgbClr val="1677B8"/>
                </a:solidFill>
              </a:rPr>
              <a:t>Ví dụ 5.2: </a:t>
            </a:r>
            <a:r>
              <a:rPr lang="vi-VN" sz="2200" b="1" dirty="0">
                <a:solidFill>
                  <a:srgbClr val="062F5C"/>
                </a:solidFill>
              </a:rPr>
              <a:t>Duolingo – Học thông qua nghe</a:t>
            </a:r>
          </a:p>
        </p:txBody>
      </p:sp>
      <p:sp>
        <p:nvSpPr>
          <p:cNvPr id="205" name="Ex body"/>
          <p:cNvSpPr txBox="1"/>
          <p:nvPr/>
        </p:nvSpPr>
        <p:spPr>
          <a:xfrm>
            <a:off x="5664200" y="1661668"/>
            <a:ext cx="5842000" cy="3875532"/>
          </a:xfrm>
          <a:prstGeom prst="rect">
            <a:avLst/>
          </a:prstGeom>
          <a:noFill/>
          <a:ln>
            <a:noFill/>
          </a:ln>
        </p:spPr>
        <p:txBody>
          <a:bodyPr wrap="square" lIns="0" tIns="0" rIns="0" bIns="0" rtlCol="0" anchor="t">
            <a:noAutofit/>
          </a:bodyPr>
          <a:lstStyle/>
          <a:p>
            <a:pPr marL="0" indent="0">
              <a:lnSpc>
                <a:spcPct val="98000"/>
              </a:lnSpc>
              <a:spcAft>
                <a:spcPts val="300"/>
              </a:spcAft>
              <a:buNone/>
            </a:pPr>
            <a:r>
              <a:rPr lang="vi-VN" sz="2000" b="1" dirty="0"/>
              <a:t>Là gì, có gì:</a:t>
            </a:r>
            <a:br>
              <a:rPr lang="vi-VN" sz="2000" b="1" dirty="0">
                <a:solidFill>
                  <a:srgbClr val="667085"/>
                </a:solidFill>
              </a:rPr>
            </a:br>
            <a:r>
              <a:rPr lang="vi-VN" sz="2000" dirty="0">
                <a:solidFill>
                  <a:srgbClr val="344054"/>
                </a:solidFill>
              </a:rPr>
              <a:t>Duolingo là ứng dụng học ngôn ngữ, trong đó có các hoạt động sử dụng âm thanh để người học luyện kỹ năng nghe và tiếp nhận nội dung bằng lời nói.</a:t>
            </a:r>
          </a:p>
          <a:p>
            <a:pPr marL="0" indent="0">
              <a:lnSpc>
                <a:spcPct val="98000"/>
              </a:lnSpc>
              <a:spcAft>
                <a:spcPts val="300"/>
              </a:spcAft>
              <a:buNone/>
            </a:pPr>
            <a:endParaRPr lang="vi-VN" sz="2000" dirty="0">
              <a:solidFill>
                <a:srgbClr val="344054"/>
              </a:solidFill>
            </a:endParaRPr>
          </a:p>
          <a:p>
            <a:pPr marL="0" indent="0">
              <a:lnSpc>
                <a:spcPct val="98000"/>
              </a:lnSpc>
              <a:spcAft>
                <a:spcPts val="0"/>
              </a:spcAft>
              <a:buNone/>
            </a:pPr>
            <a:r>
              <a:rPr lang="vi-VN" sz="2000" b="1" dirty="0"/>
              <a:t>Liên hệ đặc điểm nhận thức:</a:t>
            </a:r>
            <a:br>
              <a:rPr lang="vi-VN" sz="2000" b="1" dirty="0">
                <a:solidFill>
                  <a:srgbClr val="667085"/>
                </a:solidFill>
              </a:rPr>
            </a:br>
            <a:r>
              <a:rPr lang="vi-VN" sz="2000" b="1" dirty="0">
                <a:solidFill>
                  <a:srgbClr val="344054"/>
                </a:solidFill>
              </a:rPr>
              <a:t>Nghe</a:t>
            </a:r>
            <a:r>
              <a:rPr lang="vi-VN" sz="2000" dirty="0">
                <a:solidFill>
                  <a:srgbClr val="344054"/>
                </a:solidFill>
              </a:rPr>
              <a:t> cần </a:t>
            </a:r>
            <a:r>
              <a:rPr lang="vi-VN" sz="2000" b="1" dirty="0">
                <a:solidFill>
                  <a:schemeClr val="accent4"/>
                </a:solidFill>
              </a:rPr>
              <a:t>ít nỗ lực nhận thức hơn</a:t>
            </a:r>
            <a:r>
              <a:rPr lang="vi-VN" sz="2000" dirty="0">
                <a:solidFill>
                  <a:srgbClr val="344054"/>
                </a:solidFill>
              </a:rPr>
              <a:t> </a:t>
            </a:r>
            <a:r>
              <a:rPr lang="vi-VN" sz="2000" b="1" dirty="0">
                <a:solidFill>
                  <a:srgbClr val="344054"/>
                </a:solidFill>
              </a:rPr>
              <a:t>đọc hoặc nói</a:t>
            </a:r>
            <a:r>
              <a:rPr lang="vi-VN" sz="2000" dirty="0">
                <a:solidFill>
                  <a:srgbClr val="344054"/>
                </a:solidFill>
              </a:rPr>
              <a:t>. Người học có thể tiếp nhận nội dung thông qua việc nghe thay vì phải đọc toàn bộ nội dung trên màn hình.</a:t>
            </a:r>
          </a:p>
        </p:txBody>
      </p:sp>
      <p:sp>
        <p:nvSpPr>
          <p:cNvPr id="206" name="Ex lesson bg"/>
          <p:cNvSpPr/>
          <p:nvPr/>
        </p:nvSpPr>
        <p:spPr>
          <a:xfrm>
            <a:off x="457200" y="5715000"/>
            <a:ext cx="11277600" cy="635000"/>
          </a:xfrm>
          <a:prstGeom prst="rect">
            <a:avLst/>
          </a:prstGeom>
          <a:solidFill>
            <a:srgbClr val="EAF5EF"/>
          </a:solidFill>
          <a:ln>
            <a:noFill/>
          </a:ln>
        </p:spPr>
        <p:txBody>
          <a:bodyPr/>
          <a:lstStyle/>
          <a:p>
            <a:endParaRPr lang="en-US"/>
          </a:p>
        </p:txBody>
      </p:sp>
      <p:sp>
        <p:nvSpPr>
          <p:cNvPr id="207" name="Ex lesson bar"/>
          <p:cNvSpPr/>
          <p:nvPr/>
        </p:nvSpPr>
        <p:spPr>
          <a:xfrm>
            <a:off x="457200" y="5715000"/>
            <a:ext cx="50800" cy="635000"/>
          </a:xfrm>
          <a:prstGeom prst="rect">
            <a:avLst/>
          </a:prstGeom>
          <a:solidFill>
            <a:srgbClr val="2E9B67"/>
          </a:solidFill>
          <a:ln>
            <a:noFill/>
          </a:ln>
        </p:spPr>
        <p:txBody>
          <a:bodyPr/>
          <a:lstStyle/>
          <a:p>
            <a:endParaRPr lang="en-US"/>
          </a:p>
        </p:txBody>
      </p:sp>
      <p:sp>
        <p:nvSpPr>
          <p:cNvPr id="208" name="Ex lesson"/>
          <p:cNvSpPr txBox="1"/>
          <p:nvPr/>
        </p:nvSpPr>
        <p:spPr>
          <a:xfrm>
            <a:off x="685800" y="5715000"/>
            <a:ext cx="10820400" cy="635000"/>
          </a:xfrm>
          <a:prstGeom prst="rect">
            <a:avLst/>
          </a:prstGeom>
          <a:noFill/>
          <a:ln>
            <a:noFill/>
          </a:ln>
        </p:spPr>
        <p:txBody>
          <a:bodyPr wrap="square" lIns="0" tIns="0" rIns="0" bIns="0" rtlCol="0" anchor="ctr">
            <a:noAutofit/>
          </a:bodyPr>
          <a:lstStyle/>
          <a:p>
            <a:pPr marL="0" indent="0">
              <a:lnSpc>
                <a:spcPct val="100000"/>
              </a:lnSpc>
              <a:spcAft>
                <a:spcPts val="0"/>
              </a:spcAft>
              <a:buNone/>
            </a:pPr>
            <a:r>
              <a:rPr lang="vi-VN" sz="1800" b="1" dirty="0">
                <a:solidFill>
                  <a:srgbClr val="1E7F53"/>
                </a:solidFill>
              </a:rPr>
              <a:t>Bài học: </a:t>
            </a:r>
            <a:r>
              <a:rPr lang="vi-VN" sz="1800" b="1" dirty="0">
                <a:solidFill>
                  <a:srgbClr val="062F5C"/>
                </a:solidFill>
              </a:rPr>
              <a:t>Kết hợp âm thanh với văn bản để người dùng có thêm một cách tiếp nhận nội dung, đặc biệt khi việc đọc gây nhiều khó khăn.</a:t>
            </a:r>
          </a:p>
        </p:txBody>
      </p:sp>
      <p:sp>
        <p:nvSpPr>
          <p:cNvPr id="209" name="Ex badge"/>
          <p:cNvSpPr/>
          <p:nvPr/>
        </p:nvSpPr>
        <p:spPr>
          <a:xfrm>
            <a:off x="711200" y="1397000"/>
            <a:ext cx="381000" cy="381000"/>
          </a:xfrm>
          <a:prstGeom prst="ellipse">
            <a:avLst/>
          </a:prstGeom>
          <a:solidFill>
            <a:srgbClr val="073B6F"/>
          </a:solidFill>
          <a:ln w="28575">
            <a:solidFill>
              <a:srgbClr val="F4B336"/>
            </a:solidFill>
          </a:ln>
        </p:spPr>
        <p:txBody>
          <a:bodyPr/>
          <a:lstStyle/>
          <a:p>
            <a:endParaRPr lang="en-US"/>
          </a:p>
        </p:txBody>
      </p:sp>
      <p:sp>
        <p:nvSpPr>
          <p:cNvPr id="210" name="Ex badge num"/>
          <p:cNvSpPr txBox="1"/>
          <p:nvPr/>
        </p:nvSpPr>
        <p:spPr>
          <a:xfrm>
            <a:off x="711200" y="1397000"/>
            <a:ext cx="381000" cy="381000"/>
          </a:xfrm>
          <a:prstGeom prst="rect">
            <a:avLst/>
          </a:prstGeom>
          <a:noFill/>
          <a:ln>
            <a:noFill/>
          </a:ln>
        </p:spPr>
        <p:txBody>
          <a:bodyPr wrap="square" lIns="0" tIns="0" rIns="0" bIns="0" rtlCol="0" anchor="ctr">
            <a:noAutofit/>
          </a:bodyPr>
          <a:lstStyle/>
          <a:p>
            <a:pPr marL="0" indent="0" algn="ctr">
              <a:buNone/>
            </a:pPr>
            <a:r>
              <a:rPr lang="vi-VN" sz="1000" b="1" dirty="0">
                <a:solidFill>
                  <a:srgbClr val="FFFFFF"/>
                </a:solidFill>
              </a:rPr>
              <a:t>5.2</a:t>
            </a:r>
          </a:p>
        </p:txBody>
      </p:sp>
      <p:pic>
        <p:nvPicPr>
          <p:cNvPr id="3" name="Picture 2">
            <a:extLst>
              <a:ext uri="{FF2B5EF4-FFF2-40B4-BE49-F238E27FC236}">
                <a16:creationId xmlns:a16="http://schemas.microsoft.com/office/drawing/2014/main" id="{C3E6126E-847D-50AC-966F-06FEE9F777F0}"/>
              </a:ext>
            </a:extLst>
          </p:cNvPr>
          <p:cNvPicPr>
            <a:picLocks noChangeAspect="1"/>
          </p:cNvPicPr>
          <p:nvPr/>
        </p:nvPicPr>
        <p:blipFill>
          <a:blip r:embed="rId3"/>
          <a:stretch>
            <a:fillRect/>
          </a:stretch>
        </p:blipFill>
        <p:spPr>
          <a:xfrm>
            <a:off x="609600" y="1790046"/>
            <a:ext cx="4521200" cy="2236508"/>
          </a:xfrm>
          <a:prstGeom prst="rect">
            <a:avLst/>
          </a:prstGeom>
        </p:spPr>
      </p:pic>
    </p:spTree>
    <p:extLst>
      <p:ext uri="{BB962C8B-B14F-4D97-AF65-F5344CB8AC3E}">
        <p14:creationId xmlns:p14="http://schemas.microsoft.com/office/powerpoint/2010/main" val="35979539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7">
    <p:bg>
      <p:bgPr>
        <a:solidFill>
          <a:srgbClr val="062F5C"/>
        </a:solidFill>
        <a:effectLst/>
      </p:bgPr>
    </p:bg>
    <p:spTree>
      <p:nvGrpSpPr>
        <p:cNvPr id="1" name=""/>
        <p:cNvGrpSpPr/>
        <p:nvPr/>
      </p:nvGrpSpPr>
      <p:grpSpPr>
        <a:xfrm>
          <a:off x="0" y="0"/>
          <a:ext cx="0" cy="0"/>
          <a:chOff x="0" y="0"/>
          <a:chExt cx="0" cy="0"/>
        </a:xfrm>
      </p:grpSpPr>
      <p:sp>
        <p:nvSpPr>
          <p:cNvPr id="35" name="Decor 36"/>
          <p:cNvSpPr/>
          <p:nvPr/>
        </p:nvSpPr>
        <p:spPr>
          <a:xfrm>
            <a:off x="-2413000" y="2794000"/>
            <a:ext cx="4826000" cy="4826000"/>
          </a:xfrm>
          <a:prstGeom prst="ellipse">
            <a:avLst/>
          </a:prstGeom>
          <a:solidFill>
            <a:srgbClr val="FFFFFF">
              <a:alpha val="9000"/>
            </a:srgbClr>
          </a:solidFill>
          <a:ln>
            <a:noFill/>
          </a:ln>
        </p:spPr>
        <p:txBody>
          <a:bodyPr/>
          <a:lstStyle/>
          <a:p>
            <a:endParaRPr lang="en-US"/>
          </a:p>
        </p:txBody>
      </p:sp>
      <p:sp>
        <p:nvSpPr>
          <p:cNvPr id="36" name="Decor 37"/>
          <p:cNvSpPr/>
          <p:nvPr/>
        </p:nvSpPr>
        <p:spPr>
          <a:xfrm rot="1800000">
            <a:off x="9779000" y="-1143000"/>
            <a:ext cx="3048000" cy="3048000"/>
          </a:xfrm>
          <a:prstGeom prst="rect">
            <a:avLst/>
          </a:prstGeom>
          <a:noFill/>
          <a:ln w="28575">
            <a:solidFill>
              <a:srgbClr val="FFFFFF">
                <a:alpha val="22000"/>
              </a:srgbClr>
            </a:solidFill>
          </a:ln>
        </p:spPr>
        <p:txBody>
          <a:bodyPr/>
          <a:lstStyle/>
          <a:p>
            <a:endParaRPr lang="en-US"/>
          </a:p>
        </p:txBody>
      </p:sp>
      <p:sp>
        <p:nvSpPr>
          <p:cNvPr id="37" name="Decor 38"/>
          <p:cNvSpPr/>
          <p:nvPr/>
        </p:nvSpPr>
        <p:spPr>
          <a:xfrm>
            <a:off x="11912600" y="6553200"/>
            <a:ext cx="177800" cy="177800"/>
          </a:xfrm>
          <a:prstGeom prst="ellipse">
            <a:avLst/>
          </a:prstGeom>
          <a:solidFill>
            <a:srgbClr val="F4B336">
              <a:alpha val="35000"/>
            </a:srgbClr>
          </a:solidFill>
          <a:ln>
            <a:noFill/>
          </a:ln>
        </p:spPr>
        <p:txBody>
          <a:bodyPr/>
          <a:lstStyle/>
          <a:p>
            <a:endParaRPr lang="en-US"/>
          </a:p>
        </p:txBody>
      </p:sp>
      <p:sp>
        <p:nvSpPr>
          <p:cNvPr id="2" name="Text 1"/>
          <p:cNvSpPr>
            <a:spLocks noGrp="1"/>
          </p:cNvSpPr>
          <p:nvPr>
            <p:ph type="title" idx="101" hasCustomPrompt="1"/>
          </p:nvPr>
        </p:nvSpPr>
        <p:spPr>
          <a:xfrm>
            <a:off x="1168400" y="512064"/>
            <a:ext cx="10566400" cy="512064"/>
          </a:xfrm>
          <a:prstGeom prst="rect">
            <a:avLst/>
          </a:prstGeom>
          <a:noFill/>
          <a:ln/>
        </p:spPr>
        <p:txBody>
          <a:bodyPr wrap="square" lIns="0" tIns="0" rIns="0" bIns="0" rtlCol="0" anchor="t"/>
          <a:lstStyle/>
          <a:p>
            <a:pPr marL="0" indent="0" algn="l">
              <a:buNone/>
            </a:pPr>
            <a:r>
              <a:rPr lang="vi-VN" sz="3000" b="1" dirty="0">
                <a:solidFill>
                  <a:srgbClr val="FFFFFF"/>
                </a:solidFill>
              </a:rPr>
              <a:t>Đọc, nghe, nói — Ví dụ 5.3</a:t>
            </a:r>
          </a:p>
        </p:txBody>
      </p:sp>
      <p:sp>
        <p:nvSpPr>
          <p:cNvPr id="34" name="Topic badge"/>
          <p:cNvSpPr/>
          <p:nvPr/>
        </p:nvSpPr>
        <p:spPr>
          <a:xfrm>
            <a:off x="457200" y="524764"/>
            <a:ext cx="508000" cy="508000"/>
          </a:xfrm>
          <a:prstGeom prst="roundRect">
            <a:avLst>
              <a:gd name="adj" fmla="val 22000"/>
            </a:avLst>
          </a:prstGeom>
          <a:solidFill>
            <a:srgbClr val="F4B336"/>
          </a:solidFill>
          <a:ln>
            <a:noFill/>
          </a:ln>
        </p:spPr>
        <p:txBody>
          <a:bodyPr wrap="none" lIns="0" tIns="0" rIns="0" bIns="0" rtlCol="0" anchor="ctr">
            <a:noAutofit/>
          </a:bodyPr>
          <a:lstStyle/>
          <a:p>
            <a:pPr algn="ctr"/>
            <a:r>
              <a:rPr lang="en-US" sz="2000" b="1" dirty="0">
                <a:solidFill>
                  <a:srgbClr val="062F5C"/>
                </a:solidFill>
              </a:rPr>
              <a:t>05</a:t>
            </a:r>
          </a:p>
        </p:txBody>
      </p:sp>
      <p:sp>
        <p:nvSpPr>
          <p:cNvPr id="200" name="Ex card image"/>
          <p:cNvSpPr/>
          <p:nvPr/>
        </p:nvSpPr>
        <p:spPr>
          <a:xfrm>
            <a:off x="457200" y="1143000"/>
            <a:ext cx="4826000" cy="4495800"/>
          </a:xfrm>
          <a:prstGeom prst="roundRect">
            <a:avLst>
              <a:gd name="adj" fmla="val 643"/>
            </a:avLst>
          </a:prstGeom>
          <a:solidFill>
            <a:srgbClr val="FFFFFF"/>
          </a:solidFill>
          <a:ln>
            <a:noFill/>
          </a:ln>
        </p:spPr>
        <p:txBody>
          <a:bodyPr/>
          <a:lstStyle/>
          <a:p>
            <a:endParaRPr lang="en-US"/>
          </a:p>
        </p:txBody>
      </p:sp>
      <p:sp>
        <p:nvSpPr>
          <p:cNvPr id="201" name="Ex image bg"/>
          <p:cNvSpPr/>
          <p:nvPr/>
        </p:nvSpPr>
        <p:spPr>
          <a:xfrm>
            <a:off x="609600" y="1295400"/>
            <a:ext cx="4521200" cy="3225800"/>
          </a:xfrm>
          <a:prstGeom prst="roundRect">
            <a:avLst>
              <a:gd name="adj" fmla="val 1543"/>
            </a:avLst>
          </a:prstGeom>
          <a:solidFill>
            <a:srgbClr val="EEF2F6"/>
          </a:solidFill>
          <a:ln>
            <a:noFill/>
          </a:ln>
        </p:spPr>
        <p:txBody>
          <a:bodyPr/>
          <a:lstStyle/>
          <a:p>
            <a:endParaRPr lang="en-US"/>
          </a:p>
        </p:txBody>
      </p:sp>
      <p:sp>
        <p:nvSpPr>
          <p:cNvPr id="202" name="Ex caption"/>
          <p:cNvSpPr txBox="1"/>
          <p:nvPr/>
        </p:nvSpPr>
        <p:spPr>
          <a:xfrm>
            <a:off x="609600" y="4597400"/>
            <a:ext cx="4521200" cy="889000"/>
          </a:xfrm>
          <a:prstGeom prst="rect">
            <a:avLst/>
          </a:prstGeom>
          <a:noFill/>
          <a:ln>
            <a:noFill/>
          </a:ln>
        </p:spPr>
        <p:txBody>
          <a:bodyPr wrap="square" lIns="0" tIns="0" rIns="0" bIns="0" rtlCol="0" anchor="t">
            <a:noAutofit/>
          </a:bodyPr>
          <a:lstStyle/>
          <a:p>
            <a:pPr marL="0" indent="0">
              <a:lnSpc>
                <a:spcPct val="105000"/>
              </a:lnSpc>
              <a:spcAft>
                <a:spcPts val="100"/>
              </a:spcAft>
              <a:buNone/>
            </a:pPr>
            <a:r>
              <a:rPr lang="vi-VN" sz="1200" i="1" dirty="0">
                <a:solidFill>
                  <a:srgbClr val="344054"/>
                </a:solidFill>
              </a:rPr>
              <a:t>Hình 5.3. Bản chép lời của YouTube</a:t>
            </a:r>
          </a:p>
          <a:p>
            <a:pPr marL="0" indent="0">
              <a:lnSpc>
                <a:spcPct val="105000"/>
              </a:lnSpc>
              <a:spcAft>
                <a:spcPts val="0"/>
              </a:spcAft>
              <a:buNone/>
            </a:pPr>
            <a:r>
              <a:rPr lang="vi-VN" sz="1100" i="1" dirty="0">
                <a:solidFill>
                  <a:srgbClr val="475467"/>
                </a:solidFill>
              </a:rPr>
              <a:t>Nguồn: Kênh MrBeast – YouTube</a:t>
            </a:r>
          </a:p>
        </p:txBody>
      </p:sp>
      <p:sp>
        <p:nvSpPr>
          <p:cNvPr id="203" name="Ex card text"/>
          <p:cNvSpPr/>
          <p:nvPr/>
        </p:nvSpPr>
        <p:spPr>
          <a:xfrm>
            <a:off x="5435600" y="1143000"/>
            <a:ext cx="6299200" cy="4495800"/>
          </a:xfrm>
          <a:prstGeom prst="roundRect">
            <a:avLst>
              <a:gd name="adj" fmla="val 643"/>
            </a:avLst>
          </a:prstGeom>
          <a:solidFill>
            <a:srgbClr val="FFFFFF"/>
          </a:solidFill>
          <a:ln>
            <a:noFill/>
          </a:ln>
        </p:spPr>
        <p:txBody>
          <a:bodyPr/>
          <a:lstStyle/>
          <a:p>
            <a:endParaRPr lang="en-US"/>
          </a:p>
        </p:txBody>
      </p:sp>
      <p:sp>
        <p:nvSpPr>
          <p:cNvPr id="204" name="Ex name"/>
          <p:cNvSpPr txBox="1"/>
          <p:nvPr/>
        </p:nvSpPr>
        <p:spPr>
          <a:xfrm>
            <a:off x="5664200" y="1244600"/>
            <a:ext cx="5842000" cy="650748"/>
          </a:xfrm>
          <a:prstGeom prst="rect">
            <a:avLst/>
          </a:prstGeom>
          <a:noFill/>
          <a:ln>
            <a:noFill/>
          </a:ln>
        </p:spPr>
        <p:txBody>
          <a:bodyPr wrap="square" lIns="0" tIns="0" rIns="0" bIns="0" rtlCol="0" anchor="t">
            <a:noAutofit/>
          </a:bodyPr>
          <a:lstStyle/>
          <a:p>
            <a:pPr marL="0" indent="0">
              <a:lnSpc>
                <a:spcPct val="100000"/>
              </a:lnSpc>
              <a:spcAft>
                <a:spcPts val="0"/>
              </a:spcAft>
              <a:buNone/>
            </a:pPr>
            <a:r>
              <a:rPr lang="vi-VN" sz="2100" b="1" dirty="0">
                <a:solidFill>
                  <a:srgbClr val="1677B8"/>
                </a:solidFill>
              </a:rPr>
              <a:t>Ví dụ 5.3: </a:t>
            </a:r>
            <a:r>
              <a:rPr lang="vi-VN" sz="2100" b="1" dirty="0">
                <a:solidFill>
                  <a:srgbClr val="062F5C"/>
                </a:solidFill>
              </a:rPr>
              <a:t>Bản chép lời giúp tìm nhanh thông tin của YouTube</a:t>
            </a:r>
          </a:p>
        </p:txBody>
      </p:sp>
      <p:sp>
        <p:nvSpPr>
          <p:cNvPr id="205" name="Ex body"/>
          <p:cNvSpPr txBox="1"/>
          <p:nvPr/>
        </p:nvSpPr>
        <p:spPr>
          <a:xfrm>
            <a:off x="5664200" y="1971548"/>
            <a:ext cx="5842000" cy="3565652"/>
          </a:xfrm>
          <a:prstGeom prst="rect">
            <a:avLst/>
          </a:prstGeom>
          <a:noFill/>
          <a:ln>
            <a:noFill/>
          </a:ln>
        </p:spPr>
        <p:txBody>
          <a:bodyPr wrap="square" lIns="0" tIns="0" rIns="0" bIns="0" rtlCol="0" anchor="t">
            <a:noAutofit/>
          </a:bodyPr>
          <a:lstStyle/>
          <a:p>
            <a:pPr marL="0" indent="0">
              <a:lnSpc>
                <a:spcPct val="98000"/>
              </a:lnSpc>
              <a:spcAft>
                <a:spcPts val="300"/>
              </a:spcAft>
              <a:buNone/>
            </a:pPr>
            <a:r>
              <a:rPr lang="vi-VN" sz="1900" b="1" dirty="0"/>
              <a:t>Là gì, có gì:</a:t>
            </a:r>
            <a:br>
              <a:rPr lang="vi-VN" sz="1900" b="1" dirty="0">
                <a:solidFill>
                  <a:srgbClr val="667085"/>
                </a:solidFill>
              </a:rPr>
            </a:br>
            <a:r>
              <a:rPr lang="vi-VN" sz="1900" dirty="0">
                <a:solidFill>
                  <a:srgbClr val="344054"/>
                </a:solidFill>
              </a:rPr>
              <a:t>YouTube cung cấp bản chép lời (Transcript) đối với những video có phụ đề. Người dùng có thể đọc nội dung video bằng chữ và chọn một dòng trong bản chép lời để chuyển đến đúng đoạn tương ứng trong video.</a:t>
            </a:r>
          </a:p>
          <a:p>
            <a:pPr marL="0" indent="0">
              <a:lnSpc>
                <a:spcPct val="98000"/>
              </a:lnSpc>
              <a:spcAft>
                <a:spcPts val="300"/>
              </a:spcAft>
              <a:buNone/>
            </a:pPr>
            <a:endParaRPr lang="vi-VN" sz="1900" dirty="0">
              <a:solidFill>
                <a:srgbClr val="344054"/>
              </a:solidFill>
            </a:endParaRPr>
          </a:p>
          <a:p>
            <a:pPr marL="0" indent="0">
              <a:lnSpc>
                <a:spcPct val="98000"/>
              </a:lnSpc>
              <a:spcAft>
                <a:spcPts val="0"/>
              </a:spcAft>
              <a:buNone/>
            </a:pPr>
            <a:r>
              <a:rPr lang="vi-VN" sz="1900" b="1" dirty="0"/>
              <a:t>Liên hệ đặc điểm nhận thức:</a:t>
            </a:r>
            <a:br>
              <a:rPr lang="vi-VN" sz="1900" b="1" dirty="0">
                <a:solidFill>
                  <a:srgbClr val="667085"/>
                </a:solidFill>
              </a:rPr>
            </a:br>
            <a:r>
              <a:rPr lang="vi-VN" sz="1900" b="1" dirty="0">
                <a:solidFill>
                  <a:srgbClr val="344054"/>
                </a:solidFill>
              </a:rPr>
              <a:t>Đọc</a:t>
            </a:r>
            <a:r>
              <a:rPr lang="vi-VN" sz="1900" dirty="0">
                <a:solidFill>
                  <a:srgbClr val="344054"/>
                </a:solidFill>
              </a:rPr>
              <a:t> có thể </a:t>
            </a:r>
            <a:r>
              <a:rPr lang="vi-VN" sz="1900" b="1" dirty="0">
                <a:solidFill>
                  <a:schemeClr val="accent4"/>
                </a:solidFill>
              </a:rPr>
              <a:t>nhanh hơn </a:t>
            </a:r>
            <a:r>
              <a:rPr lang="vi-VN" sz="1900" b="1" dirty="0">
                <a:solidFill>
                  <a:srgbClr val="344054"/>
                </a:solidFill>
              </a:rPr>
              <a:t>nói hoặc ng</a:t>
            </a:r>
            <a:r>
              <a:rPr lang="vi-VN" sz="1900" dirty="0">
                <a:solidFill>
                  <a:srgbClr val="344054"/>
                </a:solidFill>
              </a:rPr>
              <a:t>he. Khi cần tìm thông tin cụ thể, người dùng có thể đọc lướt bản chép lời để tìm từ khóa, thay vì phải nghe toàn bộ video từ đầu đến cuối.</a:t>
            </a:r>
          </a:p>
        </p:txBody>
      </p:sp>
      <p:sp>
        <p:nvSpPr>
          <p:cNvPr id="206" name="Ex lesson bg"/>
          <p:cNvSpPr/>
          <p:nvPr/>
        </p:nvSpPr>
        <p:spPr>
          <a:xfrm>
            <a:off x="457200" y="5715000"/>
            <a:ext cx="11277600" cy="635000"/>
          </a:xfrm>
          <a:prstGeom prst="rect">
            <a:avLst/>
          </a:prstGeom>
          <a:solidFill>
            <a:srgbClr val="EAF5EF"/>
          </a:solidFill>
          <a:ln>
            <a:noFill/>
          </a:ln>
        </p:spPr>
        <p:txBody>
          <a:bodyPr/>
          <a:lstStyle/>
          <a:p>
            <a:endParaRPr lang="en-US"/>
          </a:p>
        </p:txBody>
      </p:sp>
      <p:sp>
        <p:nvSpPr>
          <p:cNvPr id="207" name="Ex lesson bar"/>
          <p:cNvSpPr/>
          <p:nvPr/>
        </p:nvSpPr>
        <p:spPr>
          <a:xfrm>
            <a:off x="457200" y="5715000"/>
            <a:ext cx="50800" cy="635000"/>
          </a:xfrm>
          <a:prstGeom prst="rect">
            <a:avLst/>
          </a:prstGeom>
          <a:solidFill>
            <a:srgbClr val="2E9B67"/>
          </a:solidFill>
          <a:ln>
            <a:noFill/>
          </a:ln>
        </p:spPr>
        <p:txBody>
          <a:bodyPr/>
          <a:lstStyle/>
          <a:p>
            <a:endParaRPr lang="en-US"/>
          </a:p>
        </p:txBody>
      </p:sp>
      <p:sp>
        <p:nvSpPr>
          <p:cNvPr id="208" name="Ex lesson"/>
          <p:cNvSpPr txBox="1"/>
          <p:nvPr/>
        </p:nvSpPr>
        <p:spPr>
          <a:xfrm>
            <a:off x="685800" y="5715000"/>
            <a:ext cx="10820400" cy="635000"/>
          </a:xfrm>
          <a:prstGeom prst="rect">
            <a:avLst/>
          </a:prstGeom>
          <a:noFill/>
          <a:ln>
            <a:noFill/>
          </a:ln>
        </p:spPr>
        <p:txBody>
          <a:bodyPr wrap="square" lIns="0" tIns="0" rIns="0" bIns="0" rtlCol="0" anchor="ctr">
            <a:noAutofit/>
          </a:bodyPr>
          <a:lstStyle/>
          <a:p>
            <a:pPr marL="0" indent="0">
              <a:lnSpc>
                <a:spcPct val="100000"/>
              </a:lnSpc>
              <a:spcAft>
                <a:spcPts val="0"/>
              </a:spcAft>
              <a:buNone/>
            </a:pPr>
            <a:r>
              <a:rPr lang="vi-VN" sz="1800" b="1" dirty="0">
                <a:solidFill>
                  <a:srgbClr val="1E7F53"/>
                </a:solidFill>
              </a:rPr>
              <a:t>Bài học: </a:t>
            </a:r>
            <a:r>
              <a:rPr lang="vi-VN" sz="1800" b="1" dirty="0">
                <a:solidFill>
                  <a:srgbClr val="062F5C"/>
                </a:solidFill>
              </a:rPr>
              <a:t>Với nội dung dài bằng âm thanh hoặc video, nên cung cấp văn bản đi kèm và cho phép tìm kiếm, đọc nhanh.</a:t>
            </a:r>
          </a:p>
        </p:txBody>
      </p:sp>
      <p:pic>
        <p:nvPicPr>
          <p:cNvPr id="3" name="Picture 2">
            <a:extLst>
              <a:ext uri="{FF2B5EF4-FFF2-40B4-BE49-F238E27FC236}">
                <a16:creationId xmlns:a16="http://schemas.microsoft.com/office/drawing/2014/main" id="{504E211A-4937-A347-5434-C6EC4C227717}"/>
              </a:ext>
            </a:extLst>
          </p:cNvPr>
          <p:cNvPicPr>
            <a:picLocks noChangeAspect="1"/>
          </p:cNvPicPr>
          <p:nvPr/>
        </p:nvPicPr>
        <p:blipFill>
          <a:blip r:embed="rId3"/>
          <a:stretch>
            <a:fillRect/>
          </a:stretch>
        </p:blipFill>
        <p:spPr>
          <a:xfrm>
            <a:off x="609600" y="1845047"/>
            <a:ext cx="4521200" cy="2126507"/>
          </a:xfrm>
          <a:prstGeom prst="rect">
            <a:avLst/>
          </a:prstGeom>
        </p:spPr>
      </p:pic>
      <p:sp>
        <p:nvSpPr>
          <p:cNvPr id="209" name="Ex badge"/>
          <p:cNvSpPr/>
          <p:nvPr/>
        </p:nvSpPr>
        <p:spPr>
          <a:xfrm>
            <a:off x="711200" y="1397000"/>
            <a:ext cx="381000" cy="381000"/>
          </a:xfrm>
          <a:prstGeom prst="ellipse">
            <a:avLst/>
          </a:prstGeom>
          <a:solidFill>
            <a:srgbClr val="073B6F"/>
          </a:solidFill>
          <a:ln w="28575">
            <a:solidFill>
              <a:srgbClr val="F4B336"/>
            </a:solidFill>
          </a:ln>
        </p:spPr>
        <p:txBody>
          <a:bodyPr/>
          <a:lstStyle/>
          <a:p>
            <a:endParaRPr lang="en-US"/>
          </a:p>
        </p:txBody>
      </p:sp>
      <p:sp>
        <p:nvSpPr>
          <p:cNvPr id="210" name="Ex badge num"/>
          <p:cNvSpPr txBox="1"/>
          <p:nvPr/>
        </p:nvSpPr>
        <p:spPr>
          <a:xfrm>
            <a:off x="711200" y="1397000"/>
            <a:ext cx="381000" cy="381000"/>
          </a:xfrm>
          <a:prstGeom prst="rect">
            <a:avLst/>
          </a:prstGeom>
          <a:noFill/>
          <a:ln>
            <a:noFill/>
          </a:ln>
        </p:spPr>
        <p:txBody>
          <a:bodyPr wrap="square" lIns="0" tIns="0" rIns="0" bIns="0" rtlCol="0" anchor="ctr">
            <a:noAutofit/>
          </a:bodyPr>
          <a:lstStyle/>
          <a:p>
            <a:pPr marL="0" indent="0" algn="ctr">
              <a:buNone/>
            </a:pPr>
            <a:r>
              <a:rPr lang="vi-VN" sz="1000" b="1" dirty="0">
                <a:solidFill>
                  <a:srgbClr val="FFFFFF"/>
                </a:solidFill>
              </a:rPr>
              <a:t>5.3</a:t>
            </a:r>
          </a:p>
        </p:txBody>
      </p:sp>
    </p:spTree>
    <p:extLst>
      <p:ext uri="{BB962C8B-B14F-4D97-AF65-F5344CB8AC3E}">
        <p14:creationId xmlns:p14="http://schemas.microsoft.com/office/powerpoint/2010/main" val="30039176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14">
    <p:bg>
      <p:bgPr>
        <a:solidFill>
          <a:srgbClr val="062F5C"/>
        </a:solidFill>
        <a:effectLst/>
      </p:bgPr>
    </p:bg>
    <p:spTree>
      <p:nvGrpSpPr>
        <p:cNvPr id="1" name=""/>
        <p:cNvGrpSpPr/>
        <p:nvPr/>
      </p:nvGrpSpPr>
      <p:grpSpPr>
        <a:xfrm>
          <a:off x="0" y="0"/>
          <a:ext cx="0" cy="0"/>
          <a:chOff x="0" y="0"/>
          <a:chExt cx="0" cy="0"/>
        </a:xfrm>
      </p:grpSpPr>
      <p:sp>
        <p:nvSpPr>
          <p:cNvPr id="22" name="Decor 23"/>
          <p:cNvSpPr/>
          <p:nvPr/>
        </p:nvSpPr>
        <p:spPr>
          <a:xfrm>
            <a:off x="8128000" y="-3556000"/>
            <a:ext cx="6350000" cy="6350000"/>
          </a:xfrm>
          <a:prstGeom prst="ellipse">
            <a:avLst/>
          </a:prstGeom>
          <a:noFill/>
          <a:ln w="28575">
            <a:solidFill>
              <a:srgbClr val="FFFFFF">
                <a:alpha val="22000"/>
              </a:srgbClr>
            </a:solidFill>
          </a:ln>
        </p:spPr>
        <p:txBody>
          <a:bodyPr/>
          <a:lstStyle/>
          <a:p>
            <a:endParaRPr lang="en-US"/>
          </a:p>
        </p:txBody>
      </p:sp>
      <p:sp>
        <p:nvSpPr>
          <p:cNvPr id="23" name="Decor 24"/>
          <p:cNvSpPr/>
          <p:nvPr/>
        </p:nvSpPr>
        <p:spPr>
          <a:xfrm>
            <a:off x="10795000" y="5207000"/>
            <a:ext cx="2286000" cy="2286000"/>
          </a:xfrm>
          <a:prstGeom prst="ellipse">
            <a:avLst/>
          </a:prstGeom>
          <a:solidFill>
            <a:srgbClr val="FFFFFF">
              <a:alpha val="9000"/>
            </a:srgbClr>
          </a:solidFill>
          <a:ln>
            <a:noFill/>
          </a:ln>
        </p:spPr>
        <p:txBody>
          <a:bodyPr/>
          <a:lstStyle/>
          <a:p>
            <a:endParaRPr lang="en-US"/>
          </a:p>
        </p:txBody>
      </p:sp>
      <p:sp>
        <p:nvSpPr>
          <p:cNvPr id="24" name="Decor 25"/>
          <p:cNvSpPr/>
          <p:nvPr/>
        </p:nvSpPr>
        <p:spPr>
          <a:xfrm rot="1500000">
            <a:off x="-508000" y="5969000"/>
            <a:ext cx="1524000" cy="1524000"/>
          </a:xfrm>
          <a:prstGeom prst="rect">
            <a:avLst/>
          </a:prstGeom>
          <a:noFill/>
          <a:ln w="28575">
            <a:solidFill>
              <a:srgbClr val="FFFFFF">
                <a:alpha val="22000"/>
              </a:srgbClr>
            </a:solidFill>
          </a:ln>
        </p:spPr>
        <p:txBody>
          <a:bodyPr/>
          <a:lstStyle/>
          <a:p>
            <a:endParaRPr lang="en-US"/>
          </a:p>
        </p:txBody>
      </p:sp>
      <p:sp>
        <p:nvSpPr>
          <p:cNvPr id="2" name="Text 1"/>
          <p:cNvSpPr>
            <a:spLocks noGrp="1"/>
          </p:cNvSpPr>
          <p:nvPr>
            <p:ph type="title" idx="101" hasCustomPrompt="1"/>
          </p:nvPr>
        </p:nvSpPr>
        <p:spPr>
          <a:xfrm>
            <a:off x="1168400" y="512064"/>
            <a:ext cx="10566400" cy="512064"/>
          </a:xfrm>
          <a:prstGeom prst="rect">
            <a:avLst/>
          </a:prstGeom>
          <a:noFill/>
          <a:ln/>
        </p:spPr>
        <p:txBody>
          <a:bodyPr wrap="square" lIns="0" tIns="0" rIns="0" bIns="0" rtlCol="0" anchor="t"/>
          <a:lstStyle/>
          <a:p>
            <a:pPr marL="0" indent="0" algn="l">
              <a:buNone/>
            </a:pPr>
            <a:r>
              <a:rPr lang="en-US" sz="2600" b="1" dirty="0">
                <a:solidFill>
                  <a:srgbClr val="FFFFFF"/>
                </a:solidFill>
              </a:rPr>
              <a:t>Khả năng giải quyết vấn đề, lên kế hoạch, lập luận, ra quyết định</a:t>
            </a:r>
          </a:p>
        </p:txBody>
      </p:sp>
      <p:sp>
        <p:nvSpPr>
          <p:cNvPr id="901" name="Deco 901"/>
          <p:cNvSpPr/>
          <p:nvPr/>
        </p:nvSpPr>
        <p:spPr>
          <a:xfrm>
            <a:off x="457200" y="1270000"/>
            <a:ext cx="50800" cy="2377440"/>
          </a:xfrm>
          <a:prstGeom prst="rect">
            <a:avLst/>
          </a:prstGeom>
          <a:solidFill>
            <a:srgbClr val="F4B336"/>
          </a:solidFill>
          <a:ln>
            <a:noFill/>
          </a:ln>
        </p:spPr>
        <p:txBody>
          <a:bodyPr/>
          <a:lstStyle/>
          <a:p>
            <a:endParaRPr lang="en-US"/>
          </a:p>
        </p:txBody>
      </p:sp>
      <p:sp>
        <p:nvSpPr>
          <p:cNvPr id="5" name="Text 3"/>
          <p:cNvSpPr txBox="1"/>
          <p:nvPr/>
        </p:nvSpPr>
        <p:spPr>
          <a:xfrm>
            <a:off x="736600" y="1270000"/>
            <a:ext cx="10998200" cy="2377440"/>
          </a:xfrm>
          <a:prstGeom prst="rect">
            <a:avLst/>
          </a:prstGeom>
          <a:noFill/>
          <a:ln/>
        </p:spPr>
        <p:txBody>
          <a:bodyPr wrap="square" lIns="0" tIns="0" rIns="0" bIns="0" rtlCol="0" anchor="t"/>
          <a:lstStyle/>
          <a:p>
            <a:pPr marL="0" indent="0">
              <a:lnSpc>
                <a:spcPct val="100000"/>
              </a:lnSpc>
              <a:spcAft>
                <a:spcPts val="200"/>
              </a:spcAft>
              <a:buNone/>
            </a:pPr>
            <a:r>
              <a:rPr lang="en-US" sz="2000" i="1" dirty="0">
                <a:solidFill>
                  <a:srgbClr val="9FB2C8"/>
                </a:solidFill>
              </a:rPr>
              <a:t>(Problem Solving, Planning, Reasoning, and Decision Making)</a:t>
            </a:r>
          </a:p>
          <a:p>
            <a:pPr marL="0" indent="0">
              <a:lnSpc>
                <a:spcPct val="100000"/>
              </a:lnSpc>
              <a:spcAft>
                <a:spcPts val="0"/>
              </a:spcAft>
              <a:buNone/>
            </a:pPr>
            <a:r>
              <a:rPr lang="vi-VN" sz="3000" b="1" dirty="0">
                <a:solidFill>
                  <a:srgbClr val="F4B336"/>
                </a:solidFill>
              </a:rPr>
              <a:t>6.1. Khái niệm: </a:t>
            </a:r>
            <a:r>
              <a:rPr lang="vi-VN" sz="3000" dirty="0">
                <a:solidFill>
                  <a:srgbClr val="FFFFFF"/>
                </a:solidFill>
              </a:rPr>
              <a:t>Problem Solving, Planning, Reasoning, and Decision Making là các quá trình liên quan đến nhận thức phản chiếu, trong đó con người chủ động suy nghĩ về việc cần làm, các lựa chọn hiện có và kết quả có thể xảy ra.</a:t>
            </a:r>
          </a:p>
        </p:txBody>
      </p:sp>
      <p:sp>
        <p:nvSpPr>
          <p:cNvPr id="17" name="Card left"/>
          <p:cNvSpPr/>
          <p:nvPr/>
        </p:nvSpPr>
        <p:spPr>
          <a:xfrm>
            <a:off x="457200" y="4000500"/>
            <a:ext cx="11277600" cy="2222500"/>
          </a:xfrm>
          <a:prstGeom prst="roundRect">
            <a:avLst>
              <a:gd name="adj" fmla="val 643"/>
            </a:avLst>
          </a:prstGeom>
          <a:solidFill>
            <a:srgbClr val="FFFFFF"/>
          </a:solidFill>
          <a:ln w="9525">
            <a:noFill/>
          </a:ln>
        </p:spPr>
        <p:txBody>
          <a:bodyPr rtlCol="0" anchor="ctr"/>
          <a:lstStyle/>
          <a:p>
            <a:endParaRPr lang="en-US"/>
          </a:p>
        </p:txBody>
      </p:sp>
      <p:sp>
        <p:nvSpPr>
          <p:cNvPr id="8" name="Shape 6"/>
          <p:cNvSpPr/>
          <p:nvPr/>
        </p:nvSpPr>
        <p:spPr>
          <a:xfrm>
            <a:off x="457200" y="4000500"/>
            <a:ext cx="11277600" cy="63500"/>
          </a:xfrm>
          <a:prstGeom prst="rect">
            <a:avLst/>
          </a:prstGeom>
          <a:solidFill>
            <a:srgbClr val="1677B8"/>
          </a:solidFill>
          <a:ln w="12700">
            <a:noFill/>
          </a:ln>
        </p:spPr>
        <p:txBody>
          <a:bodyPr/>
          <a:lstStyle/>
          <a:p>
            <a:endParaRPr lang="en-US"/>
          </a:p>
        </p:txBody>
      </p:sp>
      <p:sp>
        <p:nvSpPr>
          <p:cNvPr id="21" name="Topic badge"/>
          <p:cNvSpPr/>
          <p:nvPr/>
        </p:nvSpPr>
        <p:spPr>
          <a:xfrm>
            <a:off x="457200" y="524764"/>
            <a:ext cx="508000" cy="508000"/>
          </a:xfrm>
          <a:prstGeom prst="roundRect">
            <a:avLst>
              <a:gd name="adj" fmla="val 22000"/>
            </a:avLst>
          </a:prstGeom>
          <a:solidFill>
            <a:srgbClr val="F4B336"/>
          </a:solidFill>
          <a:ln>
            <a:noFill/>
          </a:ln>
        </p:spPr>
        <p:txBody>
          <a:bodyPr wrap="none" lIns="0" tIns="0" rIns="0" bIns="0" rtlCol="0" anchor="ctr">
            <a:noAutofit/>
          </a:bodyPr>
          <a:lstStyle/>
          <a:p>
            <a:pPr algn="ctr"/>
            <a:r>
              <a:rPr lang="en-US" sz="2000" b="1" dirty="0">
                <a:solidFill>
                  <a:srgbClr val="062F5C"/>
                </a:solidFill>
              </a:rPr>
              <a:t>06</a:t>
            </a:r>
          </a:p>
        </p:txBody>
      </p:sp>
      <p:sp>
        <p:nvSpPr>
          <p:cNvPr id="6" name="Text 4"/>
          <p:cNvSpPr txBox="1"/>
          <p:nvPr/>
        </p:nvSpPr>
        <p:spPr>
          <a:xfrm>
            <a:off x="812800" y="4178300"/>
            <a:ext cx="10617200" cy="1917700"/>
          </a:xfrm>
          <a:prstGeom prst="rect">
            <a:avLst/>
          </a:prstGeom>
          <a:noFill/>
          <a:ln/>
        </p:spPr>
        <p:txBody>
          <a:bodyPr wrap="square" lIns="0" tIns="0" rIns="0" bIns="0" rtlCol="0" anchor="ctr"/>
          <a:lstStyle/>
          <a:p>
            <a:pPr marL="0" indent="0">
              <a:lnSpc>
                <a:spcPct val="105000"/>
              </a:lnSpc>
              <a:spcAft>
                <a:spcPts val="0"/>
              </a:spcAft>
              <a:buNone/>
            </a:pPr>
            <a:r>
              <a:rPr lang="vi-VN" sz="2400" dirty="0">
                <a:solidFill>
                  <a:srgbClr val="2B3642"/>
                </a:solidFill>
              </a:rPr>
              <a:t>Các quá trình này thường bao gồm suy nghĩ có ý thức, trao đổi với người khác và sử dụng các công cụ hỗ trợ để phân tích tình huống và lựa chọn phương án phù hợp.</a:t>
            </a:r>
          </a:p>
        </p:txBody>
      </p:sp>
    </p:spTree>
    <p:extLst>
      <p:ext uri="{BB962C8B-B14F-4D97-AF65-F5344CB8AC3E}">
        <p14:creationId xmlns:p14="http://schemas.microsoft.com/office/powerpoint/2010/main" val="34007683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14">
    <p:bg>
      <p:bgPr>
        <a:solidFill>
          <a:srgbClr val="062F5C"/>
        </a:solidFill>
        <a:effectLst/>
      </p:bgPr>
    </p:bg>
    <p:spTree>
      <p:nvGrpSpPr>
        <p:cNvPr id="1" name=""/>
        <p:cNvGrpSpPr/>
        <p:nvPr/>
      </p:nvGrpSpPr>
      <p:grpSpPr>
        <a:xfrm>
          <a:off x="0" y="0"/>
          <a:ext cx="0" cy="0"/>
          <a:chOff x="0" y="0"/>
          <a:chExt cx="0" cy="0"/>
        </a:xfrm>
      </p:grpSpPr>
      <p:sp>
        <p:nvSpPr>
          <p:cNvPr id="22" name="Decor 23"/>
          <p:cNvSpPr/>
          <p:nvPr/>
        </p:nvSpPr>
        <p:spPr>
          <a:xfrm>
            <a:off x="8128000" y="-3556000"/>
            <a:ext cx="6350000" cy="6350000"/>
          </a:xfrm>
          <a:prstGeom prst="ellipse">
            <a:avLst/>
          </a:prstGeom>
          <a:noFill/>
          <a:ln w="28575">
            <a:solidFill>
              <a:srgbClr val="FFFFFF">
                <a:alpha val="22000"/>
              </a:srgbClr>
            </a:solidFill>
          </a:ln>
        </p:spPr>
        <p:txBody>
          <a:bodyPr/>
          <a:lstStyle/>
          <a:p>
            <a:endParaRPr lang="en-US"/>
          </a:p>
        </p:txBody>
      </p:sp>
      <p:sp>
        <p:nvSpPr>
          <p:cNvPr id="23" name="Decor 24"/>
          <p:cNvSpPr/>
          <p:nvPr/>
        </p:nvSpPr>
        <p:spPr>
          <a:xfrm>
            <a:off x="10795000" y="5207000"/>
            <a:ext cx="2286000" cy="2286000"/>
          </a:xfrm>
          <a:prstGeom prst="ellipse">
            <a:avLst/>
          </a:prstGeom>
          <a:solidFill>
            <a:srgbClr val="FFFFFF">
              <a:alpha val="9000"/>
            </a:srgbClr>
          </a:solidFill>
          <a:ln>
            <a:noFill/>
          </a:ln>
        </p:spPr>
        <p:txBody>
          <a:bodyPr/>
          <a:lstStyle/>
          <a:p>
            <a:endParaRPr lang="en-US"/>
          </a:p>
        </p:txBody>
      </p:sp>
      <p:sp>
        <p:nvSpPr>
          <p:cNvPr id="24" name="Decor 25"/>
          <p:cNvSpPr/>
          <p:nvPr/>
        </p:nvSpPr>
        <p:spPr>
          <a:xfrm rot="1500000">
            <a:off x="-508000" y="5969000"/>
            <a:ext cx="1524000" cy="1524000"/>
          </a:xfrm>
          <a:prstGeom prst="rect">
            <a:avLst/>
          </a:prstGeom>
          <a:noFill/>
          <a:ln w="28575">
            <a:solidFill>
              <a:srgbClr val="FFFFFF">
                <a:alpha val="22000"/>
              </a:srgbClr>
            </a:solidFill>
          </a:ln>
        </p:spPr>
        <p:txBody>
          <a:bodyPr/>
          <a:lstStyle/>
          <a:p>
            <a:endParaRPr lang="en-US"/>
          </a:p>
        </p:txBody>
      </p:sp>
      <p:sp>
        <p:nvSpPr>
          <p:cNvPr id="2" name="Text 1"/>
          <p:cNvSpPr>
            <a:spLocks noGrp="1"/>
          </p:cNvSpPr>
          <p:nvPr>
            <p:ph type="title" idx="101" hasCustomPrompt="1"/>
          </p:nvPr>
        </p:nvSpPr>
        <p:spPr>
          <a:xfrm>
            <a:off x="1168400" y="512064"/>
            <a:ext cx="10566400" cy="512064"/>
          </a:xfrm>
          <a:prstGeom prst="rect">
            <a:avLst/>
          </a:prstGeom>
          <a:noFill/>
          <a:ln/>
        </p:spPr>
        <p:txBody>
          <a:bodyPr wrap="square" lIns="0" tIns="0" rIns="0" bIns="0" rtlCol="0" anchor="t"/>
          <a:lstStyle/>
          <a:p>
            <a:pPr marL="0" indent="0" algn="l">
              <a:buNone/>
            </a:pPr>
            <a:r>
              <a:rPr lang="en-US" sz="2600" b="1" dirty="0">
                <a:solidFill>
                  <a:srgbClr val="FFFFFF"/>
                </a:solidFill>
              </a:rPr>
              <a:t>Khả năng giải quyết vấn đề, lên kế hoạch, lập luận, ra quyết định</a:t>
            </a:r>
          </a:p>
        </p:txBody>
      </p:sp>
      <p:sp>
        <p:nvSpPr>
          <p:cNvPr id="17" name="Card left"/>
          <p:cNvSpPr/>
          <p:nvPr/>
        </p:nvSpPr>
        <p:spPr>
          <a:xfrm>
            <a:off x="457200" y="1117600"/>
            <a:ext cx="11277600" cy="5257800"/>
          </a:xfrm>
          <a:prstGeom prst="roundRect">
            <a:avLst>
              <a:gd name="adj" fmla="val 643"/>
            </a:avLst>
          </a:prstGeom>
          <a:solidFill>
            <a:srgbClr val="FFFFFF"/>
          </a:solidFill>
          <a:ln w="9525">
            <a:noFill/>
          </a:ln>
        </p:spPr>
        <p:txBody>
          <a:bodyPr rtlCol="0" anchor="ctr"/>
          <a:lstStyle/>
          <a:p>
            <a:endParaRPr lang="en-US"/>
          </a:p>
        </p:txBody>
      </p:sp>
      <p:sp>
        <p:nvSpPr>
          <p:cNvPr id="8" name="Shape 6"/>
          <p:cNvSpPr/>
          <p:nvPr/>
        </p:nvSpPr>
        <p:spPr>
          <a:xfrm>
            <a:off x="457200" y="1117600"/>
            <a:ext cx="11277600" cy="63500"/>
          </a:xfrm>
          <a:prstGeom prst="rect">
            <a:avLst/>
          </a:prstGeom>
          <a:solidFill>
            <a:srgbClr val="1677B8"/>
          </a:solidFill>
          <a:ln w="12700">
            <a:noFill/>
          </a:ln>
        </p:spPr>
        <p:txBody>
          <a:bodyPr/>
          <a:lstStyle/>
          <a:p>
            <a:endParaRPr lang="en-US"/>
          </a:p>
        </p:txBody>
      </p:sp>
      <p:sp>
        <p:nvSpPr>
          <p:cNvPr id="21" name="Topic badge"/>
          <p:cNvSpPr/>
          <p:nvPr/>
        </p:nvSpPr>
        <p:spPr>
          <a:xfrm>
            <a:off x="457200" y="524764"/>
            <a:ext cx="508000" cy="508000"/>
          </a:xfrm>
          <a:prstGeom prst="roundRect">
            <a:avLst>
              <a:gd name="adj" fmla="val 22000"/>
            </a:avLst>
          </a:prstGeom>
          <a:solidFill>
            <a:srgbClr val="F4B336"/>
          </a:solidFill>
          <a:ln>
            <a:noFill/>
          </a:ln>
        </p:spPr>
        <p:txBody>
          <a:bodyPr wrap="none" lIns="0" tIns="0" rIns="0" bIns="0" rtlCol="0" anchor="ctr">
            <a:noAutofit/>
          </a:bodyPr>
          <a:lstStyle/>
          <a:p>
            <a:pPr algn="ctr"/>
            <a:r>
              <a:rPr lang="en-US" sz="2000" b="1" dirty="0">
                <a:solidFill>
                  <a:srgbClr val="062F5C"/>
                </a:solidFill>
              </a:rPr>
              <a:t>06</a:t>
            </a:r>
          </a:p>
        </p:txBody>
      </p:sp>
      <p:sp>
        <p:nvSpPr>
          <p:cNvPr id="4" name="TextBox 3">
            <a:extLst>
              <a:ext uri="{FF2B5EF4-FFF2-40B4-BE49-F238E27FC236}">
                <a16:creationId xmlns:a16="http://schemas.microsoft.com/office/drawing/2014/main" id="{11BC5FF5-9056-4EC9-341F-872774AB5FB0}"/>
              </a:ext>
            </a:extLst>
          </p:cNvPr>
          <p:cNvSpPr txBox="1"/>
          <p:nvPr/>
        </p:nvSpPr>
        <p:spPr>
          <a:xfrm>
            <a:off x="736600" y="1612900"/>
            <a:ext cx="10795000" cy="4724400"/>
          </a:xfrm>
          <a:prstGeom prst="rect">
            <a:avLst/>
          </a:prstGeom>
          <a:noFill/>
        </p:spPr>
        <p:txBody>
          <a:bodyPr wrap="square" lIns="0" tIns="0" rIns="0" bIns="0" rtlCol="0" anchor="t"/>
          <a:lstStyle/>
          <a:p>
            <a:pPr marL="285750" indent="-285750">
              <a:lnSpc>
                <a:spcPct val="100000"/>
              </a:lnSpc>
              <a:spcAft>
                <a:spcPts val="100"/>
              </a:spcAft>
              <a:buNone/>
            </a:pPr>
            <a:r>
              <a:rPr lang="vi-VN" sz="2000" b="1" dirty="0">
                <a:solidFill>
                  <a:srgbClr val="1677B8"/>
                </a:solidFill>
              </a:rPr>
              <a:t>1. </a:t>
            </a:r>
            <a:r>
              <a:rPr lang="vi-VN" sz="2000" b="1" dirty="0">
                <a:solidFill>
                  <a:srgbClr val="062F5C"/>
                </a:solidFill>
              </a:rPr>
              <a:t>Liên quan đến nhận thức phản chiếu</a:t>
            </a:r>
            <a:r>
              <a:rPr lang="en-US" sz="1500" dirty="0">
                <a:solidFill>
                  <a:srgbClr val="1677B8"/>
                </a:solidFill>
              </a:rPr>
              <a:t>   </a:t>
            </a:r>
            <a:r>
              <a:rPr lang="en-US" sz="1500" i="1" dirty="0">
                <a:solidFill>
                  <a:srgbClr val="1677B8"/>
                </a:solidFill>
              </a:rPr>
              <a:t>Reflective Cognition</a:t>
            </a:r>
          </a:p>
          <a:p>
            <a:pPr marL="285750" indent="0">
              <a:lnSpc>
                <a:spcPct val="100000"/>
              </a:lnSpc>
              <a:spcAft>
                <a:spcPts val="100"/>
              </a:spcAft>
              <a:buNone/>
            </a:pPr>
            <a:r>
              <a:rPr lang="vi-VN" sz="1800" dirty="0">
                <a:solidFill>
                  <a:srgbClr val="17212B"/>
                </a:solidFill>
              </a:rPr>
              <a:t>Người dùng cần chủ động suy nghĩ và phân tích trước khi hành động, thay vì phản ứng ngay lập tức theo thói quen.</a:t>
            </a:r>
          </a:p>
          <a:p>
            <a:pPr marL="285750" indent="0">
              <a:lnSpc>
                <a:spcPct val="100000"/>
              </a:lnSpc>
              <a:spcAft>
                <a:spcPts val="250"/>
              </a:spcAft>
              <a:buNone/>
            </a:pPr>
            <a:r>
              <a:rPr lang="vi-VN" sz="1800" dirty="0">
                <a:solidFill>
                  <a:srgbClr val="17212B"/>
                </a:solidFill>
              </a:rPr>
              <a:t>Quá trình này thường bao gồm việc xem xét mục tiêu, các lựa chọn hiện có và hậu quả có thể xảy ra của từng lựa chọn.</a:t>
            </a:r>
          </a:p>
          <a:p>
            <a:pPr marL="285750" indent="-285750">
              <a:lnSpc>
                <a:spcPct val="100000"/>
              </a:lnSpc>
              <a:spcAft>
                <a:spcPts val="100"/>
              </a:spcAft>
              <a:buNone/>
            </a:pPr>
            <a:r>
              <a:rPr lang="vi-VN" sz="2000" b="1" dirty="0">
                <a:solidFill>
                  <a:srgbClr val="1677B8"/>
                </a:solidFill>
              </a:rPr>
              <a:t>2. </a:t>
            </a:r>
            <a:r>
              <a:rPr lang="vi-VN" sz="2000" b="1" dirty="0">
                <a:solidFill>
                  <a:srgbClr val="062F5C"/>
                </a:solidFill>
              </a:rPr>
              <a:t>Dựa vào suy nghĩ có ý thức và các công cụ hỗ trợ</a:t>
            </a:r>
            <a:r>
              <a:rPr lang="en-US" sz="1500" dirty="0">
                <a:solidFill>
                  <a:srgbClr val="1677B8"/>
                </a:solidFill>
              </a:rPr>
              <a:t>   </a:t>
            </a:r>
            <a:r>
              <a:rPr lang="en-US" sz="1500" i="1" dirty="0">
                <a:solidFill>
                  <a:srgbClr val="1677B8"/>
                </a:solidFill>
              </a:rPr>
              <a:t>Conscious Processes / Discussion / Artefacts</a:t>
            </a:r>
          </a:p>
          <a:p>
            <a:pPr marL="285750" indent="0">
              <a:lnSpc>
                <a:spcPct val="100000"/>
              </a:lnSpc>
              <a:spcAft>
                <a:spcPts val="100"/>
              </a:spcAft>
              <a:buNone/>
            </a:pPr>
            <a:r>
              <a:rPr lang="vi-VN" sz="1800" dirty="0">
                <a:solidFill>
                  <a:srgbClr val="17212B"/>
                </a:solidFill>
              </a:rPr>
              <a:t>Việc giải quyết vấn đề và ra quyết định không chỉ diễn ra trong suy nghĩ của cá nhân mà còn có thể dựa vào thảo luận với người khác và sử dụng các công cụ bên ngoài.</a:t>
            </a:r>
          </a:p>
          <a:p>
            <a:pPr marL="285750" indent="0">
              <a:lnSpc>
                <a:spcPct val="100000"/>
              </a:lnSpc>
              <a:spcAft>
                <a:spcPts val="250"/>
              </a:spcAft>
              <a:buNone/>
            </a:pPr>
            <a:r>
              <a:rPr lang="vi-VN" sz="1800" dirty="0">
                <a:solidFill>
                  <a:srgbClr val="17212B"/>
                </a:solidFill>
              </a:rPr>
              <a:t>Những công cụ như bản đồ, sách, giấy bút hoặc các nguồn thông tin số có thể hỗ trợ người dùng tổ chức thông tin và suy nghĩ hiệu quả hơn.</a:t>
            </a:r>
          </a:p>
          <a:p>
            <a:pPr marL="285750" indent="-285750">
              <a:lnSpc>
                <a:spcPct val="100000"/>
              </a:lnSpc>
              <a:spcAft>
                <a:spcPts val="100"/>
              </a:spcAft>
              <a:buNone/>
            </a:pPr>
            <a:r>
              <a:rPr lang="vi-VN" sz="2000" b="1" dirty="0">
                <a:solidFill>
                  <a:srgbClr val="1677B8"/>
                </a:solidFill>
              </a:rPr>
              <a:t>3. </a:t>
            </a:r>
            <a:r>
              <a:rPr lang="vi-VN" sz="2000" b="1" dirty="0">
                <a:solidFill>
                  <a:srgbClr val="062F5C"/>
                </a:solidFill>
              </a:rPr>
              <a:t>Xem xét nhiều kịch bản trước khi lựa chọn</a:t>
            </a:r>
            <a:r>
              <a:rPr lang="en-US" sz="1500" dirty="0">
                <a:solidFill>
                  <a:srgbClr val="1677B8"/>
                </a:solidFill>
              </a:rPr>
              <a:t>   </a:t>
            </a:r>
            <a:r>
              <a:rPr lang="en-US" sz="1500" i="1" dirty="0">
                <a:solidFill>
                  <a:srgbClr val="1677B8"/>
                </a:solidFill>
              </a:rPr>
              <a:t>Scenario Evaluation / Comparing Options</a:t>
            </a:r>
          </a:p>
          <a:p>
            <a:pPr marL="285750" indent="0">
              <a:lnSpc>
                <a:spcPct val="100000"/>
              </a:lnSpc>
              <a:spcAft>
                <a:spcPts val="100"/>
              </a:spcAft>
              <a:buNone/>
            </a:pPr>
            <a:r>
              <a:rPr lang="vi-VN" sz="1800" dirty="0">
                <a:solidFill>
                  <a:srgbClr val="17212B"/>
                </a:solidFill>
              </a:rPr>
              <a:t>Người dùng thường phải xem xét nhiều phương án khác nhau, phân tích ưu điểm và hạn chế của từng phương án trước khi đưa ra quyết định.</a:t>
            </a:r>
          </a:p>
          <a:p>
            <a:pPr marL="285750" indent="0">
              <a:lnSpc>
                <a:spcPct val="100000"/>
              </a:lnSpc>
              <a:spcAft>
                <a:spcPts val="0"/>
              </a:spcAft>
              <a:buNone/>
            </a:pPr>
            <a:r>
              <a:rPr lang="vi-VN" sz="1800" dirty="0">
                <a:solidFill>
                  <a:srgbClr val="17212B"/>
                </a:solidFill>
              </a:rPr>
              <a:t>Quá trình này giúp người dùng so sánh các lựa chọn và chọn ra phương án phù hợp nhất với mục tiêu hoặc tình huống hiện tại.</a:t>
            </a:r>
          </a:p>
        </p:txBody>
      </p:sp>
      <p:sp>
        <p:nvSpPr>
          <p:cNvPr id="10" name="Text 7">
            <a:extLst>
              <a:ext uri="{FF2B5EF4-FFF2-40B4-BE49-F238E27FC236}">
                <a16:creationId xmlns:a16="http://schemas.microsoft.com/office/drawing/2014/main" id="{B5E7A6B3-2DDC-8189-4B7E-82FAA75061E9}"/>
              </a:ext>
            </a:extLst>
          </p:cNvPr>
          <p:cNvSpPr txBox="1"/>
          <p:nvPr/>
        </p:nvSpPr>
        <p:spPr>
          <a:xfrm>
            <a:off x="736600" y="1244600"/>
            <a:ext cx="8890000" cy="330200"/>
          </a:xfrm>
          <a:prstGeom prst="rect">
            <a:avLst/>
          </a:prstGeom>
          <a:noFill/>
          <a:ln/>
        </p:spPr>
        <p:txBody>
          <a:bodyPr wrap="square" lIns="0" tIns="0" rIns="0" bIns="0" rtlCol="0" anchor="t"/>
          <a:lstStyle/>
          <a:p>
            <a:pPr marL="0" indent="0">
              <a:buNone/>
            </a:pPr>
            <a:r>
              <a:rPr lang="vi-VN" sz="2200" b="1" kern="0" spc="50" dirty="0">
                <a:solidFill>
                  <a:srgbClr val="1677B8"/>
                </a:solidFill>
              </a:rPr>
              <a:t>6.2. CÁC ĐẶC ĐIỂM</a:t>
            </a:r>
          </a:p>
        </p:txBody>
      </p:sp>
    </p:spTree>
    <p:extLst>
      <p:ext uri="{BB962C8B-B14F-4D97-AF65-F5344CB8AC3E}">
        <p14:creationId xmlns:p14="http://schemas.microsoft.com/office/powerpoint/2010/main" val="33762657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14">
    <p:bg>
      <p:bgPr>
        <a:solidFill>
          <a:srgbClr val="062F5C"/>
        </a:solidFill>
        <a:effectLst/>
      </p:bgPr>
    </p:bg>
    <p:spTree>
      <p:nvGrpSpPr>
        <p:cNvPr id="1" name=""/>
        <p:cNvGrpSpPr/>
        <p:nvPr/>
      </p:nvGrpSpPr>
      <p:grpSpPr>
        <a:xfrm>
          <a:off x="0" y="0"/>
          <a:ext cx="0" cy="0"/>
          <a:chOff x="0" y="0"/>
          <a:chExt cx="0" cy="0"/>
        </a:xfrm>
      </p:grpSpPr>
      <p:sp>
        <p:nvSpPr>
          <p:cNvPr id="22" name="Decor 23"/>
          <p:cNvSpPr/>
          <p:nvPr/>
        </p:nvSpPr>
        <p:spPr>
          <a:xfrm>
            <a:off x="8128000" y="-3556000"/>
            <a:ext cx="6350000" cy="6350000"/>
          </a:xfrm>
          <a:prstGeom prst="ellipse">
            <a:avLst/>
          </a:prstGeom>
          <a:noFill/>
          <a:ln w="28575">
            <a:solidFill>
              <a:srgbClr val="FFFFFF">
                <a:alpha val="22000"/>
              </a:srgbClr>
            </a:solidFill>
          </a:ln>
        </p:spPr>
        <p:txBody>
          <a:bodyPr/>
          <a:lstStyle/>
          <a:p>
            <a:endParaRPr lang="en-US"/>
          </a:p>
        </p:txBody>
      </p:sp>
      <p:sp>
        <p:nvSpPr>
          <p:cNvPr id="23" name="Decor 24"/>
          <p:cNvSpPr/>
          <p:nvPr/>
        </p:nvSpPr>
        <p:spPr>
          <a:xfrm>
            <a:off x="10795000" y="5207000"/>
            <a:ext cx="2286000" cy="2286000"/>
          </a:xfrm>
          <a:prstGeom prst="ellipse">
            <a:avLst/>
          </a:prstGeom>
          <a:solidFill>
            <a:srgbClr val="FFFFFF">
              <a:alpha val="9000"/>
            </a:srgbClr>
          </a:solidFill>
          <a:ln>
            <a:noFill/>
          </a:ln>
        </p:spPr>
        <p:txBody>
          <a:bodyPr/>
          <a:lstStyle/>
          <a:p>
            <a:endParaRPr lang="en-US"/>
          </a:p>
        </p:txBody>
      </p:sp>
      <p:sp>
        <p:nvSpPr>
          <p:cNvPr id="24" name="Decor 25"/>
          <p:cNvSpPr/>
          <p:nvPr/>
        </p:nvSpPr>
        <p:spPr>
          <a:xfrm rot="1500000">
            <a:off x="-508000" y="5969000"/>
            <a:ext cx="1524000" cy="1524000"/>
          </a:xfrm>
          <a:prstGeom prst="rect">
            <a:avLst/>
          </a:prstGeom>
          <a:noFill/>
          <a:ln w="28575">
            <a:solidFill>
              <a:srgbClr val="FFFFFF">
                <a:alpha val="22000"/>
              </a:srgbClr>
            </a:solidFill>
          </a:ln>
        </p:spPr>
        <p:txBody>
          <a:bodyPr/>
          <a:lstStyle/>
          <a:p>
            <a:endParaRPr lang="en-US"/>
          </a:p>
        </p:txBody>
      </p:sp>
      <p:sp>
        <p:nvSpPr>
          <p:cNvPr id="2" name="Text 1"/>
          <p:cNvSpPr>
            <a:spLocks noGrp="1"/>
          </p:cNvSpPr>
          <p:nvPr>
            <p:ph type="title" idx="101" hasCustomPrompt="1"/>
          </p:nvPr>
        </p:nvSpPr>
        <p:spPr>
          <a:xfrm>
            <a:off x="1168400" y="512064"/>
            <a:ext cx="10566400" cy="512064"/>
          </a:xfrm>
          <a:prstGeom prst="rect">
            <a:avLst/>
          </a:prstGeom>
          <a:noFill/>
          <a:ln/>
        </p:spPr>
        <p:txBody>
          <a:bodyPr wrap="square" lIns="0" tIns="0" rIns="0" bIns="0" rtlCol="0" anchor="t"/>
          <a:lstStyle/>
          <a:p>
            <a:pPr marL="0" indent="0" algn="l">
              <a:buNone/>
            </a:pPr>
            <a:r>
              <a:rPr lang="en-US" sz="3000" b="1" dirty="0">
                <a:solidFill>
                  <a:srgbClr val="FFFFFF"/>
                </a:solidFill>
              </a:rPr>
              <a:t>Giải quyết vấn đề, lập kế hoạch, lập luận, ra quyết định</a:t>
            </a:r>
            <a:endParaRPr lang="en-US" sz="2800" dirty="0">
              <a:solidFill>
                <a:srgbClr val="FFFFFF"/>
              </a:solidFill>
            </a:endParaRPr>
          </a:p>
        </p:txBody>
      </p:sp>
      <p:sp>
        <p:nvSpPr>
          <p:cNvPr id="901" name="Deco 901"/>
          <p:cNvSpPr/>
          <p:nvPr/>
        </p:nvSpPr>
        <p:spPr>
          <a:xfrm>
            <a:off x="457200" y="1143000"/>
            <a:ext cx="38100" cy="939800"/>
          </a:xfrm>
          <a:prstGeom prst="rect">
            <a:avLst/>
          </a:prstGeom>
          <a:solidFill>
            <a:srgbClr val="F4B336"/>
          </a:solidFill>
          <a:ln>
            <a:noFill/>
          </a:ln>
        </p:spPr>
        <p:txBody>
          <a:bodyPr/>
          <a:lstStyle/>
          <a:p>
            <a:endParaRPr lang="en-US"/>
          </a:p>
        </p:txBody>
      </p:sp>
      <p:sp>
        <p:nvSpPr>
          <p:cNvPr id="5" name="Text 3"/>
          <p:cNvSpPr txBox="1"/>
          <p:nvPr/>
        </p:nvSpPr>
        <p:spPr>
          <a:xfrm>
            <a:off x="660400" y="1117600"/>
            <a:ext cx="11074400" cy="609600"/>
          </a:xfrm>
          <a:prstGeom prst="rect">
            <a:avLst/>
          </a:prstGeom>
          <a:noFill/>
          <a:ln/>
        </p:spPr>
        <p:txBody>
          <a:bodyPr wrap="square" lIns="0" tIns="0" rIns="0" bIns="0" rtlCol="0" anchor="t"/>
          <a:lstStyle/>
          <a:p>
            <a:pPr marL="0" indent="0">
              <a:lnSpc>
                <a:spcPct val="105000"/>
              </a:lnSpc>
              <a:buNone/>
            </a:pPr>
            <a:r>
              <a:rPr lang="en-US" sz="1900" b="1" dirty="0">
                <a:solidFill>
                  <a:srgbClr val="F4B336"/>
                </a:solidFill>
              </a:rPr>
              <a:t>Lời khuyên thiết kế: </a:t>
            </a:r>
            <a:r>
              <a:rPr lang="en-US" sz="1900" dirty="0">
                <a:solidFill>
                  <a:srgbClr val="FFFFFF"/>
                </a:solidFill>
              </a:rPr>
              <a:t>giữ giao diện đơn giản cho quyết định nhanh, và để chi tiết nâng cao ở lớp sau.</a:t>
            </a:r>
          </a:p>
        </p:txBody>
      </p:sp>
      <p:sp>
        <p:nvSpPr>
          <p:cNvPr id="6" name="Text 4"/>
          <p:cNvSpPr txBox="1"/>
          <p:nvPr/>
        </p:nvSpPr>
        <p:spPr>
          <a:xfrm>
            <a:off x="660400" y="1778000"/>
            <a:ext cx="11074400" cy="254000"/>
          </a:xfrm>
          <a:prstGeom prst="rect">
            <a:avLst/>
          </a:prstGeom>
          <a:noFill/>
          <a:ln/>
        </p:spPr>
        <p:txBody>
          <a:bodyPr wrap="square" lIns="0" tIns="0" rIns="0" bIns="0" rtlCol="0" anchor="t"/>
          <a:lstStyle/>
          <a:p>
            <a:pPr marL="0" indent="0">
              <a:buNone/>
            </a:pPr>
            <a:r>
              <a:rPr lang="en-US" sz="1400" i="1" dirty="0">
                <a:solidFill>
                  <a:srgbClr val="9FB3CC"/>
                </a:solidFill>
              </a:rPr>
              <a:t>Design Implications – Problem Solving, Planning, Reasoning and Decision Making. Nguồn: Preece, Rogers &amp; Sharp (2015) – mục 3.2.6</a:t>
            </a:r>
          </a:p>
        </p:txBody>
      </p:sp>
      <p:sp>
        <p:nvSpPr>
          <p:cNvPr id="21" name="Topic badge"/>
          <p:cNvSpPr/>
          <p:nvPr/>
        </p:nvSpPr>
        <p:spPr>
          <a:xfrm>
            <a:off x="457200" y="524764"/>
            <a:ext cx="508000" cy="508000"/>
          </a:xfrm>
          <a:prstGeom prst="roundRect">
            <a:avLst>
              <a:gd name="adj" fmla="val 22000"/>
            </a:avLst>
          </a:prstGeom>
          <a:solidFill>
            <a:srgbClr val="F4B336"/>
          </a:solidFill>
          <a:ln>
            <a:noFill/>
          </a:ln>
        </p:spPr>
        <p:txBody>
          <a:bodyPr wrap="none" lIns="0" tIns="0" rIns="0" bIns="0" rtlCol="0" anchor="ctr">
            <a:noAutofit/>
          </a:bodyPr>
          <a:lstStyle/>
          <a:p>
            <a:pPr algn="ctr"/>
            <a:r>
              <a:rPr lang="en-US" sz="2000" b="1" dirty="0">
                <a:solidFill>
                  <a:srgbClr val="062F5C"/>
                </a:solidFill>
              </a:rPr>
              <a:t>06</a:t>
            </a:r>
          </a:p>
        </p:txBody>
      </p:sp>
      <p:graphicFrame>
        <p:nvGraphicFramePr>
          <p:cNvPr id="4" name="Reasoning advice table">
            <a:extLst>
              <a:ext uri="{FF2B5EF4-FFF2-40B4-BE49-F238E27FC236}">
                <a16:creationId xmlns:a16="http://schemas.microsoft.com/office/drawing/2014/main" id="{DEC0C31B-3E2D-49D5-99D5-AF8D7D2797D7}"/>
              </a:ext>
            </a:extLst>
          </p:cNvPr>
          <p:cNvGraphicFramePr>
            <a:graphicFrameLocks noGrp="1"/>
          </p:cNvGraphicFramePr>
          <p:nvPr>
            <p:extLst>
              <p:ext uri="{D42A27DB-BD31-4B8C-83A1-F6EECF244321}">
                <p14:modId xmlns:p14="http://schemas.microsoft.com/office/powerpoint/2010/main" val="1151629412"/>
              </p:ext>
            </p:extLst>
          </p:nvPr>
        </p:nvGraphicFramePr>
        <p:xfrm>
          <a:off x="457200" y="2133600"/>
          <a:ext cx="11277600" cy="4191000"/>
        </p:xfrm>
        <a:graphic>
          <a:graphicData uri="http://schemas.openxmlformats.org/drawingml/2006/table">
            <a:tbl>
              <a:tblPr firstRow="1" bandRow="1">
                <a:tableStyleId>{5C22544A-7EE6-4342-B048-85BDC9FD1C3A}</a:tableStyleId>
              </a:tblPr>
              <a:tblGrid>
                <a:gridCol w="3881120">
                  <a:extLst>
                    <a:ext uri="{9D8B030D-6E8A-4147-A177-3AD203B41FA5}">
                      <a16:colId xmlns:a16="http://schemas.microsoft.com/office/drawing/2014/main" val="3916619364"/>
                    </a:ext>
                  </a:extLst>
                </a:gridCol>
                <a:gridCol w="7396480">
                  <a:extLst>
                    <a:ext uri="{9D8B030D-6E8A-4147-A177-3AD203B41FA5}">
                      <a16:colId xmlns:a16="http://schemas.microsoft.com/office/drawing/2014/main" val="2966810590"/>
                    </a:ext>
                  </a:extLst>
                </a:gridCol>
              </a:tblGrid>
              <a:tr h="508000">
                <a:tc>
                  <a:txBody>
                    <a:bodyPr/>
                    <a:lstStyle/>
                    <a:p>
                      <a:pPr marL="0" indent="0" algn="l">
                        <a:lnSpc>
                          <a:spcPct val="104000"/>
                        </a:lnSpc>
                        <a:buNone/>
                      </a:pPr>
                      <a:r>
                        <a:rPr lang="en-US" sz="1700" b="1" dirty="0">
                          <a:solidFill>
                            <a:srgbClr val="FFFFFF"/>
                          </a:solidFill>
                        </a:rPr>
                        <a:t>Nguyên văn (EN)</a:t>
                      </a:r>
                    </a:p>
                  </a:txBody>
                  <a:tcPr anchor="ctr">
                    <a:solidFill>
                      <a:srgbClr val="0B2D55"/>
                    </a:solidFill>
                  </a:tcPr>
                </a:tc>
                <a:tc>
                  <a:txBody>
                    <a:bodyPr/>
                    <a:lstStyle/>
                    <a:p>
                      <a:pPr marL="0" indent="0" algn="l">
                        <a:lnSpc>
                          <a:spcPct val="104000"/>
                        </a:lnSpc>
                        <a:buNone/>
                      </a:pPr>
                      <a:r>
                        <a:rPr lang="en-US" sz="1700" b="1" dirty="0">
                          <a:solidFill>
                            <a:srgbClr val="FFFFFF"/>
                          </a:solidFill>
                        </a:rPr>
                        <a:t>Diễn giải (VI)</a:t>
                      </a:r>
                    </a:p>
                  </a:txBody>
                  <a:tcPr anchor="ctr">
                    <a:solidFill>
                      <a:srgbClr val="0B2D55"/>
                    </a:solidFill>
                  </a:tcPr>
                </a:tc>
                <a:extLst>
                  <a:ext uri="{0D108BD9-81ED-4DB2-BD59-A6C34878D82A}">
                    <a16:rowId xmlns:a16="http://schemas.microsoft.com/office/drawing/2014/main" val="904475557"/>
                  </a:ext>
                </a:extLst>
              </a:tr>
              <a:tr h="1841500">
                <a:tc>
                  <a:txBody>
                    <a:bodyPr/>
                    <a:lstStyle/>
                    <a:p>
                      <a:pPr marL="0" indent="0" algn="l">
                        <a:lnSpc>
                          <a:spcPct val="104000"/>
                        </a:lnSpc>
                        <a:buNone/>
                      </a:pPr>
                      <a:r>
                        <a:rPr lang="en-US" sz="1400" i="1" dirty="0">
                          <a:solidFill>
                            <a:srgbClr val="3A4A5C"/>
                          </a:solidFill>
                        </a:rPr>
                        <a:t>Provide additional hidden information that is easy to access for users who wish to understand more about how to carry out an activity more effectively (e.g. web searching).</a:t>
                      </a:r>
                    </a:p>
                  </a:txBody>
                  <a:tcPr anchor="ctr">
                    <a:solidFill>
                      <a:srgbClr val="FFFFFF"/>
                    </a:solidFill>
                  </a:tcPr>
                </a:tc>
                <a:tc>
                  <a:txBody>
                    <a:bodyPr/>
                    <a:lstStyle/>
                    <a:p>
                      <a:pPr marL="0" indent="0" algn="l">
                        <a:lnSpc>
                          <a:spcPct val="104000"/>
                        </a:lnSpc>
                        <a:buNone/>
                      </a:pPr>
                      <a:r>
                        <a:rPr lang="en-US" sz="1800" dirty="0">
                          <a:solidFill>
                            <a:srgbClr val="17212B"/>
                          </a:solidFill>
                        </a:rPr>
                        <a:t>Cung cấp thông tin bổ sung được ẩn đi nhưng dễ truy cập, cho người muốn hiểu thêm cách thực hiện hiệu quả hơn (ví dụ: tìm kiếm web).</a:t>
                      </a:r>
                    </a:p>
                  </a:txBody>
                  <a:tcPr anchor="ctr">
                    <a:solidFill>
                      <a:srgbClr val="FFFFFF"/>
                    </a:solidFill>
                  </a:tcPr>
                </a:tc>
                <a:extLst>
                  <a:ext uri="{0D108BD9-81ED-4DB2-BD59-A6C34878D82A}">
                    <a16:rowId xmlns:a16="http://schemas.microsoft.com/office/drawing/2014/main" val="2616737182"/>
                  </a:ext>
                </a:extLst>
              </a:tr>
              <a:tr h="1841500">
                <a:tc>
                  <a:txBody>
                    <a:bodyPr/>
                    <a:lstStyle/>
                    <a:p>
                      <a:pPr marL="0" indent="0" algn="l">
                        <a:lnSpc>
                          <a:spcPct val="104000"/>
                        </a:lnSpc>
                        <a:buNone/>
                      </a:pPr>
                      <a:r>
                        <a:rPr lang="en-US" sz="1400" i="1" dirty="0">
                          <a:solidFill>
                            <a:srgbClr val="3A4A5C"/>
                          </a:solidFill>
                        </a:rPr>
                        <a:t>Use simple and memorable functions at the interface for computational aids intended to support rapid decision making and planning that takes place while on the move.</a:t>
                      </a:r>
                    </a:p>
                  </a:txBody>
                  <a:tcPr anchor="ctr">
                    <a:solidFill>
                      <a:srgbClr val="F2F6FA"/>
                    </a:solidFill>
                  </a:tcPr>
                </a:tc>
                <a:tc>
                  <a:txBody>
                    <a:bodyPr/>
                    <a:lstStyle/>
                    <a:p>
                      <a:pPr marL="0" indent="0" algn="l">
                        <a:lnSpc>
                          <a:spcPct val="104000"/>
                        </a:lnSpc>
                        <a:buNone/>
                      </a:pPr>
                      <a:r>
                        <a:rPr lang="en-US" sz="1800" dirty="0">
                          <a:solidFill>
                            <a:srgbClr val="17212B"/>
                          </a:solidFill>
                        </a:rPr>
                        <a:t>Dùng chức năng đơn giản, dễ nhớ cho công cụ hỗ trợ ra quyết định và lập kế hoạch nhanh khi người dùng đang di chuyển.</a:t>
                      </a:r>
                    </a:p>
                  </a:txBody>
                  <a:tcPr anchor="ctr">
                    <a:solidFill>
                      <a:srgbClr val="F2F6FA"/>
                    </a:solidFill>
                  </a:tcPr>
                </a:tc>
                <a:extLst>
                  <a:ext uri="{0D108BD9-81ED-4DB2-BD59-A6C34878D82A}">
                    <a16:rowId xmlns:a16="http://schemas.microsoft.com/office/drawing/2014/main" val="1713960547"/>
                  </a:ext>
                </a:extLst>
              </a:tr>
            </a:tbl>
          </a:graphicData>
        </a:graphic>
      </p:graphicFrame>
    </p:spTree>
    <p:extLst>
      <p:ext uri="{BB962C8B-B14F-4D97-AF65-F5344CB8AC3E}">
        <p14:creationId xmlns:p14="http://schemas.microsoft.com/office/powerpoint/2010/main" val="29788572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7">
    <p:bg>
      <p:bgPr>
        <a:solidFill>
          <a:srgbClr val="062F5C"/>
        </a:solidFill>
        <a:effectLst/>
      </p:bgPr>
    </p:bg>
    <p:spTree>
      <p:nvGrpSpPr>
        <p:cNvPr id="1" name=""/>
        <p:cNvGrpSpPr/>
        <p:nvPr/>
      </p:nvGrpSpPr>
      <p:grpSpPr>
        <a:xfrm>
          <a:off x="0" y="0"/>
          <a:ext cx="0" cy="0"/>
          <a:chOff x="0" y="0"/>
          <a:chExt cx="0" cy="0"/>
        </a:xfrm>
      </p:grpSpPr>
      <p:sp>
        <p:nvSpPr>
          <p:cNvPr id="35" name="Decor 36"/>
          <p:cNvSpPr/>
          <p:nvPr/>
        </p:nvSpPr>
        <p:spPr>
          <a:xfrm>
            <a:off x="-2413000" y="2794000"/>
            <a:ext cx="4826000" cy="4826000"/>
          </a:xfrm>
          <a:prstGeom prst="ellipse">
            <a:avLst/>
          </a:prstGeom>
          <a:solidFill>
            <a:srgbClr val="FFFFFF">
              <a:alpha val="9000"/>
            </a:srgbClr>
          </a:solidFill>
          <a:ln>
            <a:noFill/>
          </a:ln>
        </p:spPr>
        <p:txBody>
          <a:bodyPr/>
          <a:lstStyle/>
          <a:p>
            <a:endParaRPr lang="en-US"/>
          </a:p>
        </p:txBody>
      </p:sp>
      <p:sp>
        <p:nvSpPr>
          <p:cNvPr id="36" name="Decor 37"/>
          <p:cNvSpPr/>
          <p:nvPr/>
        </p:nvSpPr>
        <p:spPr>
          <a:xfrm rot="1800000">
            <a:off x="9779000" y="-1143000"/>
            <a:ext cx="3048000" cy="3048000"/>
          </a:xfrm>
          <a:prstGeom prst="rect">
            <a:avLst/>
          </a:prstGeom>
          <a:noFill/>
          <a:ln w="28575">
            <a:solidFill>
              <a:srgbClr val="FFFFFF">
                <a:alpha val="22000"/>
              </a:srgbClr>
            </a:solidFill>
          </a:ln>
        </p:spPr>
        <p:txBody>
          <a:bodyPr/>
          <a:lstStyle/>
          <a:p>
            <a:endParaRPr lang="en-US"/>
          </a:p>
        </p:txBody>
      </p:sp>
      <p:sp>
        <p:nvSpPr>
          <p:cNvPr id="37" name="Decor 38"/>
          <p:cNvSpPr/>
          <p:nvPr/>
        </p:nvSpPr>
        <p:spPr>
          <a:xfrm>
            <a:off x="11912600" y="6553200"/>
            <a:ext cx="177800" cy="177800"/>
          </a:xfrm>
          <a:prstGeom prst="ellipse">
            <a:avLst/>
          </a:prstGeom>
          <a:solidFill>
            <a:srgbClr val="F4B336">
              <a:alpha val="35000"/>
            </a:srgbClr>
          </a:solidFill>
          <a:ln>
            <a:noFill/>
          </a:ln>
        </p:spPr>
        <p:txBody>
          <a:bodyPr/>
          <a:lstStyle/>
          <a:p>
            <a:endParaRPr lang="en-US"/>
          </a:p>
        </p:txBody>
      </p:sp>
      <p:sp>
        <p:nvSpPr>
          <p:cNvPr id="2" name="Text 1"/>
          <p:cNvSpPr>
            <a:spLocks noGrp="1"/>
          </p:cNvSpPr>
          <p:nvPr>
            <p:ph type="title" idx="101" hasCustomPrompt="1"/>
          </p:nvPr>
        </p:nvSpPr>
        <p:spPr>
          <a:xfrm>
            <a:off x="1168400" y="512064"/>
            <a:ext cx="10566400" cy="512064"/>
          </a:xfrm>
          <a:prstGeom prst="rect">
            <a:avLst/>
          </a:prstGeom>
          <a:noFill/>
          <a:ln/>
        </p:spPr>
        <p:txBody>
          <a:bodyPr wrap="square" lIns="0" tIns="0" rIns="0" bIns="0" rtlCol="0" anchor="t"/>
          <a:lstStyle/>
          <a:p>
            <a:pPr marL="0" indent="0" algn="l">
              <a:buNone/>
            </a:pPr>
            <a:r>
              <a:rPr lang="en-US" sz="3000" b="1" dirty="0">
                <a:solidFill>
                  <a:srgbClr val="FFFFFF"/>
                </a:solidFill>
              </a:rPr>
              <a:t>Ra quyết định — Ví dụ 6.4.1 (1/2)</a:t>
            </a:r>
          </a:p>
        </p:txBody>
      </p:sp>
      <p:sp>
        <p:nvSpPr>
          <p:cNvPr id="34" name="Topic badge"/>
          <p:cNvSpPr/>
          <p:nvPr/>
        </p:nvSpPr>
        <p:spPr>
          <a:xfrm>
            <a:off x="457200" y="524764"/>
            <a:ext cx="508000" cy="508000"/>
          </a:xfrm>
          <a:prstGeom prst="roundRect">
            <a:avLst>
              <a:gd name="adj" fmla="val 22000"/>
            </a:avLst>
          </a:prstGeom>
          <a:solidFill>
            <a:srgbClr val="F4B336"/>
          </a:solidFill>
          <a:ln>
            <a:noFill/>
          </a:ln>
        </p:spPr>
        <p:txBody>
          <a:bodyPr wrap="none" lIns="0" tIns="0" rIns="0" bIns="0" rtlCol="0" anchor="ctr">
            <a:noAutofit/>
          </a:bodyPr>
          <a:lstStyle/>
          <a:p>
            <a:pPr algn="ctr"/>
            <a:r>
              <a:rPr lang="en-US" sz="2000" b="1" dirty="0">
                <a:solidFill>
                  <a:srgbClr val="062F5C"/>
                </a:solidFill>
              </a:rPr>
              <a:t>06</a:t>
            </a:r>
          </a:p>
        </p:txBody>
      </p:sp>
      <p:sp>
        <p:nvSpPr>
          <p:cNvPr id="200" name="Ex card image"/>
          <p:cNvSpPr/>
          <p:nvPr/>
        </p:nvSpPr>
        <p:spPr>
          <a:xfrm>
            <a:off x="457200" y="1143000"/>
            <a:ext cx="4826000" cy="4495800"/>
          </a:xfrm>
          <a:prstGeom prst="roundRect">
            <a:avLst>
              <a:gd name="adj" fmla="val 643"/>
            </a:avLst>
          </a:prstGeom>
          <a:solidFill>
            <a:srgbClr val="FFFFFF"/>
          </a:solidFill>
          <a:ln>
            <a:noFill/>
          </a:ln>
        </p:spPr>
        <p:txBody>
          <a:bodyPr/>
          <a:lstStyle/>
          <a:p>
            <a:endParaRPr lang="en-US"/>
          </a:p>
        </p:txBody>
      </p:sp>
      <p:sp>
        <p:nvSpPr>
          <p:cNvPr id="201" name="Ex image bg"/>
          <p:cNvSpPr/>
          <p:nvPr/>
        </p:nvSpPr>
        <p:spPr>
          <a:xfrm>
            <a:off x="609600" y="1295400"/>
            <a:ext cx="4521200" cy="3225800"/>
          </a:xfrm>
          <a:prstGeom prst="roundRect">
            <a:avLst>
              <a:gd name="adj" fmla="val 1543"/>
            </a:avLst>
          </a:prstGeom>
          <a:solidFill>
            <a:srgbClr val="EEF2F6"/>
          </a:solidFill>
          <a:ln>
            <a:noFill/>
          </a:ln>
        </p:spPr>
        <p:txBody>
          <a:bodyPr/>
          <a:lstStyle/>
          <a:p>
            <a:endParaRPr lang="en-US"/>
          </a:p>
        </p:txBody>
      </p:sp>
      <p:sp>
        <p:nvSpPr>
          <p:cNvPr id="202" name="Ex caption"/>
          <p:cNvSpPr txBox="1"/>
          <p:nvPr/>
        </p:nvSpPr>
        <p:spPr>
          <a:xfrm>
            <a:off x="609600" y="4597400"/>
            <a:ext cx="4521200" cy="889000"/>
          </a:xfrm>
          <a:prstGeom prst="rect">
            <a:avLst/>
          </a:prstGeom>
          <a:noFill/>
          <a:ln>
            <a:noFill/>
          </a:ln>
        </p:spPr>
        <p:txBody>
          <a:bodyPr wrap="square" lIns="0" tIns="0" rIns="0" bIns="0" rtlCol="0" anchor="t">
            <a:noAutofit/>
          </a:bodyPr>
          <a:lstStyle/>
          <a:p>
            <a:pPr marL="0" indent="0">
              <a:lnSpc>
                <a:spcPct val="105000"/>
              </a:lnSpc>
              <a:spcAft>
                <a:spcPts val="100"/>
              </a:spcAft>
              <a:buNone/>
            </a:pPr>
            <a:r>
              <a:rPr lang="vi-VN" sz="1200" i="1" dirty="0">
                <a:solidFill>
                  <a:srgbClr val="344054"/>
                </a:solidFill>
              </a:rPr>
              <a:t>Hình 6.4.1.a. Giao diện chính trên Traveloka</a:t>
            </a:r>
          </a:p>
          <a:p>
            <a:pPr marL="0" indent="0">
              <a:lnSpc>
                <a:spcPct val="105000"/>
              </a:lnSpc>
              <a:spcAft>
                <a:spcPts val="0"/>
              </a:spcAft>
              <a:buNone/>
            </a:pPr>
            <a:r>
              <a:rPr lang="vi-VN" sz="1100" i="1" dirty="0">
                <a:solidFill>
                  <a:srgbClr val="475467"/>
                </a:solidFill>
              </a:rPr>
              <a:t>Nguồn: traveloka.com/vi-vn</a:t>
            </a:r>
          </a:p>
        </p:txBody>
      </p:sp>
      <p:sp>
        <p:nvSpPr>
          <p:cNvPr id="203" name="Ex card text"/>
          <p:cNvSpPr/>
          <p:nvPr/>
        </p:nvSpPr>
        <p:spPr>
          <a:xfrm>
            <a:off x="5435600" y="1143000"/>
            <a:ext cx="6299200" cy="4495800"/>
          </a:xfrm>
          <a:prstGeom prst="roundRect">
            <a:avLst>
              <a:gd name="adj" fmla="val 643"/>
            </a:avLst>
          </a:prstGeom>
          <a:solidFill>
            <a:srgbClr val="FFFFFF"/>
          </a:solidFill>
          <a:ln>
            <a:noFill/>
          </a:ln>
        </p:spPr>
        <p:txBody>
          <a:bodyPr/>
          <a:lstStyle/>
          <a:p>
            <a:endParaRPr lang="en-US"/>
          </a:p>
        </p:txBody>
      </p:sp>
      <p:sp>
        <p:nvSpPr>
          <p:cNvPr id="204" name="Ex name"/>
          <p:cNvSpPr txBox="1"/>
          <p:nvPr/>
        </p:nvSpPr>
        <p:spPr>
          <a:xfrm>
            <a:off x="5664200" y="1244600"/>
            <a:ext cx="5842000" cy="650748"/>
          </a:xfrm>
          <a:prstGeom prst="rect">
            <a:avLst/>
          </a:prstGeom>
          <a:noFill/>
          <a:ln>
            <a:noFill/>
          </a:ln>
        </p:spPr>
        <p:txBody>
          <a:bodyPr wrap="square" lIns="0" tIns="0" rIns="0" bIns="0" rtlCol="0" anchor="t">
            <a:noAutofit/>
          </a:bodyPr>
          <a:lstStyle/>
          <a:p>
            <a:pPr marL="0" indent="0">
              <a:lnSpc>
                <a:spcPct val="100000"/>
              </a:lnSpc>
              <a:spcAft>
                <a:spcPts val="0"/>
              </a:spcAft>
              <a:buNone/>
            </a:pPr>
            <a:r>
              <a:rPr lang="vi-VN" sz="2100" b="1" dirty="0">
                <a:solidFill>
                  <a:srgbClr val="1677B8"/>
                </a:solidFill>
              </a:rPr>
              <a:t>Ví dụ 6.4.1: </a:t>
            </a:r>
            <a:r>
              <a:rPr lang="vi-VN" sz="2100" b="1" dirty="0">
                <a:solidFill>
                  <a:srgbClr val="062F5C"/>
                </a:solidFill>
              </a:rPr>
              <a:t>Ứng dụng Traveloka (Đặt vé máy bay &amp; Khách sạn)</a:t>
            </a:r>
          </a:p>
        </p:txBody>
      </p:sp>
      <p:sp>
        <p:nvSpPr>
          <p:cNvPr id="205" name="Ex body"/>
          <p:cNvSpPr txBox="1"/>
          <p:nvPr/>
        </p:nvSpPr>
        <p:spPr>
          <a:xfrm>
            <a:off x="5664200" y="1971548"/>
            <a:ext cx="5842000" cy="3565652"/>
          </a:xfrm>
          <a:prstGeom prst="rect">
            <a:avLst/>
          </a:prstGeom>
          <a:noFill/>
          <a:ln>
            <a:noFill/>
          </a:ln>
        </p:spPr>
        <p:txBody>
          <a:bodyPr wrap="square" lIns="0" tIns="0" rIns="0" bIns="0" rtlCol="0" anchor="t">
            <a:noAutofit/>
          </a:bodyPr>
          <a:lstStyle/>
          <a:p>
            <a:pPr marL="0" indent="0">
              <a:lnSpc>
                <a:spcPct val="98000"/>
              </a:lnSpc>
              <a:spcAft>
                <a:spcPts val="300"/>
              </a:spcAft>
              <a:buNone/>
            </a:pPr>
            <a:r>
              <a:rPr lang="vi-VN" sz="1900" b="1" dirty="0"/>
              <a:t>Là gì, có gì:</a:t>
            </a:r>
            <a:br>
              <a:rPr lang="vi-VN" sz="1900" b="1" dirty="0">
                <a:solidFill>
                  <a:srgbClr val="667085"/>
                </a:solidFill>
              </a:rPr>
            </a:br>
            <a:r>
              <a:rPr lang="vi-VN" sz="1900" dirty="0">
                <a:solidFill>
                  <a:srgbClr val="344054"/>
                </a:solidFill>
              </a:rPr>
              <a:t>Ứng dụng du lịch cho phép người dùng tìm kiếm, so sánh giá vé máy bay, khách sạn và đưa ra quyết định đặt chỗ. Có các bộ lọc (giá, giờ bay, hãng hàng không) và tính năng so sánh.</a:t>
            </a:r>
          </a:p>
          <a:p>
            <a:pPr marL="0" indent="0">
              <a:lnSpc>
                <a:spcPct val="98000"/>
              </a:lnSpc>
              <a:spcAft>
                <a:spcPts val="300"/>
              </a:spcAft>
              <a:buNone/>
            </a:pPr>
            <a:endParaRPr lang="vi-VN" sz="1900" dirty="0">
              <a:solidFill>
                <a:srgbClr val="344054"/>
              </a:solidFill>
            </a:endParaRPr>
          </a:p>
          <a:p>
            <a:pPr marL="0" indent="0">
              <a:lnSpc>
                <a:spcPct val="98000"/>
              </a:lnSpc>
              <a:spcAft>
                <a:spcPts val="0"/>
              </a:spcAft>
              <a:buNone/>
            </a:pPr>
            <a:r>
              <a:rPr lang="vi-VN" sz="1900" b="1" dirty="0"/>
              <a:t>Liên hệ đặc điểm nhận thức:</a:t>
            </a:r>
            <a:br>
              <a:rPr lang="vi-VN" sz="1900" b="1" dirty="0">
                <a:solidFill>
                  <a:srgbClr val="667085"/>
                </a:solidFill>
              </a:rPr>
            </a:br>
            <a:r>
              <a:rPr lang="vi-VN" sz="1900" dirty="0">
                <a:solidFill>
                  <a:srgbClr val="344054"/>
                </a:solidFill>
              </a:rPr>
              <a:t>Hỗ trợ quá trình </a:t>
            </a:r>
            <a:r>
              <a:rPr lang="vi-VN" sz="1900" b="1" dirty="0">
                <a:solidFill>
                  <a:srgbClr val="344054"/>
                </a:solidFill>
              </a:rPr>
              <a:t>ra quyết định nhanh chóng </a:t>
            </a:r>
            <a:r>
              <a:rPr lang="vi-VN" sz="1900" dirty="0">
                <a:solidFill>
                  <a:srgbClr val="344054"/>
                </a:solidFill>
              </a:rPr>
              <a:t>(rapid decision-making) cho người dùng đang di chuyển. Người dùng sử dụng các công cụ tính toán đơn giản (bộ lọc, sắp xếp) để xem xét các kịch bản khác nhau.</a:t>
            </a:r>
          </a:p>
        </p:txBody>
      </p:sp>
      <p:sp>
        <p:nvSpPr>
          <p:cNvPr id="206" name="Ex lesson bg"/>
          <p:cNvSpPr/>
          <p:nvPr/>
        </p:nvSpPr>
        <p:spPr>
          <a:xfrm>
            <a:off x="457200" y="5715000"/>
            <a:ext cx="11277600" cy="635000"/>
          </a:xfrm>
          <a:prstGeom prst="rect">
            <a:avLst/>
          </a:prstGeom>
          <a:solidFill>
            <a:srgbClr val="EAF5EF"/>
          </a:solidFill>
          <a:ln>
            <a:noFill/>
          </a:ln>
        </p:spPr>
        <p:txBody>
          <a:bodyPr/>
          <a:lstStyle/>
          <a:p>
            <a:endParaRPr lang="en-US"/>
          </a:p>
        </p:txBody>
      </p:sp>
      <p:sp>
        <p:nvSpPr>
          <p:cNvPr id="207" name="Ex lesson bar"/>
          <p:cNvSpPr/>
          <p:nvPr/>
        </p:nvSpPr>
        <p:spPr>
          <a:xfrm>
            <a:off x="457200" y="5715000"/>
            <a:ext cx="50800" cy="635000"/>
          </a:xfrm>
          <a:prstGeom prst="rect">
            <a:avLst/>
          </a:prstGeom>
          <a:solidFill>
            <a:srgbClr val="2E9B67"/>
          </a:solidFill>
          <a:ln>
            <a:noFill/>
          </a:ln>
        </p:spPr>
        <p:txBody>
          <a:bodyPr/>
          <a:lstStyle/>
          <a:p>
            <a:endParaRPr lang="en-US"/>
          </a:p>
        </p:txBody>
      </p:sp>
      <p:sp>
        <p:nvSpPr>
          <p:cNvPr id="208" name="Ex lesson"/>
          <p:cNvSpPr txBox="1"/>
          <p:nvPr/>
        </p:nvSpPr>
        <p:spPr>
          <a:xfrm>
            <a:off x="685800" y="5715000"/>
            <a:ext cx="10820400" cy="635000"/>
          </a:xfrm>
          <a:prstGeom prst="rect">
            <a:avLst/>
          </a:prstGeom>
          <a:noFill/>
          <a:ln>
            <a:noFill/>
          </a:ln>
        </p:spPr>
        <p:txBody>
          <a:bodyPr wrap="square" lIns="0" tIns="0" rIns="0" bIns="0" rtlCol="0" anchor="ctr">
            <a:noAutofit/>
          </a:bodyPr>
          <a:lstStyle/>
          <a:p>
            <a:pPr marL="0" indent="0">
              <a:lnSpc>
                <a:spcPct val="100000"/>
              </a:lnSpc>
              <a:spcAft>
                <a:spcPts val="0"/>
              </a:spcAft>
              <a:buNone/>
            </a:pPr>
            <a:r>
              <a:rPr lang="vi-VN" sz="1800" b="1" dirty="0">
                <a:solidFill>
                  <a:srgbClr val="1E7F53"/>
                </a:solidFill>
              </a:rPr>
              <a:t>Bài học: </a:t>
            </a:r>
            <a:r>
              <a:rPr lang="vi-VN" sz="1800" b="1" dirty="0">
                <a:solidFill>
                  <a:srgbClr val="062F5C"/>
                </a:solidFill>
              </a:rPr>
              <a:t>Giao diện cần trực quan, các thông tin quan trọng (giá, giờ) phải được hiển thị nổi bật. Việc cung cấp tính năng so sánh giúp người dùng dễ dàng đưa ra lựa chọn tối ưu.</a:t>
            </a:r>
          </a:p>
        </p:txBody>
      </p:sp>
      <p:pic>
        <p:nvPicPr>
          <p:cNvPr id="3" name="Picture 2">
            <a:extLst>
              <a:ext uri="{FF2B5EF4-FFF2-40B4-BE49-F238E27FC236}">
                <a16:creationId xmlns:a16="http://schemas.microsoft.com/office/drawing/2014/main" id="{F9EB8067-6912-36B9-B210-4939FBE0D9BF}"/>
              </a:ext>
            </a:extLst>
          </p:cNvPr>
          <p:cNvPicPr>
            <a:picLocks noChangeAspect="1"/>
          </p:cNvPicPr>
          <p:nvPr/>
        </p:nvPicPr>
        <p:blipFill>
          <a:blip r:embed="rId3"/>
          <a:stretch>
            <a:fillRect/>
          </a:stretch>
        </p:blipFill>
        <p:spPr>
          <a:xfrm>
            <a:off x="776978" y="1752600"/>
            <a:ext cx="4186444" cy="2768600"/>
          </a:xfrm>
          <a:prstGeom prst="rect">
            <a:avLst/>
          </a:prstGeom>
        </p:spPr>
      </p:pic>
      <p:sp>
        <p:nvSpPr>
          <p:cNvPr id="209" name="Ex badge"/>
          <p:cNvSpPr/>
          <p:nvPr/>
        </p:nvSpPr>
        <p:spPr>
          <a:xfrm>
            <a:off x="711200" y="1397000"/>
            <a:ext cx="381000" cy="381000"/>
          </a:xfrm>
          <a:prstGeom prst="ellipse">
            <a:avLst/>
          </a:prstGeom>
          <a:solidFill>
            <a:srgbClr val="073B6F"/>
          </a:solidFill>
          <a:ln w="28575">
            <a:solidFill>
              <a:srgbClr val="F4B336"/>
            </a:solidFill>
          </a:ln>
        </p:spPr>
        <p:txBody>
          <a:bodyPr/>
          <a:lstStyle/>
          <a:p>
            <a:endParaRPr lang="en-US"/>
          </a:p>
        </p:txBody>
      </p:sp>
      <p:sp>
        <p:nvSpPr>
          <p:cNvPr id="210" name="Ex badge num"/>
          <p:cNvSpPr txBox="1"/>
          <p:nvPr/>
        </p:nvSpPr>
        <p:spPr>
          <a:xfrm>
            <a:off x="711200" y="1397000"/>
            <a:ext cx="381000" cy="381000"/>
          </a:xfrm>
          <a:prstGeom prst="rect">
            <a:avLst/>
          </a:prstGeom>
          <a:noFill/>
          <a:ln>
            <a:noFill/>
          </a:ln>
        </p:spPr>
        <p:txBody>
          <a:bodyPr wrap="square" lIns="0" tIns="0" rIns="0" bIns="0" rtlCol="0" anchor="ctr">
            <a:noAutofit/>
          </a:bodyPr>
          <a:lstStyle/>
          <a:p>
            <a:pPr marL="0" indent="0" algn="ctr">
              <a:buNone/>
            </a:pPr>
            <a:r>
              <a:rPr lang="vi-VN" sz="1000" b="1" dirty="0">
                <a:solidFill>
                  <a:srgbClr val="FFFFFF"/>
                </a:solidFill>
              </a:rPr>
              <a:t>6.4.1</a:t>
            </a:r>
          </a:p>
        </p:txBody>
      </p:sp>
    </p:spTree>
    <p:extLst>
      <p:ext uri="{BB962C8B-B14F-4D97-AF65-F5344CB8AC3E}">
        <p14:creationId xmlns:p14="http://schemas.microsoft.com/office/powerpoint/2010/main" val="213406384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7">
    <p:bg>
      <p:bgPr>
        <a:solidFill>
          <a:srgbClr val="062F5C"/>
        </a:solidFill>
        <a:effectLst/>
      </p:bgPr>
    </p:bg>
    <p:spTree>
      <p:nvGrpSpPr>
        <p:cNvPr id="1" name=""/>
        <p:cNvGrpSpPr/>
        <p:nvPr/>
      </p:nvGrpSpPr>
      <p:grpSpPr>
        <a:xfrm>
          <a:off x="0" y="0"/>
          <a:ext cx="0" cy="0"/>
          <a:chOff x="0" y="0"/>
          <a:chExt cx="0" cy="0"/>
        </a:xfrm>
      </p:grpSpPr>
      <p:sp>
        <p:nvSpPr>
          <p:cNvPr id="35" name="Decor 36"/>
          <p:cNvSpPr/>
          <p:nvPr/>
        </p:nvSpPr>
        <p:spPr>
          <a:xfrm>
            <a:off x="-2413000" y="2794000"/>
            <a:ext cx="4826000" cy="4826000"/>
          </a:xfrm>
          <a:prstGeom prst="ellipse">
            <a:avLst/>
          </a:prstGeom>
          <a:solidFill>
            <a:srgbClr val="FFFFFF">
              <a:alpha val="9000"/>
            </a:srgbClr>
          </a:solidFill>
          <a:ln>
            <a:noFill/>
          </a:ln>
        </p:spPr>
        <p:txBody>
          <a:bodyPr/>
          <a:lstStyle/>
          <a:p>
            <a:endParaRPr lang="en-US"/>
          </a:p>
        </p:txBody>
      </p:sp>
      <p:sp>
        <p:nvSpPr>
          <p:cNvPr id="36" name="Decor 37"/>
          <p:cNvSpPr/>
          <p:nvPr/>
        </p:nvSpPr>
        <p:spPr>
          <a:xfrm rot="1800000">
            <a:off x="9779000" y="-1143000"/>
            <a:ext cx="3048000" cy="3048000"/>
          </a:xfrm>
          <a:prstGeom prst="rect">
            <a:avLst/>
          </a:prstGeom>
          <a:noFill/>
          <a:ln w="28575">
            <a:solidFill>
              <a:srgbClr val="FFFFFF">
                <a:alpha val="22000"/>
              </a:srgbClr>
            </a:solidFill>
          </a:ln>
        </p:spPr>
        <p:txBody>
          <a:bodyPr/>
          <a:lstStyle/>
          <a:p>
            <a:endParaRPr lang="en-US"/>
          </a:p>
        </p:txBody>
      </p:sp>
      <p:sp>
        <p:nvSpPr>
          <p:cNvPr id="37" name="Decor 38"/>
          <p:cNvSpPr/>
          <p:nvPr/>
        </p:nvSpPr>
        <p:spPr>
          <a:xfrm>
            <a:off x="11912600" y="6553200"/>
            <a:ext cx="177800" cy="177800"/>
          </a:xfrm>
          <a:prstGeom prst="ellipse">
            <a:avLst/>
          </a:prstGeom>
          <a:solidFill>
            <a:srgbClr val="F4B336">
              <a:alpha val="35000"/>
            </a:srgbClr>
          </a:solidFill>
          <a:ln>
            <a:noFill/>
          </a:ln>
        </p:spPr>
        <p:txBody>
          <a:bodyPr/>
          <a:lstStyle/>
          <a:p>
            <a:endParaRPr lang="en-US"/>
          </a:p>
        </p:txBody>
      </p:sp>
      <p:sp>
        <p:nvSpPr>
          <p:cNvPr id="2" name="Text 1"/>
          <p:cNvSpPr>
            <a:spLocks noGrp="1"/>
          </p:cNvSpPr>
          <p:nvPr>
            <p:ph type="title" idx="101" hasCustomPrompt="1"/>
          </p:nvPr>
        </p:nvSpPr>
        <p:spPr>
          <a:xfrm>
            <a:off x="1168400" y="512064"/>
            <a:ext cx="10566400" cy="512064"/>
          </a:xfrm>
          <a:prstGeom prst="rect">
            <a:avLst/>
          </a:prstGeom>
          <a:noFill/>
          <a:ln/>
        </p:spPr>
        <p:txBody>
          <a:bodyPr wrap="square" lIns="0" tIns="0" rIns="0" bIns="0" rtlCol="0" anchor="t"/>
          <a:lstStyle/>
          <a:p>
            <a:pPr marL="0" indent="0" algn="l">
              <a:buNone/>
            </a:pPr>
            <a:r>
              <a:rPr lang="en-US" sz="3000" b="1" dirty="0">
                <a:solidFill>
                  <a:srgbClr val="FFFFFF"/>
                </a:solidFill>
              </a:rPr>
              <a:t>Ra quyết định — Ví dụ 6.4.1 (2/2)</a:t>
            </a:r>
          </a:p>
        </p:txBody>
      </p:sp>
      <p:sp>
        <p:nvSpPr>
          <p:cNvPr id="34" name="Topic badge"/>
          <p:cNvSpPr/>
          <p:nvPr/>
        </p:nvSpPr>
        <p:spPr>
          <a:xfrm>
            <a:off x="457200" y="524764"/>
            <a:ext cx="508000" cy="508000"/>
          </a:xfrm>
          <a:prstGeom prst="roundRect">
            <a:avLst>
              <a:gd name="adj" fmla="val 22000"/>
            </a:avLst>
          </a:prstGeom>
          <a:solidFill>
            <a:srgbClr val="F4B336"/>
          </a:solidFill>
          <a:ln>
            <a:noFill/>
          </a:ln>
        </p:spPr>
        <p:txBody>
          <a:bodyPr wrap="none" lIns="0" tIns="0" rIns="0" bIns="0" rtlCol="0" anchor="ctr">
            <a:noAutofit/>
          </a:bodyPr>
          <a:lstStyle/>
          <a:p>
            <a:pPr algn="ctr"/>
            <a:r>
              <a:rPr lang="en-US" sz="2000" b="1" dirty="0">
                <a:solidFill>
                  <a:srgbClr val="062F5C"/>
                </a:solidFill>
              </a:rPr>
              <a:t>06</a:t>
            </a:r>
          </a:p>
        </p:txBody>
      </p:sp>
      <p:sp>
        <p:nvSpPr>
          <p:cNvPr id="200" name="Ex card image"/>
          <p:cNvSpPr/>
          <p:nvPr/>
        </p:nvSpPr>
        <p:spPr>
          <a:xfrm>
            <a:off x="457200" y="1143000"/>
            <a:ext cx="4826000" cy="4495800"/>
          </a:xfrm>
          <a:prstGeom prst="roundRect">
            <a:avLst>
              <a:gd name="adj" fmla="val 643"/>
            </a:avLst>
          </a:prstGeom>
          <a:solidFill>
            <a:srgbClr val="FFFFFF"/>
          </a:solidFill>
          <a:ln>
            <a:noFill/>
          </a:ln>
        </p:spPr>
        <p:txBody>
          <a:bodyPr/>
          <a:lstStyle/>
          <a:p>
            <a:endParaRPr lang="en-US"/>
          </a:p>
        </p:txBody>
      </p:sp>
      <p:sp>
        <p:nvSpPr>
          <p:cNvPr id="201" name="Ex image bg"/>
          <p:cNvSpPr/>
          <p:nvPr/>
        </p:nvSpPr>
        <p:spPr>
          <a:xfrm>
            <a:off x="609600" y="1295400"/>
            <a:ext cx="4521200" cy="3225800"/>
          </a:xfrm>
          <a:prstGeom prst="roundRect">
            <a:avLst>
              <a:gd name="adj" fmla="val 1543"/>
            </a:avLst>
          </a:prstGeom>
          <a:solidFill>
            <a:srgbClr val="EEF2F6"/>
          </a:solidFill>
          <a:ln>
            <a:noFill/>
          </a:ln>
        </p:spPr>
        <p:txBody>
          <a:bodyPr/>
          <a:lstStyle/>
          <a:p>
            <a:endParaRPr lang="en-US"/>
          </a:p>
        </p:txBody>
      </p:sp>
      <p:sp>
        <p:nvSpPr>
          <p:cNvPr id="202" name="Ex caption"/>
          <p:cNvSpPr txBox="1"/>
          <p:nvPr/>
        </p:nvSpPr>
        <p:spPr>
          <a:xfrm>
            <a:off x="609600" y="4597400"/>
            <a:ext cx="4521200" cy="889000"/>
          </a:xfrm>
          <a:prstGeom prst="rect">
            <a:avLst/>
          </a:prstGeom>
          <a:noFill/>
          <a:ln>
            <a:noFill/>
          </a:ln>
        </p:spPr>
        <p:txBody>
          <a:bodyPr wrap="square" lIns="0" tIns="0" rIns="0" bIns="0" rtlCol="0" anchor="t">
            <a:noAutofit/>
          </a:bodyPr>
          <a:lstStyle/>
          <a:p>
            <a:pPr marL="0" indent="0">
              <a:lnSpc>
                <a:spcPct val="105000"/>
              </a:lnSpc>
              <a:spcAft>
                <a:spcPts val="100"/>
              </a:spcAft>
              <a:buNone/>
            </a:pPr>
            <a:r>
              <a:rPr lang="vi-VN" sz="1200" i="1" dirty="0">
                <a:solidFill>
                  <a:srgbClr val="344054"/>
                </a:solidFill>
              </a:rPr>
              <a:t>Hình 6.4.1.b. Giao diện tìm kiếm, theo dõi lịch trình chuyến bay và bộ lọc trên Traveloka</a:t>
            </a:r>
          </a:p>
          <a:p>
            <a:pPr marL="0" indent="0">
              <a:lnSpc>
                <a:spcPct val="105000"/>
              </a:lnSpc>
              <a:spcAft>
                <a:spcPts val="0"/>
              </a:spcAft>
              <a:buNone/>
            </a:pPr>
            <a:r>
              <a:rPr lang="vi-VN" sz="1100" i="1" dirty="0">
                <a:solidFill>
                  <a:srgbClr val="475467"/>
                </a:solidFill>
              </a:rPr>
              <a:t>Nguồn: traveloka.com/vi-vn/airport-transfer</a:t>
            </a:r>
          </a:p>
        </p:txBody>
      </p:sp>
      <p:sp>
        <p:nvSpPr>
          <p:cNvPr id="203" name="Ex card text"/>
          <p:cNvSpPr/>
          <p:nvPr/>
        </p:nvSpPr>
        <p:spPr>
          <a:xfrm>
            <a:off x="5435600" y="1143000"/>
            <a:ext cx="6299200" cy="4495800"/>
          </a:xfrm>
          <a:prstGeom prst="roundRect">
            <a:avLst>
              <a:gd name="adj" fmla="val 643"/>
            </a:avLst>
          </a:prstGeom>
          <a:solidFill>
            <a:srgbClr val="FFFFFF"/>
          </a:solidFill>
          <a:ln>
            <a:noFill/>
          </a:ln>
        </p:spPr>
        <p:txBody>
          <a:bodyPr/>
          <a:lstStyle/>
          <a:p>
            <a:endParaRPr lang="en-US"/>
          </a:p>
        </p:txBody>
      </p:sp>
      <p:sp>
        <p:nvSpPr>
          <p:cNvPr id="204" name="Ex name"/>
          <p:cNvSpPr txBox="1"/>
          <p:nvPr/>
        </p:nvSpPr>
        <p:spPr>
          <a:xfrm>
            <a:off x="5664200" y="1244600"/>
            <a:ext cx="5842000" cy="650748"/>
          </a:xfrm>
          <a:prstGeom prst="rect">
            <a:avLst/>
          </a:prstGeom>
          <a:noFill/>
          <a:ln>
            <a:noFill/>
          </a:ln>
        </p:spPr>
        <p:txBody>
          <a:bodyPr wrap="square" lIns="0" tIns="0" rIns="0" bIns="0" rtlCol="0" anchor="t">
            <a:noAutofit/>
          </a:bodyPr>
          <a:lstStyle/>
          <a:p>
            <a:pPr marL="0" indent="0">
              <a:lnSpc>
                <a:spcPct val="100000"/>
              </a:lnSpc>
              <a:spcAft>
                <a:spcPts val="0"/>
              </a:spcAft>
              <a:buNone/>
            </a:pPr>
            <a:r>
              <a:rPr lang="vi-VN" sz="2100" b="1" dirty="0">
                <a:solidFill>
                  <a:srgbClr val="1677B8"/>
                </a:solidFill>
              </a:rPr>
              <a:t>Ví dụ 6.4.1: </a:t>
            </a:r>
            <a:r>
              <a:rPr lang="vi-VN" sz="2100" b="1" dirty="0">
                <a:solidFill>
                  <a:srgbClr val="062F5C"/>
                </a:solidFill>
              </a:rPr>
              <a:t>Ứng dụng Traveloka (Đặt vé máy bay &amp; Khách sạn)</a:t>
            </a:r>
          </a:p>
        </p:txBody>
      </p:sp>
      <p:sp>
        <p:nvSpPr>
          <p:cNvPr id="205" name="Ex body"/>
          <p:cNvSpPr txBox="1"/>
          <p:nvPr/>
        </p:nvSpPr>
        <p:spPr>
          <a:xfrm>
            <a:off x="5664200" y="1971548"/>
            <a:ext cx="5842000" cy="3565652"/>
          </a:xfrm>
          <a:prstGeom prst="rect">
            <a:avLst/>
          </a:prstGeom>
          <a:noFill/>
          <a:ln>
            <a:noFill/>
          </a:ln>
        </p:spPr>
        <p:txBody>
          <a:bodyPr wrap="square" lIns="0" tIns="0" rIns="0" bIns="0" rtlCol="0" anchor="t">
            <a:noAutofit/>
          </a:bodyPr>
          <a:lstStyle/>
          <a:p>
            <a:pPr marL="0" indent="0">
              <a:lnSpc>
                <a:spcPct val="98000"/>
              </a:lnSpc>
              <a:spcAft>
                <a:spcPts val="300"/>
              </a:spcAft>
              <a:buNone/>
            </a:pPr>
            <a:r>
              <a:rPr lang="vi-VN" sz="1900" b="1" dirty="0"/>
              <a:t>Là gì, có gì:</a:t>
            </a:r>
            <a:br>
              <a:rPr lang="vi-VN" sz="1900" b="1" dirty="0">
                <a:solidFill>
                  <a:srgbClr val="667085"/>
                </a:solidFill>
              </a:rPr>
            </a:br>
            <a:r>
              <a:rPr lang="vi-VN" sz="1900" dirty="0">
                <a:solidFill>
                  <a:srgbClr val="344054"/>
                </a:solidFill>
              </a:rPr>
              <a:t>Ứng dụng du lịch cho phép người dùng tìm kiếm, so sánh giá vé máy bay, khách sạn và đưa ra quyết định đặt chỗ. Có các bộ lọc (giá, giờ bay, hãng hàng </a:t>
            </a:r>
            <a:r>
              <a:rPr lang="vi-VN" sz="1900" dirty="0"/>
              <a:t>không) và tính năng so sánh.</a:t>
            </a:r>
          </a:p>
          <a:p>
            <a:pPr marL="0" indent="0">
              <a:lnSpc>
                <a:spcPct val="98000"/>
              </a:lnSpc>
              <a:spcAft>
                <a:spcPts val="300"/>
              </a:spcAft>
              <a:buNone/>
            </a:pPr>
            <a:endParaRPr lang="vi-VN" sz="1900" dirty="0"/>
          </a:p>
          <a:p>
            <a:pPr marL="0" indent="0">
              <a:lnSpc>
                <a:spcPct val="98000"/>
              </a:lnSpc>
              <a:spcAft>
                <a:spcPts val="0"/>
              </a:spcAft>
              <a:buNone/>
            </a:pPr>
            <a:r>
              <a:rPr lang="vi-VN" sz="1900" b="1" dirty="0"/>
              <a:t>Liên hệ đặc điểm nhận thức:</a:t>
            </a:r>
            <a:br>
              <a:rPr lang="vi-VN" sz="1900" b="1" dirty="0">
                <a:solidFill>
                  <a:srgbClr val="667085"/>
                </a:solidFill>
              </a:rPr>
            </a:br>
            <a:r>
              <a:rPr lang="vi-VN" sz="1900" dirty="0">
                <a:solidFill>
                  <a:srgbClr val="344054"/>
                </a:solidFill>
              </a:rPr>
              <a:t>Hỗ trợ quá trình </a:t>
            </a:r>
            <a:r>
              <a:rPr lang="vi-VN" sz="1900" b="1" dirty="0">
                <a:solidFill>
                  <a:srgbClr val="344054"/>
                </a:solidFill>
              </a:rPr>
              <a:t>ra quyết định nhanh chóng </a:t>
            </a:r>
            <a:r>
              <a:rPr lang="vi-VN" sz="1900" dirty="0">
                <a:solidFill>
                  <a:srgbClr val="344054"/>
                </a:solidFill>
              </a:rPr>
              <a:t>(rapid decision-making) cho người dùng đang di chuyển. Người dùng sử dụng các công cụ tính toán đơn giản (bộ lọc, sắp xếp) để xem xét các kịch bản khác nhau.</a:t>
            </a:r>
          </a:p>
        </p:txBody>
      </p:sp>
      <p:sp>
        <p:nvSpPr>
          <p:cNvPr id="206" name="Ex lesson bg"/>
          <p:cNvSpPr/>
          <p:nvPr/>
        </p:nvSpPr>
        <p:spPr>
          <a:xfrm>
            <a:off x="457200" y="5715000"/>
            <a:ext cx="11277600" cy="635000"/>
          </a:xfrm>
          <a:prstGeom prst="rect">
            <a:avLst/>
          </a:prstGeom>
          <a:solidFill>
            <a:srgbClr val="EAF5EF"/>
          </a:solidFill>
          <a:ln>
            <a:noFill/>
          </a:ln>
        </p:spPr>
        <p:txBody>
          <a:bodyPr/>
          <a:lstStyle/>
          <a:p>
            <a:endParaRPr lang="en-US"/>
          </a:p>
        </p:txBody>
      </p:sp>
      <p:sp>
        <p:nvSpPr>
          <p:cNvPr id="207" name="Ex lesson bar"/>
          <p:cNvSpPr/>
          <p:nvPr/>
        </p:nvSpPr>
        <p:spPr>
          <a:xfrm>
            <a:off x="457200" y="5715000"/>
            <a:ext cx="50800" cy="635000"/>
          </a:xfrm>
          <a:prstGeom prst="rect">
            <a:avLst/>
          </a:prstGeom>
          <a:solidFill>
            <a:srgbClr val="2E9B67"/>
          </a:solidFill>
          <a:ln>
            <a:noFill/>
          </a:ln>
        </p:spPr>
        <p:txBody>
          <a:bodyPr/>
          <a:lstStyle/>
          <a:p>
            <a:endParaRPr lang="en-US"/>
          </a:p>
        </p:txBody>
      </p:sp>
      <p:sp>
        <p:nvSpPr>
          <p:cNvPr id="208" name="Ex lesson"/>
          <p:cNvSpPr txBox="1"/>
          <p:nvPr/>
        </p:nvSpPr>
        <p:spPr>
          <a:xfrm>
            <a:off x="685800" y="5715000"/>
            <a:ext cx="10820400" cy="635000"/>
          </a:xfrm>
          <a:prstGeom prst="rect">
            <a:avLst/>
          </a:prstGeom>
          <a:noFill/>
          <a:ln>
            <a:noFill/>
          </a:ln>
        </p:spPr>
        <p:txBody>
          <a:bodyPr wrap="square" lIns="0" tIns="0" rIns="0" bIns="0" rtlCol="0" anchor="ctr">
            <a:noAutofit/>
          </a:bodyPr>
          <a:lstStyle/>
          <a:p>
            <a:pPr marL="0" indent="0">
              <a:lnSpc>
                <a:spcPct val="100000"/>
              </a:lnSpc>
              <a:spcAft>
                <a:spcPts val="0"/>
              </a:spcAft>
              <a:buNone/>
            </a:pPr>
            <a:r>
              <a:rPr lang="vi-VN" sz="1800" b="1" dirty="0">
                <a:solidFill>
                  <a:srgbClr val="1E7F53"/>
                </a:solidFill>
              </a:rPr>
              <a:t>Bài học: </a:t>
            </a:r>
            <a:r>
              <a:rPr lang="vi-VN" sz="1800" b="1" dirty="0">
                <a:solidFill>
                  <a:srgbClr val="062F5C"/>
                </a:solidFill>
              </a:rPr>
              <a:t>Giao diện cần trực quan, các thông tin quan trọng (giá, giờ) phải được hiển thị nổi bật. Việc cung cấp tính năng so sánh giúp người dùng dễ dàng đưa ra lựa chọn tối ưu.</a:t>
            </a:r>
          </a:p>
        </p:txBody>
      </p:sp>
      <p:pic>
        <p:nvPicPr>
          <p:cNvPr id="3" name="Picture 2">
            <a:extLst>
              <a:ext uri="{FF2B5EF4-FFF2-40B4-BE49-F238E27FC236}">
                <a16:creationId xmlns:a16="http://schemas.microsoft.com/office/drawing/2014/main" id="{B3C9CA05-685C-B420-6618-757681E4F71D}"/>
              </a:ext>
            </a:extLst>
          </p:cNvPr>
          <p:cNvPicPr>
            <a:picLocks noChangeAspect="1"/>
          </p:cNvPicPr>
          <p:nvPr/>
        </p:nvPicPr>
        <p:blipFill>
          <a:blip r:embed="rId3"/>
          <a:stretch>
            <a:fillRect/>
          </a:stretch>
        </p:blipFill>
        <p:spPr>
          <a:xfrm>
            <a:off x="1135656" y="1752600"/>
            <a:ext cx="3469089" cy="2768600"/>
          </a:xfrm>
          <a:prstGeom prst="rect">
            <a:avLst/>
          </a:prstGeom>
        </p:spPr>
      </p:pic>
      <p:sp>
        <p:nvSpPr>
          <p:cNvPr id="209" name="Ex badge"/>
          <p:cNvSpPr/>
          <p:nvPr/>
        </p:nvSpPr>
        <p:spPr>
          <a:xfrm>
            <a:off x="711200" y="1397000"/>
            <a:ext cx="381000" cy="381000"/>
          </a:xfrm>
          <a:prstGeom prst="ellipse">
            <a:avLst/>
          </a:prstGeom>
          <a:solidFill>
            <a:srgbClr val="073B6F"/>
          </a:solidFill>
          <a:ln w="28575">
            <a:solidFill>
              <a:srgbClr val="F4B336"/>
            </a:solidFill>
          </a:ln>
        </p:spPr>
        <p:txBody>
          <a:bodyPr/>
          <a:lstStyle/>
          <a:p>
            <a:endParaRPr lang="en-US"/>
          </a:p>
        </p:txBody>
      </p:sp>
      <p:sp>
        <p:nvSpPr>
          <p:cNvPr id="210" name="Ex badge num"/>
          <p:cNvSpPr txBox="1"/>
          <p:nvPr/>
        </p:nvSpPr>
        <p:spPr>
          <a:xfrm>
            <a:off x="711200" y="1397000"/>
            <a:ext cx="381000" cy="381000"/>
          </a:xfrm>
          <a:prstGeom prst="rect">
            <a:avLst/>
          </a:prstGeom>
          <a:noFill/>
          <a:ln>
            <a:noFill/>
          </a:ln>
        </p:spPr>
        <p:txBody>
          <a:bodyPr wrap="square" lIns="0" tIns="0" rIns="0" bIns="0" rtlCol="0" anchor="ctr">
            <a:noAutofit/>
          </a:bodyPr>
          <a:lstStyle/>
          <a:p>
            <a:pPr marL="0" indent="0" algn="ctr">
              <a:buNone/>
            </a:pPr>
            <a:r>
              <a:rPr lang="vi-VN" sz="1000" b="1" dirty="0">
                <a:solidFill>
                  <a:srgbClr val="FFFFFF"/>
                </a:solidFill>
              </a:rPr>
              <a:t>6.4.1</a:t>
            </a:r>
          </a:p>
        </p:txBody>
      </p:sp>
    </p:spTree>
    <p:extLst>
      <p:ext uri="{BB962C8B-B14F-4D97-AF65-F5344CB8AC3E}">
        <p14:creationId xmlns:p14="http://schemas.microsoft.com/office/powerpoint/2010/main" val="311259003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7">
    <p:bg>
      <p:bgPr>
        <a:solidFill>
          <a:srgbClr val="062F5C"/>
        </a:solidFill>
        <a:effectLst/>
      </p:bgPr>
    </p:bg>
    <p:spTree>
      <p:nvGrpSpPr>
        <p:cNvPr id="1" name=""/>
        <p:cNvGrpSpPr/>
        <p:nvPr/>
      </p:nvGrpSpPr>
      <p:grpSpPr>
        <a:xfrm>
          <a:off x="0" y="0"/>
          <a:ext cx="0" cy="0"/>
          <a:chOff x="0" y="0"/>
          <a:chExt cx="0" cy="0"/>
        </a:xfrm>
      </p:grpSpPr>
      <p:sp>
        <p:nvSpPr>
          <p:cNvPr id="35" name="Decor 36"/>
          <p:cNvSpPr/>
          <p:nvPr/>
        </p:nvSpPr>
        <p:spPr>
          <a:xfrm>
            <a:off x="-2413000" y="2794000"/>
            <a:ext cx="4826000" cy="4826000"/>
          </a:xfrm>
          <a:prstGeom prst="ellipse">
            <a:avLst/>
          </a:prstGeom>
          <a:solidFill>
            <a:srgbClr val="FFFFFF">
              <a:alpha val="9000"/>
            </a:srgbClr>
          </a:solidFill>
          <a:ln>
            <a:noFill/>
          </a:ln>
        </p:spPr>
        <p:txBody>
          <a:bodyPr/>
          <a:lstStyle/>
          <a:p>
            <a:endParaRPr lang="en-US"/>
          </a:p>
        </p:txBody>
      </p:sp>
      <p:sp>
        <p:nvSpPr>
          <p:cNvPr id="36" name="Decor 37"/>
          <p:cNvSpPr/>
          <p:nvPr/>
        </p:nvSpPr>
        <p:spPr>
          <a:xfrm rot="1800000">
            <a:off x="9779000" y="-1143000"/>
            <a:ext cx="3048000" cy="3048000"/>
          </a:xfrm>
          <a:prstGeom prst="rect">
            <a:avLst/>
          </a:prstGeom>
          <a:noFill/>
          <a:ln w="28575">
            <a:solidFill>
              <a:srgbClr val="FFFFFF">
                <a:alpha val="22000"/>
              </a:srgbClr>
            </a:solidFill>
          </a:ln>
        </p:spPr>
        <p:txBody>
          <a:bodyPr/>
          <a:lstStyle/>
          <a:p>
            <a:endParaRPr lang="en-US"/>
          </a:p>
        </p:txBody>
      </p:sp>
      <p:sp>
        <p:nvSpPr>
          <p:cNvPr id="37" name="Decor 38"/>
          <p:cNvSpPr/>
          <p:nvPr/>
        </p:nvSpPr>
        <p:spPr>
          <a:xfrm>
            <a:off x="11912600" y="6553200"/>
            <a:ext cx="177800" cy="177800"/>
          </a:xfrm>
          <a:prstGeom prst="ellipse">
            <a:avLst/>
          </a:prstGeom>
          <a:solidFill>
            <a:srgbClr val="F4B336">
              <a:alpha val="35000"/>
            </a:srgbClr>
          </a:solidFill>
          <a:ln>
            <a:noFill/>
          </a:ln>
        </p:spPr>
        <p:txBody>
          <a:bodyPr/>
          <a:lstStyle/>
          <a:p>
            <a:endParaRPr lang="en-US"/>
          </a:p>
        </p:txBody>
      </p:sp>
      <p:sp>
        <p:nvSpPr>
          <p:cNvPr id="2" name="Text 1"/>
          <p:cNvSpPr>
            <a:spLocks noGrp="1"/>
          </p:cNvSpPr>
          <p:nvPr>
            <p:ph type="title" idx="101" hasCustomPrompt="1"/>
          </p:nvPr>
        </p:nvSpPr>
        <p:spPr>
          <a:xfrm>
            <a:off x="1168400" y="512064"/>
            <a:ext cx="10566400" cy="512064"/>
          </a:xfrm>
          <a:prstGeom prst="rect">
            <a:avLst/>
          </a:prstGeom>
          <a:noFill/>
          <a:ln/>
        </p:spPr>
        <p:txBody>
          <a:bodyPr wrap="square" lIns="0" tIns="0" rIns="0" bIns="0" rtlCol="0" anchor="t"/>
          <a:lstStyle/>
          <a:p>
            <a:pPr marL="0" indent="0" algn="l">
              <a:buNone/>
            </a:pPr>
            <a:r>
              <a:rPr lang="en-US" sz="3000" b="1" dirty="0">
                <a:solidFill>
                  <a:srgbClr val="FFFFFF"/>
                </a:solidFill>
              </a:rPr>
              <a:t>Ra quyết định — Ví dụ 6.4.4</a:t>
            </a:r>
          </a:p>
        </p:txBody>
      </p:sp>
      <p:sp>
        <p:nvSpPr>
          <p:cNvPr id="34" name="Topic badge"/>
          <p:cNvSpPr/>
          <p:nvPr/>
        </p:nvSpPr>
        <p:spPr>
          <a:xfrm>
            <a:off x="457200" y="524764"/>
            <a:ext cx="508000" cy="508000"/>
          </a:xfrm>
          <a:prstGeom prst="roundRect">
            <a:avLst>
              <a:gd name="adj" fmla="val 22000"/>
            </a:avLst>
          </a:prstGeom>
          <a:solidFill>
            <a:srgbClr val="F4B336"/>
          </a:solidFill>
          <a:ln>
            <a:noFill/>
          </a:ln>
        </p:spPr>
        <p:txBody>
          <a:bodyPr wrap="none" lIns="0" tIns="0" rIns="0" bIns="0" rtlCol="0" anchor="ctr">
            <a:noAutofit/>
          </a:bodyPr>
          <a:lstStyle/>
          <a:p>
            <a:pPr algn="ctr"/>
            <a:r>
              <a:rPr lang="en-US" sz="2000" b="1" dirty="0">
                <a:solidFill>
                  <a:srgbClr val="062F5C"/>
                </a:solidFill>
              </a:rPr>
              <a:t>06</a:t>
            </a:r>
          </a:p>
        </p:txBody>
      </p:sp>
      <p:sp>
        <p:nvSpPr>
          <p:cNvPr id="200" name="Ex card image"/>
          <p:cNvSpPr/>
          <p:nvPr/>
        </p:nvSpPr>
        <p:spPr>
          <a:xfrm>
            <a:off x="457200" y="1143000"/>
            <a:ext cx="4826000" cy="4495800"/>
          </a:xfrm>
          <a:prstGeom prst="roundRect">
            <a:avLst>
              <a:gd name="adj" fmla="val 643"/>
            </a:avLst>
          </a:prstGeom>
          <a:solidFill>
            <a:srgbClr val="FFFFFF"/>
          </a:solidFill>
          <a:ln>
            <a:noFill/>
          </a:ln>
        </p:spPr>
        <p:txBody>
          <a:bodyPr/>
          <a:lstStyle/>
          <a:p>
            <a:endParaRPr lang="en-US"/>
          </a:p>
        </p:txBody>
      </p:sp>
      <p:sp>
        <p:nvSpPr>
          <p:cNvPr id="201" name="Ex image bg"/>
          <p:cNvSpPr/>
          <p:nvPr/>
        </p:nvSpPr>
        <p:spPr>
          <a:xfrm>
            <a:off x="609600" y="1295400"/>
            <a:ext cx="4521200" cy="3225800"/>
          </a:xfrm>
          <a:prstGeom prst="roundRect">
            <a:avLst>
              <a:gd name="adj" fmla="val 1543"/>
            </a:avLst>
          </a:prstGeom>
          <a:solidFill>
            <a:srgbClr val="EEF2F6"/>
          </a:solidFill>
          <a:ln>
            <a:noFill/>
          </a:ln>
        </p:spPr>
        <p:txBody>
          <a:bodyPr/>
          <a:lstStyle/>
          <a:p>
            <a:endParaRPr lang="en-US"/>
          </a:p>
        </p:txBody>
      </p:sp>
      <p:sp>
        <p:nvSpPr>
          <p:cNvPr id="202" name="Ex caption"/>
          <p:cNvSpPr txBox="1"/>
          <p:nvPr/>
        </p:nvSpPr>
        <p:spPr>
          <a:xfrm>
            <a:off x="609600" y="4597400"/>
            <a:ext cx="4521200" cy="889000"/>
          </a:xfrm>
          <a:prstGeom prst="rect">
            <a:avLst/>
          </a:prstGeom>
          <a:noFill/>
          <a:ln>
            <a:noFill/>
          </a:ln>
        </p:spPr>
        <p:txBody>
          <a:bodyPr wrap="square" lIns="0" tIns="0" rIns="0" bIns="0" rtlCol="0" anchor="t">
            <a:noAutofit/>
          </a:bodyPr>
          <a:lstStyle/>
          <a:p>
            <a:pPr marL="0" indent="0">
              <a:lnSpc>
                <a:spcPct val="105000"/>
              </a:lnSpc>
              <a:spcAft>
                <a:spcPts val="100"/>
              </a:spcAft>
              <a:buNone/>
            </a:pPr>
            <a:r>
              <a:rPr lang="vi-VN" sz="1200" i="1" dirty="0">
                <a:solidFill>
                  <a:srgbClr val="344054"/>
                </a:solidFill>
              </a:rPr>
              <a:t>Hình 6.4.4.a. Công cụ tính toán khoản vay trên ứng dụng ngân hàng</a:t>
            </a:r>
          </a:p>
          <a:p>
            <a:pPr marL="0" indent="0">
              <a:lnSpc>
                <a:spcPct val="105000"/>
              </a:lnSpc>
              <a:spcAft>
                <a:spcPts val="0"/>
              </a:spcAft>
              <a:buNone/>
            </a:pPr>
            <a:r>
              <a:rPr lang="vi-VN" sz="1100" i="1" dirty="0">
                <a:solidFill>
                  <a:srgbClr val="475467"/>
                </a:solidFill>
              </a:rPr>
              <a:t>Nguồn: vietcombank.com.vn/en/Personal/Cong-cu-Tien-ich/KHCN---Tinh-lich-tra-no</a:t>
            </a:r>
          </a:p>
        </p:txBody>
      </p:sp>
      <p:sp>
        <p:nvSpPr>
          <p:cNvPr id="203" name="Ex card text"/>
          <p:cNvSpPr/>
          <p:nvPr/>
        </p:nvSpPr>
        <p:spPr>
          <a:xfrm>
            <a:off x="5435600" y="1143000"/>
            <a:ext cx="6299200" cy="4495800"/>
          </a:xfrm>
          <a:prstGeom prst="roundRect">
            <a:avLst>
              <a:gd name="adj" fmla="val 643"/>
            </a:avLst>
          </a:prstGeom>
          <a:solidFill>
            <a:srgbClr val="FFFFFF"/>
          </a:solidFill>
          <a:ln>
            <a:noFill/>
          </a:ln>
        </p:spPr>
        <p:txBody>
          <a:bodyPr/>
          <a:lstStyle/>
          <a:p>
            <a:endParaRPr lang="en-US"/>
          </a:p>
        </p:txBody>
      </p:sp>
      <p:sp>
        <p:nvSpPr>
          <p:cNvPr id="204" name="Ex name"/>
          <p:cNvSpPr txBox="1"/>
          <p:nvPr/>
        </p:nvSpPr>
        <p:spPr>
          <a:xfrm>
            <a:off x="5664200" y="1244600"/>
            <a:ext cx="5842000" cy="681736"/>
          </a:xfrm>
          <a:prstGeom prst="rect">
            <a:avLst/>
          </a:prstGeom>
          <a:noFill/>
          <a:ln>
            <a:noFill/>
          </a:ln>
        </p:spPr>
        <p:txBody>
          <a:bodyPr wrap="square" lIns="0" tIns="0" rIns="0" bIns="0" rtlCol="0" anchor="t">
            <a:noAutofit/>
          </a:bodyPr>
          <a:lstStyle/>
          <a:p>
            <a:pPr marL="0" indent="0">
              <a:lnSpc>
                <a:spcPct val="100000"/>
              </a:lnSpc>
              <a:spcAft>
                <a:spcPts val="0"/>
              </a:spcAft>
              <a:buNone/>
            </a:pPr>
            <a:r>
              <a:rPr lang="vi-VN" sz="2200" b="1" dirty="0">
                <a:solidFill>
                  <a:srgbClr val="1677B8"/>
                </a:solidFill>
              </a:rPr>
              <a:t>Ví dụ 6.4.4: </a:t>
            </a:r>
            <a:r>
              <a:rPr lang="vi-VN" sz="2200" b="1" dirty="0">
                <a:solidFill>
                  <a:srgbClr val="062F5C"/>
                </a:solidFill>
              </a:rPr>
              <a:t>Ứng dụng mô phỏng vay ngân hàng</a:t>
            </a:r>
          </a:p>
        </p:txBody>
      </p:sp>
      <p:sp>
        <p:nvSpPr>
          <p:cNvPr id="205" name="Ex body"/>
          <p:cNvSpPr txBox="1"/>
          <p:nvPr/>
        </p:nvSpPr>
        <p:spPr>
          <a:xfrm>
            <a:off x="5664200" y="2002536"/>
            <a:ext cx="5842000" cy="3534664"/>
          </a:xfrm>
          <a:prstGeom prst="rect">
            <a:avLst/>
          </a:prstGeom>
          <a:noFill/>
          <a:ln>
            <a:noFill/>
          </a:ln>
        </p:spPr>
        <p:txBody>
          <a:bodyPr wrap="square" lIns="0" tIns="0" rIns="0" bIns="0" rtlCol="0" anchor="t">
            <a:noAutofit/>
          </a:bodyPr>
          <a:lstStyle/>
          <a:p>
            <a:pPr marL="0" indent="0">
              <a:lnSpc>
                <a:spcPct val="98000"/>
              </a:lnSpc>
              <a:spcAft>
                <a:spcPts val="300"/>
              </a:spcAft>
              <a:buNone/>
            </a:pPr>
            <a:r>
              <a:rPr lang="vi-VN" sz="2000" b="1" dirty="0"/>
              <a:t>Là gì, có gì:</a:t>
            </a:r>
            <a:br>
              <a:rPr lang="vi-VN" sz="2000" b="1" dirty="0">
                <a:solidFill>
                  <a:srgbClr val="667085"/>
                </a:solidFill>
              </a:rPr>
            </a:br>
            <a:r>
              <a:rPr lang="vi-VN" sz="2000" dirty="0">
                <a:solidFill>
                  <a:srgbClr val="344054"/>
                </a:solidFill>
              </a:rPr>
              <a:t>Các ứng dụng ngân hàng số (như VCB Digibank, Techcombank) thường có công cụ tính toán khoản vay, cho phép người dùng nhập số tiền vay, kỳ hạn.</a:t>
            </a:r>
          </a:p>
          <a:p>
            <a:pPr marL="0" indent="0">
              <a:lnSpc>
                <a:spcPct val="98000"/>
              </a:lnSpc>
              <a:spcAft>
                <a:spcPts val="300"/>
              </a:spcAft>
              <a:buNone/>
            </a:pPr>
            <a:endParaRPr lang="vi-VN" sz="2000" dirty="0">
              <a:solidFill>
                <a:srgbClr val="344054"/>
              </a:solidFill>
            </a:endParaRPr>
          </a:p>
          <a:p>
            <a:pPr marL="0" indent="0">
              <a:lnSpc>
                <a:spcPct val="98000"/>
              </a:lnSpc>
              <a:spcAft>
                <a:spcPts val="0"/>
              </a:spcAft>
              <a:buNone/>
            </a:pPr>
            <a:r>
              <a:rPr lang="vi-VN" sz="2000" b="1" dirty="0"/>
              <a:t>Liên hệ đặc điểm nhận thức:</a:t>
            </a:r>
            <a:br>
              <a:rPr lang="vi-VN" sz="2000" b="1" dirty="0">
                <a:solidFill>
                  <a:srgbClr val="667085"/>
                </a:solidFill>
              </a:rPr>
            </a:br>
            <a:r>
              <a:rPr lang="vi-VN" sz="2000" dirty="0">
                <a:solidFill>
                  <a:srgbClr val="344054"/>
                </a:solidFill>
              </a:rPr>
              <a:t>Giúp người dùng </a:t>
            </a:r>
            <a:r>
              <a:rPr lang="vi-VN" sz="2000" b="1" dirty="0">
                <a:solidFill>
                  <a:srgbClr val="344054"/>
                </a:solidFill>
              </a:rPr>
              <a:t>xem xét các kịch bản tài chính khác nhau </a:t>
            </a:r>
            <a:r>
              <a:rPr lang="vi-VN" sz="2000" dirty="0">
                <a:solidFill>
                  <a:srgbClr val="344054"/>
                </a:solidFill>
              </a:rPr>
              <a:t>(vay 1 năm vs 5 năm) và đưa ra quyết định dựa trên hậu quả (số tiền phải trả hàng tháng).</a:t>
            </a:r>
          </a:p>
        </p:txBody>
      </p:sp>
      <p:sp>
        <p:nvSpPr>
          <p:cNvPr id="206" name="Ex lesson bg"/>
          <p:cNvSpPr/>
          <p:nvPr/>
        </p:nvSpPr>
        <p:spPr>
          <a:xfrm>
            <a:off x="457200" y="5715000"/>
            <a:ext cx="11277600" cy="635000"/>
          </a:xfrm>
          <a:prstGeom prst="rect">
            <a:avLst/>
          </a:prstGeom>
          <a:solidFill>
            <a:srgbClr val="EAF5EF"/>
          </a:solidFill>
          <a:ln>
            <a:noFill/>
          </a:ln>
        </p:spPr>
        <p:txBody>
          <a:bodyPr/>
          <a:lstStyle/>
          <a:p>
            <a:endParaRPr lang="en-US"/>
          </a:p>
        </p:txBody>
      </p:sp>
      <p:sp>
        <p:nvSpPr>
          <p:cNvPr id="207" name="Ex lesson bar"/>
          <p:cNvSpPr/>
          <p:nvPr/>
        </p:nvSpPr>
        <p:spPr>
          <a:xfrm>
            <a:off x="457200" y="5715000"/>
            <a:ext cx="50800" cy="635000"/>
          </a:xfrm>
          <a:prstGeom prst="rect">
            <a:avLst/>
          </a:prstGeom>
          <a:solidFill>
            <a:srgbClr val="2E9B67"/>
          </a:solidFill>
          <a:ln>
            <a:noFill/>
          </a:ln>
        </p:spPr>
        <p:txBody>
          <a:bodyPr/>
          <a:lstStyle/>
          <a:p>
            <a:endParaRPr lang="en-US"/>
          </a:p>
        </p:txBody>
      </p:sp>
      <p:sp>
        <p:nvSpPr>
          <p:cNvPr id="208" name="Ex lesson"/>
          <p:cNvSpPr txBox="1"/>
          <p:nvPr/>
        </p:nvSpPr>
        <p:spPr>
          <a:xfrm>
            <a:off x="685800" y="5715000"/>
            <a:ext cx="10820400" cy="635000"/>
          </a:xfrm>
          <a:prstGeom prst="rect">
            <a:avLst/>
          </a:prstGeom>
          <a:noFill/>
          <a:ln>
            <a:noFill/>
          </a:ln>
        </p:spPr>
        <p:txBody>
          <a:bodyPr wrap="square" lIns="0" tIns="0" rIns="0" bIns="0" rtlCol="0" anchor="ctr">
            <a:noAutofit/>
          </a:bodyPr>
          <a:lstStyle/>
          <a:p>
            <a:pPr marL="0" indent="0">
              <a:lnSpc>
                <a:spcPct val="100000"/>
              </a:lnSpc>
              <a:spcAft>
                <a:spcPts val="0"/>
              </a:spcAft>
              <a:buNone/>
            </a:pPr>
            <a:r>
              <a:rPr lang="vi-VN" sz="1800" b="1" dirty="0">
                <a:solidFill>
                  <a:srgbClr val="1E7F53"/>
                </a:solidFill>
              </a:rPr>
              <a:t>Bài học: </a:t>
            </a:r>
            <a:r>
              <a:rPr lang="vi-VN" sz="1800" b="1" dirty="0">
                <a:solidFill>
                  <a:srgbClr val="062F5C"/>
                </a:solidFill>
              </a:rPr>
              <a:t>Cung cấp các thanh trượt (slider) để người dùng dễ dàng điều chỉnh các biến số và nhìn thấy kết quả thay đổi ngay lập tức (real-time feedback).</a:t>
            </a:r>
          </a:p>
        </p:txBody>
      </p:sp>
      <p:pic>
        <p:nvPicPr>
          <p:cNvPr id="3" name="Picture 2">
            <a:extLst>
              <a:ext uri="{FF2B5EF4-FFF2-40B4-BE49-F238E27FC236}">
                <a16:creationId xmlns:a16="http://schemas.microsoft.com/office/drawing/2014/main" id="{4C270770-1F71-FDF3-9A14-622FB0FD683D}"/>
              </a:ext>
            </a:extLst>
          </p:cNvPr>
          <p:cNvPicPr>
            <a:picLocks noChangeAspect="1"/>
          </p:cNvPicPr>
          <p:nvPr/>
        </p:nvPicPr>
        <p:blipFill>
          <a:blip r:embed="rId3"/>
          <a:stretch>
            <a:fillRect/>
          </a:stretch>
        </p:blipFill>
        <p:spPr>
          <a:xfrm>
            <a:off x="609600" y="1965376"/>
            <a:ext cx="4521200" cy="1885847"/>
          </a:xfrm>
          <a:prstGeom prst="rect">
            <a:avLst/>
          </a:prstGeom>
        </p:spPr>
      </p:pic>
      <p:sp>
        <p:nvSpPr>
          <p:cNvPr id="209" name="Ex badge"/>
          <p:cNvSpPr/>
          <p:nvPr/>
        </p:nvSpPr>
        <p:spPr>
          <a:xfrm>
            <a:off x="711200" y="1397000"/>
            <a:ext cx="381000" cy="381000"/>
          </a:xfrm>
          <a:prstGeom prst="ellipse">
            <a:avLst/>
          </a:prstGeom>
          <a:solidFill>
            <a:srgbClr val="073B6F"/>
          </a:solidFill>
          <a:ln w="28575">
            <a:solidFill>
              <a:srgbClr val="F4B336"/>
            </a:solidFill>
          </a:ln>
        </p:spPr>
        <p:txBody>
          <a:bodyPr/>
          <a:lstStyle/>
          <a:p>
            <a:endParaRPr lang="en-US"/>
          </a:p>
        </p:txBody>
      </p:sp>
      <p:sp>
        <p:nvSpPr>
          <p:cNvPr id="210" name="Ex badge num"/>
          <p:cNvSpPr txBox="1"/>
          <p:nvPr/>
        </p:nvSpPr>
        <p:spPr>
          <a:xfrm>
            <a:off x="711200" y="1397000"/>
            <a:ext cx="381000" cy="381000"/>
          </a:xfrm>
          <a:prstGeom prst="rect">
            <a:avLst/>
          </a:prstGeom>
          <a:noFill/>
          <a:ln>
            <a:noFill/>
          </a:ln>
        </p:spPr>
        <p:txBody>
          <a:bodyPr wrap="square" lIns="0" tIns="0" rIns="0" bIns="0" rtlCol="0" anchor="ctr">
            <a:noAutofit/>
          </a:bodyPr>
          <a:lstStyle/>
          <a:p>
            <a:pPr marL="0" indent="0" algn="ctr">
              <a:buNone/>
            </a:pPr>
            <a:r>
              <a:rPr lang="vi-VN" sz="1000" b="1" dirty="0">
                <a:solidFill>
                  <a:srgbClr val="FFFFFF"/>
                </a:solidFill>
              </a:rPr>
              <a:t>6.4.4</a:t>
            </a:r>
          </a:p>
        </p:txBody>
      </p:sp>
    </p:spTree>
    <p:extLst>
      <p:ext uri="{BB962C8B-B14F-4D97-AF65-F5344CB8AC3E}">
        <p14:creationId xmlns:p14="http://schemas.microsoft.com/office/powerpoint/2010/main" val="92634734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1016000" y="1270000"/>
            <a:ext cx="10160000" cy="2159000"/>
          </a:xfrm>
          <a:prstGeom prst="rect">
            <a:avLst/>
          </a:prstGeom>
          <a:noFill/>
        </p:spPr>
        <p:txBody>
          <a:bodyPr wrap="square" lIns="91440" tIns="45720" rIns="91440" bIns="45720" rtlCol="0" anchor="ctr">
            <a:noAutofit/>
          </a:bodyPr>
          <a:lstStyle/>
          <a:p>
            <a:pPr algn="ctr">
              <a:buNone/>
            </a:pPr>
            <a:r>
              <a:rPr lang="vi-VN" sz="13800" b="1" dirty="0">
                <a:solidFill>
                  <a:srgbClr val="FFFFFF"/>
                </a:solidFill>
              </a:rPr>
              <a:t>Q &amp; A</a:t>
            </a:r>
          </a:p>
        </p:txBody>
      </p:sp>
      <p:sp>
        <p:nvSpPr>
          <p:cNvPr id="3" name="Shape 1"/>
          <p:cNvSpPr/>
          <p:nvPr/>
        </p:nvSpPr>
        <p:spPr>
          <a:xfrm>
            <a:off x="5588000" y="3683000"/>
            <a:ext cx="1016000" cy="50800"/>
          </a:xfrm>
          <a:prstGeom prst="rect">
            <a:avLst/>
          </a:prstGeom>
          <a:solidFill>
            <a:srgbClr val="F4B336"/>
          </a:solidFill>
          <a:ln>
            <a:noFill/>
          </a:ln>
        </p:spPr>
        <p:txBody>
          <a:bodyPr/>
          <a:lstStyle/>
          <a:p>
            <a:endParaRPr lang="en-US"/>
          </a:p>
        </p:txBody>
      </p:sp>
      <p:sp>
        <p:nvSpPr>
          <p:cNvPr id="4" name="Text 2"/>
          <p:cNvSpPr txBox="1"/>
          <p:nvPr/>
        </p:nvSpPr>
        <p:spPr>
          <a:xfrm>
            <a:off x="1016000" y="4013200"/>
            <a:ext cx="10160000" cy="508000"/>
          </a:xfrm>
          <a:prstGeom prst="rect">
            <a:avLst/>
          </a:prstGeom>
          <a:noFill/>
        </p:spPr>
        <p:txBody>
          <a:bodyPr wrap="square" lIns="91440" tIns="45720" rIns="91440" bIns="45720" rtlCol="0" anchor="ctr">
            <a:noAutofit/>
          </a:bodyPr>
          <a:lstStyle/>
          <a:p>
            <a:pPr algn="ctr">
              <a:buNone/>
            </a:pPr>
            <a:r>
              <a:rPr lang="vi-VN" sz="2400" b="0" dirty="0">
                <a:solidFill>
                  <a:srgbClr val="F4B336"/>
                </a:solidFill>
              </a:rPr>
              <a:t>Mời thầy/cô và các bạn nhận xét, đặt câu hỏi</a:t>
            </a:r>
          </a:p>
        </p:txBody>
      </p:sp>
      <p:sp>
        <p:nvSpPr>
          <p:cNvPr id="5" name="Text 3"/>
          <p:cNvSpPr txBox="1"/>
          <p:nvPr/>
        </p:nvSpPr>
        <p:spPr>
          <a:xfrm>
            <a:off x="1016000" y="4826000"/>
            <a:ext cx="10160000" cy="812800"/>
          </a:xfrm>
          <a:prstGeom prst="rect">
            <a:avLst/>
          </a:prstGeom>
          <a:noFill/>
        </p:spPr>
        <p:txBody>
          <a:bodyPr wrap="square" lIns="91440" tIns="45720" rIns="91440" bIns="45720" rtlCol="0" anchor="ctr">
            <a:noAutofit/>
          </a:bodyPr>
          <a:lstStyle/>
          <a:p>
            <a:pPr algn="ctr">
              <a:buNone/>
            </a:pPr>
            <a:r>
              <a:rPr lang="vi-VN" sz="1800" b="0" dirty="0">
                <a:solidFill>
                  <a:srgbClr val="C9D6E5"/>
                </a:solidFill>
              </a:rPr>
              <a:t>Cảm ơn thầy/cô và các bạn đã lắng nghe!</a:t>
            </a:r>
          </a:p>
          <a:p>
            <a:pPr algn="ctr">
              <a:buNone/>
            </a:pPr>
            <a:r>
              <a:rPr lang="vi-VN" sz="1800" b="0" dirty="0">
                <a:solidFill>
                  <a:srgbClr val="C9D6E5"/>
                </a:solidFill>
              </a:rPr>
              <a:t>Nhóm sẵn sàng giải đáp thắc mắc và tiếp thu góp ý.</a:t>
            </a:r>
          </a:p>
        </p:txBody>
      </p:sp>
    </p:spTree>
    <p:extLst>
      <p:ext uri="{BB962C8B-B14F-4D97-AF65-F5344CB8AC3E}">
        <p14:creationId xmlns:p14="http://schemas.microsoft.com/office/powerpoint/2010/main" val="651959638"/>
      </p:ext>
    </p:extLst>
  </p:cSld>
  <p:clrMapOvr>
    <a:masterClrMapping/>
  </p:clrMapOvr>
</p:sld>
</file>

<file path=ppt/theme/theme1.xml><?xml version="1.0" encoding="utf-8"?>
<a:theme xmlns:a="http://schemas.openxmlformats.org/drawingml/2006/main" name="IUH – Tương tác Người–Máy 2026 [1790516287737]">
  <a:themeElements>
    <a:clrScheme name="IUH HCI 2026">
      <a:dk1>
        <a:srgbClr val="17212B"/>
      </a:dk1>
      <a:lt1>
        <a:srgbClr val="FFFFFF"/>
      </a:lt1>
      <a:dk2>
        <a:srgbClr val="062F5C"/>
      </a:dk2>
      <a:lt2>
        <a:srgbClr val="F5F7FA"/>
      </a:lt2>
      <a:accent1>
        <a:srgbClr val="073B6F"/>
      </a:accent1>
      <a:accent2>
        <a:srgbClr val="1677B8"/>
      </a:accent2>
      <a:accent3>
        <a:srgbClr val="F4B336"/>
      </a:accent3>
      <a:accent4>
        <a:srgbClr val="2E9B67"/>
      </a:accent4>
      <a:accent5>
        <a:srgbClr val="667085"/>
      </a:accent5>
      <a:accent6>
        <a:srgbClr val="DFE5EC"/>
      </a:accent6>
      <a:hlink>
        <a:srgbClr val="1677B8"/>
      </a:hlink>
      <a:folHlink>
        <a:srgbClr val="073B6F"/>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36EBB14-53BE-4A47-B6F7-6BF6D2A87C74}">
  <we:reference id="wa200010001" version="1.0.0.1" store="en-US" storeType="OMEX"/>
  <we:alternateReferences>
    <we:reference id="wa200010001" version="1.0.0.1" store="wa200010001" storeType="OMEX"/>
  </we:alternateReferences>
  <we:properties>
    <we:property name="claude.fileId" value="&quot;ddddeb99-123e-4075-9f17-5ee3d85e1104&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444</TotalTime>
  <Words>13565</Words>
  <Application>Microsoft Office PowerPoint</Application>
  <PresentationFormat>Widescreen</PresentationFormat>
  <Paragraphs>565</Paragraphs>
  <Slides>45</Slides>
  <Notes>45</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45</vt:i4>
      </vt:variant>
    </vt:vector>
  </HeadingPairs>
  <TitlesOfParts>
    <vt:vector size="47" baseType="lpstr">
      <vt:lpstr>Arial</vt:lpstr>
      <vt:lpstr>IUH – Tương tác Người–Máy 2026 [1790516287737]</vt:lpstr>
      <vt:lpstr>PowerPoint Presentation</vt:lpstr>
      <vt:lpstr>PowerPoint Presentation</vt:lpstr>
      <vt:lpstr>TỔNG QUAN BÀI HỌC</vt:lpstr>
      <vt:lpstr>Sự tập trung, chú ý   Attention</vt:lpstr>
      <vt:lpstr>Sự tập trung, chú ý   Attention</vt:lpstr>
      <vt:lpstr>Sự tập trung, chú ý   Attention</vt:lpstr>
      <vt:lpstr>Sự chú ý — Ví dụ 1.1</vt:lpstr>
      <vt:lpstr>Sự chú ý — Ví dụ 1.2</vt:lpstr>
      <vt:lpstr>Sự chú ý — Ví dụ 1.3</vt:lpstr>
      <vt:lpstr>Tri giác qua các giác quan   Perception</vt:lpstr>
      <vt:lpstr>Tri giác qua các giác quan   Perception</vt:lpstr>
      <vt:lpstr>Tri giác qua các giác quan   Perception</vt:lpstr>
      <vt:lpstr>Tri giác — Ví dụ 2.1</vt:lpstr>
      <vt:lpstr>Tri giác — Ví dụ 2.2</vt:lpstr>
      <vt:lpstr>Tri giác — Ví dụ 2.3</vt:lpstr>
      <vt:lpstr>Tri giác — Ví dụ 2.5</vt:lpstr>
      <vt:lpstr>Trí nhớ, ký ức   Memory</vt:lpstr>
      <vt:lpstr>Trí nhớ, ký ức   Memory</vt:lpstr>
      <vt:lpstr>Trí nhớ, ký ức   Memory</vt:lpstr>
      <vt:lpstr>Trí nhớ — Ví dụ 3.1</vt:lpstr>
      <vt:lpstr>Trí nhớ — Ví dụ 3.2</vt:lpstr>
      <vt:lpstr>Trí nhớ — Ví dụ 3.3</vt:lpstr>
      <vt:lpstr>Trí nhớ — Ví dụ 3.4</vt:lpstr>
      <vt:lpstr>Trí nhớ — Ví dụ 3.5</vt:lpstr>
      <vt:lpstr>Học   Learning</vt:lpstr>
      <vt:lpstr>Học   Learning</vt:lpstr>
      <vt:lpstr>Học   Learning</vt:lpstr>
      <vt:lpstr>Học — Ví dụ 4.1</vt:lpstr>
      <vt:lpstr>Học — Ví dụ 4.2</vt:lpstr>
      <vt:lpstr>Học — Ví dụ 4.3</vt:lpstr>
      <vt:lpstr>Học — Ví dụ 4.4</vt:lpstr>
      <vt:lpstr>Học — Ví dụ 4.5</vt:lpstr>
      <vt:lpstr>Đọc, nghe, nói   Reading, Speaking &amp; Listening</vt:lpstr>
      <vt:lpstr>Đọc, nghe, nói   Reading, Speaking &amp; Listening</vt:lpstr>
      <vt:lpstr>Đọc, nghe, nói   Reading, Speaking &amp; Listening</vt:lpstr>
      <vt:lpstr>Đọc, nghe, nói — Ví dụ 5.1</vt:lpstr>
      <vt:lpstr>Đọc, nghe, nói — Ví dụ 5.2</vt:lpstr>
      <vt:lpstr>Đọc, nghe, nói — Ví dụ 5.3</vt:lpstr>
      <vt:lpstr>Khả năng giải quyết vấn đề, lên kế hoạch, lập luận, ra quyết định</vt:lpstr>
      <vt:lpstr>Khả năng giải quyết vấn đề, lên kế hoạch, lập luận, ra quyết định</vt:lpstr>
      <vt:lpstr>Giải quyết vấn đề, lập kế hoạch, lập luận, ra quyết định</vt:lpstr>
      <vt:lpstr>Ra quyết định — Ví dụ 6.4.1 (1/2)</vt:lpstr>
      <vt:lpstr>Ra quyết định — Ví dụ 6.4.1 (2/2)</vt:lpstr>
      <vt:lpstr>Ra quyết định — Ví dụ 6.4.4</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Các khía cạnh nhận thức – Chương 3</dc:title>
  <dc:subject>PptxGenJS Presentation</dc:subject>
  <dc:creator>Nhóm [số nhóm]</dc:creator>
  <cp:lastModifiedBy>Phạm Hoàng Phát</cp:lastModifiedBy>
  <cp:revision>8</cp:revision>
  <dcterms:created xsi:type="dcterms:W3CDTF">2026-09-27T12:14:14Z</dcterms:created>
  <dcterms:modified xsi:type="dcterms:W3CDTF">2026-10-03T06:17:53Z</dcterms:modified>
</cp:coreProperties>
</file>