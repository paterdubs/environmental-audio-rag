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38"/>
  </p:notesMasterIdLst>
  <p:sldIdLst>
    <p:sldId id="406" r:id="rId2"/>
    <p:sldId id="407" r:id="rId3"/>
    <p:sldId id="408" r:id="rId4"/>
    <p:sldId id="409" r:id="rId5"/>
    <p:sldId id="410" r:id="rId6"/>
    <p:sldId id="411" r:id="rId7"/>
    <p:sldId id="412" r:id="rId8"/>
    <p:sldId id="413" r:id="rId9"/>
    <p:sldId id="414" r:id="rId10"/>
    <p:sldId id="415" r:id="rId11"/>
    <p:sldId id="416" r:id="rId12"/>
    <p:sldId id="417" r:id="rId13"/>
    <p:sldId id="418" r:id="rId14"/>
    <p:sldId id="419" r:id="rId15"/>
    <p:sldId id="420" r:id="rId16"/>
    <p:sldId id="421" r:id="rId17"/>
    <p:sldId id="422" r:id="rId18"/>
    <p:sldId id="423" r:id="rId19"/>
    <p:sldId id="424" r:id="rId20"/>
    <p:sldId id="425" r:id="rId21"/>
    <p:sldId id="426" r:id="rId22"/>
    <p:sldId id="427" r:id="rId23"/>
    <p:sldId id="428" r:id="rId24"/>
    <p:sldId id="429" r:id="rId25"/>
    <p:sldId id="430" r:id="rId26"/>
    <p:sldId id="431" r:id="rId27"/>
    <p:sldId id="432" r:id="rId28"/>
    <p:sldId id="433" r:id="rId29"/>
    <p:sldId id="434" r:id="rId30"/>
    <p:sldId id="435" r:id="rId31"/>
    <p:sldId id="436" r:id="rId32"/>
    <p:sldId id="437" r:id="rId33"/>
    <p:sldId id="438" r:id="rId34"/>
    <p:sldId id="439" r:id="rId35"/>
    <p:sldId id="440" r:id="rId36"/>
    <p:sldId id="44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10"/>
  </p:normalViewPr>
  <p:slideViewPr>
    <p:cSldViewPr snapToGrid="0" snapToObjects="1">
      <p:cViewPr>
        <p:scale>
          <a:sx n="50" d="100"/>
          <a:sy n="50" d="100"/>
        </p:scale>
        <p:origin x="-34" y="6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Hoàng Phát" userId="db628644e7623889" providerId="LiveId" clId="{7341D1A6-E360-4A96-BE7A-F717D0E3AD72}"/>
    <pc:docChg chg="undo custSel addSld delSld modSld sldOrd">
      <pc:chgData name="Phạm Hoàng Phát" userId="db628644e7623889" providerId="LiveId" clId="{7341D1A6-E360-4A96-BE7A-F717D0E3AD72}" dt="2026-10-03T06:12:25.652" v="294"/>
      <pc:docMkLst>
        <pc:docMk/>
      </pc:docMkLst>
      <pc:sldChg chg="del">
        <pc:chgData name="Phạm Hoàng Phát" userId="db628644e7623889" providerId="LiveId" clId="{7341D1A6-E360-4A96-BE7A-F717D0E3AD72}" dt="2026-09-29T17:10:06.020" v="18"/>
        <pc:sldMkLst>
          <pc:docMk/>
          <pc:sldMk cId="3000471518" sldId="419"/>
        </pc:sldMkLst>
      </pc:sldChg>
      <pc:sldChg chg="del">
        <pc:chgData name="Phạm Hoàng Phát" userId="db628644e7623889" providerId="LiveId" clId="{7341D1A6-E360-4A96-BE7A-F717D0E3AD72}" dt="2026-09-29T17:10:25.890" v="27"/>
        <pc:sldMkLst>
          <pc:docMk/>
          <pc:sldMk cId="920373139" sldId="425"/>
        </pc:sldMkLst>
      </pc:sldChg>
      <pc:sldChg chg="del">
        <pc:chgData name="Phạm Hoàng Phát" userId="db628644e7623889" providerId="LiveId" clId="{7341D1A6-E360-4A96-BE7A-F717D0E3AD72}" dt="2026-09-29T17:10:31.134" v="29"/>
        <pc:sldMkLst>
          <pc:docMk/>
          <pc:sldMk cId="2859173469" sldId="429"/>
        </pc:sldMkLst>
      </pc:sldChg>
      <pc:sldChg chg="del">
        <pc:chgData name="Phạm Hoàng Phát" userId="db628644e7623889" providerId="LiveId" clId="{7341D1A6-E360-4A96-BE7A-F717D0E3AD72}" dt="2026-09-29T17:10:36.249" v="31"/>
        <pc:sldMkLst>
          <pc:docMk/>
          <pc:sldMk cId="695634994" sldId="432"/>
        </pc:sldMkLst>
      </pc:sldChg>
      <pc:sldChg chg="del">
        <pc:chgData name="Phạm Hoàng Phát" userId="db628644e7623889" providerId="LiveId" clId="{7341D1A6-E360-4A96-BE7A-F717D0E3AD72}" dt="2026-09-29T17:10:41.373" v="33"/>
        <pc:sldMkLst>
          <pc:docMk/>
          <pc:sldMk cId="3553919012" sldId="435"/>
        </pc:sldMkLst>
      </pc:sldChg>
      <pc:sldChg chg="del">
        <pc:chgData name="Phạm Hoàng Phát" userId="db628644e7623889" providerId="LiveId" clId="{7341D1A6-E360-4A96-BE7A-F717D0E3AD72}" dt="2026-09-29T17:10:20.688" v="25"/>
        <pc:sldMkLst>
          <pc:docMk/>
          <pc:sldMk cId="828602394" sldId="450"/>
        </pc:sldMkLst>
      </pc:sldChg>
      <pc:sldChg chg="modSp del mod">
        <pc:chgData name="Phạm Hoàng Phát" userId="db628644e7623889" providerId="LiveId" clId="{7341D1A6-E360-4A96-BE7A-F717D0E3AD72}" dt="2026-09-29T17:08:38.136" v="10"/>
        <pc:sldMkLst>
          <pc:docMk/>
          <pc:sldMk cId="2138783971" sldId="453"/>
        </pc:sldMkLst>
        <pc:spChg chg="mod">
          <ac:chgData name="Phạm Hoàng Phát" userId="db628644e7623889" providerId="LiveId" clId="{7341D1A6-E360-4A96-BE7A-F717D0E3AD72}" dt="2026-09-29T17:04:36.566" v="5" actId="403"/>
          <ac:spMkLst>
            <pc:docMk/>
            <pc:sldMk cId="2138783971" sldId="453"/>
            <ac:spMk id="12" creationId="{00000000-0000-0000-0000-000000000000}"/>
          </ac:spMkLst>
        </pc:spChg>
      </pc:sldChg>
      <pc:sldChg chg="del">
        <pc:chgData name="Phạm Hoàng Phát" userId="db628644e7623889" providerId="LiveId" clId="{7341D1A6-E360-4A96-BE7A-F717D0E3AD72}" dt="2026-09-29T17:12:38.397" v="51"/>
        <pc:sldMkLst>
          <pc:docMk/>
          <pc:sldMk cId="24764295" sldId="454"/>
        </pc:sldMkLst>
      </pc:sldChg>
      <pc:sldChg chg="del">
        <pc:chgData name="Phạm Hoàng Phát" userId="db628644e7623889" providerId="LiveId" clId="{7341D1A6-E360-4A96-BE7A-F717D0E3AD72}" dt="2026-09-29T17:13:14.901" v="57"/>
        <pc:sldMkLst>
          <pc:docMk/>
          <pc:sldMk cId="3942582169" sldId="456"/>
        </pc:sldMkLst>
      </pc:sldChg>
      <pc:sldChg chg="del">
        <pc:chgData name="Phạm Hoàng Phát" userId="db628644e7623889" providerId="LiveId" clId="{7341D1A6-E360-4A96-BE7A-F717D0E3AD72}" dt="2026-09-29T17:13:27.276" v="61"/>
        <pc:sldMkLst>
          <pc:docMk/>
          <pc:sldMk cId="4107562361" sldId="457"/>
        </pc:sldMkLst>
      </pc:sldChg>
      <pc:sldChg chg="del">
        <pc:chgData name="Phạm Hoàng Phát" userId="db628644e7623889" providerId="LiveId" clId="{7341D1A6-E360-4A96-BE7A-F717D0E3AD72}" dt="2026-09-29T17:13:36.414" v="65"/>
        <pc:sldMkLst>
          <pc:docMk/>
          <pc:sldMk cId="103000650" sldId="459"/>
        </pc:sldMkLst>
      </pc:sldChg>
      <pc:sldChg chg="del">
        <pc:chgData name="Phạm Hoàng Phát" userId="db628644e7623889" providerId="LiveId" clId="{7341D1A6-E360-4A96-BE7A-F717D0E3AD72}" dt="2026-09-29T17:15:47.025" v="85"/>
        <pc:sldMkLst>
          <pc:docMk/>
          <pc:sldMk cId="123154219" sldId="463"/>
        </pc:sldMkLst>
      </pc:sldChg>
      <pc:sldChg chg="del">
        <pc:chgData name="Phạm Hoàng Phát" userId="db628644e7623889" providerId="LiveId" clId="{7341D1A6-E360-4A96-BE7A-F717D0E3AD72}" dt="2026-09-29T17:16:27.126" v="89"/>
        <pc:sldMkLst>
          <pc:docMk/>
          <pc:sldMk cId="2603032471" sldId="465"/>
        </pc:sldMkLst>
      </pc:sldChg>
      <pc:sldChg chg="del">
        <pc:chgData name="Phạm Hoàng Phát" userId="db628644e7623889" providerId="LiveId" clId="{7341D1A6-E360-4A96-BE7A-F717D0E3AD72}" dt="2026-09-29T17:16:34.789" v="91"/>
        <pc:sldMkLst>
          <pc:docMk/>
          <pc:sldMk cId="1143082058" sldId="466"/>
        </pc:sldMkLst>
      </pc:sldChg>
      <pc:sldChg chg="del">
        <pc:chgData name="Phạm Hoàng Phát" userId="db628644e7623889" providerId="LiveId" clId="{7341D1A6-E360-4A96-BE7A-F717D0E3AD72}" dt="2026-09-29T17:18:44.148" v="101"/>
        <pc:sldMkLst>
          <pc:docMk/>
          <pc:sldMk cId="61935311" sldId="472"/>
        </pc:sldMkLst>
      </pc:sldChg>
      <pc:sldChg chg="del">
        <pc:chgData name="Phạm Hoàng Phát" userId="db628644e7623889" providerId="LiveId" clId="{7341D1A6-E360-4A96-BE7A-F717D0E3AD72}" dt="2026-09-29T17:19:01.727" v="107"/>
        <pc:sldMkLst>
          <pc:docMk/>
          <pc:sldMk cId="3175832251" sldId="473"/>
        </pc:sldMkLst>
      </pc:sldChg>
      <pc:sldChg chg="del">
        <pc:chgData name="Phạm Hoàng Phát" userId="db628644e7623889" providerId="LiveId" clId="{7341D1A6-E360-4A96-BE7A-F717D0E3AD72}" dt="2026-09-29T17:19:01.674" v="105"/>
        <pc:sldMkLst>
          <pc:docMk/>
          <pc:sldMk cId="1781450972" sldId="474"/>
        </pc:sldMkLst>
      </pc:sldChg>
      <pc:sldChg chg="del">
        <pc:chgData name="Phạm Hoàng Phát" userId="db628644e7623889" providerId="LiveId" clId="{7341D1A6-E360-4A96-BE7A-F717D0E3AD72}" dt="2026-09-29T17:18:44.802" v="103"/>
        <pc:sldMkLst>
          <pc:docMk/>
          <pc:sldMk cId="6286573" sldId="477"/>
        </pc:sldMkLst>
      </pc:sldChg>
      <pc:sldChg chg="del">
        <pc:chgData name="Phạm Hoàng Phát" userId="db628644e7623889" providerId="LiveId" clId="{7341D1A6-E360-4A96-BE7A-F717D0E3AD72}" dt="2026-09-29T17:19:11.264" v="109"/>
        <pc:sldMkLst>
          <pc:docMk/>
          <pc:sldMk cId="2857657205" sldId="482"/>
        </pc:sldMkLst>
      </pc:sldChg>
      <pc:sldChg chg="del">
        <pc:chgData name="Phạm Hoàng Phát" userId="db628644e7623889" providerId="LiveId" clId="{7341D1A6-E360-4A96-BE7A-F717D0E3AD72}" dt="2026-09-29T17:19:18.708" v="113"/>
        <pc:sldMkLst>
          <pc:docMk/>
          <pc:sldMk cId="1872236841" sldId="483"/>
        </pc:sldMkLst>
      </pc:sldChg>
      <pc:sldChg chg="del">
        <pc:chgData name="Phạm Hoàng Phát" userId="db628644e7623889" providerId="LiveId" clId="{7341D1A6-E360-4A96-BE7A-F717D0E3AD72}" dt="2026-09-29T17:19:11.813" v="111"/>
        <pc:sldMkLst>
          <pc:docMk/>
          <pc:sldMk cId="4284198679" sldId="484"/>
        </pc:sldMkLst>
      </pc:sldChg>
      <pc:sldChg chg="del">
        <pc:chgData name="Phạm Hoàng Phát" userId="db628644e7623889" providerId="LiveId" clId="{7341D1A6-E360-4A96-BE7A-F717D0E3AD72}" dt="2026-09-29T17:20:22.587" v="115"/>
        <pc:sldMkLst>
          <pc:docMk/>
          <pc:sldMk cId="367820973" sldId="485"/>
        </pc:sldMkLst>
      </pc:sldChg>
      <pc:sldChg chg="del">
        <pc:chgData name="Phạm Hoàng Phát" userId="db628644e7623889" providerId="LiveId" clId="{7341D1A6-E360-4A96-BE7A-F717D0E3AD72}" dt="2026-09-29T17:20:29.021" v="117"/>
        <pc:sldMkLst>
          <pc:docMk/>
          <pc:sldMk cId="3559942084" sldId="486"/>
        </pc:sldMkLst>
      </pc:sldChg>
      <pc:sldChg chg="del">
        <pc:chgData name="Phạm Hoàng Phát" userId="db628644e7623889" providerId="LiveId" clId="{7341D1A6-E360-4A96-BE7A-F717D0E3AD72}" dt="2026-09-29T17:21:12.421" v="123"/>
        <pc:sldMkLst>
          <pc:docMk/>
          <pc:sldMk cId="1209320235" sldId="491"/>
        </pc:sldMkLst>
      </pc:sldChg>
      <pc:sldChg chg="del">
        <pc:chgData name="Phạm Hoàng Phát" userId="db628644e7623889" providerId="LiveId" clId="{7341D1A6-E360-4A96-BE7A-F717D0E3AD72}" dt="2026-09-29T17:21:20.007" v="125"/>
        <pc:sldMkLst>
          <pc:docMk/>
          <pc:sldMk cId="3481592582" sldId="492"/>
        </pc:sldMkLst>
      </pc:sldChg>
      <pc:sldChg chg="del">
        <pc:chgData name="Phạm Hoàng Phát" userId="db628644e7623889" providerId="LiveId" clId="{7341D1A6-E360-4A96-BE7A-F717D0E3AD72}" dt="2026-09-29T17:21:26.248" v="127"/>
        <pc:sldMkLst>
          <pc:docMk/>
          <pc:sldMk cId="112618344" sldId="493"/>
        </pc:sldMkLst>
      </pc:sldChg>
      <pc:sldChg chg="del">
        <pc:chgData name="Phạm Hoàng Phát" userId="db628644e7623889" providerId="LiveId" clId="{7341D1A6-E360-4A96-BE7A-F717D0E3AD72}" dt="2026-09-29T17:21:35.564" v="129"/>
        <pc:sldMkLst>
          <pc:docMk/>
          <pc:sldMk cId="2914368265" sldId="494"/>
        </pc:sldMkLst>
      </pc:sldChg>
      <pc:sldChg chg="del">
        <pc:chgData name="Phạm Hoàng Phát" userId="db628644e7623889" providerId="LiveId" clId="{7341D1A6-E360-4A96-BE7A-F717D0E3AD72}" dt="2026-09-29T17:21:41.787" v="131"/>
        <pc:sldMkLst>
          <pc:docMk/>
          <pc:sldMk cId="1905641412" sldId="495"/>
        </pc:sldMkLst>
      </pc:sldChg>
      <pc:sldChg chg="del">
        <pc:chgData name="Phạm Hoàng Phát" userId="db628644e7623889" providerId="LiveId" clId="{7341D1A6-E360-4A96-BE7A-F717D0E3AD72}" dt="2026-09-29T17:22:37.778" v="141"/>
        <pc:sldMkLst>
          <pc:docMk/>
          <pc:sldMk cId="378591820" sldId="505"/>
        </pc:sldMkLst>
      </pc:sldChg>
      <pc:sldChg chg="del">
        <pc:chgData name="Phạm Hoàng Phát" userId="db628644e7623889" providerId="LiveId" clId="{7341D1A6-E360-4A96-BE7A-F717D0E3AD72}" dt="2026-09-29T17:22:52.617" v="145"/>
        <pc:sldMkLst>
          <pc:docMk/>
          <pc:sldMk cId="1710344691" sldId="506"/>
        </pc:sldMkLst>
      </pc:sldChg>
      <pc:sldChg chg="del">
        <pc:chgData name="Phạm Hoàng Phát" userId="db628644e7623889" providerId="LiveId" clId="{7341D1A6-E360-4A96-BE7A-F717D0E3AD72}" dt="2026-09-29T17:22:44.984" v="143"/>
        <pc:sldMkLst>
          <pc:docMk/>
          <pc:sldMk cId="1565861111" sldId="507"/>
        </pc:sldMkLst>
      </pc:sldChg>
      <pc:sldChg chg="del">
        <pc:chgData name="Phạm Hoàng Phát" userId="db628644e7623889" providerId="LiveId" clId="{7341D1A6-E360-4A96-BE7A-F717D0E3AD72}" dt="2026-09-29T17:14:16.416" v="75"/>
        <pc:sldMkLst>
          <pc:docMk/>
          <pc:sldMk cId="2894953747" sldId="510"/>
        </pc:sldMkLst>
      </pc:sldChg>
      <pc:sldChg chg="del">
        <pc:chgData name="Phạm Hoàng Phát" userId="db628644e7623889" providerId="LiveId" clId="{7341D1A6-E360-4A96-BE7A-F717D0E3AD72}" dt="2026-09-29T17:24:00.247" v="151"/>
        <pc:sldMkLst>
          <pc:docMk/>
          <pc:sldMk cId="2163611232" sldId="517"/>
        </pc:sldMkLst>
      </pc:sldChg>
      <pc:sldChg chg="del">
        <pc:chgData name="Phạm Hoàng Phát" userId="db628644e7623889" providerId="LiveId" clId="{7341D1A6-E360-4A96-BE7A-F717D0E3AD72}" dt="2026-09-29T17:24:07.765" v="153"/>
        <pc:sldMkLst>
          <pc:docMk/>
          <pc:sldMk cId="503628798" sldId="518"/>
        </pc:sldMkLst>
      </pc:sldChg>
      <pc:sldChg chg="del">
        <pc:chgData name="Phạm Hoàng Phát" userId="db628644e7623889" providerId="LiveId" clId="{7341D1A6-E360-4A96-BE7A-F717D0E3AD72}" dt="2026-09-29T17:24:15.645" v="155"/>
        <pc:sldMkLst>
          <pc:docMk/>
          <pc:sldMk cId="2388499951" sldId="519"/>
        </pc:sldMkLst>
      </pc:sldChg>
      <pc:sldChg chg="del">
        <pc:chgData name="Phạm Hoàng Phát" userId="db628644e7623889" providerId="LiveId" clId="{7341D1A6-E360-4A96-BE7A-F717D0E3AD72}" dt="2026-09-29T17:07:39.761" v="7"/>
        <pc:sldMkLst>
          <pc:docMk/>
          <pc:sldMk cId="2025129872" sldId="520"/>
        </pc:sldMkLst>
      </pc:sldChg>
      <pc:sldChg chg="add">
        <pc:chgData name="Phạm Hoàng Phát" userId="db628644e7623889" providerId="LiveId" clId="{7341D1A6-E360-4A96-BE7A-F717D0E3AD72}" dt="2026-09-29T17:07:39.755" v="6"/>
        <pc:sldMkLst>
          <pc:docMk/>
          <pc:sldMk cId="1458833830" sldId="521"/>
        </pc:sldMkLst>
      </pc:sldChg>
      <pc:sldChg chg="add del">
        <pc:chgData name="Phạm Hoàng Phát" userId="db628644e7623889" providerId="LiveId" clId="{7341D1A6-E360-4A96-BE7A-F717D0E3AD72}" dt="2026-09-29T17:08:51.572" v="12"/>
        <pc:sldMkLst>
          <pc:docMk/>
          <pc:sldMk cId="3839584070" sldId="522"/>
        </pc:sldMkLst>
      </pc:sldChg>
      <pc:sldChg chg="add del">
        <pc:chgData name="Phạm Hoàng Phát" userId="db628644e7623889" providerId="LiveId" clId="{7341D1A6-E360-4A96-BE7A-F717D0E3AD72}" dt="2026-09-29T17:09:25.776" v="14"/>
        <pc:sldMkLst>
          <pc:docMk/>
          <pc:sldMk cId="515285699" sldId="523"/>
        </pc:sldMkLst>
      </pc:sldChg>
      <pc:sldChg chg="add del">
        <pc:chgData name="Phạm Hoàng Phát" userId="db628644e7623889" providerId="LiveId" clId="{7341D1A6-E360-4A96-BE7A-F717D0E3AD72}" dt="2026-09-29T17:09:26.985" v="16"/>
        <pc:sldMkLst>
          <pc:docMk/>
          <pc:sldMk cId="264343166" sldId="524"/>
        </pc:sldMkLst>
      </pc:sldChg>
      <pc:sldChg chg="add">
        <pc:chgData name="Phạm Hoàng Phát" userId="db628644e7623889" providerId="LiveId" clId="{7341D1A6-E360-4A96-BE7A-F717D0E3AD72}" dt="2026-09-29T17:09:25.761" v="13"/>
        <pc:sldMkLst>
          <pc:docMk/>
          <pc:sldMk cId="2485130174" sldId="525"/>
        </pc:sldMkLst>
      </pc:sldChg>
      <pc:sldChg chg="add">
        <pc:chgData name="Phạm Hoàng Phát" userId="db628644e7623889" providerId="LiveId" clId="{7341D1A6-E360-4A96-BE7A-F717D0E3AD72}" dt="2026-09-29T17:09:26.981" v="15"/>
        <pc:sldMkLst>
          <pc:docMk/>
          <pc:sldMk cId="1600300892" sldId="526"/>
        </pc:sldMkLst>
      </pc:sldChg>
      <pc:sldChg chg="modSp add mod">
        <pc:chgData name="Phạm Hoàng Phát" userId="db628644e7623889" providerId="LiveId" clId="{7341D1A6-E360-4A96-BE7A-F717D0E3AD72}" dt="2026-09-29T17:28:33.011" v="160" actId="113"/>
        <pc:sldMkLst>
          <pc:docMk/>
          <pc:sldMk cId="4178845663" sldId="527"/>
        </pc:sldMkLst>
        <pc:graphicFrameChg chg="modGraphic">
          <ac:chgData name="Phạm Hoàng Phát" userId="db628644e7623889" providerId="LiveId" clId="{7341D1A6-E360-4A96-BE7A-F717D0E3AD72}" dt="2026-09-29T17:28:33.011" v="160" actId="113"/>
          <ac:graphicFrameMkLst>
            <pc:docMk/>
            <pc:sldMk cId="4178845663" sldId="527"/>
            <ac:graphicFrameMk id="4" creationId="{0A17796F-F492-49B9-8DD2-937FE895C43C}"/>
          </ac:graphicFrameMkLst>
        </pc:graphicFrameChg>
      </pc:sldChg>
      <pc:sldChg chg="add del">
        <pc:chgData name="Phạm Hoàng Phát" userId="db628644e7623889" providerId="LiveId" clId="{7341D1A6-E360-4A96-BE7A-F717D0E3AD72}" dt="2026-09-29T17:11:12.414" v="35"/>
        <pc:sldMkLst>
          <pc:docMk/>
          <pc:sldMk cId="2655139032" sldId="528"/>
        </pc:sldMkLst>
      </pc:sldChg>
      <pc:sldChg chg="modSp add mod">
        <pc:chgData name="Phạm Hoàng Phát" userId="db628644e7623889" providerId="LiveId" clId="{7341D1A6-E360-4A96-BE7A-F717D0E3AD72}" dt="2026-09-29T17:29:53.925" v="169" actId="14734"/>
        <pc:sldMkLst>
          <pc:docMk/>
          <pc:sldMk cId="1856688806" sldId="529"/>
        </pc:sldMkLst>
        <pc:graphicFrameChg chg="modGraphic">
          <ac:chgData name="Phạm Hoàng Phát" userId="db628644e7623889" providerId="LiveId" clId="{7341D1A6-E360-4A96-BE7A-F717D0E3AD72}" dt="2026-09-29T17:29:53.925" v="169" actId="14734"/>
          <ac:graphicFrameMkLst>
            <pc:docMk/>
            <pc:sldMk cId="1856688806" sldId="529"/>
            <ac:graphicFrameMk id="4" creationId="{880FA268-4B10-4079-9464-54292272FAB7}"/>
          </ac:graphicFrameMkLst>
        </pc:graphicFrameChg>
      </pc:sldChg>
      <pc:sldChg chg="modSp add mod">
        <pc:chgData name="Phạm Hoàng Phát" userId="db628644e7623889" providerId="LiveId" clId="{7341D1A6-E360-4A96-BE7A-F717D0E3AD72}" dt="2026-09-29T17:34:10.672" v="218" actId="14734"/>
        <pc:sldMkLst>
          <pc:docMk/>
          <pc:sldMk cId="2399816513" sldId="530"/>
        </pc:sldMkLst>
        <pc:graphicFrameChg chg="modGraphic">
          <ac:chgData name="Phạm Hoàng Phát" userId="db628644e7623889" providerId="LiveId" clId="{7341D1A6-E360-4A96-BE7A-F717D0E3AD72}" dt="2026-09-29T17:34:10.672" v="218" actId="14734"/>
          <ac:graphicFrameMkLst>
            <pc:docMk/>
            <pc:sldMk cId="2399816513" sldId="530"/>
            <ac:graphicFrameMk id="4" creationId="{9EFDD4B2-7E20-474F-B700-5D85CC3D67E8}"/>
          </ac:graphicFrameMkLst>
        </pc:graphicFrameChg>
      </pc:sldChg>
      <pc:sldChg chg="modSp add mod">
        <pc:chgData name="Phạm Hoàng Phát" userId="db628644e7623889" providerId="LiveId" clId="{7341D1A6-E360-4A96-BE7A-F717D0E3AD72}" dt="2026-09-29T17:31:03.165" v="183" actId="14734"/>
        <pc:sldMkLst>
          <pc:docMk/>
          <pc:sldMk cId="2459201132" sldId="531"/>
        </pc:sldMkLst>
        <pc:graphicFrameChg chg="modGraphic">
          <ac:chgData name="Phạm Hoàng Phát" userId="db628644e7623889" providerId="LiveId" clId="{7341D1A6-E360-4A96-BE7A-F717D0E3AD72}" dt="2026-09-29T17:31:03.165" v="183" actId="14734"/>
          <ac:graphicFrameMkLst>
            <pc:docMk/>
            <pc:sldMk cId="2459201132" sldId="531"/>
            <ac:graphicFrameMk id="4" creationId="{4A70D4CF-45AE-4322-A953-ED00C33DF20B}"/>
          </ac:graphicFrameMkLst>
        </pc:graphicFrameChg>
      </pc:sldChg>
      <pc:sldChg chg="modSp add mod">
        <pc:chgData name="Phạm Hoàng Phát" userId="db628644e7623889" providerId="LiveId" clId="{7341D1A6-E360-4A96-BE7A-F717D0E3AD72}" dt="2026-09-29T17:30:37.210" v="180" actId="14734"/>
        <pc:sldMkLst>
          <pc:docMk/>
          <pc:sldMk cId="2978857243" sldId="532"/>
        </pc:sldMkLst>
        <pc:graphicFrameChg chg="modGraphic">
          <ac:chgData name="Phạm Hoàng Phát" userId="db628644e7623889" providerId="LiveId" clId="{7341D1A6-E360-4A96-BE7A-F717D0E3AD72}" dt="2026-09-29T17:30:37.210" v="180" actId="14734"/>
          <ac:graphicFrameMkLst>
            <pc:docMk/>
            <pc:sldMk cId="2978857243" sldId="532"/>
            <ac:graphicFrameMk id="4" creationId="{DEC0C31B-3E2D-49D5-99D5-AF8D7D2797D7}"/>
          </ac:graphicFrameMkLst>
        </pc:graphicFrameChg>
      </pc:sldChg>
      <pc:sldChg chg="modSp add mod">
        <pc:chgData name="Phạm Hoàng Phát" userId="db628644e7623889" providerId="LiveId" clId="{7341D1A6-E360-4A96-BE7A-F717D0E3AD72}" dt="2026-09-29T17:29:41.330" v="168" actId="404"/>
        <pc:sldMkLst>
          <pc:docMk/>
          <pc:sldMk cId="2536295685" sldId="533"/>
        </pc:sldMkLst>
        <pc:graphicFrameChg chg="modGraphic">
          <ac:chgData name="Phạm Hoàng Phát" userId="db628644e7623889" providerId="LiveId" clId="{7341D1A6-E360-4A96-BE7A-F717D0E3AD72}" dt="2026-09-29T17:29:41.330" v="168" actId="404"/>
          <ac:graphicFrameMkLst>
            <pc:docMk/>
            <pc:sldMk cId="2536295685" sldId="533"/>
            <ac:graphicFrameMk id="7" creationId="{49A1C391-4D3A-4F06-A839-248902D3CE3B}"/>
          </ac:graphicFrameMkLst>
        </pc:graphicFrameChg>
      </pc:sldChg>
      <pc:sldChg chg="add del">
        <pc:chgData name="Phạm Hoàng Phát" userId="db628644e7623889" providerId="LiveId" clId="{7341D1A6-E360-4A96-BE7A-F717D0E3AD72}" dt="2026-09-29T17:12:41.898" v="53"/>
        <pc:sldMkLst>
          <pc:docMk/>
          <pc:sldMk cId="2451704683" sldId="534"/>
        </pc:sldMkLst>
      </pc:sldChg>
      <pc:sldChg chg="add del">
        <pc:chgData name="Phạm Hoàng Phát" userId="db628644e7623889" providerId="LiveId" clId="{7341D1A6-E360-4A96-BE7A-F717D0E3AD72}" dt="2026-09-29T17:13:18.831" v="59"/>
        <pc:sldMkLst>
          <pc:docMk/>
          <pc:sldMk cId="3248444984" sldId="535"/>
        </pc:sldMkLst>
      </pc:sldChg>
      <pc:sldChg chg="add del">
        <pc:chgData name="Phạm Hoàng Phát" userId="db628644e7623889" providerId="LiveId" clId="{7341D1A6-E360-4A96-BE7A-F717D0E3AD72}" dt="2026-09-29T17:12:17.311" v="47"/>
        <pc:sldMkLst>
          <pc:docMk/>
          <pc:sldMk cId="3516686832" sldId="536"/>
        </pc:sldMkLst>
      </pc:sldChg>
      <pc:sldChg chg="add del">
        <pc:chgData name="Phạm Hoàng Phát" userId="db628644e7623889" providerId="LiveId" clId="{7341D1A6-E360-4A96-BE7A-F717D0E3AD72}" dt="2026-09-29T17:12:17.316" v="48"/>
        <pc:sldMkLst>
          <pc:docMk/>
          <pc:sldMk cId="2189820061" sldId="537"/>
        </pc:sldMkLst>
      </pc:sldChg>
      <pc:sldChg chg="add del">
        <pc:chgData name="Phạm Hoàng Phát" userId="db628644e7623889" providerId="LiveId" clId="{7341D1A6-E360-4A96-BE7A-F717D0E3AD72}" dt="2026-09-29T17:12:17.320" v="49"/>
        <pc:sldMkLst>
          <pc:docMk/>
          <pc:sldMk cId="1657488274" sldId="538"/>
        </pc:sldMkLst>
      </pc:sldChg>
      <pc:sldChg chg="add del">
        <pc:chgData name="Phạm Hoàng Phát" userId="db628644e7623889" providerId="LiveId" clId="{7341D1A6-E360-4A96-BE7A-F717D0E3AD72}" dt="2026-09-29T17:13:31.261" v="63"/>
        <pc:sldMkLst>
          <pc:docMk/>
          <pc:sldMk cId="1098030653" sldId="539"/>
        </pc:sldMkLst>
      </pc:sldChg>
      <pc:sldChg chg="add del">
        <pc:chgData name="Phạm Hoàng Phát" userId="db628644e7623889" providerId="LiveId" clId="{7341D1A6-E360-4A96-BE7A-F717D0E3AD72}" dt="2026-09-29T17:13:40.339" v="67"/>
        <pc:sldMkLst>
          <pc:docMk/>
          <pc:sldMk cId="131059919" sldId="540"/>
        </pc:sldMkLst>
      </pc:sldChg>
      <pc:sldChg chg="add del">
        <pc:chgData name="Phạm Hoàng Phát" userId="db628644e7623889" providerId="LiveId" clId="{7341D1A6-E360-4A96-BE7A-F717D0E3AD72}" dt="2026-09-29T17:14:19.848" v="77"/>
        <pc:sldMkLst>
          <pc:docMk/>
          <pc:sldMk cId="3009558344" sldId="541"/>
        </pc:sldMkLst>
      </pc:sldChg>
      <pc:sldChg chg="add">
        <pc:chgData name="Phạm Hoàng Phát" userId="db628644e7623889" providerId="LiveId" clId="{7341D1A6-E360-4A96-BE7A-F717D0E3AD72}" dt="2026-09-29T17:12:38.376" v="50"/>
        <pc:sldMkLst>
          <pc:docMk/>
          <pc:sldMk cId="3968714819" sldId="542"/>
        </pc:sldMkLst>
      </pc:sldChg>
      <pc:sldChg chg="add del">
        <pc:chgData name="Phạm Hoàng Phát" userId="db628644e7623889" providerId="LiveId" clId="{7341D1A6-E360-4A96-BE7A-F717D0E3AD72}" dt="2026-09-29T17:13:01.756" v="55"/>
        <pc:sldMkLst>
          <pc:docMk/>
          <pc:sldMk cId="1658939222" sldId="543"/>
        </pc:sldMkLst>
      </pc:sldChg>
      <pc:sldChg chg="add ord">
        <pc:chgData name="Phạm Hoàng Phát" userId="db628644e7623889" providerId="LiveId" clId="{7341D1A6-E360-4A96-BE7A-F717D0E3AD72}" dt="2026-10-03T06:12:25.652" v="294"/>
        <pc:sldMkLst>
          <pc:docMk/>
          <pc:sldMk cId="1364631814" sldId="544"/>
        </pc:sldMkLst>
      </pc:sldChg>
      <pc:sldChg chg="add">
        <pc:chgData name="Phạm Hoàng Phát" userId="db628644e7623889" providerId="LiveId" clId="{7341D1A6-E360-4A96-BE7A-F717D0E3AD72}" dt="2026-09-29T17:13:14.895" v="56"/>
        <pc:sldMkLst>
          <pc:docMk/>
          <pc:sldMk cId="258142264" sldId="545"/>
        </pc:sldMkLst>
      </pc:sldChg>
      <pc:sldChg chg="add del">
        <pc:chgData name="Phạm Hoàng Phát" userId="db628644e7623889" providerId="LiveId" clId="{7341D1A6-E360-4A96-BE7A-F717D0E3AD72}" dt="2026-09-29T17:13:56.951" v="69"/>
        <pc:sldMkLst>
          <pc:docMk/>
          <pc:sldMk cId="402899625" sldId="546"/>
        </pc:sldMkLst>
      </pc:sldChg>
      <pc:sldChg chg="add">
        <pc:chgData name="Phạm Hoàng Phát" userId="db628644e7623889" providerId="LiveId" clId="{7341D1A6-E360-4A96-BE7A-F717D0E3AD72}" dt="2026-09-29T17:13:27.270" v="60"/>
        <pc:sldMkLst>
          <pc:docMk/>
          <pc:sldMk cId="1888191154" sldId="547"/>
        </pc:sldMkLst>
      </pc:sldChg>
      <pc:sldChg chg="add del">
        <pc:chgData name="Phạm Hoàng Phát" userId="db628644e7623889" providerId="LiveId" clId="{7341D1A6-E360-4A96-BE7A-F717D0E3AD72}" dt="2026-09-29T17:13:57.079" v="71"/>
        <pc:sldMkLst>
          <pc:docMk/>
          <pc:sldMk cId="3670452318" sldId="548"/>
        </pc:sldMkLst>
      </pc:sldChg>
      <pc:sldChg chg="add">
        <pc:chgData name="Phạm Hoàng Phát" userId="db628644e7623889" providerId="LiveId" clId="{7341D1A6-E360-4A96-BE7A-F717D0E3AD72}" dt="2026-09-29T17:13:36.409" v="64"/>
        <pc:sldMkLst>
          <pc:docMk/>
          <pc:sldMk cId="1759681261" sldId="549"/>
        </pc:sldMkLst>
      </pc:sldChg>
      <pc:sldChg chg="add del">
        <pc:chgData name="Phạm Hoàng Phát" userId="db628644e7623889" providerId="LiveId" clId="{7341D1A6-E360-4A96-BE7A-F717D0E3AD72}" dt="2026-09-29T17:13:58.432" v="73"/>
        <pc:sldMkLst>
          <pc:docMk/>
          <pc:sldMk cId="2806699637" sldId="550"/>
        </pc:sldMkLst>
      </pc:sldChg>
      <pc:sldChg chg="add">
        <pc:chgData name="Phạm Hoàng Phát" userId="db628644e7623889" providerId="LiveId" clId="{7341D1A6-E360-4A96-BE7A-F717D0E3AD72}" dt="2026-09-29T17:13:56.946" v="68"/>
        <pc:sldMkLst>
          <pc:docMk/>
          <pc:sldMk cId="744892671" sldId="551"/>
        </pc:sldMkLst>
      </pc:sldChg>
      <pc:sldChg chg="add">
        <pc:chgData name="Phạm Hoàng Phát" userId="db628644e7623889" providerId="LiveId" clId="{7341D1A6-E360-4A96-BE7A-F717D0E3AD72}" dt="2026-09-29T17:13:57.073" v="70"/>
        <pc:sldMkLst>
          <pc:docMk/>
          <pc:sldMk cId="1089497569" sldId="552"/>
        </pc:sldMkLst>
      </pc:sldChg>
      <pc:sldChg chg="add">
        <pc:chgData name="Phạm Hoàng Phát" userId="db628644e7623889" providerId="LiveId" clId="{7341D1A6-E360-4A96-BE7A-F717D0E3AD72}" dt="2026-09-29T17:13:58.427" v="72"/>
        <pc:sldMkLst>
          <pc:docMk/>
          <pc:sldMk cId="2314513823" sldId="553"/>
        </pc:sldMkLst>
      </pc:sldChg>
      <pc:sldChg chg="add">
        <pc:chgData name="Phạm Hoàng Phát" userId="db628644e7623889" providerId="LiveId" clId="{7341D1A6-E360-4A96-BE7A-F717D0E3AD72}" dt="2026-09-29T17:14:16.411" v="74"/>
        <pc:sldMkLst>
          <pc:docMk/>
          <pc:sldMk cId="3400768376" sldId="554"/>
        </pc:sldMkLst>
      </pc:sldChg>
      <pc:sldChg chg="add del">
        <pc:chgData name="Phạm Hoàng Phát" userId="db628644e7623889" providerId="LiveId" clId="{7341D1A6-E360-4A96-BE7A-F717D0E3AD72}" dt="2026-09-29T17:14:29.617" v="79"/>
        <pc:sldMkLst>
          <pc:docMk/>
          <pc:sldMk cId="718484164" sldId="555"/>
        </pc:sldMkLst>
      </pc:sldChg>
      <pc:sldChg chg="add del">
        <pc:chgData name="Phạm Hoàng Phát" userId="db628644e7623889" providerId="LiveId" clId="{7341D1A6-E360-4A96-BE7A-F717D0E3AD72}" dt="2026-09-29T17:14:44.950" v="81"/>
        <pc:sldMkLst>
          <pc:docMk/>
          <pc:sldMk cId="1515418683" sldId="556"/>
        </pc:sldMkLst>
      </pc:sldChg>
      <pc:sldChg chg="add del">
        <pc:chgData name="Phạm Hoàng Phát" userId="db628644e7623889" providerId="LiveId" clId="{7341D1A6-E360-4A96-BE7A-F717D0E3AD72}" dt="2026-09-29T17:14:58.421" v="83"/>
        <pc:sldMkLst>
          <pc:docMk/>
          <pc:sldMk cId="325637851" sldId="557"/>
        </pc:sldMkLst>
      </pc:sldChg>
      <pc:sldChg chg="add">
        <pc:chgData name="Phạm Hoàng Phát" userId="db628644e7623889" providerId="LiveId" clId="{7341D1A6-E360-4A96-BE7A-F717D0E3AD72}" dt="2026-09-29T17:14:58.414" v="82"/>
        <pc:sldMkLst>
          <pc:docMk/>
          <pc:sldMk cId="3376265708" sldId="558"/>
        </pc:sldMkLst>
      </pc:sldChg>
      <pc:sldChg chg="add del">
        <pc:chgData name="Phạm Hoàng Phát" userId="db628644e7623889" providerId="LiveId" clId="{7341D1A6-E360-4A96-BE7A-F717D0E3AD72}" dt="2026-09-29T17:16:04.707" v="87"/>
        <pc:sldMkLst>
          <pc:docMk/>
          <pc:sldMk cId="3396160842" sldId="559"/>
        </pc:sldMkLst>
      </pc:sldChg>
      <pc:sldChg chg="add del">
        <pc:chgData name="Phạm Hoàng Phát" userId="db628644e7623889" providerId="LiveId" clId="{7341D1A6-E360-4A96-BE7A-F717D0E3AD72}" dt="2026-09-29T17:18:09.893" v="95"/>
        <pc:sldMkLst>
          <pc:docMk/>
          <pc:sldMk cId="767068088" sldId="560"/>
        </pc:sldMkLst>
      </pc:sldChg>
      <pc:sldChg chg="add del">
        <pc:chgData name="Phạm Hoàng Phát" userId="db628644e7623889" providerId="LiveId" clId="{7341D1A6-E360-4A96-BE7A-F717D0E3AD72}" dt="2026-09-29T17:18:19.465" v="97"/>
        <pc:sldMkLst>
          <pc:docMk/>
          <pc:sldMk cId="538596574" sldId="561"/>
        </pc:sldMkLst>
      </pc:sldChg>
      <pc:sldChg chg="add del">
        <pc:chgData name="Phạm Hoàng Phát" userId="db628644e7623889" providerId="LiveId" clId="{7341D1A6-E360-4A96-BE7A-F717D0E3AD72}" dt="2026-09-29T17:17:06.824" v="93"/>
        <pc:sldMkLst>
          <pc:docMk/>
          <pc:sldMk cId="3795403341" sldId="562"/>
        </pc:sldMkLst>
      </pc:sldChg>
      <pc:sldChg chg="add del">
        <pc:chgData name="Phạm Hoàng Phát" userId="db628644e7623889" providerId="LiveId" clId="{7341D1A6-E360-4A96-BE7A-F717D0E3AD72}" dt="2026-09-29T17:18:34.589" v="99"/>
        <pc:sldMkLst>
          <pc:docMk/>
          <pc:sldMk cId="1516182638" sldId="563"/>
        </pc:sldMkLst>
      </pc:sldChg>
      <pc:sldChg chg="modSp add del mod">
        <pc:chgData name="Phạm Hoàng Phát" userId="db628644e7623889" providerId="LiveId" clId="{7341D1A6-E360-4A96-BE7A-F717D0E3AD72}" dt="2026-09-29T17:36:17.757" v="232"/>
        <pc:sldMkLst>
          <pc:docMk/>
          <pc:sldMk cId="1112042015" sldId="564"/>
        </pc:sldMkLst>
        <pc:spChg chg="mod">
          <ac:chgData name="Phạm Hoàng Phát" userId="db628644e7623889" providerId="LiveId" clId="{7341D1A6-E360-4A96-BE7A-F717D0E3AD72}" dt="2026-09-29T17:31:43.700" v="187" actId="207"/>
          <ac:spMkLst>
            <pc:docMk/>
            <pc:sldMk cId="1112042015" sldId="564"/>
            <ac:spMk id="205" creationId="{00000000-0000-0000-0000-000000000000}"/>
          </ac:spMkLst>
        </pc:spChg>
      </pc:sldChg>
      <pc:sldChg chg="modSp add del mod">
        <pc:chgData name="Phạm Hoàng Phát" userId="db628644e7623889" providerId="LiveId" clId="{7341D1A6-E360-4A96-BE7A-F717D0E3AD72}" dt="2026-09-29T17:36:19.013" v="234"/>
        <pc:sldMkLst>
          <pc:docMk/>
          <pc:sldMk cId="145405316" sldId="565"/>
        </pc:sldMkLst>
        <pc:spChg chg="mod">
          <ac:chgData name="Phạm Hoàng Phát" userId="db628644e7623889" providerId="LiveId" clId="{7341D1A6-E360-4A96-BE7A-F717D0E3AD72}" dt="2026-09-29T17:31:58.317" v="190" actId="207"/>
          <ac:spMkLst>
            <pc:docMk/>
            <pc:sldMk cId="145405316" sldId="565"/>
            <ac:spMk id="205" creationId="{00000000-0000-0000-0000-000000000000}"/>
          </ac:spMkLst>
        </pc:spChg>
      </pc:sldChg>
      <pc:sldChg chg="addSp modSp add del mod">
        <pc:chgData name="Phạm Hoàng Phát" userId="db628644e7623889" providerId="LiveId" clId="{7341D1A6-E360-4A96-BE7A-F717D0E3AD72}" dt="2026-09-29T17:36:20.992" v="236"/>
        <pc:sldMkLst>
          <pc:docMk/>
          <pc:sldMk cId="4010204315" sldId="566"/>
        </pc:sldMkLst>
        <pc:spChg chg="add mod">
          <ac:chgData name="Phạm Hoàng Phát" userId="db628644e7623889" providerId="LiveId" clId="{7341D1A6-E360-4A96-BE7A-F717D0E3AD72}" dt="2026-09-29T17:32:02.834" v="192" actId="571"/>
          <ac:spMkLst>
            <pc:docMk/>
            <pc:sldMk cId="4010204315" sldId="566"/>
            <ac:spMk id="4" creationId="{D7596C5A-186A-AB4F-ADBD-26AB9A61D49C}"/>
          </ac:spMkLst>
        </pc:spChg>
        <pc:spChg chg="mod">
          <ac:chgData name="Phạm Hoàng Phát" userId="db628644e7623889" providerId="LiveId" clId="{7341D1A6-E360-4A96-BE7A-F717D0E3AD72}" dt="2026-09-29T17:32:08.417" v="195" actId="207"/>
          <ac:spMkLst>
            <pc:docMk/>
            <pc:sldMk cId="4010204315" sldId="566"/>
            <ac:spMk id="205" creationId="{00000000-0000-0000-0000-000000000000}"/>
          </ac:spMkLst>
        </pc:spChg>
      </pc:sldChg>
      <pc:sldChg chg="modSp add mod">
        <pc:chgData name="Phạm Hoàng Phát" userId="db628644e7623889" providerId="LiveId" clId="{7341D1A6-E360-4A96-BE7A-F717D0E3AD72}" dt="2026-09-29T17:36:25.213" v="237" actId="113"/>
        <pc:sldMkLst>
          <pc:docMk/>
          <pc:sldMk cId="2772468046" sldId="567"/>
        </pc:sldMkLst>
        <pc:spChg chg="mod">
          <ac:chgData name="Phạm Hoàng Phát" userId="db628644e7623889" providerId="LiveId" clId="{7341D1A6-E360-4A96-BE7A-F717D0E3AD72}" dt="2026-09-29T17:36:25.213" v="237" actId="113"/>
          <ac:spMkLst>
            <pc:docMk/>
            <pc:sldMk cId="2772468046" sldId="567"/>
            <ac:spMk id="205" creationId="{00000000-0000-0000-0000-000000000000}"/>
          </ac:spMkLst>
        </pc:spChg>
      </pc:sldChg>
      <pc:sldChg chg="modSp add mod">
        <pc:chgData name="Phạm Hoàng Phát" userId="db628644e7623889" providerId="LiveId" clId="{7341D1A6-E360-4A96-BE7A-F717D0E3AD72}" dt="2026-09-29T17:36:11.683" v="230" actId="113"/>
        <pc:sldMkLst>
          <pc:docMk/>
          <pc:sldMk cId="1337089951" sldId="568"/>
        </pc:sldMkLst>
        <pc:spChg chg="mod">
          <ac:chgData name="Phạm Hoàng Phát" userId="db628644e7623889" providerId="LiveId" clId="{7341D1A6-E360-4A96-BE7A-F717D0E3AD72}" dt="2026-09-29T17:36:11.683" v="230" actId="113"/>
          <ac:spMkLst>
            <pc:docMk/>
            <pc:sldMk cId="1337089951" sldId="568"/>
            <ac:spMk id="205" creationId="{00000000-0000-0000-0000-000000000000}"/>
          </ac:spMkLst>
        </pc:spChg>
      </pc:sldChg>
      <pc:sldChg chg="modSp add mod">
        <pc:chgData name="Phạm Hoàng Phát" userId="db628644e7623889" providerId="LiveId" clId="{7341D1A6-E360-4A96-BE7A-F717D0E3AD72}" dt="2026-09-29T17:36:44.605" v="239" actId="113"/>
        <pc:sldMkLst>
          <pc:docMk/>
          <pc:sldMk cId="3467963620" sldId="569"/>
        </pc:sldMkLst>
        <pc:spChg chg="mod">
          <ac:chgData name="Phạm Hoàng Phát" userId="db628644e7623889" providerId="LiveId" clId="{7341D1A6-E360-4A96-BE7A-F717D0E3AD72}" dt="2026-09-29T17:36:44.605" v="239" actId="113"/>
          <ac:spMkLst>
            <pc:docMk/>
            <pc:sldMk cId="3467963620" sldId="569"/>
            <ac:spMk id="205" creationId="{00000000-0000-0000-0000-000000000000}"/>
          </ac:spMkLst>
        </pc:spChg>
      </pc:sldChg>
      <pc:sldChg chg="modSp add mod">
        <pc:chgData name="Phạm Hoàng Phát" userId="db628644e7623889" providerId="LiveId" clId="{7341D1A6-E360-4A96-BE7A-F717D0E3AD72}" dt="2026-09-29T17:36:34.358" v="238" actId="113"/>
        <pc:sldMkLst>
          <pc:docMk/>
          <pc:sldMk cId="3628519759" sldId="570"/>
        </pc:sldMkLst>
        <pc:spChg chg="mod">
          <ac:chgData name="Phạm Hoàng Phát" userId="db628644e7623889" providerId="LiveId" clId="{7341D1A6-E360-4A96-BE7A-F717D0E3AD72}" dt="2026-09-29T17:36:34.358" v="238" actId="113"/>
          <ac:spMkLst>
            <pc:docMk/>
            <pc:sldMk cId="3628519759" sldId="570"/>
            <ac:spMk id="205" creationId="{00000000-0000-0000-0000-000000000000}"/>
          </ac:spMkLst>
        </pc:spChg>
      </pc:sldChg>
      <pc:sldChg chg="addSp delSp modSp add mod">
        <pc:chgData name="Phạm Hoàng Phát" userId="db628644e7623889" providerId="LiveId" clId="{7341D1A6-E360-4A96-BE7A-F717D0E3AD72}" dt="2026-09-29T17:36:55.340" v="246" actId="113"/>
        <pc:sldMkLst>
          <pc:docMk/>
          <pc:sldMk cId="1191915965" sldId="571"/>
        </pc:sldMkLst>
        <pc:spChg chg="add mod">
          <ac:chgData name="Phạm Hoàng Phát" userId="db628644e7623889" providerId="LiveId" clId="{7341D1A6-E360-4A96-BE7A-F717D0E3AD72}" dt="2026-09-29T17:33:24.072" v="203" actId="571"/>
          <ac:spMkLst>
            <pc:docMk/>
            <pc:sldMk cId="1191915965" sldId="571"/>
            <ac:spMk id="4" creationId="{80927570-F4AD-07C0-F018-3317A720D67B}"/>
          </ac:spMkLst>
        </pc:spChg>
        <pc:spChg chg="del mod">
          <ac:chgData name="Phạm Hoàng Phát" userId="db628644e7623889" providerId="LiveId" clId="{7341D1A6-E360-4A96-BE7A-F717D0E3AD72}" dt="2026-09-29T17:30:06.550" v="173" actId="478"/>
          <ac:spMkLst>
            <pc:docMk/>
            <pc:sldMk cId="1191915965" sldId="571"/>
            <ac:spMk id="28" creationId="{00000000-0000-0000-0000-000000000000}"/>
          </ac:spMkLst>
        </pc:spChg>
        <pc:spChg chg="mod">
          <ac:chgData name="Phạm Hoàng Phát" userId="db628644e7623889" providerId="LiveId" clId="{7341D1A6-E360-4A96-BE7A-F717D0E3AD72}" dt="2026-09-29T17:36:55.340" v="246" actId="113"/>
          <ac:spMkLst>
            <pc:docMk/>
            <pc:sldMk cId="1191915965" sldId="571"/>
            <ac:spMk id="205" creationId="{00000000-0000-0000-0000-000000000000}"/>
          </ac:spMkLst>
        </pc:spChg>
        <pc:spChg chg="del">
          <ac:chgData name="Phạm Hoàng Phát" userId="db628644e7623889" providerId="LiveId" clId="{7341D1A6-E360-4A96-BE7A-F717D0E3AD72}" dt="2026-09-29T17:30:05.308" v="171" actId="478"/>
          <ac:spMkLst>
            <pc:docMk/>
            <pc:sldMk cId="1191915965" sldId="571"/>
            <ac:spMk id="910" creationId="{00000000-0000-0000-0000-000000000000}"/>
          </ac:spMkLst>
        </pc:spChg>
        <pc:picChg chg="del">
          <ac:chgData name="Phạm Hoàng Phát" userId="db628644e7623889" providerId="LiveId" clId="{7341D1A6-E360-4A96-BE7A-F717D0E3AD72}" dt="2026-09-29T17:30:04.891" v="170" actId="478"/>
          <ac:picMkLst>
            <pc:docMk/>
            <pc:sldMk cId="1191915965" sldId="571"/>
            <ac:picMk id="29" creationId="{00000000-0000-0000-0000-000000000000}"/>
          </ac:picMkLst>
        </pc:picChg>
      </pc:sldChg>
      <pc:sldChg chg="modSp add mod">
        <pc:chgData name="Phạm Hoàng Phát" userId="db628644e7623889" providerId="LiveId" clId="{7341D1A6-E360-4A96-BE7A-F717D0E3AD72}" dt="2026-09-29T17:37:09.194" v="248" actId="113"/>
        <pc:sldMkLst>
          <pc:docMk/>
          <pc:sldMk cId="786096637" sldId="572"/>
        </pc:sldMkLst>
        <pc:spChg chg="mod">
          <ac:chgData name="Phạm Hoàng Phát" userId="db628644e7623889" providerId="LiveId" clId="{7341D1A6-E360-4A96-BE7A-F717D0E3AD72}" dt="2026-09-29T17:37:09.194" v="248" actId="113"/>
          <ac:spMkLst>
            <pc:docMk/>
            <pc:sldMk cId="786096637" sldId="572"/>
            <ac:spMk id="205" creationId="{00000000-0000-0000-0000-000000000000}"/>
          </ac:spMkLst>
        </pc:spChg>
      </pc:sldChg>
      <pc:sldChg chg="modSp add mod">
        <pc:chgData name="Phạm Hoàng Phát" userId="db628644e7623889" providerId="LiveId" clId="{7341D1A6-E360-4A96-BE7A-F717D0E3AD72}" dt="2026-09-29T17:37:02.074" v="247" actId="113"/>
        <pc:sldMkLst>
          <pc:docMk/>
          <pc:sldMk cId="2919688981" sldId="573"/>
        </pc:sldMkLst>
        <pc:spChg chg="mod">
          <ac:chgData name="Phạm Hoàng Phát" userId="db628644e7623889" providerId="LiveId" clId="{7341D1A6-E360-4A96-BE7A-F717D0E3AD72}" dt="2026-09-29T17:37:02.074" v="247" actId="113"/>
          <ac:spMkLst>
            <pc:docMk/>
            <pc:sldMk cId="2919688981" sldId="573"/>
            <ac:spMk id="205" creationId="{00000000-0000-0000-0000-000000000000}"/>
          </ac:spMkLst>
        </pc:spChg>
      </pc:sldChg>
      <pc:sldChg chg="add del">
        <pc:chgData name="Phạm Hoàng Phát" userId="db628644e7623889" providerId="LiveId" clId="{7341D1A6-E360-4A96-BE7A-F717D0E3AD72}" dt="2026-09-29T17:20:51.199" v="119"/>
        <pc:sldMkLst>
          <pc:docMk/>
          <pc:sldMk cId="1257391220" sldId="574"/>
        </pc:sldMkLst>
      </pc:sldChg>
      <pc:sldChg chg="add del">
        <pc:chgData name="Phạm Hoàng Phát" userId="db628644e7623889" providerId="LiveId" clId="{7341D1A6-E360-4A96-BE7A-F717D0E3AD72}" dt="2026-09-29T17:20:59.324" v="121"/>
        <pc:sldMkLst>
          <pc:docMk/>
          <pc:sldMk cId="4197967483" sldId="575"/>
        </pc:sldMkLst>
      </pc:sldChg>
      <pc:sldChg chg="modSp add mod">
        <pc:chgData name="Phạm Hoàng Phát" userId="db628644e7623889" providerId="LiveId" clId="{7341D1A6-E360-4A96-BE7A-F717D0E3AD72}" dt="2026-09-29T17:37:25.434" v="251" actId="113"/>
        <pc:sldMkLst>
          <pc:docMk/>
          <pc:sldMk cId="461111885" sldId="576"/>
        </pc:sldMkLst>
        <pc:spChg chg="mod">
          <ac:chgData name="Phạm Hoàng Phát" userId="db628644e7623889" providerId="LiveId" clId="{7341D1A6-E360-4A96-BE7A-F717D0E3AD72}" dt="2026-09-29T17:37:25.434" v="251" actId="113"/>
          <ac:spMkLst>
            <pc:docMk/>
            <pc:sldMk cId="461111885" sldId="576"/>
            <ac:spMk id="205" creationId="{00000000-0000-0000-0000-000000000000}"/>
          </ac:spMkLst>
        </pc:spChg>
      </pc:sldChg>
      <pc:sldChg chg="modSp add mod">
        <pc:chgData name="Phạm Hoàng Phát" userId="db628644e7623889" providerId="LiveId" clId="{7341D1A6-E360-4A96-BE7A-F717D0E3AD72}" dt="2026-09-29T17:37:30.376" v="252" actId="113"/>
        <pc:sldMkLst>
          <pc:docMk/>
          <pc:sldMk cId="4109048431" sldId="577"/>
        </pc:sldMkLst>
        <pc:spChg chg="mod">
          <ac:chgData name="Phạm Hoàng Phát" userId="db628644e7623889" providerId="LiveId" clId="{7341D1A6-E360-4A96-BE7A-F717D0E3AD72}" dt="2026-09-29T17:37:30.376" v="252" actId="113"/>
          <ac:spMkLst>
            <pc:docMk/>
            <pc:sldMk cId="4109048431" sldId="577"/>
            <ac:spMk id="205" creationId="{00000000-0000-0000-0000-000000000000}"/>
          </ac:spMkLst>
        </pc:spChg>
      </pc:sldChg>
      <pc:sldChg chg="delSp modSp add mod">
        <pc:chgData name="Phạm Hoàng Phát" userId="db628644e7623889" providerId="LiveId" clId="{7341D1A6-E360-4A96-BE7A-F717D0E3AD72}" dt="2026-09-29T17:37:43.187" v="253" actId="113"/>
        <pc:sldMkLst>
          <pc:docMk/>
          <pc:sldMk cId="3799101118" sldId="578"/>
        </pc:sldMkLst>
        <pc:spChg chg="del mod">
          <ac:chgData name="Phạm Hoàng Phát" userId="db628644e7623889" providerId="LiveId" clId="{7341D1A6-E360-4A96-BE7A-F717D0E3AD72}" dt="2026-09-29T17:30:17.663" v="177" actId="478"/>
          <ac:spMkLst>
            <pc:docMk/>
            <pc:sldMk cId="3799101118" sldId="578"/>
            <ac:spMk id="28" creationId="{00000000-0000-0000-0000-000000000000}"/>
          </ac:spMkLst>
        </pc:spChg>
        <pc:spChg chg="mod">
          <ac:chgData name="Phạm Hoàng Phát" userId="db628644e7623889" providerId="LiveId" clId="{7341D1A6-E360-4A96-BE7A-F717D0E3AD72}" dt="2026-09-29T17:37:43.187" v="253" actId="113"/>
          <ac:spMkLst>
            <pc:docMk/>
            <pc:sldMk cId="3799101118" sldId="578"/>
            <ac:spMk id="205" creationId="{00000000-0000-0000-0000-000000000000}"/>
          </ac:spMkLst>
        </pc:spChg>
        <pc:spChg chg="del">
          <ac:chgData name="Phạm Hoàng Phát" userId="db628644e7623889" providerId="LiveId" clId="{7341D1A6-E360-4A96-BE7A-F717D0E3AD72}" dt="2026-09-29T17:30:17.274" v="176" actId="478"/>
          <ac:spMkLst>
            <pc:docMk/>
            <pc:sldMk cId="3799101118" sldId="578"/>
            <ac:spMk id="910" creationId="{00000000-0000-0000-0000-000000000000}"/>
          </ac:spMkLst>
        </pc:spChg>
        <pc:picChg chg="del">
          <ac:chgData name="Phạm Hoàng Phát" userId="db628644e7623889" providerId="LiveId" clId="{7341D1A6-E360-4A96-BE7A-F717D0E3AD72}" dt="2026-09-29T17:30:15.070" v="174" actId="478"/>
          <ac:picMkLst>
            <pc:docMk/>
            <pc:sldMk cId="3799101118" sldId="578"/>
            <ac:picMk id="29" creationId="{00000000-0000-0000-0000-000000000000}"/>
          </ac:picMkLst>
        </pc:picChg>
      </pc:sldChg>
      <pc:sldChg chg="add del">
        <pc:chgData name="Phạm Hoàng Phát" userId="db628644e7623889" providerId="LiveId" clId="{7341D1A6-E360-4A96-BE7A-F717D0E3AD72}" dt="2026-09-29T17:22:06.005" v="133"/>
        <pc:sldMkLst>
          <pc:docMk/>
          <pc:sldMk cId="1855834204" sldId="579"/>
        </pc:sldMkLst>
      </pc:sldChg>
      <pc:sldChg chg="add del">
        <pc:chgData name="Phạm Hoàng Phát" userId="db628644e7623889" providerId="LiveId" clId="{7341D1A6-E360-4A96-BE7A-F717D0E3AD72}" dt="2026-09-29T17:22:12.423" v="135"/>
        <pc:sldMkLst>
          <pc:docMk/>
          <pc:sldMk cId="4141629948" sldId="580"/>
        </pc:sldMkLst>
      </pc:sldChg>
      <pc:sldChg chg="add del">
        <pc:chgData name="Phạm Hoàng Phát" userId="db628644e7623889" providerId="LiveId" clId="{7341D1A6-E360-4A96-BE7A-F717D0E3AD72}" dt="2026-09-29T17:22:19.433" v="137"/>
        <pc:sldMkLst>
          <pc:docMk/>
          <pc:sldMk cId="2571930118" sldId="581"/>
        </pc:sldMkLst>
      </pc:sldChg>
      <pc:sldChg chg="add del">
        <pc:chgData name="Phạm Hoàng Phát" userId="db628644e7623889" providerId="LiveId" clId="{7341D1A6-E360-4A96-BE7A-F717D0E3AD72}" dt="2026-09-29T17:22:26.602" v="139"/>
        <pc:sldMkLst>
          <pc:docMk/>
          <pc:sldMk cId="3808825714" sldId="582"/>
        </pc:sldMkLst>
      </pc:sldChg>
      <pc:sldChg chg="modSp add mod">
        <pc:chgData name="Phạm Hoàng Phát" userId="db628644e7623889" providerId="LiveId" clId="{7341D1A6-E360-4A96-BE7A-F717D0E3AD72}" dt="2026-09-29T17:37:46.331" v="255" actId="113"/>
        <pc:sldMkLst>
          <pc:docMk/>
          <pc:sldMk cId="1175446459" sldId="583"/>
        </pc:sldMkLst>
        <pc:spChg chg="mod">
          <ac:chgData name="Phạm Hoàng Phát" userId="db628644e7623889" providerId="LiveId" clId="{7341D1A6-E360-4A96-BE7A-F717D0E3AD72}" dt="2026-09-29T17:37:46.331" v="255" actId="113"/>
          <ac:spMkLst>
            <pc:docMk/>
            <pc:sldMk cId="1175446459" sldId="583"/>
            <ac:spMk id="205" creationId="{00000000-0000-0000-0000-000000000000}"/>
          </ac:spMkLst>
        </pc:spChg>
      </pc:sldChg>
      <pc:sldChg chg="modSp add mod">
        <pc:chgData name="Phạm Hoàng Phát" userId="db628644e7623889" providerId="LiveId" clId="{7341D1A6-E360-4A96-BE7A-F717D0E3AD72}" dt="2026-09-29T17:34:26.070" v="221" actId="207"/>
        <pc:sldMkLst>
          <pc:docMk/>
          <pc:sldMk cId="1199394736" sldId="584"/>
        </pc:sldMkLst>
        <pc:spChg chg="mod">
          <ac:chgData name="Phạm Hoàng Phát" userId="db628644e7623889" providerId="LiveId" clId="{7341D1A6-E360-4A96-BE7A-F717D0E3AD72}" dt="2026-09-29T17:34:26.070" v="221" actId="207"/>
          <ac:spMkLst>
            <pc:docMk/>
            <pc:sldMk cId="1199394736" sldId="584"/>
            <ac:spMk id="205" creationId="{00000000-0000-0000-0000-000000000000}"/>
          </ac:spMkLst>
        </pc:spChg>
      </pc:sldChg>
      <pc:sldChg chg="modSp add mod">
        <pc:chgData name="Phạm Hoàng Phát" userId="db628644e7623889" providerId="LiveId" clId="{7341D1A6-E360-4A96-BE7A-F717D0E3AD72}" dt="2026-09-29T17:34:29.735" v="222" actId="207"/>
        <pc:sldMkLst>
          <pc:docMk/>
          <pc:sldMk cId="3490514923" sldId="585"/>
        </pc:sldMkLst>
        <pc:spChg chg="mod">
          <ac:chgData name="Phạm Hoàng Phát" userId="db628644e7623889" providerId="LiveId" clId="{7341D1A6-E360-4A96-BE7A-F717D0E3AD72}" dt="2026-09-29T17:34:29.735" v="222" actId="207"/>
          <ac:spMkLst>
            <pc:docMk/>
            <pc:sldMk cId="3490514923" sldId="585"/>
            <ac:spMk id="205" creationId="{00000000-0000-0000-0000-000000000000}"/>
          </ac:spMkLst>
        </pc:spChg>
      </pc:sldChg>
      <pc:sldChg chg="modSp add mod">
        <pc:chgData name="Phạm Hoàng Phát" userId="db628644e7623889" providerId="LiveId" clId="{7341D1A6-E360-4A96-BE7A-F717D0E3AD72}" dt="2026-09-29T17:40:55.656" v="292" actId="113"/>
        <pc:sldMkLst>
          <pc:docMk/>
          <pc:sldMk cId="1207249550" sldId="586"/>
        </pc:sldMkLst>
        <pc:spChg chg="mod">
          <ac:chgData name="Phạm Hoàng Phát" userId="db628644e7623889" providerId="LiveId" clId="{7341D1A6-E360-4A96-BE7A-F717D0E3AD72}" dt="2026-09-29T17:40:55.656" v="292" actId="113"/>
          <ac:spMkLst>
            <pc:docMk/>
            <pc:sldMk cId="1207249550" sldId="586"/>
            <ac:spMk id="205" creationId="{00000000-0000-0000-0000-000000000000}"/>
          </ac:spMkLst>
        </pc:spChg>
      </pc:sldChg>
      <pc:sldChg chg="add del">
        <pc:chgData name="Phạm Hoàng Phát" userId="db628644e7623889" providerId="LiveId" clId="{7341D1A6-E360-4A96-BE7A-F717D0E3AD72}" dt="2026-09-29T17:23:42.141" v="147"/>
        <pc:sldMkLst>
          <pc:docMk/>
          <pc:sldMk cId="4218525706" sldId="587"/>
        </pc:sldMkLst>
      </pc:sldChg>
      <pc:sldChg chg="modSp add mod">
        <pc:chgData name="Phạm Hoàng Phát" userId="db628644e7623889" providerId="LiveId" clId="{7341D1A6-E360-4A96-BE7A-F717D0E3AD72}" dt="2026-09-29T17:39:47.569" v="279" actId="207"/>
        <pc:sldMkLst>
          <pc:docMk/>
          <pc:sldMk cId="3597953974" sldId="588"/>
        </pc:sldMkLst>
        <pc:spChg chg="mod">
          <ac:chgData name="Phạm Hoàng Phát" userId="db628644e7623889" providerId="LiveId" clId="{7341D1A6-E360-4A96-BE7A-F717D0E3AD72}" dt="2026-09-29T17:39:47.569" v="279" actId="207"/>
          <ac:spMkLst>
            <pc:docMk/>
            <pc:sldMk cId="3597953974" sldId="588"/>
            <ac:spMk id="205" creationId="{00000000-0000-0000-0000-000000000000}"/>
          </ac:spMkLst>
        </pc:spChg>
      </pc:sldChg>
      <pc:sldChg chg="add del">
        <pc:chgData name="Phạm Hoàng Phát" userId="db628644e7623889" providerId="LiveId" clId="{7341D1A6-E360-4A96-BE7A-F717D0E3AD72}" dt="2026-09-29T17:23:49.944" v="149"/>
        <pc:sldMkLst>
          <pc:docMk/>
          <pc:sldMk cId="278984585" sldId="589"/>
        </pc:sldMkLst>
      </pc:sldChg>
      <pc:sldChg chg="modSp add mod">
        <pc:chgData name="Phạm Hoàng Phát" userId="db628644e7623889" providerId="LiveId" clId="{7341D1A6-E360-4A96-BE7A-F717D0E3AD72}" dt="2026-09-29T17:40:41.006" v="290" actId="113"/>
        <pc:sldMkLst>
          <pc:docMk/>
          <pc:sldMk cId="3251823136" sldId="590"/>
        </pc:sldMkLst>
        <pc:spChg chg="mod">
          <ac:chgData name="Phạm Hoàng Phát" userId="db628644e7623889" providerId="LiveId" clId="{7341D1A6-E360-4A96-BE7A-F717D0E3AD72}" dt="2026-09-29T17:40:36.913" v="287" actId="1076"/>
          <ac:spMkLst>
            <pc:docMk/>
            <pc:sldMk cId="3251823136" sldId="590"/>
            <ac:spMk id="203" creationId="{00000000-0000-0000-0000-000000000000}"/>
          </ac:spMkLst>
        </pc:spChg>
        <pc:spChg chg="mod">
          <ac:chgData name="Phạm Hoàng Phát" userId="db628644e7623889" providerId="LiveId" clId="{7341D1A6-E360-4A96-BE7A-F717D0E3AD72}" dt="2026-09-29T17:40:41.006" v="290" actId="113"/>
          <ac:spMkLst>
            <pc:docMk/>
            <pc:sldMk cId="3251823136" sldId="590"/>
            <ac:spMk id="205" creationId="{00000000-0000-0000-0000-000000000000}"/>
          </ac:spMkLst>
        </pc:spChg>
      </pc:sldChg>
      <pc:sldChg chg="modSp add mod">
        <pc:chgData name="Phạm Hoàng Phát" userId="db628644e7623889" providerId="LiveId" clId="{7341D1A6-E360-4A96-BE7A-F717D0E3AD72}" dt="2026-09-29T17:39:37.596" v="277" actId="113"/>
        <pc:sldMkLst>
          <pc:docMk/>
          <pc:sldMk cId="3003917686" sldId="591"/>
        </pc:sldMkLst>
        <pc:spChg chg="mod">
          <ac:chgData name="Phạm Hoàng Phát" userId="db628644e7623889" providerId="LiveId" clId="{7341D1A6-E360-4A96-BE7A-F717D0E3AD72}" dt="2026-09-29T17:39:37.596" v="277" actId="113"/>
          <ac:spMkLst>
            <pc:docMk/>
            <pc:sldMk cId="3003917686" sldId="591"/>
            <ac:spMk id="205" creationId="{00000000-0000-0000-0000-000000000000}"/>
          </ac:spMkLst>
        </pc:spChg>
      </pc:sldChg>
      <pc:sldChg chg="modSp add mod">
        <pc:chgData name="Phạm Hoàng Phát" userId="db628644e7623889" providerId="LiveId" clId="{7341D1A6-E360-4A96-BE7A-F717D0E3AD72}" dt="2026-09-29T17:40:06.964" v="281" actId="20577"/>
        <pc:sldMkLst>
          <pc:docMk/>
          <pc:sldMk cId="2134063844" sldId="592"/>
        </pc:sldMkLst>
        <pc:spChg chg="mod">
          <ac:chgData name="Phạm Hoàng Phát" userId="db628644e7623889" providerId="LiveId" clId="{7341D1A6-E360-4A96-BE7A-F717D0E3AD72}" dt="2026-09-29T17:40:06.964" v="281" actId="20577"/>
          <ac:spMkLst>
            <pc:docMk/>
            <pc:sldMk cId="2134063844" sldId="592"/>
            <ac:spMk id="205" creationId="{00000000-0000-0000-0000-000000000000}"/>
          </ac:spMkLst>
        </pc:spChg>
      </pc:sldChg>
      <pc:sldChg chg="modSp add mod">
        <pc:chgData name="Phạm Hoàng Phát" userId="db628644e7623889" providerId="LiveId" clId="{7341D1A6-E360-4A96-BE7A-F717D0E3AD72}" dt="2026-09-29T17:40:12.697" v="283" actId="113"/>
        <pc:sldMkLst>
          <pc:docMk/>
          <pc:sldMk cId="3112590032" sldId="593"/>
        </pc:sldMkLst>
        <pc:spChg chg="mod">
          <ac:chgData name="Phạm Hoàng Phát" userId="db628644e7623889" providerId="LiveId" clId="{7341D1A6-E360-4A96-BE7A-F717D0E3AD72}" dt="2026-09-29T17:40:12.697" v="283" actId="113"/>
          <ac:spMkLst>
            <pc:docMk/>
            <pc:sldMk cId="3112590032" sldId="593"/>
            <ac:spMk id="205" creationId="{00000000-0000-0000-0000-000000000000}"/>
          </ac:spMkLst>
        </pc:spChg>
      </pc:sldChg>
      <pc:sldChg chg="modSp add mod">
        <pc:chgData name="Phạm Hoàng Phát" userId="db628644e7623889" providerId="LiveId" clId="{7341D1A6-E360-4A96-BE7A-F717D0E3AD72}" dt="2026-09-29T17:40:27.945" v="285" actId="113"/>
        <pc:sldMkLst>
          <pc:docMk/>
          <pc:sldMk cId="926347342" sldId="594"/>
        </pc:sldMkLst>
        <pc:spChg chg="mod">
          <ac:chgData name="Phạm Hoàng Phát" userId="db628644e7623889" providerId="LiveId" clId="{7341D1A6-E360-4A96-BE7A-F717D0E3AD72}" dt="2026-09-29T17:40:27.945" v="285" actId="113"/>
          <ac:spMkLst>
            <pc:docMk/>
            <pc:sldMk cId="926347342" sldId="594"/>
            <ac:spMk id="205" creationId="{00000000-0000-0000-0000-000000000000}"/>
          </ac:spMkLst>
        </pc:spChg>
      </pc:sldChg>
      <pc:sldChg chg="add del">
        <pc:chgData name="Phạm Hoàng Phát" userId="db628644e7623889" providerId="LiveId" clId="{7341D1A6-E360-4A96-BE7A-F717D0E3AD72}" dt="2026-09-29T17:36:46.186" v="243"/>
        <pc:sldMkLst>
          <pc:docMk/>
          <pc:sldMk cId="3824002665" sldId="595"/>
        </pc:sldMkLst>
      </pc:sldChg>
      <pc:sldChg chg="add del">
        <pc:chgData name="Phạm Hoàng Phát" userId="db628644e7623889" providerId="LiveId" clId="{7341D1A6-E360-4A96-BE7A-F717D0E3AD72}" dt="2026-09-29T17:36:45.489" v="241"/>
        <pc:sldMkLst>
          <pc:docMk/>
          <pc:sldMk cId="2437495400" sldId="596"/>
        </pc:sldMkLst>
      </pc:sldChg>
      <pc:sldChg chg="add del">
        <pc:chgData name="Phạm Hoàng Phát" userId="db628644e7623889" providerId="LiveId" clId="{7341D1A6-E360-4A96-BE7A-F717D0E3AD72}" dt="2026-09-29T17:36:55.286" v="245"/>
        <pc:sldMkLst>
          <pc:docMk/>
          <pc:sldMk cId="1303692821" sldId="597"/>
        </pc:sldMkLst>
      </pc:sldChg>
      <pc:sldChg chg="add">
        <pc:chgData name="Phạm Hoàng Phát" userId="db628644e7623889" providerId="LiveId" clId="{7341D1A6-E360-4A96-BE7A-F717D0E3AD72}" dt="2026-09-29T17:36:45.477" v="240"/>
        <pc:sldMkLst>
          <pc:docMk/>
          <pc:sldMk cId="2178797444" sldId="598"/>
        </pc:sldMkLst>
      </pc:sldChg>
      <pc:sldChg chg="add">
        <pc:chgData name="Phạm Hoàng Phát" userId="db628644e7623889" providerId="LiveId" clId="{7341D1A6-E360-4A96-BE7A-F717D0E3AD72}" dt="2026-09-29T17:36:46.163" v="242"/>
        <pc:sldMkLst>
          <pc:docMk/>
          <pc:sldMk cId="1123790342" sldId="599"/>
        </pc:sldMkLst>
      </pc:sldChg>
      <pc:sldChg chg="add">
        <pc:chgData name="Phạm Hoàng Phát" userId="db628644e7623889" providerId="LiveId" clId="{7341D1A6-E360-4A96-BE7A-F717D0E3AD72}" dt="2026-09-29T17:36:55.278" v="244"/>
        <pc:sldMkLst>
          <pc:docMk/>
          <pc:sldMk cId="2713256927" sldId="60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062F5C"/>
                </a:solidFill>
                <a:latin typeface="Arial"/>
              </a:rPr>
              <a:t>Event-F1 micro trung bình</a:t>
            </a:r>
          </a:p>
        </c:rich>
      </c:tx>
      <c:overlay val="0"/>
    </c:title>
    <c:autoTitleDeleted val="0"/>
    <c:plotArea>
      <c:layout/>
      <c:barChart>
        <c:barDir val="col"/>
        <c:grouping val="clustered"/>
        <c:varyColors val="1"/>
        <c:ser>
          <c:idx val="0"/>
          <c:order val="0"/>
          <c:tx>
            <c:strRef>
              <c:f>Sheet1!$B$1</c:f>
              <c:strCache>
                <c:ptCount val="1"/>
                <c:pt idx="0">
                  <c:v>B: chỉ AudioSet</c:v>
                </c:pt>
              </c:strCache>
            </c:strRef>
          </c:tx>
          <c:spPr>
            <a:solidFill>
              <a:srgbClr val="062F5C"/>
            </a:solidFill>
          </c:spPr>
          <c:invertIfNegative val="1"/>
          <c:dLbls>
            <c:numFmt formatCode="0.000" sourceLinked="0"/>
            <c:spPr>
              <a:noFill/>
              <a:ln>
                <a:noFill/>
              </a:ln>
              <a:effectLst/>
            </c:spPr>
            <c:txPr>
              <a:bodyPr/>
              <a:lstStyle/>
              <a:p>
                <a:pPr>
                  <a:defRPr sz="1100">
                    <a:solidFill>
                      <a:srgbClr val="1721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v1 (test all)</c:v>
                </c:pt>
                <c:pt idx="1">
                  <c:v>v2 (test annotated)</c:v>
                </c:pt>
              </c:strCache>
            </c:strRef>
          </c:cat>
          <c:val>
            <c:numRef>
              <c:f>Sheet1!$B$2:$B$3</c:f>
              <c:numCache>
                <c:formatCode>General</c:formatCode>
                <c:ptCount val="2"/>
                <c:pt idx="0">
                  <c:v>6.0999999999999999E-2</c:v>
                </c:pt>
                <c:pt idx="1">
                  <c:v>0.13239999999999999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B81-4027-A338-FD4FCD583745}"/>
            </c:ext>
          </c:extLst>
        </c:ser>
        <c:ser>
          <c:idx val="1"/>
          <c:order val="1"/>
          <c:tx>
            <c:strRef>
              <c:f>Sheet1!$C$1</c:f>
              <c:strCache>
                <c:ptCount val="1"/>
                <c:pt idx="0">
                  <c:v>C: AudioSet + DataSEC</c:v>
                </c:pt>
              </c:strCache>
            </c:strRef>
          </c:tx>
          <c:spPr>
            <a:solidFill>
              <a:srgbClr val="F4B336"/>
            </a:solidFill>
          </c:spPr>
          <c:invertIfNegative val="1"/>
          <c:dLbls>
            <c:numFmt formatCode="0.000" sourceLinked="0"/>
            <c:spPr>
              <a:noFill/>
              <a:ln>
                <a:noFill/>
              </a:ln>
              <a:effectLst/>
            </c:spPr>
            <c:txPr>
              <a:bodyPr/>
              <a:lstStyle/>
              <a:p>
                <a:pPr>
                  <a:defRPr sz="1100">
                    <a:solidFill>
                      <a:srgbClr val="1721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v1 (test all)</c:v>
                </c:pt>
                <c:pt idx="1">
                  <c:v>v2 (test annotated)</c:v>
                </c:pt>
              </c:strCache>
            </c:strRef>
          </c:cat>
          <c:val>
            <c:numRef>
              <c:f>Sheet1!$C$2:$C$3</c:f>
              <c:numCache>
                <c:formatCode>General</c:formatCode>
                <c:ptCount val="2"/>
                <c:pt idx="0">
                  <c:v>5.3900000000000003E-2</c:v>
                </c:pt>
                <c:pt idx="1">
                  <c:v>0.12939999999999999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B81-4027-A338-FD4FCD583745}"/>
            </c:ext>
          </c:extLst>
        </c:ser>
        <c:dLbls>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FE5EC"/>
            </a:solidFill>
          </a:ln>
        </c:spPr>
        <c:txPr>
          <a:bodyPr/>
          <a:lstStyle/>
          <a:p>
            <a:pPr>
              <a:defRPr sz="1100">
                <a:solidFill>
                  <a:srgbClr val="17212B"/>
                </a:solidFill>
                <a:latin typeface="Arial"/>
              </a:defRPr>
            </a:pPr>
            <a:endParaRPr lang="en-US"/>
          </a:p>
        </c:txPr>
        <c:crossAx val="-2113994440"/>
        <c:crosses val="autoZero"/>
        <c:auto val="1"/>
        <c:lblAlgn val="ctr"/>
        <c:lblOffset val="100"/>
        <c:noMultiLvlLbl val="0"/>
      </c:catAx>
      <c:valAx>
        <c:axId val="-2113994440"/>
        <c:scaling>
          <c:orientation val="minMax"/>
          <c:min val="0"/>
        </c:scaling>
        <c:delete val="0"/>
        <c:axPos val="l"/>
        <c:majorGridlines>
          <c:spPr>
            <a:ln>
              <a:solidFill>
                <a:srgbClr val="DFE5EC"/>
              </a:solidFill>
            </a:ln>
          </c:spPr>
        </c:majorGridlines>
        <c:numFmt formatCode="General" sourceLinked="1"/>
        <c:majorTickMark val="out"/>
        <c:minorTickMark val="none"/>
        <c:tickLblPos val="nextTo"/>
        <c:spPr>
          <a:ln>
            <a:noFill/>
          </a:ln>
        </c:spPr>
        <c:txPr>
          <a:bodyPr/>
          <a:lstStyle/>
          <a:p>
            <a:pPr>
              <a:defRPr sz="1000">
                <a:solidFill>
                  <a:srgbClr val="667085"/>
                </a:solidFill>
                <a:latin typeface="Arial"/>
              </a:defRPr>
            </a:pPr>
            <a:endParaRPr lang="en-US"/>
          </a:p>
        </c:txPr>
        <c:crossAx val="-2068027336"/>
        <c:crosses val="autoZero"/>
        <c:crossBetween val="between"/>
      </c:valAx>
    </c:plotArea>
    <c:legend>
      <c:legendPos val="b"/>
      <c:overlay val="0"/>
      <c:txPr>
        <a:bodyPr/>
        <a:lstStyle/>
        <a:p>
          <a:pPr>
            <a:defRPr sz="1100">
              <a:latin typeface="Aria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062F5C"/>
                </a:solidFill>
                <a:latin typeface="Arial"/>
              </a:rPr>
              <a:t>Event-F1 trên test annotated</a:t>
            </a:r>
          </a:p>
        </c:rich>
      </c:tx>
      <c:overlay val="0"/>
    </c:title>
    <c:autoTitleDeleted val="0"/>
    <c:plotArea>
      <c:layout/>
      <c:barChart>
        <c:barDir val="col"/>
        <c:grouping val="clustered"/>
        <c:varyColors val="1"/>
        <c:ser>
          <c:idx val="0"/>
          <c:order val="0"/>
          <c:tx>
            <c:strRef>
              <c:f>Sheet1!$B$1</c:f>
              <c:strCache>
                <c:ptCount val="1"/>
                <c:pt idx="0">
                  <c:v>Macro-F1</c:v>
                </c:pt>
              </c:strCache>
            </c:strRef>
          </c:tx>
          <c:spPr>
            <a:solidFill>
              <a:srgbClr val="1677B8"/>
            </a:solidFill>
          </c:spPr>
          <c:invertIfNegative val="1"/>
          <c:dLbls>
            <c:numFmt formatCode="0.000" sourceLinked="0"/>
            <c:spPr>
              <a:noFill/>
              <a:ln>
                <a:noFill/>
              </a:ln>
              <a:effectLst/>
            </c:spPr>
            <c:txPr>
              <a:bodyPr/>
              <a:lstStyle/>
              <a:p>
                <a:pPr>
                  <a:defRPr sz="1100">
                    <a:solidFill>
                      <a:srgbClr val="1721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v1</c:v>
                </c:pt>
                <c:pt idx="1">
                  <c:v>v2</c:v>
                </c:pt>
                <c:pt idx="2">
                  <c:v>f2</c:v>
                </c:pt>
              </c:strCache>
            </c:strRef>
          </c:cat>
          <c:val>
            <c:numRef>
              <c:f>Sheet1!$B$2:$B$4</c:f>
              <c:numCache>
                <c:formatCode>General</c:formatCode>
                <c:ptCount val="3"/>
                <c:pt idx="0">
                  <c:v>9.2399999999999996E-2</c:v>
                </c:pt>
                <c:pt idx="1">
                  <c:v>0.1389</c:v>
                </c:pt>
                <c:pt idx="2">
                  <c:v>0.1206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B26-4AF2-A55B-F7F84D6780A0}"/>
            </c:ext>
          </c:extLst>
        </c:ser>
        <c:ser>
          <c:idx val="1"/>
          <c:order val="1"/>
          <c:tx>
            <c:strRef>
              <c:f>Sheet1!$C$1</c:f>
              <c:strCache>
                <c:ptCount val="1"/>
                <c:pt idx="0">
                  <c:v>Micro-F1</c:v>
                </c:pt>
              </c:strCache>
            </c:strRef>
          </c:tx>
          <c:spPr>
            <a:solidFill>
              <a:srgbClr val="062F5C"/>
            </a:solidFill>
          </c:spPr>
          <c:invertIfNegative val="1"/>
          <c:dLbls>
            <c:numFmt formatCode="0.000" sourceLinked="0"/>
            <c:spPr>
              <a:noFill/>
              <a:ln>
                <a:noFill/>
              </a:ln>
              <a:effectLst/>
            </c:spPr>
            <c:txPr>
              <a:bodyPr/>
              <a:lstStyle/>
              <a:p>
                <a:pPr>
                  <a:defRPr sz="1100">
                    <a:solidFill>
                      <a:srgbClr val="1721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v1</c:v>
                </c:pt>
                <c:pt idx="1">
                  <c:v>v2</c:v>
                </c:pt>
                <c:pt idx="2">
                  <c:v>f2</c:v>
                </c:pt>
              </c:strCache>
            </c:strRef>
          </c:cat>
          <c:val>
            <c:numRef>
              <c:f>Sheet1!$C$2:$C$4</c:f>
              <c:numCache>
                <c:formatCode>General</c:formatCode>
                <c:ptCount val="3"/>
                <c:pt idx="0">
                  <c:v>9.4500000000000001E-2</c:v>
                </c:pt>
                <c:pt idx="1">
                  <c:v>0.15</c:v>
                </c:pt>
                <c:pt idx="2">
                  <c:v>0.1643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B26-4AF2-A55B-F7F84D6780A0}"/>
            </c:ext>
          </c:extLst>
        </c:ser>
        <c:dLbls>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FE5EC"/>
            </a:solidFill>
          </a:ln>
        </c:spPr>
        <c:txPr>
          <a:bodyPr/>
          <a:lstStyle/>
          <a:p>
            <a:pPr>
              <a:defRPr sz="1100">
                <a:solidFill>
                  <a:srgbClr val="17212B"/>
                </a:solidFill>
                <a:latin typeface="Arial"/>
              </a:defRPr>
            </a:pPr>
            <a:endParaRPr lang="en-US"/>
          </a:p>
        </c:txPr>
        <c:crossAx val="-2113994440"/>
        <c:crosses val="autoZero"/>
        <c:auto val="1"/>
        <c:lblAlgn val="ctr"/>
        <c:lblOffset val="100"/>
        <c:noMultiLvlLbl val="0"/>
      </c:catAx>
      <c:valAx>
        <c:axId val="-2113994440"/>
        <c:scaling>
          <c:orientation val="minMax"/>
          <c:max val="0.2"/>
          <c:min val="0"/>
        </c:scaling>
        <c:delete val="0"/>
        <c:axPos val="l"/>
        <c:majorGridlines>
          <c:spPr>
            <a:ln>
              <a:solidFill>
                <a:srgbClr val="DFE5EC"/>
              </a:solidFill>
            </a:ln>
          </c:spPr>
        </c:majorGridlines>
        <c:numFmt formatCode="General" sourceLinked="1"/>
        <c:majorTickMark val="out"/>
        <c:minorTickMark val="none"/>
        <c:tickLblPos val="nextTo"/>
        <c:spPr>
          <a:ln>
            <a:noFill/>
          </a:ln>
        </c:spPr>
        <c:txPr>
          <a:bodyPr/>
          <a:lstStyle/>
          <a:p>
            <a:pPr>
              <a:defRPr sz="1000">
                <a:solidFill>
                  <a:srgbClr val="667085"/>
                </a:solidFill>
                <a:latin typeface="Arial"/>
              </a:defRPr>
            </a:pPr>
            <a:endParaRPr lang="en-US"/>
          </a:p>
        </c:txPr>
        <c:crossAx val="-2068027336"/>
        <c:crosses val="autoZero"/>
        <c:crossBetween val="between"/>
      </c:valAx>
    </c:plotArea>
    <c:legend>
      <c:legendPos val="b"/>
      <c:overlay val="0"/>
      <c:txPr>
        <a:bodyPr/>
        <a:lstStyle/>
        <a:p>
          <a:pPr>
            <a:defRPr sz="1100">
              <a:latin typeface="Aria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210511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Mở đầu (30 giây). Chào thầy, nhóm em gồm Phát và Tính, báo cáo giữa kỳ đề tài</a:t>
            </a:r>
          </a:p>
          <a:p>
            <a:r>
              <a:t>"Xây dựng hệ thống phát hiện, sinh mô tả và truy vấn sự kiện âm thanh môi trường dựa trên RAG".</a:t>
            </a:r>
          </a:p>
          <a:p>
            <a:r>
              <a:t>Bài trình bày có 6 phần; nhóm tập trung nhiều nhất vào phương pháp, kịch bản thí nghiệm và kết</a:t>
            </a:r>
          </a:p>
          <a:p>
            <a:r>
              <a:t>quả.</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Máy đo tiếng ồn hiện nay chỉ trả về một con số dB. Đề tài muốn máy làm được 4 việc</a:t>
            </a:r>
          </a:p>
          <a:p>
            <a:r>
              <a:t>như cột bên phải: nhận một bản ghi dài, ghi lại sự kiện kèm thời điểm, viết câu mô tả, và trả</a:t>
            </a:r>
          </a:p>
          <a:p>
            <a:r>
              <a:t>lời</a:t>
            </a:r>
          </a:p>
          <a:p>
            <a:r>
              <a:t>câu hỏi về lịch sử có kèm bằng chứng. Ví dụ là bản ghi thật S-0009 trong tập dev.</a:t>
            </a:r>
          </a:p>
          <a:p>
            <a:r>
              <a:t>Ba khó khăn: âm chồng nhau, dữ liệu có mốc thời gian ít, và mô hình ngôn ngữ dễ bịa.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Ba câu hỏi nghiên cứu nói bằng lời thường. RQ1 hỏi việc học thêm có giúp không.</a:t>
            </a:r>
          </a:p>
          <a:p>
            <a:r>
              <a:t>RQ2 hỏi câu mô tả có bịa không. RQ3 hỏi nên tìm kiếm theo cách nào.</a:t>
            </a:r>
          </a:p>
          <a:p>
            <a:r>
              <a:t>Mỗi thẻ ghi luôn slide kết quả tương ứng để thầy dễ đối chiếu.</a:t>
            </a:r>
          </a:p>
          <a:p>
            <a:r>
              <a:t>Ngoài phạm vi: không nghe nội dung lời nói, không suy ra tội phạm hay mức nguy hiểm, vì dữ liệu</a:t>
            </a:r>
          </a:p>
          <a:p>
            <a:r>
              <a:t>không có cơ sở cho các kết luận đó.</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Đi theo hình bên trái từ trên xuống. Bước 2 là mô hình SED; tham số ghép xác suất thành</a:t>
            </a:r>
          </a:p>
          <a:p>
            <a:r>
              <a:t>sự kiện được chọn trên dev và lưu cạnh mô hình, nên đổi độ nhạy không cần huấn luyện lại.</a:t>
            </a:r>
          </a:p>
          <a:p>
            <a:r>
              <a:t>Nhấn mạnh ô xanh: bộ viết mô tả chỉ đọc danh sách sự kiện, đây là cách "khóa" việc bịa nguồn âm.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Demo chạy bằng Docker trên máy cá nhân: cơ sở dữ liệu, dịch vụ suy luận và giao diện.</a:t>
            </a:r>
          </a:p>
          <a:p>
            <a:r>
              <a:t>Nếu thầy muốn xem trực tiếp: chạy scripts/demo_up.ps1 rồi mở http://127.0.0.1:8088.</a:t>
            </a:r>
          </a:p>
          <a:p>
            <a:r>
              <a:t>Lịch sử demo chỉ gồm bản ghi tập train để không lộ dữ liệu test.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DataSEC giống bộ thẻ học từ vựng: đoạn ngắn, mỗi đoạn một nhãn.</a:t>
            </a:r>
          </a:p>
          <a:p>
            <a:r>
              <a:t>DataSED giống phim có phụ đề chi tiết: bản ghi dài, đánh dấu từng sự kiện bắt đầu và kết thúc</a:t>
            </a:r>
          </a:p>
          <a:p>
            <a:r>
              <a:t>lúc nào.</a:t>
            </a:r>
          </a:p>
          <a:p>
            <a:r>
              <a:t>DataSED là bài thi chính; DataSEC là tài liệu học thêm cho nhánh C của RQ1.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phút) Hai bộ dữ liệu cùng sáu tác giả nên nhóm giả định có trùng cho tới khi đo được điều</a:t>
            </a:r>
          </a:p>
          <a:p>
            <a:r>
              <a:t>ngược lại.</a:t>
            </a:r>
          </a:p>
          <a:p>
            <a:r>
              <a:t>Quy trình D0–D4 trong hình: kiểm tệp tải → kiểm kê → chuẩn hóa nhãn → tìm trùng → chia tập.</a:t>
            </a:r>
          </a:p>
          <a:p>
            <a:r>
              <a:t>Tìm trùng ba tầng; tầng 3 so "vân tay âm thanh" (MFCC). Ngưỡng được hiệu chuẩn: cặp trùng thật</a:t>
            </a:r>
          </a:p>
          <a:p>
            <a:r>
              <a:t>đạt</a:t>
            </a:r>
          </a:p>
          <a:p>
            <a:r>
              <a:t>1,0000, cặp khác nhau cao nhất 0,9205, nên chọn ngưỡng 0,95.</a:t>
            </a:r>
          </a:p>
          <a:p>
            <a:r>
              <a:t>Câu hỏi có thể gặp: "Loại 11 đoạn có đủ chưa?" → còn một rủi ro không đo được: hai bộ lấy một</a:t>
            </a:r>
          </a:p>
          <a:p>
            <a:r>
              <a:t>phần âm</a:t>
            </a:r>
          </a:p>
          <a:p>
            <a:r>
              <a:t>thanh từ AudioSet, mà mô hình nền cũng học AudioSet; nhóm ghi rõ đây là hạn chế.</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(1 phút) Train để học, dev để thử và chọn, test là bài thi thật chỉ làm một lần.</a:t>
            </a:r>
          </a:p>
          <a:p>
            <a:r>
              <a:t>Không chia theo từng tệp mà theo nhóm trùng, để hai bản giống nhau không rơi vào hai phần khác</a:t>
            </a:r>
          </a:p>
          <a:p>
            <a:r>
              <a:t>nhau.</a:t>
            </a:r>
          </a:p>
          <a:p>
            <a:r>
              <a:t>Hai phát hiện phụ: 14 bản ghi thiếu nhãn (xử lý bằng tập annotated), và nhãn của chính con người</a:t>
            </a:r>
          </a:p>
          <a:p>
            <a:r>
              <a:t>chỉ khớp nhau 0,58, nên điểm của máy cần đọc trong bối cảnh này.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phút) Đây là luật chơi chống "học thuộc đề", áp dụng cho mọi kịch bản phía sau.</a:t>
            </a:r>
          </a:p>
          <a:p>
            <a:r>
              <a:t>Ví dụ đọc điểm: tập test có 740 sự kiện thật, f2 báo 295, trong đó 85 đúng.</a:t>
            </a:r>
          </a:p>
          <a:p>
            <a:r>
              <a:t>Precision 0,29 nghĩa là trong cái máy báo có khoảng 29% đúng; recall</a:t>
            </a:r>
          </a:p>
          <a:p>
            <a:r>
              <a:t>0,11</a:t>
            </a:r>
          </a:p>
          <a:p>
            <a:r>
              <a:t>nghĩa là máy chỉ tìm ra khoảng 11% sự kiện thật. Recall thấp là điểm nghẽn chính của hệ thống.</a:t>
            </a:r>
          </a:p>
          <a:p>
            <a:r>
              <a:t>Các số này tính từ evaluation_cv_annotated.json đã khóa, không chạy lại test.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Bản đồ để thầy theo dõi: sáu kịch bản, mỗi cái trả lời một câu hỏi, cột cuối ghi slide</a:t>
            </a:r>
          </a:p>
          <a:p>
            <a:r>
              <a:t>kết quả.</a:t>
            </a:r>
          </a:p>
          <a:p>
            <a:r>
              <a:t>KB1 là RQ1; KB2–KB4 là chuỗi cải thiện mô hình phát hiện sự kiện; KB5 là RQ2; KB6 là RQ3.</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Ba nhánh có cùng điểm cuối: học phát hiện sự kiện trên DataSED. Khác nhau ở điểm khởi</a:t>
            </a:r>
          </a:p>
          <a:p>
            <a:r>
              <a:t>đầu.</a:t>
            </a:r>
          </a:p>
          <a:p>
            <a:r>
              <a:t>Câu hỏi RQ1 là C có hơn B không, vì hai nhánh này chỉ khác đúng một bước học thêm DataSEC.</a:t>
            </a:r>
          </a:p>
          <a:p>
            <a:r>
              <a:t>Huấn luyện mô hình SED cho kết quả hơi khác nhau dù cùng seed, nên phải chạy nhiều lần và dùng</a:t>
            </a:r>
          </a:p>
          <a:p>
            <a:r>
              <a:t>thống kê.</a:t>
            </a:r>
          </a:p>
          <a:p>
            <a:r>
              <a:t>Kết quả ở slide 18.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Thay vì dò thử tham số, nhóm đo trước. Mô hình CNN14 bản v1 thu nhỏ trục thời gian 64</a:t>
            </a:r>
          </a:p>
          <a:p>
            <a:r>
              <a:t>lần,</a:t>
            </a:r>
          </a:p>
          <a:p>
            <a:r>
              <a:t>mỗi quyết định ứng với 0,64 giây, trong khi luật chấm chỉ cho lệch 0,2 giây; nên dù đoán đúng</a:t>
            </a:r>
          </a:p>
          <a:p>
            <a:r>
              <a:t>loại 100%</a:t>
            </a:r>
          </a:p>
          <a:p>
            <a:r>
              <a:t>điểm tối đa cũng chỉ 0,63. Phân loại lỗi trên dev cho thấy lỗi chủ yếu là lệch biên và bỏ sót.</a:t>
            </a:r>
          </a:p>
          <a:p>
            <a:r>
              <a:t>v2 sửa đúng các chỗ này. Kết quả ở slide 19.</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Mô hình CNN14 được dạy để nói "đoạn này có tiếng gì". Hai mô hình nền T2a, T2b được dạy</a:t>
            </a:r>
          </a:p>
          <a:p>
            <a:r>
              <a:t>sẵn để nói "lúc nào có tiếng gì" theo từng 40 ms, nên hợp với bài đánh dấu thời điểm hơn.</a:t>
            </a:r>
          </a:p>
          <a:p>
            <a:r>
              <a:t>Hình bên trái so kiến trúc v1, v2 và f2. Mỗi cấu hình chạy 3 lần rồi lấy trung bình vì huấn</a:t>
            </a:r>
          </a:p>
          <a:p>
            <a:r>
              <a:t>luyện</a:t>
            </a:r>
          </a:p>
          <a:p>
            <a:r>
              <a:t>không ổn định. Ở bước này chỉ dùng dev; test chỉ mở ở vòng chọn cuối (KB4).</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phút) Đây là phần quan trọng để chống gian lận: luật chọn và danh sách 11 ứng viên được ghi</a:t>
            </a:r>
          </a:p>
          <a:p>
            <a:r>
              <a:t>vào tài liệu (ADR-0031) trước khi có số; lựa chọn f2 được commit lên git trước khi tạo dự đoán</a:t>
            </a:r>
          </a:p>
          <a:p>
            <a:r>
              <a:t>test.</a:t>
            </a:r>
          </a:p>
          <a:p>
            <a:r>
              <a:t>Sau đó chấm test đúng một lần cho tất cả và báo hết, kể cả khi ứng viên khác có điểm test cao</a:t>
            </a:r>
          </a:p>
          <a:p>
            <a:r>
              <a:t>hơn.</a:t>
            </a:r>
          </a:p>
          <a:p>
            <a:r>
              <a:t>Mỗi ứng viên cũng chọn luôn cách ghép xác suất thành sự kiện; ngưỡng riêng từng loại bị loại vì</a:t>
            </a:r>
          </a:p>
          <a:p>
            <a:r>
              <a:t>quá khớp dev (bằng chứng ở ablation A2 trên cả ba nhánh).</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(1,5 phút) Cùng một danh sách sự kiện máy đoán cho S-0009, bốn cách viết cho ra bốn câu.</a:t>
            </a:r>
          </a:p>
          <a:p>
            <a:r>
              <a:t>Câu viết tự do nghe tự nhiên nhưng tự thêm "in the forest" — đó là kiểu lỗi chính của mô hình</a:t>
            </a:r>
          </a:p>
          <a:p>
            <a:r>
              <a:t>ngôn ngữ.</a:t>
            </a:r>
          </a:p>
          <a:p>
            <a:r>
              <a:t>Cách constrained dùng một "ngữ pháp" sinh riêng cho từng bản ghi: mô hình chỉ được chọn từ tên</a:t>
            </a:r>
          </a:p>
          <a:p>
            <a:r>
              <a:t>nguồn âm</a:t>
            </a:r>
          </a:p>
          <a:p>
            <a:r>
              <a:t>và số giây có trong danh sách. Nó chỉ còn quyền chọn nhắc sự kiện nào và dừng ở đâu, nên có thể</a:t>
            </a:r>
          </a:p>
          <a:p>
            <a:r>
              <a:t>bỏ sót;</a:t>
            </a:r>
          </a:p>
          <a:p>
            <a:r>
              <a:t>bản cover chặn lỗi bỏ sót. Ba luật G1–G3 có kiểm thử tự động. Kết quả ở slide</a:t>
            </a:r>
          </a:p>
          <a:p>
            <a:r>
              <a:t>22.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Ví dụ bên trái lấy từ lượt chạy demo thật: câu hỏi tiếng Việt được mô hình ngôn ngữ đổi</a:t>
            </a:r>
          </a:p>
          <a:p>
            <a:r>
              <a:t>thành bộ lọc có điều kiện "trước", rồi hệ thống tìm và trả lời kèm thời điểm.</a:t>
            </a:r>
          </a:p>
          <a:p>
            <a:r>
              <a:t>Ba cách tìm khác nhau ở chỗ có lọc cứng hay không. nDCG@10 thưởng cho việc đặt đáp án đúng ở vị</a:t>
            </a:r>
          </a:p>
          <a:p>
            <a:r>
              <a:t>trí cao</a:t>
            </a:r>
          </a:p>
          <a:p>
            <a:r>
              <a:t>trong 10 kết quả đầu. Kết quả ở slide 24.</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Bộ phân loại học trên DataSEC đạt macro-F1 0,85 trên 22 loại âm. Đây là bài dễ hơn vì</a:t>
            </a:r>
          </a:p>
          <a:p>
            <a:r>
              <a:t>chỉ</a:t>
            </a:r>
          </a:p>
          <a:p>
            <a:r>
              <a:t>đoán loại cho đoạn ngắn đã cắt sẵn. Có một kết quả âm tính: hiệu chỉnh nhiệt độ làm sai số độ</a:t>
            </a:r>
          </a:p>
          <a:p>
            <a:r>
              <a:t>tin cậy</a:t>
            </a:r>
          </a:p>
          <a:p>
            <a:r>
              <a:t>tăng chứ không giảm, nhóm báo nguyên như vậy. Bảng theo từng loại ở Phụ lục.</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(1,5 phút) Kết quả âm tính. Với cả hai công thức, nhánh C có điểm hơi thấp hơn B, nhưng khoảng</a:t>
            </a:r>
          </a:p>
          <a:p>
            <a:r>
              <a:t>tin cậy</a:t>
            </a:r>
          </a:p>
          <a:p>
            <a:r>
              <a:t>của hiệu C − B chứa số 0 và p lớn hơn nhiều so với 0,05, nên không có khác biệt.</a:t>
            </a:r>
          </a:p>
          <a:p>
            <a:r>
              <a:t>Bảng không in đậm vì không có giá trị nào "tốt nhất" có ý nghĩa. Nhóm giữ nguyên kết quả âm tính</a:t>
            </a:r>
          </a:p>
          <a:p>
            <a:r>
              <a:t>này,</a:t>
            </a:r>
          </a:p>
          <a:p>
            <a:r>
              <a:t>và vì vậy trọng tâm đóng góp chuyển sang C1, C2, C4 (mô tả bám sự kiện, cách đo, hỏi đáp thời</a:t>
            </a:r>
          </a:p>
          <a:p>
            <a:r>
              <a:t>gian).</a:t>
            </a:r>
          </a:p>
          <a:p>
            <a:r>
              <a:t>Nếu thầy hỏi "DataSEC có vô ích không": chỉ kết luận về event-F1; PSDS-2 ở v2 có tăng.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phút) Bảng trái là chẩn đoán trên dev. Kiến trúc v1 quyết định theo khối 0,64 s nên điểm</a:t>
            </a:r>
          </a:p>
          <a:p>
            <a:r>
              <a:t>tối đa</a:t>
            </a:r>
          </a:p>
          <a:p>
            <a:r>
              <a:t>chỉ 0,63; người với người chỉ khớp 0,58. Phân rã lỗi: phần lớn là lệch biên và bỏ sót.</a:t>
            </a:r>
          </a:p>
          <a:p>
            <a:r>
              <a:t>Bảng ablation: bỏ độ chi tiết thời gian làm tụt 0,084, lớn nhất; hai thay đổi còn lại nằm trong</a:t>
            </a:r>
          </a:p>
          <a:p>
            <a:r>
              <a:t>nhiễu.</a:t>
            </a:r>
          </a:p>
          <a:p>
            <a:r>
              <a:t>Trên test v2 hơn v1 rõ (+0,054, khoảng tin cậy không chứa 0) — đây là cải thiện có ý nghĩa duy</a:t>
            </a:r>
          </a:p>
          <a:p>
            <a:r>
              <a:t>nhất.</a:t>
            </a:r>
          </a:p>
          <a:p>
            <a:r>
              <a:t>Nhưng PSDS không tăng, nghĩa là v2 tốt hơn ở đúng điểm vận hành đã chọn; giải thích việc này là</a:t>
            </a:r>
          </a:p>
          <a:p>
            <a:r>
              <a:t>việc</a:t>
            </a:r>
          </a:p>
          <a:p>
            <a:r>
              <a:t>trong kế hoạch tiếp theo. Lưu ý: số bảng trái là số dev in-sample, chỉ dùng để chẩn đoán.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phút) Hình trái: chấm cam là điểm trên dev (trung bình 5 phần), chấm xanh là điểm test với</a:t>
            </a:r>
          </a:p>
          <a:p>
            <a:r>
              <a:t>khoảng tin cậy.</a:t>
            </a:r>
          </a:p>
          <a:p>
            <a:r>
              <a:t>Theo luật ghi trước, f2 đứng đầu dev nên được chọn, nhưng f2 chỉ hơn f4 0,003 — nhỏ hơn độ dao</a:t>
            </a:r>
          </a:p>
          <a:p>
            <a:r>
              <a:t>động.</a:t>
            </a:r>
          </a:p>
          <a:p>
            <a:r>
              <a:t>Trên test thứ hạng khác: f1 và g1 cao hơn. Nhóm không đổi sang f1, vì chọn theo điểm test là</a:t>
            </a:r>
          </a:p>
          <a:p>
            <a:r>
              <a:t>gian lận,</a:t>
            </a:r>
          </a:p>
          <a:p>
            <a:r>
              <a:t>và khoảng tin cậy các ứng viên đầu đều chồng nhau. Đây là minh chứng cho sai số khi chọn trên</a:t>
            </a:r>
          </a:p>
          <a:p>
            <a:r>
              <a:t>dev nhỏ.</a:t>
            </a:r>
          </a:p>
          <a:p>
            <a:r>
              <a:t>Bảng đầy đủ 11 ứng viên ở Phụ lục 1.</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So ba thế hệ trên cùng tập test annotated. f2 hơn v1 rõ ở micro. So với v2 thì không</a:t>
            </a:r>
          </a:p>
          <a:p>
            <a:r>
              <a:t>kết luận</a:t>
            </a:r>
          </a:p>
          <a:p>
            <a:r>
              <a:t>được: f2 cao hơn ở micro và PSDS-2 nhưng thấp hơn ở macro và PSDS-1.</a:t>
            </a:r>
          </a:p>
          <a:p>
            <a:r>
              <a:t>Điểm yếu lớn nhất của f2 là bỏ sót: báo 295 sự kiện trong khi có 740 sự kiện thật; 7 loại âm</a:t>
            </a:r>
          </a:p>
          <a:p>
            <a:r>
              <a:t>điểm 0.</a:t>
            </a:r>
          </a:p>
          <a:p>
            <a:r>
              <a:t>Bảng theo từng loại âm ở Phụ lục 4.</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(1,5 phút) Đọc theo cột: mỗi cột là một loại lỗi, càng thấp càng tốt; số in đậm là thấp nhất</a:t>
            </a:r>
          </a:p>
          <a:p>
            <a:r>
              <a:t>trong mỗi mức chấm.</a:t>
            </a:r>
          </a:p>
          <a:p>
            <a:r>
              <a:t>Phát hiện bất ngờ: viết tự do ít khi bịa ra nguồn âm, nhưng hay "thêm mắm muối": 40% câu</a:t>
            </a:r>
          </a:p>
          <a:p>
            <a:r>
              <a:t>đầu–cuối thêm bối</a:t>
            </a:r>
          </a:p>
          <a:p>
            <a:r>
              <a:t>cảnh, khoảng 14% gọi tên quá cụ thể (nói "xe cứu thương" khi nhãn chỉ là "còi").</a:t>
            </a:r>
          </a:p>
          <a:p>
            <a:r>
              <a:t>Ép theo ngữ pháp đưa các lỗi này về 0; cái giá là bỏ sót ở mức oracle. Bản cover khử được cái</a:t>
            </a:r>
          </a:p>
          <a:p>
            <a:r>
              <a:t>giá này.</a:t>
            </a:r>
          </a:p>
          <a:p>
            <a:r>
              <a:t>Hiệu bối cảnh constrained − unconstrained ở đầu–cuối là −0,401 [−0,479; −0,324].</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Đây là giới hạn quan trọng nhất của RQ2. Hình trên: nhãn gốc; hình dưới: hệ f2 dự đoán.</a:t>
            </a:r>
          </a:p>
          <a:p>
            <a:r>
              <a:t>Câu mô tả đúng với danh sách dự đoán, nhưng so với âm thanh thật thì sai vị trí máy bay và bỏ</a:t>
            </a:r>
          </a:p>
          <a:p>
            <a:r>
              <a:t>sót 4 sự kiện.</a:t>
            </a:r>
          </a:p>
          <a:p>
            <a:r>
              <a:t>Nhóm tách rõ hai mức: oracle đo riêng bộ viết mô tả; đầu–cuối đo cả hệ thống.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(1,5 phút) Đọc theo từng kho: số in đậm là tốt nhất trong mỗi kho. Hàng xám là cấu hình demo</a:t>
            </a:r>
          </a:p>
          <a:p>
            <a:r>
              <a:t>dùng.</a:t>
            </a:r>
          </a:p>
          <a:p>
            <a:r>
              <a:t>Cách có lọc luôn đúng điều kiện 100%. Cách chỉ theo nghĩa có nDCG cao trên kho f2 nhưng 73% kết</a:t>
            </a:r>
          </a:p>
          <a:p>
            <a:r>
              <a:t>quả sai điều kiện,</a:t>
            </a:r>
          </a:p>
          <a:p>
            <a:r>
              <a:t>ví dụ hỏi "dài hơn 30 giây" vẫn trả bản ghi ngắn.</a:t>
            </a:r>
          </a:p>
          <a:p>
            <a:r>
              <a:t>Khi đổi sang kho f2, điểm của hai cách có lọc giảm — nhóm báo nguyên kết quả kém đi. Giả thuyết:</a:t>
            </a:r>
          </a:p>
          <a:p>
            <a:r>
              <a:t>f2 bỏ sót</a:t>
            </a:r>
          </a:p>
          <a:p>
            <a:r>
              <a:t>nhiều sự kiện nên kho thiếu, bộ lọc loại mất bản ghi đúng. Muốn cải thiện phải nâng recall của</a:t>
            </a:r>
          </a:p>
          <a:p>
            <a:r>
              <a:t>SED.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Bộ đổi câu hỏi dùng mô hình ngôn ngữ bị ép theo lược đồ JSON nên luôn đúng khuôn</a:t>
            </a:r>
          </a:p>
          <a:p>
            <a:r>
              <a:t>240/240.</a:t>
            </a:r>
          </a:p>
          <a:p>
            <a:r>
              <a:t>Hiểu đúng nghĩa hoàn toàn 85,5% trên câu mẫu và 92,5% trên câu diễn đạt lại; lỗi ở điều kiện</a:t>
            </a:r>
          </a:p>
          <a:p>
            <a:r>
              <a:t>thời gian.</a:t>
            </a:r>
          </a:p>
          <a:p>
            <a:r>
              <a:t>Bảng dưới kiểm tra hệ đang phục vụ: trên GPU trùng khít 100%; trên CPU (demo) lệch nhẹ do phép</a:t>
            </a:r>
          </a:p>
          <a:p>
            <a:r>
              <a:t>tính số thực khác.</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phút) Tóm tắt ba câu trả lời. Điểm yếu lớn nhất là bước phát hiện sự kiện: recall thấp kéo</a:t>
            </a:r>
          </a:p>
          <a:p>
            <a:r>
              <a:t>theo</a:t>
            </a:r>
          </a:p>
          <a:p>
            <a:r>
              <a:t>cả câu mô tả lẫn kết quả tìm kiếm. Các hạn chế đều được ghi trong báo cáo, kể cả sự cố cờ dirty.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(45 giây) Phần kỹ thuật đã xong sớm hơn lịch vì các việc độc lập được làm song song và thí</a:t>
            </a:r>
          </a:p>
          <a:p>
            <a:r>
              <a:t>nghiệm dài</a:t>
            </a:r>
          </a:p>
          <a:p>
            <a:r>
              <a:t>chạy theo hàng đợi ngoài giờ. Mốc khóa mô hình dự kiến 18/10 được làm sớm vào 29/09, nhưng luật</a:t>
            </a:r>
          </a:p>
          <a:p>
            <a:r>
              <a:t>chọn</a:t>
            </a:r>
          </a:p>
          <a:p>
            <a:r>
              <a:t>vẫn ghi trước và lựa chọn vẫn commit trước khi mở test. Còn lại: viết báo cáo cuối và slide bảo</a:t>
            </a:r>
          </a:p>
          <a:p>
            <a:r>
              <a:t>vệ.</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Ưu tiên: nhận góp ý của thầy, tổng quan văn liệu có hệ thống để kiểm tra tính mới,</a:t>
            </a:r>
          </a:p>
          <a:p>
            <a:r>
              <a:t>giải thích vì sao PSDS không tăng (chỉ trên dev), rồi viết báo cáo cuối.</a:t>
            </a:r>
          </a:p>
          <a:p>
            <a:r>
              <a:t>Nhóm xin thầy góp ý về phạm vi và cách trình bày kết quả âm tính.</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Câu hỏi có thể gặp:</a:t>
            </a:r>
          </a:p>
          <a:p>
            <a:r>
              <a:t>- "Event-F1 0,16 có quá thấp?" → DCASE 2016 (ghi âm đời thực) chỉ 4,7–6,3%, chỉ để định cỡ;</a:t>
            </a:r>
          </a:p>
          <a:p>
            <a:r>
              <a:t>  người với người chỉ khớp 0,58; lỗi chủ yếu là biên và bỏ sót.</a:t>
            </a:r>
          </a:p>
          <a:p>
            <a:r>
              <a:t>- "Sao không chọn f1 khi test cao hơn?" → chọn theo test là học thuộc đề; khoảng tin cậy chồng</a:t>
            </a:r>
          </a:p>
          <a:p>
            <a:r>
              <a:t>nhau.</a:t>
            </a:r>
          </a:p>
          <a:p>
            <a:r>
              <a:t>- "RQ1 âm tính thì DataSEC vô ích?" → chỉ kết luận về event-F1; PSDS-2 ở v2 có tăng (p = 0,019).</a:t>
            </a:r>
          </a:p>
          <a:p>
            <a:r>
              <a:t>- "Sao kết hợp lại kém chỉ lọc?" → tài liệu dạng khuôn, xếp theo nghĩa trong tập đã lọc không</a:t>
            </a:r>
          </a:p>
          <a:p>
            <a:r>
              <a:t>giúp (−0,042).</a:t>
            </a:r>
          </a:p>
          <a:p>
            <a:r>
              <a:t>- "Không bịa có nghĩa là đúng?" → không, chỉ đúng với danh sách máy đoán (slide 23).</a:t>
            </a:r>
          </a:p>
          <a:p>
            <a:r>
              <a:t>- "Có tự gán nhãn thêm không?" → không sửa nhãn gốc; 14 bản ghi thiếu nhãn xử lý bằng tập</a:t>
            </a:r>
          </a:p>
          <a:p>
            <a:r>
              <a:t>annotated.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IUH – Bìa">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IUH – Nội dung">
    <p:bg>
      <p:bgPr>
        <a:solidFill>
          <a:srgbClr val="17212B"/>
        </a:solidFill>
        <a:effectLst/>
      </p:bgPr>
    </p:bg>
    <p:spTree>
      <p:nvGrpSpPr>
        <p:cNvPr id="1" name=""/>
        <p:cNvGrpSpPr/>
        <p:nvPr/>
      </p:nvGrpSpPr>
      <p:grpSpPr>
        <a:xfrm>
          <a:off x="0" y="0"/>
          <a:ext cx="0" cy="0"/>
          <a:chOff x="0" y="0"/>
          <a:chExt cx="0" cy="0"/>
        </a:xfrm>
      </p:grpSpPr>
      <p:sp>
        <p:nvSpPr>
          <p:cNvPr id="2" name="Shape 0"/>
          <p:cNvSpPr/>
          <p:nvPr/>
        </p:nvSpPr>
        <p:spPr>
          <a:xfrm>
            <a:off x="457200" y="365760"/>
            <a:ext cx="384048" cy="54864"/>
          </a:xfrm>
          <a:prstGeom prst="rect">
            <a:avLst/>
          </a:prstGeom>
          <a:solidFill>
            <a:srgbClr val="F4B336"/>
          </a:solidFill>
          <a:ln w="12700">
            <a:solidFill>
              <a:srgbClr val="F4B336"/>
            </a:solidFill>
            <a:prstDash val="solid"/>
          </a:ln>
        </p:spPr>
        <p:txBody>
          <a:bodyPr/>
          <a:lstStyle/>
          <a:p>
            <a:endParaRPr/>
          </a:p>
        </p:txBody>
      </p:sp>
      <p:sp>
        <p:nvSpPr>
          <p:cNvPr id="3" name="Text 1"/>
          <p:cNvSpPr>
            <a:spLocks noGrp="1"/>
          </p:cNvSpPr>
          <p:nvPr>
            <p:ph type="title" idx="101" hasCustomPrompt="1"/>
          </p:nvPr>
        </p:nvSpPr>
        <p:spPr>
          <a:xfrm>
            <a:off x="457200" y="512064"/>
            <a:ext cx="11277295" cy="512064"/>
          </a:xfrm>
          <a:prstGeom prst="rect">
            <a:avLst/>
          </a:prstGeom>
          <a:noFill/>
          <a:ln/>
        </p:spPr>
        <p:txBody>
          <a:bodyPr wrap="square" rtlCol="0"/>
          <a:lstStyle>
            <a:lvl1pPr marL="0" indent="0" algn="l">
              <a:buNone/>
              <a:defRPr lang="en-US" sz="2800" b="1" dirty="0">
                <a:solidFill>
                  <a:srgbClr val="FFFFFF"/>
                </a:solidFill>
              </a:defRPr>
            </a:lvl1pPr>
          </a:lstStyle>
          <a:p>
            <a:pPr marL="0" indent="0" algn="l">
              <a:buNone/>
            </a:pPr>
            <a:endParaRPr lang="en-US" sz="2800" dirty="0"/>
          </a:p>
        </p:txBody>
      </p:sp>
      <p:sp>
        <p:nvSpPr>
          <p:cNvPr id="4" name="Shape 1"/>
          <p:cNvSpPr/>
          <p:nvPr/>
        </p:nvSpPr>
        <p:spPr>
          <a:xfrm>
            <a:off x="457200" y="6400800"/>
            <a:ext cx="11277295" cy="0"/>
          </a:xfrm>
          <a:prstGeom prst="line">
            <a:avLst/>
          </a:prstGeom>
          <a:noFill/>
          <a:ln w="9525">
            <a:solidFill>
              <a:srgbClr val="1677B8"/>
            </a:solidFill>
            <a:prstDash val="solid"/>
          </a:ln>
        </p:spPr>
        <p:txBody>
          <a:bodyPr/>
          <a:lstStyle/>
          <a:p>
            <a:endParaRPr/>
          </a:p>
        </p:txBody>
      </p:sp>
      <p:sp>
        <p:nvSpPr>
          <p:cNvPr id="5" name="Text 2"/>
          <p:cNvSpPr/>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DFE5EC"/>
                </a:solidFill>
              </a:rPr>
              <a:t>Báo cáo giữa kỳ KLTN · Phạm Hoàng Phát – Thân Trọng Tính · KHDL18A</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IUH – Lý thuyết (Type A)">
    <p:bg>
      <p:bgPr>
        <a:solidFill>
          <a:srgbClr val="062F5C"/>
        </a:solidFill>
        <a:effectLst/>
      </p:bgPr>
    </p:bg>
    <p:spTree>
      <p:nvGrpSpPr>
        <p:cNvPr id="1" name=""/>
        <p:cNvGrpSpPr/>
        <p:nvPr/>
      </p:nvGrpSpPr>
      <p:grpSpPr>
        <a:xfrm>
          <a:off x="0" y="0"/>
          <a:ext cx="0" cy="0"/>
          <a:chOff x="0" y="0"/>
          <a:chExt cx="0" cy="0"/>
        </a:xfrm>
      </p:grpSpPr>
      <p:sp>
        <p:nvSpPr>
          <p:cNvPr id="2" name="Shape 0"/>
          <p:cNvSpPr/>
          <p:nvPr/>
        </p:nvSpPr>
        <p:spPr>
          <a:xfrm>
            <a:off x="457200" y="365760"/>
            <a:ext cx="384048" cy="54864"/>
          </a:xfrm>
          <a:prstGeom prst="rect">
            <a:avLst/>
          </a:prstGeom>
          <a:solidFill>
            <a:srgbClr val="F4B336"/>
          </a:solidFill>
          <a:ln w="12700">
            <a:solidFill>
              <a:srgbClr val="F4B336"/>
            </a:solidFill>
            <a:prstDash val="solid"/>
          </a:ln>
        </p:spPr>
        <p:txBody>
          <a:bodyPr/>
          <a:lstStyle/>
          <a:p>
            <a:endParaRPr/>
          </a:p>
        </p:txBody>
      </p:sp>
      <p:sp>
        <p:nvSpPr>
          <p:cNvPr id="3" name="Text 1"/>
          <p:cNvSpPr>
            <a:spLocks noGrp="1"/>
          </p:cNvSpPr>
          <p:nvPr>
            <p:ph type="title" idx="101" hasCustomPrompt="1"/>
          </p:nvPr>
        </p:nvSpPr>
        <p:spPr>
          <a:xfrm>
            <a:off x="457200" y="512064"/>
            <a:ext cx="11277295" cy="512064"/>
          </a:xfrm>
          <a:prstGeom prst="rect">
            <a:avLst/>
          </a:prstGeom>
          <a:noFill/>
          <a:ln/>
        </p:spPr>
        <p:txBody>
          <a:bodyPr wrap="square" rtlCol="0"/>
          <a:lstStyle>
            <a:lvl1pPr marL="0" indent="0" algn="l">
              <a:buNone/>
              <a:defRPr lang="en-US" sz="2800" b="1" dirty="0">
                <a:solidFill>
                  <a:srgbClr val="FFFFFF"/>
                </a:solidFill>
              </a:defRPr>
            </a:lvl1pPr>
          </a:lstStyle>
          <a:p>
            <a:pPr marL="0" indent="0" algn="l">
              <a:buNone/>
            </a:pPr>
            <a:endParaRPr lang="en-US" sz="2800" dirty="0"/>
          </a:p>
        </p:txBody>
      </p:sp>
      <p:sp>
        <p:nvSpPr>
          <p:cNvPr id="4" name="Shape 1"/>
          <p:cNvSpPr/>
          <p:nvPr/>
        </p:nvSpPr>
        <p:spPr>
          <a:xfrm>
            <a:off x="457200" y="6400800"/>
            <a:ext cx="11277295" cy="0"/>
          </a:xfrm>
          <a:prstGeom prst="line">
            <a:avLst/>
          </a:prstGeom>
          <a:noFill/>
          <a:ln w="9525">
            <a:solidFill>
              <a:srgbClr val="1677B8"/>
            </a:solidFill>
            <a:prstDash val="solid"/>
          </a:ln>
        </p:spPr>
        <p:txBody>
          <a:bodyPr/>
          <a:lstStyle/>
          <a:p>
            <a:endParaRPr/>
          </a:p>
        </p:txBody>
      </p:sp>
      <p:sp>
        <p:nvSpPr>
          <p:cNvPr id="5" name="Text 2"/>
          <p:cNvSpPr/>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DFE5EC"/>
                </a:solidFill>
              </a:rPr>
              <a:t>Báo cáo giữa kỳ KLTN · Phạm Hoàng Phát – Thân Trọng Tính · KHDL18A</a:t>
            </a: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IUH – Ví dụ (Type B)">
    <p:bg>
      <p:bgPr>
        <a:solidFill>
          <a:srgbClr val="073B6F"/>
        </a:solidFill>
        <a:effectLst/>
      </p:bgPr>
    </p:bg>
    <p:spTree>
      <p:nvGrpSpPr>
        <p:cNvPr id="1" name=""/>
        <p:cNvGrpSpPr/>
        <p:nvPr/>
      </p:nvGrpSpPr>
      <p:grpSpPr>
        <a:xfrm>
          <a:off x="0" y="0"/>
          <a:ext cx="0" cy="0"/>
          <a:chOff x="0" y="0"/>
          <a:chExt cx="0" cy="0"/>
        </a:xfrm>
      </p:grpSpPr>
      <p:sp>
        <p:nvSpPr>
          <p:cNvPr id="2" name="Shape 0"/>
          <p:cNvSpPr/>
          <p:nvPr/>
        </p:nvSpPr>
        <p:spPr>
          <a:xfrm>
            <a:off x="457200" y="365760"/>
            <a:ext cx="384048" cy="54864"/>
          </a:xfrm>
          <a:prstGeom prst="rect">
            <a:avLst/>
          </a:prstGeom>
          <a:solidFill>
            <a:srgbClr val="F4B336"/>
          </a:solidFill>
          <a:ln w="12700">
            <a:solidFill>
              <a:srgbClr val="F4B336"/>
            </a:solidFill>
            <a:prstDash val="solid"/>
          </a:ln>
        </p:spPr>
        <p:txBody>
          <a:bodyPr/>
          <a:lstStyle/>
          <a:p>
            <a:endParaRPr/>
          </a:p>
        </p:txBody>
      </p:sp>
      <p:sp>
        <p:nvSpPr>
          <p:cNvPr id="3" name="Text 1"/>
          <p:cNvSpPr>
            <a:spLocks noGrp="1"/>
          </p:cNvSpPr>
          <p:nvPr>
            <p:ph type="title" idx="101" hasCustomPrompt="1"/>
          </p:nvPr>
        </p:nvSpPr>
        <p:spPr>
          <a:xfrm>
            <a:off x="457200" y="512064"/>
            <a:ext cx="11277295" cy="512064"/>
          </a:xfrm>
          <a:prstGeom prst="rect">
            <a:avLst/>
          </a:prstGeom>
          <a:noFill/>
          <a:ln/>
        </p:spPr>
        <p:txBody>
          <a:bodyPr wrap="square" rtlCol="0"/>
          <a:lstStyle>
            <a:lvl1pPr marL="0" indent="0" algn="l">
              <a:buNone/>
              <a:defRPr lang="en-US" sz="2800" b="1" dirty="0">
                <a:solidFill>
                  <a:srgbClr val="FFFFFF"/>
                </a:solidFill>
              </a:defRPr>
            </a:lvl1pPr>
          </a:lstStyle>
          <a:p>
            <a:pPr marL="0" indent="0" algn="l">
              <a:buNone/>
            </a:pPr>
            <a:endParaRPr lang="en-US" sz="2800" dirty="0"/>
          </a:p>
        </p:txBody>
      </p:sp>
      <p:sp>
        <p:nvSpPr>
          <p:cNvPr id="4" name="Shape 1"/>
          <p:cNvSpPr/>
          <p:nvPr/>
        </p:nvSpPr>
        <p:spPr>
          <a:xfrm>
            <a:off x="457200" y="6400800"/>
            <a:ext cx="11277295" cy="0"/>
          </a:xfrm>
          <a:prstGeom prst="line">
            <a:avLst/>
          </a:prstGeom>
          <a:noFill/>
          <a:ln w="9525">
            <a:solidFill>
              <a:srgbClr val="1677B8"/>
            </a:solidFill>
            <a:prstDash val="solid"/>
          </a:ln>
        </p:spPr>
        <p:txBody>
          <a:bodyPr/>
          <a:lstStyle/>
          <a:p>
            <a:endParaRPr/>
          </a:p>
        </p:txBody>
      </p:sp>
      <p:sp>
        <p:nvSpPr>
          <p:cNvPr id="5" name="Text 2"/>
          <p:cNvSpPr/>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DFE5EC"/>
                </a:solidFill>
              </a:rPr>
              <a:t>Báo cáo giữa kỳ KLTN · Phạm Hoàng Phát – Thân Trọng Tính · KHDL18A</a:t>
            </a:r>
            <a:endParaRPr lang="en-US" sz="9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IUH – Trơn">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6400800"/>
            <a:ext cx="11277295" cy="0"/>
          </a:xfrm>
          <a:prstGeom prst="line">
            <a:avLst/>
          </a:prstGeom>
          <a:noFill/>
          <a:ln w="9525">
            <a:solidFill>
              <a:srgbClr val="DFE5EC"/>
            </a:solidFill>
            <a:prstDash val="solid"/>
          </a:ln>
        </p:spPr>
        <p:txBody>
          <a:bodyPr/>
          <a:lstStyle/>
          <a:p>
            <a:endParaRPr/>
          </a:p>
        </p:txBody>
      </p:sp>
      <p:sp>
        <p:nvSpPr>
          <p:cNvPr id="3" name="Text 1"/>
          <p:cNvSpPr/>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073B6F"/>
                </a:solidFill>
              </a:rPr>
              <a:t>Báo cáo giữa kỳ KLTN · Phạm Hoàng Phát – Thân Trọng Tính · KHDL18A</a:t>
            </a:r>
            <a:endParaRPr lang="en-US" sz="9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IUH – Nền tối">
    <p:bg>
      <p:bgPr>
        <a:solidFill>
          <a:srgbClr val="062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ền bìa IUH: logo Industrial University of Ho Chi Minh City và ảnh khuôn viên trường"/>
          <p:cNvPicPr>
            <a:picLocks noChangeAspect="1"/>
          </p:cNvPicPr>
          <p:nvPr/>
        </p:nvPicPr>
        <p:blipFill>
          <a:blip r:embed="rId3"/>
          <a:stretch>
            <a:fillRect/>
          </a:stretch>
        </p:blipFill>
        <p:spPr>
          <a:xfrm>
            <a:off x="-26757" y="0"/>
            <a:ext cx="12191695" cy="6858000"/>
          </a:xfrm>
          <a:prstGeom prst="rect">
            <a:avLst/>
          </a:prstGeom>
        </p:spPr>
      </p:pic>
      <p:sp>
        <p:nvSpPr>
          <p:cNvPr id="11" name="Title card"/>
          <p:cNvSpPr/>
          <p:nvPr/>
        </p:nvSpPr>
        <p:spPr>
          <a:xfrm>
            <a:off x="416634" y="1582194"/>
            <a:ext cx="6614086" cy="5050099"/>
          </a:xfrm>
          <a:prstGeom prst="roundRect">
            <a:avLst>
              <a:gd name="adj" fmla="val 1500"/>
            </a:avLst>
          </a:prstGeom>
          <a:solidFill>
            <a:schemeClr val="tx1">
              <a:lumMod val="10000"/>
              <a:lumOff val="90000"/>
            </a:schemeClr>
          </a:solidFill>
          <a:ln w="9525">
            <a:noFill/>
          </a:ln>
          <a:effectLst>
            <a:outerShdw blurRad="50800" dist="38100" dir="2700000" algn="tl" rotWithShape="0">
              <a:prstClr val="black">
                <a:alpha val="40000"/>
              </a:prstClr>
            </a:outerShdw>
          </a:effectLst>
        </p:spPr>
        <p:txBody>
          <a:bodyPr rtlCol="0" anchor="ctr"/>
          <a:lstStyle/>
          <a:p>
            <a:endParaRPr lang="en-US"/>
          </a:p>
        </p:txBody>
      </p:sp>
      <p:sp>
        <p:nvSpPr>
          <p:cNvPr id="12" name="Rounded Rectangle 11"/>
          <p:cNvSpPr/>
          <p:nvPr/>
        </p:nvSpPr>
        <p:spPr>
          <a:xfrm>
            <a:off x="786384" y="1828800"/>
            <a:ext cx="2057400" cy="384048"/>
          </a:xfrm>
          <a:prstGeom prst="roundRect">
            <a:avLst>
              <a:gd name="adj" fmla="val 6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1828800"/>
            <a:ext cx="2057400" cy="384048"/>
          </a:xfrm>
          <a:prstGeom prst="rect">
            <a:avLst/>
          </a:prstGeom>
          <a:noFill/>
        </p:spPr>
        <p:txBody>
          <a:bodyPr wrap="square" lIns="0" tIns="0" rIns="0" bIns="0" anchor="ctr">
            <a:spAutoFit/>
          </a:bodyPr>
          <a:lstStyle/>
          <a:p>
            <a:pPr algn="ctr">
              <a:spcAft>
                <a:spcPts val="400"/>
              </a:spcAft>
            </a:pPr>
            <a:r>
              <a:rPr sz="1400" b="1" i="0">
                <a:solidFill>
                  <a:srgbClr val="FFFFFF"/>
                </a:solidFill>
                <a:latin typeface="Arial"/>
              </a:rPr>
              <a:t>BÁO CÁO GIỮA KỲ</a:t>
            </a:r>
          </a:p>
        </p:txBody>
      </p:sp>
      <p:sp>
        <p:nvSpPr>
          <p:cNvPr id="14" name="TextBox 13"/>
          <p:cNvSpPr txBox="1"/>
          <p:nvPr/>
        </p:nvSpPr>
        <p:spPr>
          <a:xfrm>
            <a:off x="2971800" y="1828800"/>
            <a:ext cx="3840480" cy="384048"/>
          </a:xfrm>
          <a:prstGeom prst="rect">
            <a:avLst/>
          </a:prstGeom>
          <a:noFill/>
        </p:spPr>
        <p:txBody>
          <a:bodyPr wrap="square" lIns="0" tIns="0" rIns="0" bIns="0" anchor="ctr">
            <a:spAutoFit/>
          </a:bodyPr>
          <a:lstStyle/>
          <a:p>
            <a:pPr algn="l">
              <a:spcAft>
                <a:spcPts val="400"/>
              </a:spcAft>
            </a:pPr>
            <a:r>
              <a:rPr sz="1300" b="1" i="0">
                <a:solidFill>
                  <a:srgbClr val="667085"/>
                </a:solidFill>
                <a:latin typeface="Arial"/>
              </a:rPr>
              <a:t>Khóa luận tốt nghiệp · Khoa học dữ liệu</a:t>
            </a:r>
          </a:p>
        </p:txBody>
      </p:sp>
      <p:sp>
        <p:nvSpPr>
          <p:cNvPr id="15" name="TextBox 14"/>
          <p:cNvSpPr txBox="1"/>
          <p:nvPr/>
        </p:nvSpPr>
        <p:spPr>
          <a:xfrm>
            <a:off x="786384" y="2377440"/>
            <a:ext cx="5989320" cy="1463040"/>
          </a:xfrm>
          <a:prstGeom prst="rect">
            <a:avLst/>
          </a:prstGeom>
          <a:noFill/>
        </p:spPr>
        <p:txBody>
          <a:bodyPr wrap="square" lIns="0" tIns="0" rIns="0" bIns="0" anchor="t">
            <a:spAutoFit/>
          </a:bodyPr>
          <a:lstStyle/>
          <a:p>
            <a:pPr algn="l">
              <a:spcAft>
                <a:spcPts val="400"/>
              </a:spcAft>
            </a:pPr>
            <a:r>
              <a:rPr sz="2400" b="1" i="0">
                <a:solidFill>
                  <a:srgbClr val="062F5C"/>
                </a:solidFill>
                <a:latin typeface="Arial"/>
              </a:rPr>
              <a:t>Xây dựng hệ thống phát hiện, sinh mô tả và truy vấn sự kiện âm thanh môi trường dựa trên RAG</a:t>
            </a:r>
          </a:p>
        </p:txBody>
      </p:sp>
      <p:sp>
        <p:nvSpPr>
          <p:cNvPr id="16" name="TextBox 15"/>
          <p:cNvSpPr txBox="1"/>
          <p:nvPr/>
        </p:nvSpPr>
        <p:spPr>
          <a:xfrm>
            <a:off x="786384" y="3840480"/>
            <a:ext cx="5989320" cy="548640"/>
          </a:xfrm>
          <a:prstGeom prst="rect">
            <a:avLst/>
          </a:prstGeom>
          <a:noFill/>
        </p:spPr>
        <p:txBody>
          <a:bodyPr wrap="square" lIns="0" tIns="0" rIns="0" bIns="0" anchor="t">
            <a:spAutoFit/>
          </a:bodyPr>
          <a:lstStyle/>
          <a:p>
            <a:pPr algn="l">
              <a:spcAft>
                <a:spcPts val="400"/>
              </a:spcAft>
            </a:pPr>
            <a:r>
              <a:rPr sz="1300" b="0" i="1">
                <a:solidFill>
                  <a:srgbClr val="667085"/>
                </a:solidFill>
                <a:latin typeface="Arial"/>
              </a:rPr>
              <a:t>Grounded Environmental Sound Event Detection, Captioning, and RAG-based Retrieval</a:t>
            </a:r>
          </a:p>
        </p:txBody>
      </p:sp>
      <p:sp>
        <p:nvSpPr>
          <p:cNvPr id="17" name="Rectangle 16"/>
          <p:cNvSpPr/>
          <p:nvPr/>
        </p:nvSpPr>
        <p:spPr>
          <a:xfrm>
            <a:off x="786384" y="4498848"/>
            <a:ext cx="5989320" cy="18288"/>
          </a:xfrm>
          <a:prstGeom prst="rect">
            <a:avLst/>
          </a:prstGeom>
          <a:solidFill>
            <a:srgbClr val="DFE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 y="4645152"/>
            <a:ext cx="5989320" cy="1463040"/>
          </a:xfrm>
          <a:prstGeom prst="rect">
            <a:avLst/>
          </a:prstGeom>
          <a:noFill/>
        </p:spPr>
        <p:txBody>
          <a:bodyPr wrap="square" lIns="0" tIns="0" rIns="0" bIns="0" anchor="t">
            <a:spAutoFit/>
          </a:bodyPr>
          <a:lstStyle/>
          <a:p>
            <a:pPr algn="l">
              <a:spcAft>
                <a:spcPts val="300"/>
              </a:spcAft>
            </a:pPr>
            <a:r>
              <a:rPr sz="1500" b="1" i="0">
                <a:solidFill>
                  <a:srgbClr val="062F5C"/>
                </a:solidFill>
                <a:latin typeface="Arial"/>
              </a:rPr>
              <a:t>Phạm Hoàng Phát – 22703861</a:t>
            </a:r>
          </a:p>
          <a:p>
            <a:pPr algn="l">
              <a:spcAft>
                <a:spcPts val="300"/>
              </a:spcAft>
            </a:pPr>
            <a:r>
              <a:rPr sz="1500" b="1" i="0">
                <a:solidFill>
                  <a:srgbClr val="062F5C"/>
                </a:solidFill>
                <a:latin typeface="Arial"/>
              </a:rPr>
              <a:t>Thân Trọng Tính – 22665711</a:t>
            </a:r>
          </a:p>
          <a:p>
            <a:pPr algn="l">
              <a:spcAft>
                <a:spcPts val="300"/>
              </a:spcAft>
            </a:pPr>
            <a:r>
              <a:rPr sz="1500" b="0" i="0">
                <a:solidFill>
                  <a:srgbClr val="667085"/>
                </a:solidFill>
                <a:latin typeface="Arial"/>
              </a:rPr>
              <a:t>GVHD: </a:t>
            </a:r>
            <a:r>
              <a:rPr sz="1500" b="1" i="0">
                <a:solidFill>
                  <a:srgbClr val="062F5C"/>
                </a:solidFill>
                <a:latin typeface="Arial"/>
              </a:rPr>
              <a:t>TS. Huỳnh Công Bằng</a:t>
            </a:r>
          </a:p>
          <a:p>
            <a:pPr algn="l">
              <a:spcAft>
                <a:spcPts val="300"/>
              </a:spcAft>
            </a:pPr>
            <a:r>
              <a:rPr sz="1500" b="0" i="0">
                <a:solidFill>
                  <a:srgbClr val="667085"/>
                </a:solidFill>
                <a:latin typeface="Arial"/>
              </a:rPr>
              <a:t>Lớp KHDL18A · Tháng 10/2026</a:t>
            </a:r>
          </a:p>
        </p:txBody>
      </p:sp>
    </p:spTree>
    <p:extLst>
      <p:ext uri="{BB962C8B-B14F-4D97-AF65-F5344CB8AC3E}">
        <p14:creationId xmlns:p14="http://schemas.microsoft.com/office/powerpoint/2010/main" val="3335966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01</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Đề tài: nghe bản ghi dài, ghi lại sự kiện, viết mô tả và trả lời câu hỏi</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1 · Giới thiệu đề tài    2 / 29</a:t>
            </a:r>
          </a:p>
        </p:txBody>
      </p:sp>
      <p:sp>
        <p:nvSpPr>
          <p:cNvPr id="5" name="Rounded Rectangle 4"/>
          <p:cNvSpPr/>
          <p:nvPr/>
        </p:nvSpPr>
        <p:spPr>
          <a:xfrm>
            <a:off x="457200" y="1234440"/>
            <a:ext cx="3749039" cy="22402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344168"/>
            <a:ext cx="3419856"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Vấn đề</a:t>
            </a:r>
          </a:p>
        </p:txBody>
      </p:sp>
      <p:sp>
        <p:nvSpPr>
          <p:cNvPr id="7" name="TextBox 6"/>
          <p:cNvSpPr txBox="1"/>
          <p:nvPr/>
        </p:nvSpPr>
        <p:spPr>
          <a:xfrm>
            <a:off x="621792" y="1728216"/>
            <a:ext cx="3419856" cy="1673352"/>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400" b="0" i="0">
                <a:solidFill>
                  <a:srgbClr val="17212B"/>
                </a:solidFill>
                <a:latin typeface="Arial"/>
              </a:rPr>
              <a:t>Máy đo tiếng ồn chỉ cho biết </a:t>
            </a:r>
            <a:r>
              <a:rPr sz="1400" b="1" i="0">
                <a:solidFill>
                  <a:srgbClr val="17212B"/>
                </a:solidFill>
                <a:latin typeface="Arial"/>
              </a:rPr>
              <a:t>ồn đến mức nào</a:t>
            </a:r>
            <a:r>
              <a:rPr sz="1400" b="0" i="0">
                <a:solidFill>
                  <a:srgbClr val="17212B"/>
                </a:solidFill>
                <a:latin typeface="Arial"/>
              </a:rPr>
              <a:t> (dB)</a:t>
            </a:r>
          </a:p>
          <a:p>
            <a:pPr marL="219456" indent="-182880" algn="l">
              <a:spcAft>
                <a:spcPts val="400"/>
              </a:spcAft>
              <a:buClr>
                <a:srgbClr val="1677B8"/>
              </a:buClr>
              <a:buFont typeface="Arial"/>
              <a:buChar char="•"/>
            </a:pPr>
            <a:r>
              <a:rPr sz="1400" b="0" i="0">
                <a:solidFill>
                  <a:srgbClr val="17212B"/>
                </a:solidFill>
                <a:latin typeface="Arial"/>
              </a:rPr>
              <a:t>Không cho biết </a:t>
            </a:r>
            <a:r>
              <a:rPr sz="1400" b="1" i="0">
                <a:solidFill>
                  <a:srgbClr val="17212B"/>
                </a:solidFill>
                <a:latin typeface="Arial"/>
              </a:rPr>
              <a:t>nguồn nào, lúc nào, kéo dài bao lâu</a:t>
            </a:r>
          </a:p>
          <a:p>
            <a:pPr marL="219456" indent="-182880" algn="l">
              <a:spcAft>
                <a:spcPts val="400"/>
              </a:spcAft>
              <a:buClr>
                <a:srgbClr val="1677B8"/>
              </a:buClr>
              <a:buFont typeface="Arial"/>
              <a:buChar char="•"/>
            </a:pPr>
            <a:r>
              <a:rPr sz="1400" b="0" i="0">
                <a:solidFill>
                  <a:srgbClr val="17212B"/>
                </a:solidFill>
                <a:latin typeface="Arial"/>
              </a:rPr>
              <a:t>Cùng mức ồn nhưng do xe cộ hay công trường thì cách xử lý khác nhau</a:t>
            </a:r>
          </a:p>
        </p:txBody>
      </p:sp>
      <p:sp>
        <p:nvSpPr>
          <p:cNvPr id="8" name="Rounded Rectangle 7"/>
          <p:cNvSpPr/>
          <p:nvPr/>
        </p:nvSpPr>
        <p:spPr>
          <a:xfrm>
            <a:off x="457200" y="3611880"/>
            <a:ext cx="3749039" cy="26517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3721608"/>
            <a:ext cx="3419856"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Ba khó khăn</a:t>
            </a:r>
          </a:p>
        </p:txBody>
      </p:sp>
      <p:sp>
        <p:nvSpPr>
          <p:cNvPr id="10" name="TextBox 9"/>
          <p:cNvSpPr txBox="1"/>
          <p:nvPr/>
        </p:nvSpPr>
        <p:spPr>
          <a:xfrm>
            <a:off x="621792" y="4105656"/>
            <a:ext cx="3419856" cy="208483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400" b="1" i="0">
                <a:solidFill>
                  <a:srgbClr val="17212B"/>
                </a:solidFill>
                <a:latin typeface="Arial"/>
              </a:rPr>
              <a:t>Nhiều âm chồng lên nhau</a:t>
            </a:r>
            <a:r>
              <a:rPr sz="1400" b="0" i="0">
                <a:solidFill>
                  <a:srgbClr val="17212B"/>
                </a:solidFill>
                <a:latin typeface="Arial"/>
              </a:rPr>
              <a:t> trong cùng một lúc</a:t>
            </a:r>
          </a:p>
          <a:p>
            <a:pPr marL="219456" indent="-182880" algn="l">
              <a:spcAft>
                <a:spcPts val="400"/>
              </a:spcAft>
              <a:buClr>
                <a:srgbClr val="1677B8"/>
              </a:buClr>
              <a:buFont typeface="Arial"/>
              <a:buChar char="•"/>
            </a:pPr>
            <a:r>
              <a:rPr sz="1400" b="1" i="0">
                <a:solidFill>
                  <a:srgbClr val="17212B"/>
                </a:solidFill>
                <a:latin typeface="Arial"/>
              </a:rPr>
              <a:t>Nhãn có mốc thời gian rất tốn công</a:t>
            </a:r>
            <a:r>
              <a:rPr sz="1400" b="0" i="0">
                <a:solidFill>
                  <a:srgbClr val="17212B"/>
                </a:solidFill>
                <a:latin typeface="Arial"/>
              </a:rPr>
              <a:t> làm, nên dữ liệu ít</a:t>
            </a:r>
          </a:p>
          <a:p>
            <a:pPr marL="219456" indent="-182880" algn="l">
              <a:spcAft>
                <a:spcPts val="400"/>
              </a:spcAft>
              <a:buClr>
                <a:srgbClr val="1677B8"/>
              </a:buClr>
              <a:buFont typeface="Arial"/>
              <a:buChar char="•"/>
            </a:pPr>
            <a:r>
              <a:rPr sz="1400" b="1" i="0">
                <a:solidFill>
                  <a:srgbClr val="17212B"/>
                </a:solidFill>
                <a:latin typeface="Arial"/>
              </a:rPr>
              <a:t>Mô hình ngôn ngữ dễ “bịa”</a:t>
            </a:r>
            <a:r>
              <a:rPr sz="1400" b="0" i="0">
                <a:solidFill>
                  <a:srgbClr val="17212B"/>
                </a:solidFill>
                <a:latin typeface="Arial"/>
              </a:rPr>
              <a:t> khi viết kết quả thành câu</a:t>
            </a:r>
          </a:p>
        </p:txBody>
      </p:sp>
      <p:sp>
        <p:nvSpPr>
          <p:cNvPr id="11" name="Rounded Rectangle 10"/>
          <p:cNvSpPr/>
          <p:nvPr/>
        </p:nvSpPr>
        <p:spPr>
          <a:xfrm>
            <a:off x="4434840" y="1234440"/>
            <a:ext cx="7296912" cy="1078992"/>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90288" y="1536192"/>
            <a:ext cx="457200" cy="457200"/>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1</a:t>
            </a:r>
          </a:p>
        </p:txBody>
      </p:sp>
      <p:sp>
        <p:nvSpPr>
          <p:cNvPr id="13" name="TextBox 12"/>
          <p:cNvSpPr txBox="1"/>
          <p:nvPr/>
        </p:nvSpPr>
        <p:spPr>
          <a:xfrm>
            <a:off x="5212080" y="1325880"/>
            <a:ext cx="6355080" cy="310896"/>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Bản ghi âm dài</a:t>
            </a:r>
          </a:p>
        </p:txBody>
      </p:sp>
      <p:sp>
        <p:nvSpPr>
          <p:cNvPr id="14" name="TextBox 13"/>
          <p:cNvSpPr txBox="1"/>
          <p:nvPr/>
        </p:nvSpPr>
        <p:spPr>
          <a:xfrm>
            <a:off x="5212080" y="1645920"/>
            <a:ext cx="6355080" cy="658368"/>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Bản ghi S-0009 (tập dev), dài 125 giây</a:t>
            </a:r>
          </a:p>
        </p:txBody>
      </p:sp>
      <p:sp>
        <p:nvSpPr>
          <p:cNvPr id="15" name="Rounded Rectangle 14"/>
          <p:cNvSpPr/>
          <p:nvPr/>
        </p:nvSpPr>
        <p:spPr>
          <a:xfrm>
            <a:off x="4434840" y="2423160"/>
            <a:ext cx="7296912" cy="1078992"/>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90288" y="2724912"/>
            <a:ext cx="457200" cy="457200"/>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2</a:t>
            </a:r>
          </a:p>
        </p:txBody>
      </p:sp>
      <p:sp>
        <p:nvSpPr>
          <p:cNvPr id="17" name="TextBox 16"/>
          <p:cNvSpPr txBox="1"/>
          <p:nvPr/>
        </p:nvSpPr>
        <p:spPr>
          <a:xfrm>
            <a:off x="5212080" y="2514600"/>
            <a:ext cx="6355080" cy="310896"/>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Danh sách sự kiện</a:t>
            </a:r>
          </a:p>
        </p:txBody>
      </p:sp>
      <p:sp>
        <p:nvSpPr>
          <p:cNvPr id="18" name="TextBox 17"/>
          <p:cNvSpPr txBox="1"/>
          <p:nvPr/>
        </p:nvSpPr>
        <p:spPr>
          <a:xfrm>
            <a:off x="5212080" y="2834640"/>
            <a:ext cx="6355080" cy="658368"/>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máy bay phản lực 0,3–10,0 s · chim 10,0–29,2 s · chim 90,0–108,8 s</a:t>
            </a:r>
          </a:p>
        </p:txBody>
      </p:sp>
      <p:sp>
        <p:nvSpPr>
          <p:cNvPr id="19" name="Rounded Rectangle 18"/>
          <p:cNvSpPr/>
          <p:nvPr/>
        </p:nvSpPr>
        <p:spPr>
          <a:xfrm>
            <a:off x="4434840" y="3611880"/>
            <a:ext cx="7296912" cy="1078992"/>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590288" y="3913632"/>
            <a:ext cx="457200" cy="457200"/>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3</a:t>
            </a:r>
          </a:p>
        </p:txBody>
      </p:sp>
      <p:sp>
        <p:nvSpPr>
          <p:cNvPr id="21" name="TextBox 20"/>
          <p:cNvSpPr txBox="1"/>
          <p:nvPr/>
        </p:nvSpPr>
        <p:spPr>
          <a:xfrm>
            <a:off x="5212080" y="3703320"/>
            <a:ext cx="6355080" cy="310896"/>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Câu mô tả</a:t>
            </a:r>
          </a:p>
        </p:txBody>
      </p:sp>
      <p:sp>
        <p:nvSpPr>
          <p:cNvPr id="22" name="TextBox 21"/>
          <p:cNvSpPr txBox="1"/>
          <p:nvPr/>
        </p:nvSpPr>
        <p:spPr>
          <a:xfrm>
            <a:off x="5212080" y="4023360"/>
            <a:ext cx="6355080" cy="658368"/>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“Có thể nghe thấy tiếng máy bay phản lực từ 0,3 đến 10,0 giây. Có thể nghe thấy tiếng chim từ 10,0 đến 29,2 giây. …”</a:t>
            </a:r>
          </a:p>
        </p:txBody>
      </p:sp>
      <p:sp>
        <p:nvSpPr>
          <p:cNvPr id="23" name="Rounded Rectangle 22"/>
          <p:cNvSpPr/>
          <p:nvPr/>
        </p:nvSpPr>
        <p:spPr>
          <a:xfrm>
            <a:off x="4434840" y="4800600"/>
            <a:ext cx="7296912" cy="1078992"/>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590288" y="5102352"/>
            <a:ext cx="457200" cy="457200"/>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4</a:t>
            </a:r>
          </a:p>
        </p:txBody>
      </p:sp>
      <p:sp>
        <p:nvSpPr>
          <p:cNvPr id="25" name="TextBox 24"/>
          <p:cNvSpPr txBox="1"/>
          <p:nvPr/>
        </p:nvSpPr>
        <p:spPr>
          <a:xfrm>
            <a:off x="5212080" y="4892040"/>
            <a:ext cx="6355080" cy="310896"/>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Hỏi đáp có bằng chứng</a:t>
            </a:r>
          </a:p>
        </p:txBody>
      </p:sp>
      <p:sp>
        <p:nvSpPr>
          <p:cNvPr id="26" name="TextBox 25"/>
          <p:cNvSpPr txBox="1"/>
          <p:nvPr/>
        </p:nvSpPr>
        <p:spPr>
          <a:xfrm>
            <a:off x="5212080" y="5212080"/>
            <a:ext cx="6355080" cy="658368"/>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Hỏi: “Có tiếng người nói trước tiếng động cơ xe chạy không tải không?” → Đáp: tiếng người nói 18,2–19,4 s, sau đó tiếng xe 119,5–130,7 s (kèm mã bản ghi)</a:t>
            </a:r>
          </a:p>
        </p:txBody>
      </p:sp>
      <p:sp>
        <p:nvSpPr>
          <p:cNvPr id="27" name="TextBox 26"/>
          <p:cNvSpPr txBox="1"/>
          <p:nvPr/>
        </p:nvSpPr>
        <p:spPr>
          <a:xfrm>
            <a:off x="4434840" y="5989320"/>
            <a:ext cx="729691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①–③ bản ghi dev S-0009 (hệ f2, mô tả tiếng Việt dạng khuôn); ④ lượt chạy demo 03/10/2026 (demo_script_20261003.json).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01</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Ba câu hỏi nghiên cứu (RQ) và những gì đề tài không làm</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1 · Giới thiệu đề tài    3 / 29</a:t>
            </a:r>
          </a:p>
        </p:txBody>
      </p:sp>
      <p:sp>
        <p:nvSpPr>
          <p:cNvPr id="5" name="Rounded Rectangle 4"/>
          <p:cNvSpPr/>
          <p:nvPr/>
        </p:nvSpPr>
        <p:spPr>
          <a:xfrm>
            <a:off x="457200" y="1234440"/>
            <a:ext cx="3666744" cy="3611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566928" cy="566928"/>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rial"/>
              </a:rPr>
              <a:t>RQ1</a:t>
            </a:r>
          </a:p>
        </p:txBody>
      </p:sp>
      <p:sp>
        <p:nvSpPr>
          <p:cNvPr id="7" name="TextBox 6"/>
          <p:cNvSpPr txBox="1"/>
          <p:nvPr/>
        </p:nvSpPr>
        <p:spPr>
          <a:xfrm>
            <a:off x="1325880" y="1371600"/>
            <a:ext cx="2660903" cy="685800"/>
          </a:xfrm>
          <a:prstGeom prst="rect">
            <a:avLst/>
          </a:prstGeom>
          <a:noFill/>
        </p:spPr>
        <p:txBody>
          <a:bodyPr wrap="square" lIns="0" tIns="0" rIns="0" bIns="0" anchor="ctr">
            <a:spAutoFit/>
          </a:bodyPr>
          <a:lstStyle/>
          <a:p>
            <a:pPr algn="l">
              <a:spcAft>
                <a:spcPts val="400"/>
              </a:spcAft>
            </a:pPr>
            <a:r>
              <a:rPr sz="1700" b="1" i="0">
                <a:solidFill>
                  <a:srgbClr val="062F5C"/>
                </a:solidFill>
                <a:latin typeface="Arial"/>
              </a:rPr>
              <a:t>Học thêm có giúp không?</a:t>
            </a:r>
          </a:p>
        </p:txBody>
      </p:sp>
      <p:sp>
        <p:nvSpPr>
          <p:cNvPr id="8" name="TextBox 7"/>
          <p:cNvSpPr txBox="1"/>
          <p:nvPr/>
        </p:nvSpPr>
        <p:spPr>
          <a:xfrm>
            <a:off x="640080" y="2194560"/>
            <a:ext cx="3300984" cy="1371600"/>
          </a:xfrm>
          <a:prstGeom prst="rect">
            <a:avLst/>
          </a:prstGeom>
          <a:noFill/>
        </p:spPr>
        <p:txBody>
          <a:bodyPr wrap="square" lIns="0" tIns="0" rIns="0" bIns="0" anchor="t">
            <a:spAutoFit/>
          </a:bodyPr>
          <a:lstStyle/>
          <a:p>
            <a:pPr algn="l">
              <a:spcAft>
                <a:spcPts val="400"/>
              </a:spcAft>
            </a:pPr>
            <a:r>
              <a:rPr sz="1400" b="0" i="0">
                <a:solidFill>
                  <a:srgbClr val="17212B"/>
                </a:solidFill>
                <a:latin typeface="Arial"/>
              </a:rPr>
              <a:t>Cho mô hình học trước trên 5.048 đoạn âm ngắn (DataSEC) rồi mới học bài chính, có phát hiện sự kiện tốt hơn không?</a:t>
            </a:r>
          </a:p>
        </p:txBody>
      </p:sp>
      <p:sp>
        <p:nvSpPr>
          <p:cNvPr id="9" name="TextBox 8"/>
          <p:cNvSpPr txBox="1"/>
          <p:nvPr/>
        </p:nvSpPr>
        <p:spPr>
          <a:xfrm>
            <a:off x="640080" y="3520440"/>
            <a:ext cx="3300984" cy="731520"/>
          </a:xfrm>
          <a:prstGeom prst="rect">
            <a:avLst/>
          </a:prstGeom>
          <a:noFill/>
        </p:spPr>
        <p:txBody>
          <a:bodyPr wrap="square" lIns="0" tIns="0" rIns="0" bIns="0" anchor="t">
            <a:spAutoFit/>
          </a:bodyPr>
          <a:lstStyle/>
          <a:p>
            <a:pPr algn="l">
              <a:spcAft>
                <a:spcPts val="400"/>
              </a:spcAft>
            </a:pPr>
            <a:r>
              <a:rPr sz="1250" b="0" i="1">
                <a:solidFill>
                  <a:srgbClr val="667085"/>
                </a:solidFill>
                <a:latin typeface="Arial"/>
              </a:rPr>
              <a:t>Hai bộ cùng tác giả → phải kiểm trùng trước khi so.</a:t>
            </a:r>
          </a:p>
        </p:txBody>
      </p:sp>
      <p:sp>
        <p:nvSpPr>
          <p:cNvPr id="10" name="TextBox 9"/>
          <p:cNvSpPr txBox="1"/>
          <p:nvPr/>
        </p:nvSpPr>
        <p:spPr>
          <a:xfrm>
            <a:off x="640080" y="4343400"/>
            <a:ext cx="3300984" cy="365760"/>
          </a:xfrm>
          <a:prstGeom prst="rect">
            <a:avLst/>
          </a:prstGeom>
          <a:noFill/>
        </p:spPr>
        <p:txBody>
          <a:bodyPr wrap="square" lIns="0" tIns="0" rIns="0" bIns="0" anchor="t">
            <a:spAutoFit/>
          </a:bodyPr>
          <a:lstStyle/>
          <a:p>
            <a:pPr algn="l">
              <a:spcAft>
                <a:spcPts val="400"/>
              </a:spcAft>
            </a:pPr>
            <a:r>
              <a:rPr sz="1250" b="1" i="0">
                <a:solidFill>
                  <a:srgbClr val="1677B8"/>
                </a:solidFill>
                <a:latin typeface="Arial"/>
              </a:rPr>
              <a:t>→ Kết quả: slide 18</a:t>
            </a:r>
          </a:p>
        </p:txBody>
      </p:sp>
      <p:sp>
        <p:nvSpPr>
          <p:cNvPr id="11" name="Rounded Rectangle 10"/>
          <p:cNvSpPr/>
          <p:nvPr/>
        </p:nvSpPr>
        <p:spPr>
          <a:xfrm>
            <a:off x="4261104" y="1234440"/>
            <a:ext cx="3666744" cy="3611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443984" y="1417320"/>
            <a:ext cx="566928" cy="566928"/>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rial"/>
              </a:rPr>
              <a:t>RQ2</a:t>
            </a:r>
          </a:p>
        </p:txBody>
      </p:sp>
      <p:sp>
        <p:nvSpPr>
          <p:cNvPr id="13" name="TextBox 12"/>
          <p:cNvSpPr txBox="1"/>
          <p:nvPr/>
        </p:nvSpPr>
        <p:spPr>
          <a:xfrm>
            <a:off x="5129784" y="1371600"/>
            <a:ext cx="2660903" cy="685800"/>
          </a:xfrm>
          <a:prstGeom prst="rect">
            <a:avLst/>
          </a:prstGeom>
          <a:noFill/>
        </p:spPr>
        <p:txBody>
          <a:bodyPr wrap="square" lIns="0" tIns="0" rIns="0" bIns="0" anchor="ctr">
            <a:spAutoFit/>
          </a:bodyPr>
          <a:lstStyle/>
          <a:p>
            <a:pPr algn="l">
              <a:spcAft>
                <a:spcPts val="400"/>
              </a:spcAft>
            </a:pPr>
            <a:r>
              <a:rPr sz="1700" b="1" i="0">
                <a:solidFill>
                  <a:srgbClr val="062F5C"/>
                </a:solidFill>
                <a:latin typeface="Arial"/>
              </a:rPr>
              <a:t>Câu mô tả có bịa không?</a:t>
            </a:r>
          </a:p>
        </p:txBody>
      </p:sp>
      <p:sp>
        <p:nvSpPr>
          <p:cNvPr id="14" name="TextBox 13"/>
          <p:cNvSpPr txBox="1"/>
          <p:nvPr/>
        </p:nvSpPr>
        <p:spPr>
          <a:xfrm>
            <a:off x="4443984" y="2194560"/>
            <a:ext cx="3300984" cy="1371600"/>
          </a:xfrm>
          <a:prstGeom prst="rect">
            <a:avLst/>
          </a:prstGeom>
          <a:noFill/>
        </p:spPr>
        <p:txBody>
          <a:bodyPr wrap="square" lIns="0" tIns="0" rIns="0" bIns="0" anchor="t">
            <a:spAutoFit/>
          </a:bodyPr>
          <a:lstStyle/>
          <a:p>
            <a:pPr algn="l">
              <a:spcAft>
                <a:spcPts val="400"/>
              </a:spcAft>
            </a:pPr>
            <a:r>
              <a:rPr sz="1400" b="0" i="0">
                <a:solidFill>
                  <a:srgbClr val="17212B"/>
                </a:solidFill>
                <a:latin typeface="Arial"/>
              </a:rPr>
              <a:t>Nếu ép câu mô tả chỉ được nói những gì có trong danh sách sự kiện, giảm bịa bao nhiêu và mất gì?</a:t>
            </a:r>
          </a:p>
        </p:txBody>
      </p:sp>
      <p:sp>
        <p:nvSpPr>
          <p:cNvPr id="15" name="TextBox 14"/>
          <p:cNvSpPr txBox="1"/>
          <p:nvPr/>
        </p:nvSpPr>
        <p:spPr>
          <a:xfrm>
            <a:off x="4443984" y="3520440"/>
            <a:ext cx="3300984" cy="731520"/>
          </a:xfrm>
          <a:prstGeom prst="rect">
            <a:avLst/>
          </a:prstGeom>
          <a:noFill/>
        </p:spPr>
        <p:txBody>
          <a:bodyPr wrap="square" lIns="0" tIns="0" rIns="0" bIns="0" anchor="t">
            <a:spAutoFit/>
          </a:bodyPr>
          <a:lstStyle/>
          <a:p>
            <a:pPr algn="l">
              <a:spcAft>
                <a:spcPts val="400"/>
              </a:spcAft>
            </a:pPr>
            <a:r>
              <a:rPr sz="1250" b="0" i="1">
                <a:solidFill>
                  <a:srgbClr val="667085"/>
                </a:solidFill>
                <a:latin typeface="Arial"/>
              </a:rPr>
              <a:t>Đo bằng máy, không cần người viết câu mẫu.</a:t>
            </a:r>
          </a:p>
        </p:txBody>
      </p:sp>
      <p:sp>
        <p:nvSpPr>
          <p:cNvPr id="16" name="TextBox 15"/>
          <p:cNvSpPr txBox="1"/>
          <p:nvPr/>
        </p:nvSpPr>
        <p:spPr>
          <a:xfrm>
            <a:off x="4443984" y="4343400"/>
            <a:ext cx="3300984" cy="365760"/>
          </a:xfrm>
          <a:prstGeom prst="rect">
            <a:avLst/>
          </a:prstGeom>
          <a:noFill/>
        </p:spPr>
        <p:txBody>
          <a:bodyPr wrap="square" lIns="0" tIns="0" rIns="0" bIns="0" anchor="t">
            <a:spAutoFit/>
          </a:bodyPr>
          <a:lstStyle/>
          <a:p>
            <a:pPr algn="l">
              <a:spcAft>
                <a:spcPts val="400"/>
              </a:spcAft>
            </a:pPr>
            <a:r>
              <a:rPr sz="1250" b="1" i="0">
                <a:solidFill>
                  <a:srgbClr val="1677B8"/>
                </a:solidFill>
                <a:latin typeface="Arial"/>
              </a:rPr>
              <a:t>→ Kết quả: slide 22</a:t>
            </a:r>
          </a:p>
        </p:txBody>
      </p:sp>
      <p:sp>
        <p:nvSpPr>
          <p:cNvPr id="17" name="Rounded Rectangle 16"/>
          <p:cNvSpPr/>
          <p:nvPr/>
        </p:nvSpPr>
        <p:spPr>
          <a:xfrm>
            <a:off x="8065008" y="1234440"/>
            <a:ext cx="3666744" cy="3611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47888" y="1417320"/>
            <a:ext cx="566928" cy="566928"/>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rial"/>
              </a:rPr>
              <a:t>RQ3</a:t>
            </a:r>
          </a:p>
        </p:txBody>
      </p:sp>
      <p:sp>
        <p:nvSpPr>
          <p:cNvPr id="19" name="TextBox 18"/>
          <p:cNvSpPr txBox="1"/>
          <p:nvPr/>
        </p:nvSpPr>
        <p:spPr>
          <a:xfrm>
            <a:off x="8933688" y="1371600"/>
            <a:ext cx="2660903" cy="685800"/>
          </a:xfrm>
          <a:prstGeom prst="rect">
            <a:avLst/>
          </a:prstGeom>
          <a:noFill/>
        </p:spPr>
        <p:txBody>
          <a:bodyPr wrap="square" lIns="0" tIns="0" rIns="0" bIns="0" anchor="ctr">
            <a:spAutoFit/>
          </a:bodyPr>
          <a:lstStyle/>
          <a:p>
            <a:pPr algn="l">
              <a:spcAft>
                <a:spcPts val="400"/>
              </a:spcAft>
            </a:pPr>
            <a:r>
              <a:rPr sz="1700" b="1" i="0">
                <a:solidFill>
                  <a:srgbClr val="062F5C"/>
                </a:solidFill>
                <a:latin typeface="Arial"/>
              </a:rPr>
              <a:t>Tìm lại sự kiện cách nào tốt?</a:t>
            </a:r>
          </a:p>
        </p:txBody>
      </p:sp>
      <p:sp>
        <p:nvSpPr>
          <p:cNvPr id="20" name="TextBox 19"/>
          <p:cNvSpPr txBox="1"/>
          <p:nvPr/>
        </p:nvSpPr>
        <p:spPr>
          <a:xfrm>
            <a:off x="8247888" y="2194560"/>
            <a:ext cx="3300984" cy="1371600"/>
          </a:xfrm>
          <a:prstGeom prst="rect">
            <a:avLst/>
          </a:prstGeom>
          <a:noFill/>
        </p:spPr>
        <p:txBody>
          <a:bodyPr wrap="square" lIns="0" tIns="0" rIns="0" bIns="0" anchor="t">
            <a:spAutoFit/>
          </a:bodyPr>
          <a:lstStyle/>
          <a:p>
            <a:pPr algn="l">
              <a:spcAft>
                <a:spcPts val="400"/>
              </a:spcAft>
            </a:pPr>
            <a:r>
              <a:rPr sz="1400" b="0" i="0">
                <a:solidFill>
                  <a:srgbClr val="17212B"/>
                </a:solidFill>
                <a:latin typeface="Arial"/>
              </a:rPr>
              <a:t>Lọc đúng điều kiện, tìm theo nghĩa câu hỏi, hay kết hợp cả hai?</a:t>
            </a:r>
          </a:p>
        </p:txBody>
      </p:sp>
      <p:sp>
        <p:nvSpPr>
          <p:cNvPr id="21" name="TextBox 20"/>
          <p:cNvSpPr txBox="1"/>
          <p:nvPr/>
        </p:nvSpPr>
        <p:spPr>
          <a:xfrm>
            <a:off x="8247888" y="3520440"/>
            <a:ext cx="3300984" cy="731520"/>
          </a:xfrm>
          <a:prstGeom prst="rect">
            <a:avLst/>
          </a:prstGeom>
          <a:noFill/>
        </p:spPr>
        <p:txBody>
          <a:bodyPr wrap="square" lIns="0" tIns="0" rIns="0" bIns="0" anchor="t">
            <a:spAutoFit/>
          </a:bodyPr>
          <a:lstStyle/>
          <a:p>
            <a:pPr algn="l">
              <a:spcAft>
                <a:spcPts val="400"/>
              </a:spcAft>
            </a:pPr>
            <a:r>
              <a:rPr sz="1250" b="0" i="1">
                <a:solidFill>
                  <a:srgbClr val="667085"/>
                </a:solidFill>
                <a:latin typeface="Arial"/>
              </a:rPr>
              <a:t>Câu hỏi có điều kiện thời gian, ví dụ “A xảy ra trước B”.</a:t>
            </a:r>
          </a:p>
        </p:txBody>
      </p:sp>
      <p:sp>
        <p:nvSpPr>
          <p:cNvPr id="22" name="TextBox 21"/>
          <p:cNvSpPr txBox="1"/>
          <p:nvPr/>
        </p:nvSpPr>
        <p:spPr>
          <a:xfrm>
            <a:off x="8247888" y="4343400"/>
            <a:ext cx="3300984" cy="365760"/>
          </a:xfrm>
          <a:prstGeom prst="rect">
            <a:avLst/>
          </a:prstGeom>
          <a:noFill/>
        </p:spPr>
        <p:txBody>
          <a:bodyPr wrap="square" lIns="0" tIns="0" rIns="0" bIns="0" anchor="t">
            <a:spAutoFit/>
          </a:bodyPr>
          <a:lstStyle/>
          <a:p>
            <a:pPr algn="l">
              <a:spcAft>
                <a:spcPts val="400"/>
              </a:spcAft>
            </a:pPr>
            <a:r>
              <a:rPr sz="1250" b="1" i="0">
                <a:solidFill>
                  <a:srgbClr val="1677B8"/>
                </a:solidFill>
                <a:latin typeface="Arial"/>
              </a:rPr>
              <a:t>→ Kết quả: slide 24</a:t>
            </a:r>
          </a:p>
        </p:txBody>
      </p:sp>
      <p:sp>
        <p:nvSpPr>
          <p:cNvPr id="23" name="Rounded Rectangle 22"/>
          <p:cNvSpPr/>
          <p:nvPr/>
        </p:nvSpPr>
        <p:spPr>
          <a:xfrm>
            <a:off x="457200" y="5029200"/>
            <a:ext cx="11274552" cy="1216152"/>
          </a:xfrm>
          <a:prstGeom prst="roundRect">
            <a:avLst>
              <a:gd name="adj" fmla="val 6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 y="5120640"/>
            <a:ext cx="10881360" cy="320040"/>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làm (ngoài phạm vi)</a:t>
            </a:r>
          </a:p>
        </p:txBody>
      </p:sp>
      <p:sp>
        <p:nvSpPr>
          <p:cNvPr id="25" name="TextBox 24"/>
          <p:cNvSpPr txBox="1"/>
          <p:nvPr/>
        </p:nvSpPr>
        <p:spPr>
          <a:xfrm>
            <a:off x="658368" y="5468112"/>
            <a:ext cx="10881360" cy="749808"/>
          </a:xfrm>
          <a:prstGeom prst="rect">
            <a:avLst/>
          </a:prstGeom>
          <a:noFill/>
        </p:spPr>
        <p:txBody>
          <a:bodyPr wrap="square" lIns="0" tIns="0" rIns="0" bIns="0" anchor="t">
            <a:spAutoFit/>
          </a:bodyPr>
          <a:lstStyle/>
          <a:p>
            <a:pPr algn="l">
              <a:spcAft>
                <a:spcPts val="400"/>
              </a:spcAft>
            </a:pPr>
            <a:r>
              <a:rPr sz="1350" b="0" i="0">
                <a:solidFill>
                  <a:srgbClr val="17212B"/>
                </a:solidFill>
                <a:latin typeface="Arial"/>
              </a:rPr>
              <a:t>Nhận dạng nội dung lời nói · Suy ra tội phạm, tai nạn, khẩn cấp · Chấm điểm nguy hiểm · Xử lý thời gian thực.</a:t>
            </a:r>
          </a:p>
          <a:p>
            <a:pPr algn="l">
              <a:spcAft>
                <a:spcPts val="400"/>
              </a:spcAft>
            </a:pPr>
            <a:r>
              <a:rPr sz="1350" b="0" i="0">
                <a:solidFill>
                  <a:srgbClr val="17212B"/>
                </a:solidFill>
                <a:latin typeface="Arial"/>
              </a:rPr>
              <a:t>Mô tả chỉ nói về </a:t>
            </a:r>
            <a:r>
              <a:rPr sz="1350" b="1" i="0">
                <a:solidFill>
                  <a:srgbClr val="17212B"/>
                </a:solidFill>
                <a:latin typeface="Arial"/>
              </a:rPr>
              <a:t>nguồn âm nghe được</a:t>
            </a:r>
            <a:r>
              <a:rPr sz="1350" b="0" i="0">
                <a:solidFill>
                  <a:srgbClr val="17212B"/>
                </a:solidFill>
                <a:latin typeface="Arial"/>
              </a:rPr>
              <a:t>: “tiếng kính vỡ lúc 5,4 s” là hợp lệ; “có đột nhập” thì không.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02</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Hệ thống: 5 bước từ file âm thanh tới câu trả lời có bằng chứng</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2 · Hệ thống và luồng xử lý    4 / 29</a:t>
            </a:r>
          </a:p>
        </p:txBody>
      </p:sp>
      <p:pic>
        <p:nvPicPr>
          <p:cNvPr id="5" name="Picture 4" descr="m01_architecture.png"/>
          <p:cNvPicPr>
            <a:picLocks noChangeAspect="1"/>
          </p:cNvPicPr>
          <p:nvPr/>
        </p:nvPicPr>
        <p:blipFill>
          <a:blip r:embed="rId3"/>
          <a:stretch>
            <a:fillRect/>
          </a:stretch>
        </p:blipFill>
        <p:spPr>
          <a:xfrm>
            <a:off x="457200" y="1443191"/>
            <a:ext cx="5669280" cy="4565977"/>
          </a:xfrm>
          <a:prstGeom prst="rect">
            <a:avLst/>
          </a:prstGeom>
        </p:spPr>
      </p:pic>
      <p:sp>
        <p:nvSpPr>
          <p:cNvPr id="6" name="Oval 5"/>
          <p:cNvSpPr/>
          <p:nvPr/>
        </p:nvSpPr>
        <p:spPr>
          <a:xfrm>
            <a:off x="6355080" y="1280160"/>
            <a:ext cx="384048" cy="38404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1</a:t>
            </a:r>
          </a:p>
        </p:txBody>
      </p:sp>
      <p:sp>
        <p:nvSpPr>
          <p:cNvPr id="7" name="TextBox 6"/>
          <p:cNvSpPr txBox="1"/>
          <p:nvPr/>
        </p:nvSpPr>
        <p:spPr>
          <a:xfrm>
            <a:off x="6858000" y="1234440"/>
            <a:ext cx="4873752" cy="292608"/>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Tải bản ghi lên</a:t>
            </a:r>
          </a:p>
        </p:txBody>
      </p:sp>
      <p:sp>
        <p:nvSpPr>
          <p:cNvPr id="8" name="TextBox 7"/>
          <p:cNvSpPr txBox="1"/>
          <p:nvPr/>
        </p:nvSpPr>
        <p:spPr>
          <a:xfrm>
            <a:off x="6858000" y="1536192"/>
            <a:ext cx="4873752" cy="502920"/>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Giao diện web nhận file âm thanh (tối đa 600 giây).</a:t>
            </a:r>
          </a:p>
        </p:txBody>
      </p:sp>
      <p:sp>
        <p:nvSpPr>
          <p:cNvPr id="9" name="Oval 8"/>
          <p:cNvSpPr/>
          <p:nvPr/>
        </p:nvSpPr>
        <p:spPr>
          <a:xfrm>
            <a:off x="6355080" y="2121408"/>
            <a:ext cx="384048" cy="38404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2</a:t>
            </a:r>
          </a:p>
        </p:txBody>
      </p:sp>
      <p:sp>
        <p:nvSpPr>
          <p:cNvPr id="10" name="TextBox 9"/>
          <p:cNvSpPr txBox="1"/>
          <p:nvPr/>
        </p:nvSpPr>
        <p:spPr>
          <a:xfrm>
            <a:off x="6858000" y="2075688"/>
            <a:ext cx="4873752" cy="292608"/>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Phát hiện sự kiện</a:t>
            </a:r>
          </a:p>
        </p:txBody>
      </p:sp>
      <p:sp>
        <p:nvSpPr>
          <p:cNvPr id="11" name="TextBox 10"/>
          <p:cNvSpPr txBox="1"/>
          <p:nvPr/>
        </p:nvSpPr>
        <p:spPr>
          <a:xfrm>
            <a:off x="6858000" y="2377440"/>
            <a:ext cx="4873752" cy="502920"/>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Mô hình cho xác suất từng loại âm theo thời gian, rồi ghép thành danh sách: loại âm, giây bắt đầu, giây kết thúc.</a:t>
            </a:r>
          </a:p>
        </p:txBody>
      </p:sp>
      <p:sp>
        <p:nvSpPr>
          <p:cNvPr id="12" name="Oval 11"/>
          <p:cNvSpPr/>
          <p:nvPr/>
        </p:nvSpPr>
        <p:spPr>
          <a:xfrm>
            <a:off x="6355080" y="2962656"/>
            <a:ext cx="384048" cy="38404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3</a:t>
            </a:r>
          </a:p>
        </p:txBody>
      </p:sp>
      <p:sp>
        <p:nvSpPr>
          <p:cNvPr id="13" name="TextBox 12"/>
          <p:cNvSpPr txBox="1"/>
          <p:nvPr/>
        </p:nvSpPr>
        <p:spPr>
          <a:xfrm>
            <a:off x="6858000" y="2916936"/>
            <a:ext cx="4873752" cy="292608"/>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Viết mô tả</a:t>
            </a:r>
          </a:p>
        </p:txBody>
      </p:sp>
      <p:sp>
        <p:nvSpPr>
          <p:cNvPr id="14" name="TextBox 13"/>
          <p:cNvSpPr txBox="1"/>
          <p:nvPr/>
        </p:nvSpPr>
        <p:spPr>
          <a:xfrm>
            <a:off x="6858000" y="3218688"/>
            <a:ext cx="4873752" cy="502920"/>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Chỉ dựa vào danh sách sự kiện; tiếng Anh để chấm điểm, tiếng Việt để hiển thị.</a:t>
            </a:r>
          </a:p>
        </p:txBody>
      </p:sp>
      <p:sp>
        <p:nvSpPr>
          <p:cNvPr id="15" name="Oval 14"/>
          <p:cNvSpPr/>
          <p:nvPr/>
        </p:nvSpPr>
        <p:spPr>
          <a:xfrm>
            <a:off x="6355080" y="3803904"/>
            <a:ext cx="384048" cy="38404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4</a:t>
            </a:r>
          </a:p>
        </p:txBody>
      </p:sp>
      <p:sp>
        <p:nvSpPr>
          <p:cNvPr id="16" name="TextBox 15"/>
          <p:cNvSpPr txBox="1"/>
          <p:nvPr/>
        </p:nvSpPr>
        <p:spPr>
          <a:xfrm>
            <a:off x="6858000" y="3758184"/>
            <a:ext cx="4873752" cy="292608"/>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Lưu vào kho</a:t>
            </a:r>
          </a:p>
        </p:txBody>
      </p:sp>
      <p:sp>
        <p:nvSpPr>
          <p:cNvPr id="17" name="TextBox 16"/>
          <p:cNvSpPr txBox="1"/>
          <p:nvPr/>
        </p:nvSpPr>
        <p:spPr>
          <a:xfrm>
            <a:off x="6858000" y="4059936"/>
            <a:ext cx="4873752" cy="502920"/>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PostgreSQL lưu sự kiện có cấu trúc, kèm vector để tìm theo nghĩa.</a:t>
            </a:r>
          </a:p>
        </p:txBody>
      </p:sp>
      <p:sp>
        <p:nvSpPr>
          <p:cNvPr id="18" name="Oval 17"/>
          <p:cNvSpPr/>
          <p:nvPr/>
        </p:nvSpPr>
        <p:spPr>
          <a:xfrm>
            <a:off x="6355080" y="4645152"/>
            <a:ext cx="384048" cy="38404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5</a:t>
            </a:r>
          </a:p>
        </p:txBody>
      </p:sp>
      <p:sp>
        <p:nvSpPr>
          <p:cNvPr id="19" name="TextBox 18"/>
          <p:cNvSpPr txBox="1"/>
          <p:nvPr/>
        </p:nvSpPr>
        <p:spPr>
          <a:xfrm>
            <a:off x="6858000" y="4599432"/>
            <a:ext cx="4873752" cy="292608"/>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Hỏi đáp</a:t>
            </a:r>
          </a:p>
        </p:txBody>
      </p:sp>
      <p:sp>
        <p:nvSpPr>
          <p:cNvPr id="20" name="TextBox 19"/>
          <p:cNvSpPr txBox="1"/>
          <p:nvPr/>
        </p:nvSpPr>
        <p:spPr>
          <a:xfrm>
            <a:off x="6858000" y="4901184"/>
            <a:ext cx="4873752" cy="502920"/>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Câu hỏi → bộ lọc → tìm → trả lời kèm mã bản ghi và khoảng thời gian.</a:t>
            </a:r>
          </a:p>
        </p:txBody>
      </p:sp>
      <p:sp>
        <p:nvSpPr>
          <p:cNvPr id="21" name="Rounded Rectangle 20"/>
          <p:cNvSpPr/>
          <p:nvPr/>
        </p:nvSpPr>
        <p:spPr>
          <a:xfrm>
            <a:off x="6355080" y="5486400"/>
            <a:ext cx="5376672" cy="777240"/>
          </a:xfrm>
          <a:prstGeom prst="roundRect">
            <a:avLst>
              <a:gd name="adj" fmla="val 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0528" y="5532120"/>
            <a:ext cx="5120640" cy="685800"/>
          </a:xfrm>
          <a:prstGeom prst="rect">
            <a:avLst/>
          </a:prstGeom>
          <a:noFill/>
        </p:spPr>
        <p:txBody>
          <a:bodyPr wrap="square" lIns="0" tIns="0" rIns="0" bIns="0" anchor="ctr">
            <a:spAutoFit/>
          </a:bodyPr>
          <a:lstStyle/>
          <a:p>
            <a:pPr algn="l">
              <a:spcAft>
                <a:spcPts val="400"/>
              </a:spcAft>
            </a:pPr>
            <a:r>
              <a:rPr sz="1350" b="0" i="0">
                <a:solidFill>
                  <a:srgbClr val="17212B"/>
                </a:solidFill>
                <a:latin typeface="Arial"/>
              </a:rPr>
              <a:t>Điểm then chốt: bộ viết mô tả </a:t>
            </a:r>
            <a:r>
              <a:rPr sz="1350" b="1" i="0">
                <a:solidFill>
                  <a:srgbClr val="17212B"/>
                </a:solidFill>
                <a:latin typeface="Arial"/>
              </a:rPr>
              <a:t>không nghe âm thanh</a:t>
            </a:r>
            <a:r>
              <a:rPr sz="1350" b="0" i="0">
                <a:solidFill>
                  <a:srgbClr val="17212B"/>
                </a:solidFill>
                <a:latin typeface="Arial"/>
              </a:rPr>
              <a:t>, chỉ đọc danh sách sự kiện → không thể tự thêm nguồn âm mới.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02</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Demo chạy được trên máy cá nhân, không cần Internet</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2 · Hệ thống và luồng xử lý    5 / 29</a:t>
            </a:r>
          </a:p>
        </p:txBody>
      </p:sp>
      <p:pic>
        <p:nvPicPr>
          <p:cNvPr id="5" name="Picture 4" descr="07_demo_interface.png"/>
          <p:cNvPicPr>
            <a:picLocks noChangeAspect="1"/>
          </p:cNvPicPr>
          <p:nvPr/>
        </p:nvPicPr>
        <p:blipFill>
          <a:blip r:embed="rId3"/>
          <a:stretch>
            <a:fillRect/>
          </a:stretch>
        </p:blipFill>
        <p:spPr>
          <a:xfrm>
            <a:off x="457200" y="1253671"/>
            <a:ext cx="7040880" cy="4624976"/>
          </a:xfrm>
          <a:prstGeom prst="rect">
            <a:avLst/>
          </a:prstGeom>
        </p:spPr>
      </p:pic>
      <p:sp>
        <p:nvSpPr>
          <p:cNvPr id="6" name="Rounded Rectangle 5"/>
          <p:cNvSpPr/>
          <p:nvPr/>
        </p:nvSpPr>
        <p:spPr>
          <a:xfrm>
            <a:off x="7726679" y="1234440"/>
            <a:ext cx="4005072" cy="26060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91271" y="1344168"/>
            <a:ext cx="3675887"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Người dùng làm được gì</a:t>
            </a:r>
          </a:p>
        </p:txBody>
      </p:sp>
      <p:sp>
        <p:nvSpPr>
          <p:cNvPr id="8" name="TextBox 7"/>
          <p:cNvSpPr txBox="1"/>
          <p:nvPr/>
        </p:nvSpPr>
        <p:spPr>
          <a:xfrm>
            <a:off x="7891271" y="1728216"/>
            <a:ext cx="3675887" cy="2039112"/>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Tải file lên → xem dòng thời gian, bấm sự kiện để nghe đúng đoạn</a:t>
            </a:r>
          </a:p>
          <a:p>
            <a:pPr marL="219456" indent="-182880" algn="l">
              <a:spcAft>
                <a:spcPts val="400"/>
              </a:spcAft>
              <a:buClr>
                <a:srgbClr val="1677B8"/>
              </a:buClr>
              <a:buFont typeface="Arial"/>
              <a:buChar char="•"/>
            </a:pPr>
            <a:r>
              <a:rPr sz="1300" b="0" i="0">
                <a:solidFill>
                  <a:srgbClr val="17212B"/>
                </a:solidFill>
                <a:latin typeface="Arial"/>
              </a:rPr>
              <a:t>Đọc mô tả tiếng Anh và tiếng Việt kèm bằng chứng</a:t>
            </a:r>
          </a:p>
          <a:p>
            <a:pPr marL="219456" indent="-182880" algn="l">
              <a:spcAft>
                <a:spcPts val="400"/>
              </a:spcAft>
              <a:buClr>
                <a:srgbClr val="1677B8"/>
              </a:buClr>
              <a:buFont typeface="Arial"/>
              <a:buChar char="•"/>
            </a:pPr>
            <a:r>
              <a:rPr sz="1300" b="0" i="0">
                <a:solidFill>
                  <a:srgbClr val="17212B"/>
                </a:solidFill>
                <a:latin typeface="Arial"/>
              </a:rPr>
              <a:t>Hỏi bằng câu tự nhiên; bộ lọc hiện thành thẻ, sửa được</a:t>
            </a:r>
          </a:p>
          <a:p>
            <a:pPr marL="219456" indent="-182880" algn="l">
              <a:spcAft>
                <a:spcPts val="400"/>
              </a:spcAft>
              <a:buClr>
                <a:srgbClr val="1677B8"/>
              </a:buClr>
              <a:buFont typeface="Arial"/>
              <a:buChar char="•"/>
            </a:pPr>
            <a:r>
              <a:rPr sz="1300" b="0" i="0">
                <a:solidFill>
                  <a:srgbClr val="17212B"/>
                </a:solidFill>
                <a:latin typeface="Arial"/>
              </a:rPr>
              <a:t>Bấm trích dẫn → mở đúng bản ghi, đúng giây</a:t>
            </a:r>
          </a:p>
        </p:txBody>
      </p:sp>
      <p:sp>
        <p:nvSpPr>
          <p:cNvPr id="9" name="Rounded Rectangle 8"/>
          <p:cNvSpPr/>
          <p:nvPr/>
        </p:nvSpPr>
        <p:spPr>
          <a:xfrm>
            <a:off x="7726679" y="3977639"/>
            <a:ext cx="1938528" cy="1325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91271" y="4050791"/>
            <a:ext cx="1609344"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2,0 s</a:t>
            </a:r>
          </a:p>
        </p:txBody>
      </p:sp>
      <p:sp>
        <p:nvSpPr>
          <p:cNvPr id="11" name="TextBox 10"/>
          <p:cNvSpPr txBox="1"/>
          <p:nvPr/>
        </p:nvSpPr>
        <p:spPr>
          <a:xfrm>
            <a:off x="7891271" y="4617720"/>
            <a:ext cx="1609344" cy="630936"/>
          </a:xfrm>
          <a:prstGeom prst="rect">
            <a:avLst/>
          </a:prstGeom>
          <a:noFill/>
        </p:spPr>
        <p:txBody>
          <a:bodyPr wrap="square" lIns="0" tIns="0" rIns="0" bIns="0" anchor="t">
            <a:spAutoFit/>
          </a:bodyPr>
          <a:lstStyle/>
          <a:p>
            <a:pPr algn="l">
              <a:spcAft>
                <a:spcPts val="400"/>
              </a:spcAft>
            </a:pPr>
            <a:r>
              <a:rPr sz="1150" b="0" i="0">
                <a:solidFill>
                  <a:srgbClr val="17212B"/>
                </a:solidFill>
                <a:latin typeface="Arial"/>
              </a:rPr>
              <a:t>phân tích 1 bản ghi bằng CPU</a:t>
            </a:r>
          </a:p>
        </p:txBody>
      </p:sp>
      <p:sp>
        <p:nvSpPr>
          <p:cNvPr id="12" name="Rounded Rectangle 11"/>
          <p:cNvSpPr/>
          <p:nvPr/>
        </p:nvSpPr>
        <p:spPr>
          <a:xfrm>
            <a:off x="9793224" y="3977639"/>
            <a:ext cx="1938528" cy="1325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957816" y="4050791"/>
            <a:ext cx="1609344"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0,25 s</a:t>
            </a:r>
          </a:p>
        </p:txBody>
      </p:sp>
      <p:sp>
        <p:nvSpPr>
          <p:cNvPr id="14" name="TextBox 13"/>
          <p:cNvSpPr txBox="1"/>
          <p:nvPr/>
        </p:nvSpPr>
        <p:spPr>
          <a:xfrm>
            <a:off x="9957816" y="4617720"/>
            <a:ext cx="1609344" cy="630936"/>
          </a:xfrm>
          <a:prstGeom prst="rect">
            <a:avLst/>
          </a:prstGeom>
          <a:noFill/>
        </p:spPr>
        <p:txBody>
          <a:bodyPr wrap="square" lIns="0" tIns="0" rIns="0" bIns="0" anchor="t">
            <a:spAutoFit/>
          </a:bodyPr>
          <a:lstStyle/>
          <a:p>
            <a:pPr algn="l">
              <a:spcAft>
                <a:spcPts val="400"/>
              </a:spcAft>
            </a:pPr>
            <a:r>
              <a:rPr sz="1150" b="0" i="0">
                <a:solidFill>
                  <a:srgbClr val="17212B"/>
                </a:solidFill>
                <a:latin typeface="Arial"/>
              </a:rPr>
              <a:t>trả lời 1 câu hỏi</a:t>
            </a:r>
          </a:p>
        </p:txBody>
      </p:sp>
      <p:sp>
        <p:nvSpPr>
          <p:cNvPr id="15" name="TextBox 14"/>
          <p:cNvSpPr txBox="1"/>
          <p:nvPr/>
        </p:nvSpPr>
        <p:spPr>
          <a:xfrm>
            <a:off x="7726679" y="5394960"/>
            <a:ext cx="4005072" cy="868680"/>
          </a:xfrm>
          <a:prstGeom prst="rect">
            <a:avLst/>
          </a:prstGeom>
          <a:noFill/>
        </p:spPr>
        <p:txBody>
          <a:bodyPr wrap="square" lIns="0" tIns="0" rIns="0" bIns="0" anchor="t">
            <a:spAutoFit/>
          </a:bodyPr>
          <a:lstStyle/>
          <a:p>
            <a:pPr algn="l">
              <a:spcAft>
                <a:spcPts val="400"/>
              </a:spcAft>
            </a:pPr>
            <a:r>
              <a:rPr sz="1150" b="0" i="1">
                <a:solidFill>
                  <a:srgbClr val="667085"/>
                </a:solidFill>
                <a:latin typeface="Arial"/>
              </a:rPr>
              <a:t>Số đo của một lượt trên một bản ghi, không phải đo hiệu năng có thống kê. Lịch sử demo chỉ dùng bản ghi tập train.</a:t>
            </a:r>
          </a:p>
        </p:txBody>
      </p:sp>
      <p:sp>
        <p:nvSpPr>
          <p:cNvPr id="16" name="TextBox 15"/>
          <p:cNvSpPr txBox="1"/>
          <p:nvPr/>
        </p:nvSpPr>
        <p:spPr>
          <a:xfrm>
            <a:off x="457200" y="5989320"/>
            <a:ext cx="704088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docs/demo_screenshots (Playwright); demo_f2_e2e_20261002.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03</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Hai bộ dữ liệu cùng nhóm tác giả, bổ trợ cho nhau</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3 · Dữ liệu    6 / 29</a:t>
            </a:r>
          </a:p>
        </p:txBody>
      </p:sp>
      <p:graphicFrame>
        <p:nvGraphicFramePr>
          <p:cNvPr id="5" name="Table 4"/>
          <p:cNvGraphicFramePr>
            <a:graphicFrameLocks noGrp="1"/>
          </p:cNvGraphicFramePr>
          <p:nvPr/>
        </p:nvGraphicFramePr>
        <p:xfrm>
          <a:off x="457200" y="1280160"/>
          <a:ext cx="11274550" cy="1700784"/>
        </p:xfrm>
        <a:graphic>
          <a:graphicData uri="http://schemas.openxmlformats.org/drawingml/2006/table">
            <a:tbl>
              <a:tblPr firstRow="1">
                <a:tableStyleId>{5C22544A-7EE6-4342-B048-85BDC9FD1C3A}</a:tableStyleId>
              </a:tblPr>
              <a:tblGrid>
                <a:gridCol w="1229951">
                  <a:extLst>
                    <a:ext uri="{9D8B030D-6E8A-4147-A177-3AD203B41FA5}">
                      <a16:colId xmlns:a16="http://schemas.microsoft.com/office/drawing/2014/main" val="20000"/>
                    </a:ext>
                  </a:extLst>
                </a:gridCol>
                <a:gridCol w="2049918">
                  <a:extLst>
                    <a:ext uri="{9D8B030D-6E8A-4147-A177-3AD203B41FA5}">
                      <a16:colId xmlns:a16="http://schemas.microsoft.com/office/drawing/2014/main" val="20001"/>
                    </a:ext>
                  </a:extLst>
                </a:gridCol>
                <a:gridCol w="922463">
                  <a:extLst>
                    <a:ext uri="{9D8B030D-6E8A-4147-A177-3AD203B41FA5}">
                      <a16:colId xmlns:a16="http://schemas.microsoft.com/office/drawing/2014/main" val="20002"/>
                    </a:ext>
                  </a:extLst>
                </a:gridCol>
                <a:gridCol w="922463">
                  <a:extLst>
                    <a:ext uri="{9D8B030D-6E8A-4147-A177-3AD203B41FA5}">
                      <a16:colId xmlns:a16="http://schemas.microsoft.com/office/drawing/2014/main" val="20003"/>
                    </a:ext>
                  </a:extLst>
                </a:gridCol>
                <a:gridCol w="3484861">
                  <a:extLst>
                    <a:ext uri="{9D8B030D-6E8A-4147-A177-3AD203B41FA5}">
                      <a16:colId xmlns:a16="http://schemas.microsoft.com/office/drawing/2014/main" val="20004"/>
                    </a:ext>
                  </a:extLst>
                </a:gridCol>
                <a:gridCol w="2664894">
                  <a:extLst>
                    <a:ext uri="{9D8B030D-6E8A-4147-A177-3AD203B41FA5}">
                      <a16:colId xmlns:a16="http://schemas.microsoft.com/office/drawing/2014/main" val="20005"/>
                    </a:ext>
                  </a:extLst>
                </a:gridCol>
              </a:tblGrid>
              <a:tr h="566928">
                <a:tc>
                  <a:txBody>
                    <a:bodyPr/>
                    <a:lstStyle/>
                    <a:p>
                      <a:pPr algn="ctr"/>
                      <a:r>
                        <a:rPr sz="1300" b="1">
                          <a:solidFill>
                            <a:srgbClr val="FFFFFF"/>
                          </a:solidFill>
                          <a:latin typeface="Arial"/>
                        </a:rPr>
                        <a:t>Bộ dữ liệu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Dạng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Số tệp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Số giờ</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Nhãn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Dùng để</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566928">
                <a:tc>
                  <a:txBody>
                    <a:bodyPr/>
                    <a:lstStyle/>
                    <a:p>
                      <a:pPr algn="l"/>
                      <a:r>
                        <a:rPr sz="1300" b="0">
                          <a:solidFill>
                            <a:srgbClr val="17212B"/>
                          </a:solidFill>
                          <a:latin typeface="Arial"/>
                        </a:rPr>
                        <a:t>DataSEC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Đoạn âm ngắn, rời nhau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5048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23.71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Mỗi đoạn 1 nhãn: 22 loại âm (+28 loại con)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Học thêm (nhánh C); bài phân loại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566928">
                <a:tc>
                  <a:txBody>
                    <a:bodyPr/>
                    <a:lstStyle/>
                    <a:p>
                      <a:pPr algn="l"/>
                      <a:r>
                        <a:rPr sz="1300" b="0">
                          <a:solidFill>
                            <a:srgbClr val="17212B"/>
                          </a:solidFill>
                          <a:latin typeface="Arial"/>
                        </a:rPr>
                        <a:t>DataSED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Bản ghi dài (~94 giây)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717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18.68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4.034 sự kiện có giây bắt đầu/kết thúc; 21 loại âm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Bài thi chính: phát hiện sự kiện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017520"/>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data/manifests/datasec_inventory_summary.json; data/manifests/datased_inventory_summary.json; data/splits/datasec_classification.frozen.json; data/splits/datased_polyphonic.frozen.json.</a:t>
            </a:r>
          </a:p>
        </p:txBody>
      </p:sp>
      <p:sp>
        <p:nvSpPr>
          <p:cNvPr id="7" name="Rounded Rectangle 6"/>
          <p:cNvSpPr/>
          <p:nvPr/>
        </p:nvSpPr>
        <p:spPr>
          <a:xfrm>
            <a:off x="457200" y="3520440"/>
            <a:ext cx="3666744" cy="182880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3593592"/>
            <a:ext cx="3337560"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57,5%</a:t>
            </a:r>
          </a:p>
        </p:txBody>
      </p:sp>
      <p:sp>
        <p:nvSpPr>
          <p:cNvPr id="9" name="TextBox 8"/>
          <p:cNvSpPr txBox="1"/>
          <p:nvPr/>
        </p:nvSpPr>
        <p:spPr>
          <a:xfrm>
            <a:off x="621792" y="4160520"/>
            <a:ext cx="3337560" cy="1133856"/>
          </a:xfrm>
          <a:prstGeom prst="rect">
            <a:avLst/>
          </a:prstGeom>
          <a:noFill/>
        </p:spPr>
        <p:txBody>
          <a:bodyPr wrap="square" lIns="0" tIns="0" rIns="0" bIns="0" anchor="t">
            <a:spAutoFit/>
          </a:bodyPr>
          <a:lstStyle/>
          <a:p>
            <a:pPr algn="l">
              <a:spcAft>
                <a:spcPts val="400"/>
              </a:spcAft>
            </a:pPr>
            <a:r>
              <a:rPr sz="1350" b="0" i="0">
                <a:solidFill>
                  <a:srgbClr val="17212B"/>
                </a:solidFill>
                <a:latin typeface="Arial"/>
              </a:rPr>
              <a:t>của DataSEC là tiếng nói + nhạc → khi học phải lấy mẫu cân bằng giữa các loại âm.</a:t>
            </a:r>
          </a:p>
        </p:txBody>
      </p:sp>
      <p:sp>
        <p:nvSpPr>
          <p:cNvPr id="10" name="Rounded Rectangle 9"/>
          <p:cNvSpPr/>
          <p:nvPr/>
        </p:nvSpPr>
        <p:spPr>
          <a:xfrm>
            <a:off x="4261104" y="3520440"/>
            <a:ext cx="3666744" cy="182880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25696" y="3593592"/>
            <a:ext cx="3337560"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2 loại gộp</a:t>
            </a:r>
          </a:p>
        </p:txBody>
      </p:sp>
      <p:sp>
        <p:nvSpPr>
          <p:cNvPr id="12" name="TextBox 11"/>
          <p:cNvSpPr txBox="1"/>
          <p:nvPr/>
        </p:nvSpPr>
        <p:spPr>
          <a:xfrm>
            <a:off x="4425696" y="4160520"/>
            <a:ext cx="3337560" cy="1133856"/>
          </a:xfrm>
          <a:prstGeom prst="rect">
            <a:avLst/>
          </a:prstGeom>
          <a:noFill/>
        </p:spPr>
        <p:txBody>
          <a:bodyPr wrap="square" lIns="0" tIns="0" rIns="0" bIns="0" anchor="t">
            <a:spAutoFit/>
          </a:bodyPr>
          <a:lstStyle/>
          <a:p>
            <a:pPr algn="l">
              <a:spcAft>
                <a:spcPts val="400"/>
              </a:spcAft>
            </a:pPr>
            <a:r>
              <a:rPr sz="1350" b="0" i="0">
                <a:solidFill>
                  <a:srgbClr val="17212B"/>
                </a:solidFill>
                <a:latin typeface="Arial"/>
              </a:rPr>
              <a:t>“còi / chuông báo” và “sấm / pháo / súng” → mô tả phải giữ mơ hồ, không được nói “tiếng súng”.</a:t>
            </a:r>
          </a:p>
        </p:txBody>
      </p:sp>
      <p:sp>
        <p:nvSpPr>
          <p:cNvPr id="13" name="Rounded Rectangle 12"/>
          <p:cNvSpPr/>
          <p:nvPr/>
        </p:nvSpPr>
        <p:spPr>
          <a:xfrm>
            <a:off x="8065008" y="3520440"/>
            <a:ext cx="3666744" cy="182880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3593592"/>
            <a:ext cx="3337560"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Đo lại</a:t>
            </a:r>
          </a:p>
        </p:txBody>
      </p:sp>
      <p:sp>
        <p:nvSpPr>
          <p:cNvPr id="15" name="TextBox 14"/>
          <p:cNvSpPr txBox="1"/>
          <p:nvPr/>
        </p:nvSpPr>
        <p:spPr>
          <a:xfrm>
            <a:off x="8229600" y="4160520"/>
            <a:ext cx="3337560" cy="1133856"/>
          </a:xfrm>
          <a:prstGeom prst="rect">
            <a:avLst/>
          </a:prstGeom>
          <a:noFill/>
        </p:spPr>
        <p:txBody>
          <a:bodyPr wrap="square" lIns="0" tIns="0" rIns="0" bIns="0" anchor="t">
            <a:spAutoFit/>
          </a:bodyPr>
          <a:lstStyle/>
          <a:p>
            <a:pPr algn="l">
              <a:spcAft>
                <a:spcPts val="400"/>
              </a:spcAft>
            </a:pPr>
            <a:r>
              <a:rPr sz="1350" b="0" i="0">
                <a:solidFill>
                  <a:srgbClr val="17212B"/>
                </a:solidFill>
                <a:latin typeface="Arial"/>
              </a:rPr>
              <a:t>mọi con số từ tệp tải về (khớp mã MD5); giấy phép CC-BY-NC-SA 4.0.</a:t>
            </a:r>
          </a:p>
        </p:txBody>
      </p:sp>
      <p:sp>
        <p:nvSpPr>
          <p:cNvPr id="16" name="TextBox 15"/>
          <p:cNvSpPr txBox="1"/>
          <p:nvPr/>
        </p:nvSpPr>
        <p:spPr>
          <a:xfrm>
            <a:off x="457200" y="5532120"/>
            <a:ext cx="11274552" cy="640080"/>
          </a:xfrm>
          <a:prstGeom prst="rect">
            <a:avLst/>
          </a:prstGeom>
          <a:noFill/>
        </p:spPr>
        <p:txBody>
          <a:bodyPr wrap="square" lIns="0" tIns="0" rIns="0" bIns="0" anchor="t">
            <a:spAutoFit/>
          </a:bodyPr>
          <a:lstStyle/>
          <a:p>
            <a:pPr algn="l">
              <a:spcAft>
                <a:spcPts val="400"/>
              </a:spcAft>
            </a:pPr>
            <a:r>
              <a:rPr sz="1300" b="0" i="1">
                <a:solidFill>
                  <a:srgbClr val="667085"/>
                </a:solidFill>
                <a:latin typeface="Arial"/>
              </a:rPr>
              <a:t>Kết quả trên 21 loại (DataSED) và 22 loại (DataSEC) không so trực tiếp với nhau: khác tập loại âm và khác cách gán nhãn.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03</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Hai bộ có chung bản ghi gốc, nên phải loại trùng trước khi học</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3 · Dữ liệu    7 / 29</a:t>
            </a:r>
          </a:p>
        </p:txBody>
      </p:sp>
      <p:pic>
        <p:nvPicPr>
          <p:cNvPr id="5" name="Picture 4" descr="m04_data_pipeline.png"/>
          <p:cNvPicPr>
            <a:picLocks noChangeAspect="1"/>
          </p:cNvPicPr>
          <p:nvPr/>
        </p:nvPicPr>
        <p:blipFill>
          <a:blip r:embed="rId3"/>
          <a:stretch>
            <a:fillRect/>
          </a:stretch>
        </p:blipFill>
        <p:spPr>
          <a:xfrm>
            <a:off x="457584" y="1234440"/>
            <a:ext cx="5851391" cy="2916936"/>
          </a:xfrm>
          <a:prstGeom prst="rect">
            <a:avLst/>
          </a:prstGeom>
        </p:spPr>
      </p:pic>
      <p:graphicFrame>
        <p:nvGraphicFramePr>
          <p:cNvPr id="6" name="Table 5"/>
          <p:cNvGraphicFramePr>
            <a:graphicFrameLocks noGrp="1"/>
          </p:cNvGraphicFramePr>
          <p:nvPr/>
        </p:nvGraphicFramePr>
        <p:xfrm>
          <a:off x="457200" y="4224528"/>
          <a:ext cx="5852160" cy="1728216"/>
        </p:xfrm>
        <a:graphic>
          <a:graphicData uri="http://schemas.openxmlformats.org/drawingml/2006/table">
            <a:tbl>
              <a:tblPr firstRow="1">
                <a:tableStyleId>{5C22544A-7EE6-4342-B048-85BDC9FD1C3A}</a:tableStyleId>
              </a:tblPr>
              <a:tblGrid>
                <a:gridCol w="548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246888">
                <a:tc>
                  <a:txBody>
                    <a:bodyPr/>
                    <a:lstStyle/>
                    <a:p>
                      <a:pPr algn="ctr"/>
                      <a:r>
                        <a:rPr sz="1100" b="1">
                          <a:solidFill>
                            <a:srgbClr val="FFFFFF"/>
                          </a:solidFill>
                          <a:latin typeface="Arial"/>
                        </a:rPr>
                        <a:t>Bước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Kiểm tra</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Kết quả</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Ý nghĩa</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246888">
                <a:tc>
                  <a:txBody>
                    <a:bodyPr/>
                    <a:lstStyle/>
                    <a:p>
                      <a:pPr algn="l"/>
                      <a:r>
                        <a:rPr sz="1100" b="0">
                          <a:solidFill>
                            <a:srgbClr val="17212B"/>
                          </a:solidFill>
                          <a:latin typeface="Arial"/>
                        </a:rPr>
                        <a:t>D3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Cặp nghi trùng (tầng 1/2/3)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24/24/45191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3 tầng kiểm tra</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246888">
                <a:tc>
                  <a:txBody>
                    <a:bodyPr/>
                    <a:lstStyle/>
                    <a:p>
                      <a:pPr algn="l"/>
                      <a:r>
                        <a:rPr sz="1100" b="0">
                          <a:solidFill>
                            <a:srgbClr val="17212B"/>
                          </a:solidFill>
                          <a:latin typeface="Arial"/>
                        </a:rPr>
                        <a:t>D3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Nhóm trùng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84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Trong và giữa 2 bộ</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246888">
                <a:tc>
                  <a:txBody>
                    <a:bodyPr/>
                    <a:lstStyle/>
                    <a:p>
                      <a:pPr algn="l"/>
                      <a:r>
                        <a:rPr sz="1100" b="0">
                          <a:solidFill>
                            <a:srgbClr val="17212B"/>
                          </a:solidFill>
                          <a:latin typeface="Arial"/>
                        </a:rPr>
                        <a:t>D3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Nhóm trùng giữa 2 bộ</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Gom chung một nhóm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246888">
                <a:tc>
                  <a:txBody>
                    <a:bodyPr/>
                    <a:lstStyle/>
                    <a:p>
                      <a:pPr algn="l"/>
                      <a:r>
                        <a:rPr sz="1100" b="0">
                          <a:solidFill>
                            <a:srgbClr val="17212B"/>
                          </a:solidFill>
                          <a:latin typeface="Arial"/>
                        </a:rPr>
                        <a:t>D3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Đoạn học thêm bị loại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Trùng dev/test DataSED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246888">
                <a:tc>
                  <a:txBody>
                    <a:bodyPr/>
                    <a:lstStyle/>
                    <a:p>
                      <a:pPr algn="l"/>
                      <a:r>
                        <a:rPr sz="1100" b="0">
                          <a:solidFill>
                            <a:srgbClr val="17212B"/>
                          </a:solidFill>
                          <a:latin typeface="Arial"/>
                        </a:rPr>
                        <a:t>D4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Cổng kiểm tra DataSEC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PASS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5/5 kiểm tra đạt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246888">
                <a:tc>
                  <a:txBody>
                    <a:bodyPr/>
                    <a:lstStyle/>
                    <a:p>
                      <a:pPr algn="l"/>
                      <a:r>
                        <a:rPr sz="1100" b="0">
                          <a:solidFill>
                            <a:srgbClr val="17212B"/>
                          </a:solidFill>
                          <a:latin typeface="Arial"/>
                        </a:rPr>
                        <a:t>D4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Cổng kiểm tra DataSED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PASS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5/5 kiểm tra đạt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457200" y="6053328"/>
            <a:ext cx="585216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duplicate_audit.json; *_leakage_report.json</a:t>
            </a:r>
          </a:p>
        </p:txBody>
      </p:sp>
      <p:sp>
        <p:nvSpPr>
          <p:cNvPr id="8" name="Rounded Rectangle 7"/>
          <p:cNvSpPr/>
          <p:nvPr/>
        </p:nvSpPr>
        <p:spPr>
          <a:xfrm>
            <a:off x="6537960" y="1234440"/>
            <a:ext cx="5193792" cy="23317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02552" y="1344168"/>
            <a:ext cx="4864607"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Phát hiện: có trùng thật</a:t>
            </a:r>
          </a:p>
        </p:txBody>
      </p:sp>
      <p:sp>
        <p:nvSpPr>
          <p:cNvPr id="10" name="TextBox 9"/>
          <p:cNvSpPr txBox="1"/>
          <p:nvPr/>
        </p:nvSpPr>
        <p:spPr>
          <a:xfrm>
            <a:off x="6702552" y="1728216"/>
            <a:ext cx="4864607" cy="176479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Đoạn Sirens-0046 (DataSEC) giống </a:t>
            </a:r>
            <a:r>
              <a:rPr sz="1300" b="1" i="0">
                <a:solidFill>
                  <a:srgbClr val="17212B"/>
                </a:solidFill>
                <a:latin typeface="Arial"/>
              </a:rPr>
              <a:t>100%</a:t>
            </a:r>
            <a:r>
              <a:rPr sz="1300" b="0" i="0">
                <a:solidFill>
                  <a:srgbClr val="17212B"/>
                </a:solidFill>
                <a:latin typeface="Arial"/>
              </a:rPr>
              <a:t> với 35 giây của S-0233 (DataSED, tập dev)</a:t>
            </a:r>
          </a:p>
          <a:p>
            <a:pPr marL="219456" indent="-182880" algn="l">
              <a:spcAft>
                <a:spcPts val="400"/>
              </a:spcAft>
              <a:buClr>
                <a:srgbClr val="1677B8"/>
              </a:buClr>
              <a:buFont typeface="Arial"/>
              <a:buChar char="•"/>
            </a:pPr>
            <a:r>
              <a:rPr sz="1300" b="0" i="0">
                <a:solidFill>
                  <a:srgbClr val="17212B"/>
                </a:solidFill>
                <a:latin typeface="Arial"/>
              </a:rPr>
              <a:t>35 cặp đáng ngờ được </a:t>
            </a:r>
            <a:r>
              <a:rPr sz="1300" b="1" i="0">
                <a:solidFill>
                  <a:srgbClr val="17212B"/>
                </a:solidFill>
                <a:latin typeface="Arial"/>
              </a:rPr>
              <a:t>nghe tay</a:t>
            </a:r>
            <a:r>
              <a:rPr sz="1300" b="0" i="0">
                <a:solidFill>
                  <a:srgbClr val="17212B"/>
                </a:solidFill>
                <a:latin typeface="Arial"/>
              </a:rPr>
              <a:t>: 10 trùng, 1 không chắc, 24 khác</a:t>
            </a:r>
          </a:p>
          <a:p>
            <a:pPr marL="219456" indent="-182880" algn="l">
              <a:spcAft>
                <a:spcPts val="400"/>
              </a:spcAft>
              <a:buClr>
                <a:srgbClr val="1677B8"/>
              </a:buClr>
              <a:buFont typeface="Arial"/>
              <a:buChar char="•"/>
            </a:pPr>
            <a:r>
              <a:rPr sz="1300" b="0" i="0">
                <a:solidFill>
                  <a:srgbClr val="17212B"/>
                </a:solidFill>
                <a:latin typeface="Arial"/>
              </a:rPr>
              <a:t>→ Loại </a:t>
            </a:r>
            <a:r>
              <a:rPr sz="1300" b="1" i="0">
                <a:solidFill>
                  <a:srgbClr val="17212B"/>
                </a:solidFill>
                <a:latin typeface="Arial"/>
              </a:rPr>
              <a:t>11 đoạn DataSEC (0,22%)</a:t>
            </a:r>
            <a:r>
              <a:rPr sz="1300" b="0" i="0">
                <a:solidFill>
                  <a:srgbClr val="17212B"/>
                </a:solidFill>
                <a:latin typeface="Arial"/>
              </a:rPr>
              <a:t> khỏi dữ liệu học thêm</a:t>
            </a:r>
          </a:p>
        </p:txBody>
      </p:sp>
      <p:sp>
        <p:nvSpPr>
          <p:cNvPr id="11" name="Rounded Rectangle 10"/>
          <p:cNvSpPr/>
          <p:nvPr/>
        </p:nvSpPr>
        <p:spPr>
          <a:xfrm>
            <a:off x="6537960" y="3703320"/>
            <a:ext cx="5193792" cy="137160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02552" y="3813048"/>
            <a:ext cx="4864607"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Tìm trùng 3 tầng</a:t>
            </a:r>
          </a:p>
        </p:txBody>
      </p:sp>
      <p:sp>
        <p:nvSpPr>
          <p:cNvPr id="13" name="TextBox 12"/>
          <p:cNvSpPr txBox="1"/>
          <p:nvPr/>
        </p:nvSpPr>
        <p:spPr>
          <a:xfrm>
            <a:off x="6702552" y="4197096"/>
            <a:ext cx="4864607" cy="804672"/>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Giống từng byte · giống sau khi đổi định dạng · nghe giống nhau (so “vân tay âm thanh”, ngưỡng đặt bằng thực nghiệm)</a:t>
            </a:r>
          </a:p>
        </p:txBody>
      </p:sp>
      <p:sp>
        <p:nvSpPr>
          <p:cNvPr id="14" name="Rounded Rectangle 13"/>
          <p:cNvSpPr/>
          <p:nvPr/>
        </p:nvSpPr>
        <p:spPr>
          <a:xfrm>
            <a:off x="6537960" y="5212080"/>
            <a:ext cx="5193792" cy="1051560"/>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02552" y="5321808"/>
            <a:ext cx="4864607"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Vì sao quan trọng</a:t>
            </a:r>
          </a:p>
        </p:txBody>
      </p:sp>
      <p:sp>
        <p:nvSpPr>
          <p:cNvPr id="16" name="TextBox 15"/>
          <p:cNvSpPr txBox="1"/>
          <p:nvPr/>
        </p:nvSpPr>
        <p:spPr>
          <a:xfrm>
            <a:off x="6702552" y="5705856"/>
            <a:ext cx="4864607" cy="48463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Không loại thì nhánh C được “xem trước đề thi” → RQ1 mất ý nghĩa.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03</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Chia dữ liệu theo nhóm trùng và khóa lại trước khi huấn luyện</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3 · Dữ liệu    8 / 29</a:t>
            </a:r>
          </a:p>
        </p:txBody>
      </p:sp>
      <p:sp>
        <p:nvSpPr>
          <p:cNvPr id="5" name="Rectangle 4"/>
          <p:cNvSpPr/>
          <p:nvPr/>
        </p:nvSpPr>
        <p:spPr>
          <a:xfrm>
            <a:off x="457200" y="1280160"/>
            <a:ext cx="6850807" cy="914400"/>
          </a:xfrm>
          <a:prstGeom prst="rect">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325880"/>
            <a:ext cx="6613063" cy="822960"/>
          </a:xfrm>
          <a:prstGeom prst="rect">
            <a:avLst/>
          </a:prstGeom>
          <a:noFill/>
        </p:spPr>
        <p:txBody>
          <a:bodyPr wrap="square" lIns="0" tIns="0" rIns="0" bIns="0" anchor="ctr">
            <a:spAutoFit/>
          </a:bodyPr>
          <a:lstStyle/>
          <a:p>
            <a:pPr algn="l">
              <a:spcAft>
                <a:spcPts val="400"/>
              </a:spcAft>
            </a:pPr>
            <a:r>
              <a:rPr sz="1400" b="1" i="0">
                <a:solidFill>
                  <a:srgbClr val="FFFFFF"/>
                </a:solidFill>
                <a:latin typeface="Arial"/>
              </a:rPr>
              <a:t>Train</a:t>
            </a:r>
          </a:p>
          <a:p>
            <a:pPr algn="l">
              <a:spcAft>
                <a:spcPts val="400"/>
              </a:spcAft>
            </a:pPr>
            <a:r>
              <a:rPr sz="1400" b="0" i="0">
                <a:solidFill>
                  <a:srgbClr val="FFFFFF"/>
                </a:solidFill>
                <a:latin typeface="Arial"/>
              </a:rPr>
              <a:t>438 bản ghi · học mô hình</a:t>
            </a:r>
          </a:p>
        </p:txBody>
      </p:sp>
      <p:sp>
        <p:nvSpPr>
          <p:cNvPr id="7" name="Rectangle 6"/>
          <p:cNvSpPr/>
          <p:nvPr/>
        </p:nvSpPr>
        <p:spPr>
          <a:xfrm>
            <a:off x="7344583" y="1280160"/>
            <a:ext cx="2117696" cy="914400"/>
          </a:xfrm>
          <a:prstGeom prst="rect">
            <a:avLst/>
          </a:prstGeom>
          <a:solidFill>
            <a:srgbClr val="167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81743" y="1325880"/>
            <a:ext cx="1879952" cy="822960"/>
          </a:xfrm>
          <a:prstGeom prst="rect">
            <a:avLst/>
          </a:prstGeom>
          <a:noFill/>
        </p:spPr>
        <p:txBody>
          <a:bodyPr wrap="square" lIns="0" tIns="0" rIns="0" bIns="0" anchor="ctr">
            <a:spAutoFit/>
          </a:bodyPr>
          <a:lstStyle/>
          <a:p>
            <a:pPr algn="l">
              <a:spcAft>
                <a:spcPts val="400"/>
              </a:spcAft>
            </a:pPr>
            <a:r>
              <a:rPr sz="1400" b="1" i="0">
                <a:solidFill>
                  <a:srgbClr val="FFFFFF"/>
                </a:solidFill>
                <a:latin typeface="Arial"/>
              </a:rPr>
              <a:t>Dev</a:t>
            </a:r>
          </a:p>
          <a:p>
            <a:pPr algn="l">
              <a:spcAft>
                <a:spcPts val="400"/>
              </a:spcAft>
            </a:pPr>
            <a:r>
              <a:rPr sz="1400" b="0" i="0">
                <a:solidFill>
                  <a:srgbClr val="FFFFFF"/>
                </a:solidFill>
                <a:latin typeface="Arial"/>
              </a:rPr>
              <a:t>137 · thử và chọn</a:t>
            </a:r>
          </a:p>
        </p:txBody>
      </p:sp>
      <p:sp>
        <p:nvSpPr>
          <p:cNvPr id="9" name="Rectangle 8"/>
          <p:cNvSpPr/>
          <p:nvPr/>
        </p:nvSpPr>
        <p:spPr>
          <a:xfrm>
            <a:off x="9498856" y="1280160"/>
            <a:ext cx="2196319" cy="914400"/>
          </a:xfrm>
          <a:prstGeom prst="rect">
            <a:avLst/>
          </a:prstGeom>
          <a:solidFill>
            <a:srgbClr val="2E9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36016" y="1325880"/>
            <a:ext cx="1958575" cy="822960"/>
          </a:xfrm>
          <a:prstGeom prst="rect">
            <a:avLst/>
          </a:prstGeom>
          <a:noFill/>
        </p:spPr>
        <p:txBody>
          <a:bodyPr wrap="square" lIns="0" tIns="0" rIns="0" bIns="0" anchor="ctr">
            <a:spAutoFit/>
          </a:bodyPr>
          <a:lstStyle/>
          <a:p>
            <a:pPr algn="l">
              <a:spcAft>
                <a:spcPts val="400"/>
              </a:spcAft>
            </a:pPr>
            <a:r>
              <a:rPr sz="1400" b="1" i="0">
                <a:solidFill>
                  <a:srgbClr val="FFFFFF"/>
                </a:solidFill>
                <a:latin typeface="Arial"/>
              </a:rPr>
              <a:t>Test</a:t>
            </a:r>
          </a:p>
          <a:p>
            <a:pPr algn="l">
              <a:spcAft>
                <a:spcPts val="400"/>
              </a:spcAft>
            </a:pPr>
            <a:r>
              <a:rPr sz="1400" b="0" i="0">
                <a:solidFill>
                  <a:srgbClr val="FFFFFF"/>
                </a:solidFill>
                <a:latin typeface="Arial"/>
              </a:rPr>
              <a:t>142 · thi một lần</a:t>
            </a:r>
          </a:p>
        </p:txBody>
      </p:sp>
      <p:sp>
        <p:nvSpPr>
          <p:cNvPr id="11" name="TextBox 10"/>
          <p:cNvSpPr txBox="1"/>
          <p:nvPr/>
        </p:nvSpPr>
        <p:spPr>
          <a:xfrm>
            <a:off x="457200" y="2240280"/>
            <a:ext cx="11274552" cy="274320"/>
          </a:xfrm>
          <a:prstGeom prst="rect">
            <a:avLst/>
          </a:prstGeom>
          <a:noFill/>
        </p:spPr>
        <p:txBody>
          <a:bodyPr wrap="square" lIns="0" tIns="0" rIns="0" bIns="0" anchor="t">
            <a:spAutoFit/>
          </a:bodyPr>
          <a:lstStyle/>
          <a:p>
            <a:pPr algn="l">
              <a:spcAft>
                <a:spcPts val="400"/>
              </a:spcAft>
            </a:pPr>
            <a:r>
              <a:rPr sz="1150" b="0" i="1">
                <a:solidFill>
                  <a:srgbClr val="667085"/>
                </a:solidFill>
                <a:latin typeface="Arial"/>
              </a:rPr>
              <a:t>DataSED, tỷ lệ 60 / 20 / 20 theo bản ghi; DataSEC chia 70 / 15 / 15.</a:t>
            </a:r>
          </a:p>
        </p:txBody>
      </p:sp>
      <p:graphicFrame>
        <p:nvGraphicFramePr>
          <p:cNvPr id="12" name="Table 11"/>
          <p:cNvGraphicFramePr>
            <a:graphicFrameLocks noGrp="1"/>
          </p:cNvGraphicFramePr>
          <p:nvPr/>
        </p:nvGraphicFramePr>
        <p:xfrm>
          <a:off x="457200" y="2697480"/>
          <a:ext cx="5120635" cy="1210056"/>
        </p:xfrm>
        <a:graphic>
          <a:graphicData uri="http://schemas.openxmlformats.org/drawingml/2006/table">
            <a:tbl>
              <a:tblPr firstRow="1">
                <a:tableStyleId>{5C22544A-7EE6-4342-B048-85BDC9FD1C3A}</a:tableStyleId>
              </a:tblPr>
              <a:tblGrid>
                <a:gridCol w="1024127">
                  <a:extLst>
                    <a:ext uri="{9D8B030D-6E8A-4147-A177-3AD203B41FA5}">
                      <a16:colId xmlns:a16="http://schemas.microsoft.com/office/drawing/2014/main" val="20000"/>
                    </a:ext>
                  </a:extLst>
                </a:gridCol>
                <a:gridCol w="1024127">
                  <a:extLst>
                    <a:ext uri="{9D8B030D-6E8A-4147-A177-3AD203B41FA5}">
                      <a16:colId xmlns:a16="http://schemas.microsoft.com/office/drawing/2014/main" val="20001"/>
                    </a:ext>
                  </a:extLst>
                </a:gridCol>
                <a:gridCol w="1024127">
                  <a:extLst>
                    <a:ext uri="{9D8B030D-6E8A-4147-A177-3AD203B41FA5}">
                      <a16:colId xmlns:a16="http://schemas.microsoft.com/office/drawing/2014/main" val="20002"/>
                    </a:ext>
                  </a:extLst>
                </a:gridCol>
                <a:gridCol w="1024127">
                  <a:extLst>
                    <a:ext uri="{9D8B030D-6E8A-4147-A177-3AD203B41FA5}">
                      <a16:colId xmlns:a16="http://schemas.microsoft.com/office/drawing/2014/main" val="20003"/>
                    </a:ext>
                  </a:extLst>
                </a:gridCol>
                <a:gridCol w="1024127">
                  <a:extLst>
                    <a:ext uri="{9D8B030D-6E8A-4147-A177-3AD203B41FA5}">
                      <a16:colId xmlns:a16="http://schemas.microsoft.com/office/drawing/2014/main" val="20004"/>
                    </a:ext>
                  </a:extLst>
                </a:gridCol>
              </a:tblGrid>
              <a:tr h="384048">
                <a:tc>
                  <a:txBody>
                    <a:bodyPr/>
                    <a:lstStyle/>
                    <a:p>
                      <a:pPr algn="ctr"/>
                      <a:r>
                        <a:rPr sz="1300" b="1">
                          <a:solidFill>
                            <a:srgbClr val="FFFFFF"/>
                          </a:solidFill>
                          <a:latin typeface="Arial"/>
                        </a:rPr>
                        <a:t>Bộ</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Train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Test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Số nhóm trùng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84048">
                <a:tc>
                  <a:txBody>
                    <a:bodyPr/>
                    <a:lstStyle/>
                    <a:p>
                      <a:pPr algn="l"/>
                      <a:r>
                        <a:rPr sz="1300" b="0">
                          <a:solidFill>
                            <a:srgbClr val="17212B"/>
                          </a:solidFill>
                          <a:latin typeface="Arial"/>
                        </a:rPr>
                        <a:t>DataSEC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3434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744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740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4873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84048">
                <a:tc>
                  <a:txBody>
                    <a:bodyPr/>
                    <a:lstStyle/>
                    <a:p>
                      <a:pPr algn="l"/>
                      <a:r>
                        <a:rPr sz="1300" b="0">
                          <a:solidFill>
                            <a:srgbClr val="17212B"/>
                          </a:solidFill>
                          <a:latin typeface="Arial"/>
                        </a:rPr>
                        <a:t>DataSED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438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137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687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457200" y="3886200"/>
            <a:ext cx="512064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data/splits/*.frozen.json</a:t>
            </a:r>
          </a:p>
        </p:txBody>
      </p:sp>
      <p:sp>
        <p:nvSpPr>
          <p:cNvPr id="14" name="Rounded Rectangle 13"/>
          <p:cNvSpPr/>
          <p:nvPr/>
        </p:nvSpPr>
        <p:spPr>
          <a:xfrm>
            <a:off x="457200" y="4297680"/>
            <a:ext cx="5120640" cy="19659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 y="4407408"/>
            <a:ext cx="4791455"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Quy tắc chia</a:t>
            </a:r>
          </a:p>
        </p:txBody>
      </p:sp>
      <p:sp>
        <p:nvSpPr>
          <p:cNvPr id="16" name="TextBox 15"/>
          <p:cNvSpPr txBox="1"/>
          <p:nvPr/>
        </p:nvSpPr>
        <p:spPr>
          <a:xfrm>
            <a:off x="621792" y="4791456"/>
            <a:ext cx="4791455" cy="139903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Các tệp trùng nhau luôn nằm </a:t>
            </a:r>
            <a:r>
              <a:rPr sz="1300" b="1" i="0">
                <a:solidFill>
                  <a:srgbClr val="17212B"/>
                </a:solidFill>
                <a:latin typeface="Arial"/>
              </a:rPr>
              <a:t>cùng một phần</a:t>
            </a:r>
          </a:p>
          <a:p>
            <a:pPr marL="219456" indent="-182880" algn="l">
              <a:spcAft>
                <a:spcPts val="400"/>
              </a:spcAft>
              <a:buClr>
                <a:srgbClr val="1677B8"/>
              </a:buClr>
              <a:buFont typeface="Arial"/>
              <a:buChar char="•"/>
            </a:pPr>
            <a:r>
              <a:rPr sz="1300" b="0" i="0">
                <a:solidFill>
                  <a:srgbClr val="17212B"/>
                </a:solidFill>
                <a:latin typeface="Arial"/>
              </a:rPr>
              <a:t>Mỗi phần đều có đủ 21 loại âm</a:t>
            </a:r>
          </a:p>
          <a:p>
            <a:pPr marL="219456" indent="-182880" algn="l">
              <a:spcAft>
                <a:spcPts val="400"/>
              </a:spcAft>
              <a:buClr>
                <a:srgbClr val="1677B8"/>
              </a:buClr>
              <a:buFont typeface="Arial"/>
              <a:buChar char="•"/>
            </a:pPr>
            <a:r>
              <a:rPr sz="1300" b="0" i="0">
                <a:solidFill>
                  <a:srgbClr val="17212B"/>
                </a:solidFill>
                <a:latin typeface="Arial"/>
              </a:rPr>
              <a:t>Khóa bằng mã băm SHA-256: sửa tệp chia thì bước kiểm tra từ chối chạy</a:t>
            </a:r>
          </a:p>
        </p:txBody>
      </p:sp>
      <p:sp>
        <p:nvSpPr>
          <p:cNvPr id="17" name="Rounded Rectangle 16"/>
          <p:cNvSpPr/>
          <p:nvPr/>
        </p:nvSpPr>
        <p:spPr>
          <a:xfrm>
            <a:off x="5806440" y="2697480"/>
            <a:ext cx="5925312" cy="16916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71031" y="2807208"/>
            <a:ext cx="5596128"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14 bản ghi thiếu nhãn</a:t>
            </a:r>
          </a:p>
        </p:txBody>
      </p:sp>
      <p:sp>
        <p:nvSpPr>
          <p:cNvPr id="19" name="TextBox 18"/>
          <p:cNvSpPr txBox="1"/>
          <p:nvPr/>
        </p:nvSpPr>
        <p:spPr>
          <a:xfrm>
            <a:off x="5971031" y="3191256"/>
            <a:ext cx="5596128" cy="1124712"/>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14 bản ghi wind_turbine không có nhãn sự kiện đa âm → chấm vào sẽ bị tính sai oan</a:t>
            </a:r>
          </a:p>
          <a:p>
            <a:pPr marL="219456" indent="-182880" algn="l">
              <a:spcAft>
                <a:spcPts val="400"/>
              </a:spcAft>
              <a:buClr>
                <a:srgbClr val="1677B8"/>
              </a:buClr>
              <a:buFont typeface="Arial"/>
              <a:buChar char="•"/>
            </a:pPr>
            <a:r>
              <a:rPr sz="1300" b="0" i="0">
                <a:solidFill>
                  <a:srgbClr val="17212B"/>
                </a:solidFill>
                <a:latin typeface="Arial"/>
              </a:rPr>
              <a:t>→ Chấm trên tập </a:t>
            </a:r>
            <a:r>
              <a:rPr sz="1300" b="1" i="0">
                <a:solidFill>
                  <a:srgbClr val="17212B"/>
                </a:solidFill>
                <a:latin typeface="Arial"/>
              </a:rPr>
              <a:t>annotated</a:t>
            </a:r>
            <a:r>
              <a:rPr sz="1300" b="0" i="0">
                <a:solidFill>
                  <a:srgbClr val="17212B"/>
                </a:solidFill>
                <a:latin typeface="Arial"/>
              </a:rPr>
              <a:t>: dev 134, test 139 bản ghi</a:t>
            </a:r>
          </a:p>
        </p:txBody>
      </p:sp>
      <p:sp>
        <p:nvSpPr>
          <p:cNvPr id="20" name="Rounded Rectangle 19"/>
          <p:cNvSpPr/>
          <p:nvPr/>
        </p:nvSpPr>
        <p:spPr>
          <a:xfrm>
            <a:off x="5806440" y="4526280"/>
            <a:ext cx="5925312" cy="17373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71031" y="4636008"/>
            <a:ext cx="5596128"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Nhãn của người cũng không tuyệt đối</a:t>
            </a:r>
          </a:p>
        </p:txBody>
      </p:sp>
      <p:sp>
        <p:nvSpPr>
          <p:cNvPr id="22" name="TextBox 21"/>
          <p:cNvSpPr txBox="1"/>
          <p:nvPr/>
        </p:nvSpPr>
        <p:spPr>
          <a:xfrm>
            <a:off x="5971031" y="5020056"/>
            <a:ext cx="5596128" cy="117043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8 bản ghi bị gán nhãn hai lần: hai lần chỉ khớp nhau </a:t>
            </a:r>
            <a:r>
              <a:rPr sz="1300" b="1" i="0">
                <a:solidFill>
                  <a:srgbClr val="17212B"/>
                </a:solidFill>
                <a:latin typeface="Arial"/>
              </a:rPr>
              <a:t>0,58</a:t>
            </a:r>
            <a:r>
              <a:rPr sz="1300" b="0" i="0">
                <a:solidFill>
                  <a:srgbClr val="17212B"/>
                </a:solidFill>
                <a:latin typeface="Arial"/>
              </a:rPr>
              <a:t> (event-F1)</a:t>
            </a:r>
          </a:p>
          <a:p>
            <a:pPr marL="219456" indent="-182880" algn="l">
              <a:spcAft>
                <a:spcPts val="400"/>
              </a:spcAft>
              <a:buClr>
                <a:srgbClr val="1677B8"/>
              </a:buClr>
              <a:buFont typeface="Arial"/>
              <a:buChar char="•"/>
            </a:pPr>
            <a:r>
              <a:rPr sz="1300" b="0" i="0">
                <a:solidFill>
                  <a:srgbClr val="17212B"/>
                </a:solidFill>
                <a:latin typeface="Arial"/>
              </a:rPr>
              <a:t>→ Không nên kỳ vọng máy đạt gần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04</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Luật chơi: học trên train, chọn trên dev, thi test đúng một lần</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4 · Phương pháp và kịch bản    9 / 29</a:t>
            </a:r>
          </a:p>
        </p:txBody>
      </p:sp>
      <p:sp>
        <p:nvSpPr>
          <p:cNvPr id="5" name="Rounded Rectangle 4"/>
          <p:cNvSpPr/>
          <p:nvPr/>
        </p:nvSpPr>
        <p:spPr>
          <a:xfrm>
            <a:off x="457200" y="1280160"/>
            <a:ext cx="3429000" cy="19659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1792" y="1417320"/>
            <a:ext cx="566928" cy="566928"/>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Train</a:t>
            </a:r>
          </a:p>
        </p:txBody>
      </p:sp>
      <p:sp>
        <p:nvSpPr>
          <p:cNvPr id="7" name="TextBox 6"/>
          <p:cNvSpPr txBox="1"/>
          <p:nvPr/>
        </p:nvSpPr>
        <p:spPr>
          <a:xfrm>
            <a:off x="1325880" y="1417320"/>
            <a:ext cx="2423160" cy="566928"/>
          </a:xfrm>
          <a:prstGeom prst="rect">
            <a:avLst/>
          </a:prstGeom>
          <a:noFill/>
        </p:spPr>
        <p:txBody>
          <a:bodyPr wrap="square" lIns="0" tIns="0" rIns="0" bIns="0" anchor="ctr">
            <a:spAutoFit/>
          </a:bodyPr>
          <a:lstStyle/>
          <a:p>
            <a:pPr algn="l">
              <a:spcAft>
                <a:spcPts val="400"/>
              </a:spcAft>
            </a:pPr>
            <a:r>
              <a:rPr sz="1600" b="1" i="0">
                <a:solidFill>
                  <a:srgbClr val="062F5C"/>
                </a:solidFill>
                <a:latin typeface="Arial"/>
              </a:rPr>
              <a:t>Học mô hình</a:t>
            </a:r>
          </a:p>
        </p:txBody>
      </p:sp>
      <p:sp>
        <p:nvSpPr>
          <p:cNvPr id="8" name="TextBox 7"/>
          <p:cNvSpPr txBox="1"/>
          <p:nvPr/>
        </p:nvSpPr>
        <p:spPr>
          <a:xfrm>
            <a:off x="621792" y="2103120"/>
            <a:ext cx="3099816" cy="1097280"/>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Suy giới hạn độ dài sự kiện từ đây</a:t>
            </a:r>
          </a:p>
        </p:txBody>
      </p:sp>
      <p:sp>
        <p:nvSpPr>
          <p:cNvPr id="9" name="Right Arrow 8"/>
          <p:cNvSpPr/>
          <p:nvPr/>
        </p:nvSpPr>
        <p:spPr>
          <a:xfrm>
            <a:off x="3968496" y="2121408"/>
            <a:ext cx="329184"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79976" y="1280160"/>
            <a:ext cx="3429000" cy="19659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44568" y="1417320"/>
            <a:ext cx="566928" cy="566928"/>
          </a:xfrm>
          <a:prstGeom prst="roundRect">
            <a:avLst>
              <a:gd name="adj" fmla="val 18000"/>
            </a:avLst>
          </a:prstGeom>
          <a:solidFill>
            <a:srgbClr val="1677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Dev</a:t>
            </a:r>
          </a:p>
        </p:txBody>
      </p:sp>
      <p:sp>
        <p:nvSpPr>
          <p:cNvPr id="12" name="TextBox 11"/>
          <p:cNvSpPr txBox="1"/>
          <p:nvPr/>
        </p:nvSpPr>
        <p:spPr>
          <a:xfrm>
            <a:off x="5248656" y="1417320"/>
            <a:ext cx="2423160" cy="566928"/>
          </a:xfrm>
          <a:prstGeom prst="rect">
            <a:avLst/>
          </a:prstGeom>
          <a:noFill/>
        </p:spPr>
        <p:txBody>
          <a:bodyPr wrap="square" lIns="0" tIns="0" rIns="0" bIns="0" anchor="ctr">
            <a:spAutoFit/>
          </a:bodyPr>
          <a:lstStyle/>
          <a:p>
            <a:pPr algn="l">
              <a:spcAft>
                <a:spcPts val="400"/>
              </a:spcAft>
            </a:pPr>
            <a:r>
              <a:rPr sz="1600" b="1" i="0">
                <a:solidFill>
                  <a:srgbClr val="1677B8"/>
                </a:solidFill>
                <a:latin typeface="Arial"/>
              </a:rPr>
              <a:t>Thử và chọn</a:t>
            </a:r>
          </a:p>
        </p:txBody>
      </p:sp>
      <p:sp>
        <p:nvSpPr>
          <p:cNvPr id="13" name="TextBox 12"/>
          <p:cNvSpPr txBox="1"/>
          <p:nvPr/>
        </p:nvSpPr>
        <p:spPr>
          <a:xfrm>
            <a:off x="4544568" y="2103120"/>
            <a:ext cx="3099816" cy="1097280"/>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Chọn ngưỡng, cấu hình, ứng viên</a:t>
            </a:r>
          </a:p>
          <a:p>
            <a:pPr marL="219456" indent="-182880" algn="l">
              <a:spcAft>
                <a:spcPts val="400"/>
              </a:spcAft>
              <a:buClr>
                <a:srgbClr val="1677B8"/>
              </a:buClr>
              <a:buFont typeface="Arial"/>
              <a:buChar char="•"/>
            </a:pPr>
            <a:r>
              <a:rPr sz="1300" b="1" i="0">
                <a:solidFill>
                  <a:srgbClr val="17212B"/>
                </a:solidFill>
                <a:latin typeface="Arial"/>
              </a:rPr>
              <a:t>Luật chọn ghi trước</a:t>
            </a:r>
            <a:r>
              <a:rPr sz="1300" b="0" i="0">
                <a:solidFill>
                  <a:srgbClr val="17212B"/>
                </a:solidFill>
                <a:latin typeface="Arial"/>
              </a:rPr>
              <a:t>, lựa chọn commit lên git trước khi mở test</a:t>
            </a:r>
          </a:p>
        </p:txBody>
      </p:sp>
      <p:sp>
        <p:nvSpPr>
          <p:cNvPr id="14" name="Right Arrow 13"/>
          <p:cNvSpPr/>
          <p:nvPr/>
        </p:nvSpPr>
        <p:spPr>
          <a:xfrm>
            <a:off x="7891271" y="2121408"/>
            <a:ext cx="329184"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302752" y="1280160"/>
            <a:ext cx="3429000" cy="19659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467344" y="1417320"/>
            <a:ext cx="566928" cy="566928"/>
          </a:xfrm>
          <a:prstGeom prst="roundRect">
            <a:avLst>
              <a:gd name="adj" fmla="val 18000"/>
            </a:avLst>
          </a:prstGeom>
          <a:solidFill>
            <a:srgbClr val="2E9B6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Test</a:t>
            </a:r>
          </a:p>
        </p:txBody>
      </p:sp>
      <p:sp>
        <p:nvSpPr>
          <p:cNvPr id="17" name="TextBox 16"/>
          <p:cNvSpPr txBox="1"/>
          <p:nvPr/>
        </p:nvSpPr>
        <p:spPr>
          <a:xfrm>
            <a:off x="9171432" y="1417320"/>
            <a:ext cx="2423160" cy="566928"/>
          </a:xfrm>
          <a:prstGeom prst="rect">
            <a:avLst/>
          </a:prstGeom>
          <a:noFill/>
        </p:spPr>
        <p:txBody>
          <a:bodyPr wrap="square" lIns="0" tIns="0" rIns="0" bIns="0" anchor="ctr">
            <a:spAutoFit/>
          </a:bodyPr>
          <a:lstStyle/>
          <a:p>
            <a:pPr algn="l">
              <a:spcAft>
                <a:spcPts val="400"/>
              </a:spcAft>
            </a:pPr>
            <a:r>
              <a:rPr sz="1600" b="1" i="0">
                <a:solidFill>
                  <a:srgbClr val="2E9B67"/>
                </a:solidFill>
                <a:latin typeface="Arial"/>
              </a:rPr>
              <a:t>Thi một lần</a:t>
            </a:r>
          </a:p>
        </p:txBody>
      </p:sp>
      <p:sp>
        <p:nvSpPr>
          <p:cNvPr id="18" name="TextBox 17"/>
          <p:cNvSpPr txBox="1"/>
          <p:nvPr/>
        </p:nvSpPr>
        <p:spPr>
          <a:xfrm>
            <a:off x="8467344" y="2103120"/>
            <a:ext cx="3099816" cy="1097280"/>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Chỉ chấm cấu hình đã chọn</a:t>
            </a:r>
          </a:p>
          <a:p>
            <a:pPr marL="219456" indent="-182880" algn="l">
              <a:spcAft>
                <a:spcPts val="400"/>
              </a:spcAft>
              <a:buClr>
                <a:srgbClr val="1677B8"/>
              </a:buClr>
              <a:buFont typeface="Arial"/>
              <a:buChar char="•"/>
            </a:pPr>
            <a:r>
              <a:rPr sz="1300" b="0" i="0">
                <a:solidFill>
                  <a:srgbClr val="17212B"/>
                </a:solidFill>
                <a:latin typeface="Arial"/>
              </a:rPr>
              <a:t>Báo cả kết quả xấu, </a:t>
            </a:r>
            <a:r>
              <a:rPr sz="1300" b="1" i="0">
                <a:solidFill>
                  <a:srgbClr val="17212B"/>
                </a:solidFill>
                <a:latin typeface="Arial"/>
              </a:rPr>
              <a:t>không chọn lại</a:t>
            </a:r>
            <a:r>
              <a:rPr sz="1300" b="0" i="0">
                <a:solidFill>
                  <a:srgbClr val="17212B"/>
                </a:solidFill>
                <a:latin typeface="Arial"/>
              </a:rPr>
              <a:t> theo điểm test</a:t>
            </a:r>
          </a:p>
        </p:txBody>
      </p:sp>
      <p:sp>
        <p:nvSpPr>
          <p:cNvPr id="19" name="TextBox 18"/>
          <p:cNvSpPr txBox="1"/>
          <p:nvPr/>
        </p:nvSpPr>
        <p:spPr>
          <a:xfrm>
            <a:off x="457200" y="3429000"/>
            <a:ext cx="11274552" cy="365760"/>
          </a:xfrm>
          <a:prstGeom prst="rect">
            <a:avLst/>
          </a:prstGeom>
          <a:noFill/>
        </p:spPr>
        <p:txBody>
          <a:bodyPr wrap="square" lIns="0" tIns="0" rIns="0" bIns="0" anchor="t">
            <a:spAutoFit/>
          </a:bodyPr>
          <a:lstStyle/>
          <a:p>
            <a:pPr algn="l">
              <a:spcAft>
                <a:spcPts val="400"/>
              </a:spcAft>
            </a:pPr>
            <a:r>
              <a:rPr sz="1600" b="1" i="0">
                <a:solidFill>
                  <a:srgbClr val="062F5C"/>
                </a:solidFill>
                <a:latin typeface="Arial"/>
              </a:rPr>
              <a:t>Cách đọc điểm event-F1 — ví dụ thật của hệ cuối (f2) trên tập test</a:t>
            </a:r>
          </a:p>
        </p:txBody>
      </p:sp>
      <p:sp>
        <p:nvSpPr>
          <p:cNvPr id="20" name="Rounded Rectangle 19"/>
          <p:cNvSpPr/>
          <p:nvPr/>
        </p:nvSpPr>
        <p:spPr>
          <a:xfrm>
            <a:off x="457200" y="3886200"/>
            <a:ext cx="2240280" cy="1325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 y="3959352"/>
            <a:ext cx="1911096"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740</a:t>
            </a:r>
          </a:p>
        </p:txBody>
      </p:sp>
      <p:sp>
        <p:nvSpPr>
          <p:cNvPr id="22" name="TextBox 21"/>
          <p:cNvSpPr txBox="1"/>
          <p:nvPr/>
        </p:nvSpPr>
        <p:spPr>
          <a:xfrm>
            <a:off x="621792" y="4526280"/>
            <a:ext cx="1911096" cy="63093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sự kiện thật trong tập test</a:t>
            </a:r>
          </a:p>
        </p:txBody>
      </p:sp>
      <p:sp>
        <p:nvSpPr>
          <p:cNvPr id="23" name="Rounded Rectangle 22"/>
          <p:cNvSpPr/>
          <p:nvPr/>
        </p:nvSpPr>
        <p:spPr>
          <a:xfrm>
            <a:off x="2834640" y="3886200"/>
            <a:ext cx="2240280" cy="1325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99232" y="3959352"/>
            <a:ext cx="1911096"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295</a:t>
            </a:r>
          </a:p>
        </p:txBody>
      </p:sp>
      <p:sp>
        <p:nvSpPr>
          <p:cNvPr id="25" name="TextBox 24"/>
          <p:cNvSpPr txBox="1"/>
          <p:nvPr/>
        </p:nvSpPr>
        <p:spPr>
          <a:xfrm>
            <a:off x="2999232" y="4526280"/>
            <a:ext cx="1911096" cy="63093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sự kiện máy báo ra</a:t>
            </a:r>
          </a:p>
        </p:txBody>
      </p:sp>
      <p:sp>
        <p:nvSpPr>
          <p:cNvPr id="26" name="Rounded Rectangle 25"/>
          <p:cNvSpPr/>
          <p:nvPr/>
        </p:nvSpPr>
        <p:spPr>
          <a:xfrm>
            <a:off x="5212080" y="3886200"/>
            <a:ext cx="2240280" cy="1325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76672" y="3959352"/>
            <a:ext cx="1911096"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85</a:t>
            </a:r>
          </a:p>
        </p:txBody>
      </p:sp>
      <p:sp>
        <p:nvSpPr>
          <p:cNvPr id="28" name="TextBox 27"/>
          <p:cNvSpPr txBox="1"/>
          <p:nvPr/>
        </p:nvSpPr>
        <p:spPr>
          <a:xfrm>
            <a:off x="5376672" y="4526280"/>
            <a:ext cx="1911096" cy="63093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báo đúng: đúng loại âm, lệch thời điểm bắt đầu ≤ 0,2 s</a:t>
            </a:r>
          </a:p>
        </p:txBody>
      </p:sp>
      <p:sp>
        <p:nvSpPr>
          <p:cNvPr id="29" name="Rounded Rectangle 28"/>
          <p:cNvSpPr/>
          <p:nvPr/>
        </p:nvSpPr>
        <p:spPr>
          <a:xfrm>
            <a:off x="7589520" y="3886200"/>
            <a:ext cx="4142232" cy="23774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54112" y="3995928"/>
            <a:ext cx="3813048"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Ba con số</a:t>
            </a:r>
          </a:p>
        </p:txBody>
      </p:sp>
      <p:sp>
        <p:nvSpPr>
          <p:cNvPr id="31" name="TextBox 30"/>
          <p:cNvSpPr txBox="1"/>
          <p:nvPr/>
        </p:nvSpPr>
        <p:spPr>
          <a:xfrm>
            <a:off x="7754112" y="4379976"/>
            <a:ext cx="3813048" cy="181051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50" b="1" i="0">
                <a:solidFill>
                  <a:srgbClr val="17212B"/>
                </a:solidFill>
                <a:latin typeface="Arial"/>
              </a:rPr>
              <a:t>Precision</a:t>
            </a:r>
            <a:r>
              <a:rPr sz="1250" b="0" i="0">
                <a:solidFill>
                  <a:srgbClr val="17212B"/>
                </a:solidFill>
                <a:latin typeface="Arial"/>
              </a:rPr>
              <a:t> = 85/295 = 0,29: trong cái máy báo, bao nhiêu đúng</a:t>
            </a:r>
          </a:p>
          <a:p>
            <a:pPr marL="219456" indent="-182880" algn="l">
              <a:spcAft>
                <a:spcPts val="400"/>
              </a:spcAft>
              <a:buClr>
                <a:srgbClr val="1677B8"/>
              </a:buClr>
              <a:buFont typeface="Arial"/>
              <a:buChar char="•"/>
            </a:pPr>
            <a:r>
              <a:rPr sz="1250" b="1" i="0">
                <a:solidFill>
                  <a:srgbClr val="17212B"/>
                </a:solidFill>
                <a:latin typeface="Arial"/>
              </a:rPr>
              <a:t>Recall</a:t>
            </a:r>
            <a:r>
              <a:rPr sz="1250" b="0" i="0">
                <a:solidFill>
                  <a:srgbClr val="17212B"/>
                </a:solidFill>
                <a:latin typeface="Arial"/>
              </a:rPr>
              <a:t> = 85/740 = 0,11: tìm ra bao nhiêu sự kiện thật</a:t>
            </a:r>
          </a:p>
          <a:p>
            <a:pPr marL="219456" indent="-182880" algn="l">
              <a:spcAft>
                <a:spcPts val="400"/>
              </a:spcAft>
              <a:buClr>
                <a:srgbClr val="1677B8"/>
              </a:buClr>
              <a:buFont typeface="Arial"/>
              <a:buChar char="•"/>
            </a:pPr>
            <a:r>
              <a:rPr sz="1250" b="1" i="0">
                <a:solidFill>
                  <a:srgbClr val="17212B"/>
                </a:solidFill>
                <a:latin typeface="Arial"/>
              </a:rPr>
              <a:t>F1</a:t>
            </a:r>
            <a:r>
              <a:rPr sz="1250" b="0" i="0">
                <a:solidFill>
                  <a:srgbClr val="17212B"/>
                </a:solidFill>
                <a:latin typeface="Arial"/>
              </a:rPr>
              <a:t> = 0,16: cân bằng hai số trên</a:t>
            </a:r>
          </a:p>
        </p:txBody>
      </p:sp>
      <p:sp>
        <p:nvSpPr>
          <p:cNvPr id="32" name="TextBox 31"/>
          <p:cNvSpPr txBox="1"/>
          <p:nvPr/>
        </p:nvSpPr>
        <p:spPr>
          <a:xfrm>
            <a:off x="457200" y="5349240"/>
            <a:ext cx="6949440" cy="914400"/>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50" b="1" i="0">
                <a:solidFill>
                  <a:srgbClr val="17212B"/>
                </a:solidFill>
                <a:latin typeface="Arial"/>
              </a:rPr>
              <a:t>Micro</a:t>
            </a:r>
            <a:r>
              <a:rPr sz="1250" b="0" i="0">
                <a:solidFill>
                  <a:srgbClr val="17212B"/>
                </a:solidFill>
                <a:latin typeface="Arial"/>
              </a:rPr>
              <a:t>: gộp mọi sự kiện rồi tính · </a:t>
            </a:r>
            <a:r>
              <a:rPr sz="1250" b="1" i="0">
                <a:solidFill>
                  <a:srgbClr val="17212B"/>
                </a:solidFill>
                <a:latin typeface="Arial"/>
              </a:rPr>
              <a:t>Macro</a:t>
            </a:r>
            <a:r>
              <a:rPr sz="1250" b="0" i="0">
                <a:solidFill>
                  <a:srgbClr val="17212B"/>
                </a:solidFill>
                <a:latin typeface="Arial"/>
              </a:rPr>
              <a:t>: tính từng loại âm rồi lấy trung bình</a:t>
            </a:r>
          </a:p>
          <a:p>
            <a:pPr marL="219456" indent="-182880" algn="l">
              <a:spcAft>
                <a:spcPts val="400"/>
              </a:spcAft>
              <a:buClr>
                <a:srgbClr val="1677B8"/>
              </a:buClr>
              <a:buFont typeface="Arial"/>
              <a:buChar char="•"/>
            </a:pPr>
            <a:r>
              <a:rPr sz="1250" b="1" i="0">
                <a:solidFill>
                  <a:srgbClr val="17212B"/>
                </a:solidFill>
                <a:latin typeface="Arial"/>
              </a:rPr>
              <a:t>Khoảng tin cậy 95%</a:t>
            </a:r>
            <a:r>
              <a:rPr sz="1250" b="0" i="0">
                <a:solidFill>
                  <a:srgbClr val="17212B"/>
                </a:solidFill>
                <a:latin typeface="Arial"/>
              </a:rPr>
              <a:t> chồng nhau, hoặc chênh nhỏ hơn độ dao động → không gọi là “tốt hơn”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04</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Sáu kịch bản thí nghiệm, mỗi kịch bản trả lời một câu hỏi</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4 · Phương pháp và kịch bản    10 / 29</a:t>
            </a:r>
          </a:p>
        </p:txBody>
      </p:sp>
      <p:graphicFrame>
        <p:nvGraphicFramePr>
          <p:cNvPr id="5" name="Table 4"/>
          <p:cNvGraphicFramePr>
            <a:graphicFrameLocks noGrp="1"/>
          </p:cNvGraphicFramePr>
          <p:nvPr/>
        </p:nvGraphicFramePr>
        <p:xfrm>
          <a:off x="457200" y="1280160"/>
          <a:ext cx="11274549" cy="4224528"/>
        </p:xfrm>
        <a:graphic>
          <a:graphicData uri="http://schemas.openxmlformats.org/drawingml/2006/table">
            <a:tbl>
              <a:tblPr firstRow="1">
                <a:tableStyleId>{5C22544A-7EE6-4342-B048-85BDC9FD1C3A}</a:tableStyleId>
              </a:tblPr>
              <a:tblGrid>
                <a:gridCol w="549978">
                  <a:extLst>
                    <a:ext uri="{9D8B030D-6E8A-4147-A177-3AD203B41FA5}">
                      <a16:colId xmlns:a16="http://schemas.microsoft.com/office/drawing/2014/main" val="20000"/>
                    </a:ext>
                  </a:extLst>
                </a:gridCol>
                <a:gridCol w="3574857">
                  <a:extLst>
                    <a:ext uri="{9D8B030D-6E8A-4147-A177-3AD203B41FA5}">
                      <a16:colId xmlns:a16="http://schemas.microsoft.com/office/drawing/2014/main" val="20001"/>
                    </a:ext>
                  </a:extLst>
                </a:gridCol>
                <a:gridCol w="3116542">
                  <a:extLst>
                    <a:ext uri="{9D8B030D-6E8A-4147-A177-3AD203B41FA5}">
                      <a16:colId xmlns:a16="http://schemas.microsoft.com/office/drawing/2014/main" val="20002"/>
                    </a:ext>
                  </a:extLst>
                </a:gridCol>
                <a:gridCol w="2658227">
                  <a:extLst>
                    <a:ext uri="{9D8B030D-6E8A-4147-A177-3AD203B41FA5}">
                      <a16:colId xmlns:a16="http://schemas.microsoft.com/office/drawing/2014/main" val="20003"/>
                    </a:ext>
                  </a:extLst>
                </a:gridCol>
                <a:gridCol w="1374945">
                  <a:extLst>
                    <a:ext uri="{9D8B030D-6E8A-4147-A177-3AD203B41FA5}">
                      <a16:colId xmlns:a16="http://schemas.microsoft.com/office/drawing/2014/main" val="20004"/>
                    </a:ext>
                  </a:extLst>
                </a:gridCol>
              </a:tblGrid>
              <a:tr h="603504">
                <a:tc>
                  <a:txBody>
                    <a:bodyPr/>
                    <a:lstStyle/>
                    <a:p>
                      <a:pPr algn="ctr"/>
                      <a:endParaRP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400" b="1">
                          <a:solidFill>
                            <a:srgbClr val="FFFFFF"/>
                          </a:solidFill>
                          <a:latin typeface="Arial"/>
                        </a:rPr>
                        <a:t>Câu hỏi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400" b="1">
                          <a:solidFill>
                            <a:srgbClr val="FFFFFF"/>
                          </a:solidFill>
                          <a:latin typeface="Arial"/>
                        </a:rPr>
                        <a:t>So sánh gì</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400" b="1">
                          <a:solidFill>
                            <a:srgbClr val="FFFFFF"/>
                          </a:solidFill>
                          <a:latin typeface="Arial"/>
                        </a:rPr>
                        <a:t>Đo bằng gì</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400" b="1">
                          <a:solidFill>
                            <a:srgbClr val="FFFFFF"/>
                          </a:solidFill>
                          <a:latin typeface="Arial"/>
                        </a:rPr>
                        <a:t>Kết quả (slide)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603504">
                <a:tc>
                  <a:txBody>
                    <a:bodyPr/>
                    <a:lstStyle/>
                    <a:p>
                      <a:pPr algn="l"/>
                      <a:r>
                        <a:rPr sz="1400" b="0">
                          <a:solidFill>
                            <a:srgbClr val="17212B"/>
                          </a:solidFill>
                          <a:latin typeface="Arial"/>
                        </a:rPr>
                        <a:t>KB1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Học thêm DataSEC có giúp? (RQ1)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Nhánh C với nhánh B, nhiều lần chạy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Event-F1, PSDS, khoảng tin cậy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400" b="0">
                          <a:solidFill>
                            <a:srgbClr val="17212B"/>
                          </a:solidFill>
                          <a:latin typeface="Arial"/>
                        </a:rPr>
                        <a:t>18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603504">
                <a:tc>
                  <a:txBody>
                    <a:bodyPr/>
                    <a:lstStyle/>
                    <a:p>
                      <a:pPr algn="l"/>
                      <a:r>
                        <a:rPr sz="1400" b="0">
                          <a:solidFill>
                            <a:srgbClr val="17212B"/>
                          </a:solidFill>
                          <a:latin typeface="Arial"/>
                        </a:rPr>
                        <a:t>KB2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Vì sao v1 kém và sửa thế nào?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v1 với v2; bỏ từng thành phần của v2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Event-F1 trên 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400" b="0">
                          <a:solidFill>
                            <a:srgbClr val="17212B"/>
                          </a:solidFill>
                          <a:latin typeface="Arial"/>
                        </a:rPr>
                        <a:t>19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603504">
                <a:tc>
                  <a:txBody>
                    <a:bodyPr/>
                    <a:lstStyle/>
                    <a:p>
                      <a:pPr algn="l"/>
                      <a:r>
                        <a:rPr sz="1400" b="0">
                          <a:solidFill>
                            <a:srgbClr val="17212B"/>
                          </a:solidFill>
                          <a:latin typeface="Arial"/>
                        </a:rPr>
                        <a:t>KB3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Mô hình nền “nghe theo từng 40 ms” có tốt hơn?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T2a, T2b, focal loss so với v2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Event-F1 trên 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400" b="0">
                          <a:solidFill>
                            <a:srgbClr val="17212B"/>
                          </a:solidFill>
                          <a:latin typeface="Arial"/>
                        </a:rPr>
                        <a:t>20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603504">
                <a:tc>
                  <a:txBody>
                    <a:bodyPr/>
                    <a:lstStyle/>
                    <a:p>
                      <a:pPr algn="l"/>
                      <a:r>
                        <a:rPr sz="1400" b="0">
                          <a:solidFill>
                            <a:srgbClr val="17212B"/>
                          </a:solidFill>
                          <a:latin typeface="Arial"/>
                        </a:rPr>
                        <a:t>KB4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Chọn hệ cuối thế nào cho công bằng?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11 ứng viên, luật viết trước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Event-F1 micro (dev), test 1 lần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20–21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603504">
                <a:tc>
                  <a:txBody>
                    <a:bodyPr/>
                    <a:lstStyle/>
                    <a:p>
                      <a:pPr algn="l"/>
                      <a:r>
                        <a:rPr sz="1400" b="0">
                          <a:solidFill>
                            <a:srgbClr val="17212B"/>
                          </a:solidFill>
                          <a:latin typeface="Arial"/>
                        </a:rPr>
                        <a:t>KB5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Câu mô tả có bịa không? (RQ2)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4 cách viết mô tả, 2 mức chấm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Tỷ lệ bịa, bỏ sót, thêm bối cảnh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22–23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603504">
                <a:tc>
                  <a:txBody>
                    <a:bodyPr/>
                    <a:lstStyle/>
                    <a:p>
                      <a:pPr algn="l"/>
                      <a:r>
                        <a:rPr sz="1400" b="0">
                          <a:solidFill>
                            <a:srgbClr val="17212B"/>
                          </a:solidFill>
                          <a:latin typeface="Arial"/>
                        </a:rPr>
                        <a:t>KB6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Tìm lại sự kiện cách nào tốt? (RQ3)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3 cách tìm × 2 kho × Anh/Việt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nDCG@10, độ đúng bộ lọc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400" b="0">
                          <a:solidFill>
                            <a:srgbClr val="17212B"/>
                          </a:solidFill>
                          <a:latin typeface="Arial"/>
                        </a:rPr>
                        <a:t>24–25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57200" y="5623560"/>
            <a:ext cx="11274552" cy="640080"/>
          </a:xfrm>
          <a:prstGeom prst="rect">
            <a:avLst/>
          </a:prstGeom>
          <a:noFill/>
        </p:spPr>
        <p:txBody>
          <a:bodyPr wrap="square" lIns="0" tIns="0" rIns="0" bIns="0" anchor="t">
            <a:spAutoFit/>
          </a:bodyPr>
          <a:lstStyle/>
          <a:p>
            <a:pPr algn="l">
              <a:spcAft>
                <a:spcPts val="400"/>
              </a:spcAft>
            </a:pPr>
            <a:r>
              <a:rPr sz="1350" b="0" i="0">
                <a:solidFill>
                  <a:srgbClr val="667085"/>
                </a:solidFill>
                <a:latin typeface="Arial"/>
              </a:rPr>
              <a:t>Mỗi slide kịch bản dùng cùng một khung 4 ô: </a:t>
            </a:r>
            <a:r>
              <a:rPr sz="1350" b="1" i="0">
                <a:solidFill>
                  <a:srgbClr val="667085"/>
                </a:solidFill>
                <a:latin typeface="Arial"/>
              </a:rPr>
              <a:t>Câu hỏi → Cách làm → So sánh → Đo bằng</a:t>
            </a:r>
            <a:r>
              <a:rPr sz="1350" b="0" i="0">
                <a:solidFill>
                  <a:srgbClr val="667085"/>
                </a:solidFill>
                <a:latin typeface="Arial"/>
              </a:rPr>
              <a:t>. KB2–KB4 là các bước cải thiện mô hình phát hiện sự kiện (SED).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04</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KB1 (RQ1): ba cách khởi đầu, chỉ khác nhau ở bước học thêm</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4 · Phương pháp và kịch bản    11 / 29</a:t>
            </a:r>
          </a:p>
        </p:txBody>
      </p:sp>
      <p:sp>
        <p:nvSpPr>
          <p:cNvPr id="5" name="Rounded Rectangle 4"/>
          <p:cNvSpPr/>
          <p:nvPr/>
        </p:nvSpPr>
        <p:spPr>
          <a:xfrm>
            <a:off x="457200"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85216" y="1307592"/>
            <a:ext cx="292608" cy="29260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1</a:t>
            </a:r>
          </a:p>
        </p:txBody>
      </p:sp>
      <p:sp>
        <p:nvSpPr>
          <p:cNvPr id="7" name="TextBox 6"/>
          <p:cNvSpPr txBox="1"/>
          <p:nvPr/>
        </p:nvSpPr>
        <p:spPr>
          <a:xfrm>
            <a:off x="950976" y="1280160"/>
            <a:ext cx="2130552" cy="329184"/>
          </a:xfrm>
          <a:prstGeom prst="rect">
            <a:avLst/>
          </a:prstGeom>
          <a:noFill/>
        </p:spPr>
        <p:txBody>
          <a:bodyPr wrap="square" lIns="0" tIns="0" rIns="0" bIns="0" anchor="ctr">
            <a:spAutoFit/>
          </a:bodyPr>
          <a:lstStyle/>
          <a:p>
            <a:pPr algn="l">
              <a:spcAft>
                <a:spcPts val="400"/>
              </a:spcAft>
            </a:pPr>
            <a:r>
              <a:rPr sz="1250" b="1" i="0">
                <a:solidFill>
                  <a:srgbClr val="062F5C"/>
                </a:solidFill>
                <a:latin typeface="Arial"/>
              </a:rPr>
              <a:t>Câu hỏi</a:t>
            </a:r>
          </a:p>
        </p:txBody>
      </p:sp>
      <p:sp>
        <p:nvSpPr>
          <p:cNvPr id="8" name="TextBox 7"/>
          <p:cNvSpPr txBox="1"/>
          <p:nvPr/>
        </p:nvSpPr>
        <p:spPr>
          <a:xfrm>
            <a:off x="603504"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Học thêm trên DataSEC có giúp phát hiện sự kiện tốt hơn không?</a:t>
            </a:r>
          </a:p>
        </p:txBody>
      </p:sp>
      <p:sp>
        <p:nvSpPr>
          <p:cNvPr id="9" name="Rounded Rectangle 8"/>
          <p:cNvSpPr/>
          <p:nvPr/>
        </p:nvSpPr>
        <p:spPr>
          <a:xfrm>
            <a:off x="3310128"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38144" y="1307592"/>
            <a:ext cx="292608" cy="292608"/>
          </a:xfrm>
          <a:prstGeom prst="ellipse">
            <a:avLst/>
          </a:prstGeom>
          <a:solidFill>
            <a:srgbClr val="1677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11" name="TextBox 10"/>
          <p:cNvSpPr txBox="1"/>
          <p:nvPr/>
        </p:nvSpPr>
        <p:spPr>
          <a:xfrm>
            <a:off x="3803904" y="1280160"/>
            <a:ext cx="2130552" cy="329184"/>
          </a:xfrm>
          <a:prstGeom prst="rect">
            <a:avLst/>
          </a:prstGeom>
          <a:noFill/>
        </p:spPr>
        <p:txBody>
          <a:bodyPr wrap="square" lIns="0" tIns="0" rIns="0" bIns="0" anchor="ctr">
            <a:spAutoFit/>
          </a:bodyPr>
          <a:lstStyle/>
          <a:p>
            <a:pPr algn="l">
              <a:spcAft>
                <a:spcPts val="400"/>
              </a:spcAft>
            </a:pPr>
            <a:r>
              <a:rPr sz="1250" b="1" i="0">
                <a:solidFill>
                  <a:srgbClr val="1677B8"/>
                </a:solidFill>
                <a:latin typeface="Arial"/>
              </a:rPr>
              <a:t>Cách làm</a:t>
            </a:r>
          </a:p>
        </p:txBody>
      </p:sp>
      <p:sp>
        <p:nvSpPr>
          <p:cNvPr id="12" name="TextBox 11"/>
          <p:cNvSpPr txBox="1"/>
          <p:nvPr/>
        </p:nvSpPr>
        <p:spPr>
          <a:xfrm>
            <a:off x="3456432"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Ba nhánh dùng cùng cách chia dữ liệu, cùng số vòng học, cùng cách ghép sự kiện.</a:t>
            </a:r>
          </a:p>
        </p:txBody>
      </p:sp>
      <p:sp>
        <p:nvSpPr>
          <p:cNvPr id="13" name="Rounded Rectangle 12"/>
          <p:cNvSpPr/>
          <p:nvPr/>
        </p:nvSpPr>
        <p:spPr>
          <a:xfrm>
            <a:off x="6163056"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91072" y="1307592"/>
            <a:ext cx="292608" cy="292608"/>
          </a:xfrm>
          <a:prstGeom prst="ellipse">
            <a:avLst/>
          </a:prstGeom>
          <a:solidFill>
            <a:srgbClr val="2E9B6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3</a:t>
            </a:r>
          </a:p>
        </p:txBody>
      </p:sp>
      <p:sp>
        <p:nvSpPr>
          <p:cNvPr id="15" name="TextBox 14"/>
          <p:cNvSpPr txBox="1"/>
          <p:nvPr/>
        </p:nvSpPr>
        <p:spPr>
          <a:xfrm>
            <a:off x="6656832" y="1280160"/>
            <a:ext cx="2130552" cy="329184"/>
          </a:xfrm>
          <a:prstGeom prst="rect">
            <a:avLst/>
          </a:prstGeom>
          <a:noFill/>
        </p:spPr>
        <p:txBody>
          <a:bodyPr wrap="square" lIns="0" tIns="0" rIns="0" bIns="0" anchor="ctr">
            <a:spAutoFit/>
          </a:bodyPr>
          <a:lstStyle/>
          <a:p>
            <a:pPr algn="l">
              <a:spcAft>
                <a:spcPts val="400"/>
              </a:spcAft>
            </a:pPr>
            <a:r>
              <a:rPr sz="1250" b="1" i="0">
                <a:solidFill>
                  <a:srgbClr val="2E9B67"/>
                </a:solidFill>
                <a:latin typeface="Arial"/>
              </a:rPr>
              <a:t>So sánh</a:t>
            </a:r>
          </a:p>
        </p:txBody>
      </p:sp>
      <p:sp>
        <p:nvSpPr>
          <p:cNvPr id="16" name="TextBox 15"/>
          <p:cNvSpPr txBox="1"/>
          <p:nvPr/>
        </p:nvSpPr>
        <p:spPr>
          <a:xfrm>
            <a:off x="6309360"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Nhánh C với nhánh B, lặp ở 2 công thức: v1 (3 lần B, 4 lần C), v2 (3 và 3).</a:t>
            </a:r>
          </a:p>
        </p:txBody>
      </p:sp>
      <p:sp>
        <p:nvSpPr>
          <p:cNvPr id="17" name="Rounded Rectangle 16"/>
          <p:cNvSpPr/>
          <p:nvPr/>
        </p:nvSpPr>
        <p:spPr>
          <a:xfrm>
            <a:off x="9015984"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44000" y="1307592"/>
            <a:ext cx="292608" cy="29260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4</a:t>
            </a:r>
          </a:p>
        </p:txBody>
      </p:sp>
      <p:sp>
        <p:nvSpPr>
          <p:cNvPr id="19" name="TextBox 18"/>
          <p:cNvSpPr txBox="1"/>
          <p:nvPr/>
        </p:nvSpPr>
        <p:spPr>
          <a:xfrm>
            <a:off x="9509759" y="1280160"/>
            <a:ext cx="2130552" cy="329184"/>
          </a:xfrm>
          <a:prstGeom prst="rect">
            <a:avLst/>
          </a:prstGeom>
          <a:noFill/>
        </p:spPr>
        <p:txBody>
          <a:bodyPr wrap="square" lIns="0" tIns="0" rIns="0" bIns="0" anchor="ctr">
            <a:spAutoFit/>
          </a:bodyPr>
          <a:lstStyle/>
          <a:p>
            <a:pPr algn="l">
              <a:spcAft>
                <a:spcPts val="400"/>
              </a:spcAft>
            </a:pPr>
            <a:r>
              <a:rPr sz="1250" b="1" i="0">
                <a:solidFill>
                  <a:srgbClr val="8A5A00"/>
                </a:solidFill>
                <a:latin typeface="Arial"/>
              </a:rPr>
              <a:t>Đo bằng</a:t>
            </a:r>
          </a:p>
        </p:txBody>
      </p:sp>
      <p:sp>
        <p:nvSpPr>
          <p:cNvPr id="20" name="TextBox 19"/>
          <p:cNvSpPr txBox="1"/>
          <p:nvPr/>
        </p:nvSpPr>
        <p:spPr>
          <a:xfrm>
            <a:off x="9162288"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Event-F1, PSDS; khoảng tin cậy 95% và kiểm định t (Welch).</a:t>
            </a:r>
          </a:p>
        </p:txBody>
      </p:sp>
      <p:sp>
        <p:nvSpPr>
          <p:cNvPr id="21" name="TextBox 20"/>
          <p:cNvSpPr txBox="1"/>
          <p:nvPr/>
        </p:nvSpPr>
        <p:spPr>
          <a:xfrm>
            <a:off x="1051560" y="2377440"/>
            <a:ext cx="3108960" cy="292608"/>
          </a:xfrm>
          <a:prstGeom prst="rect">
            <a:avLst/>
          </a:prstGeom>
          <a:noFill/>
        </p:spPr>
        <p:txBody>
          <a:bodyPr wrap="square" lIns="0" tIns="0" rIns="0" bIns="0" anchor="t">
            <a:spAutoFit/>
          </a:bodyPr>
          <a:lstStyle/>
          <a:p>
            <a:pPr algn="l">
              <a:spcAft>
                <a:spcPts val="400"/>
              </a:spcAft>
            </a:pPr>
            <a:r>
              <a:rPr sz="1250" b="1" i="0">
                <a:solidFill>
                  <a:srgbClr val="667085"/>
                </a:solidFill>
                <a:latin typeface="Arial"/>
              </a:rPr>
              <a:t>Khởi đầu</a:t>
            </a:r>
          </a:p>
        </p:txBody>
      </p:sp>
      <p:sp>
        <p:nvSpPr>
          <p:cNvPr id="22" name="TextBox 21"/>
          <p:cNvSpPr txBox="1"/>
          <p:nvPr/>
        </p:nvSpPr>
        <p:spPr>
          <a:xfrm>
            <a:off x="4983480" y="2377440"/>
            <a:ext cx="3108960" cy="292608"/>
          </a:xfrm>
          <a:prstGeom prst="rect">
            <a:avLst/>
          </a:prstGeom>
          <a:noFill/>
        </p:spPr>
        <p:txBody>
          <a:bodyPr wrap="square" lIns="0" tIns="0" rIns="0" bIns="0" anchor="t">
            <a:spAutoFit/>
          </a:bodyPr>
          <a:lstStyle/>
          <a:p>
            <a:pPr algn="l">
              <a:spcAft>
                <a:spcPts val="400"/>
              </a:spcAft>
            </a:pPr>
            <a:r>
              <a:rPr sz="1250" b="1" i="0">
                <a:solidFill>
                  <a:srgbClr val="667085"/>
                </a:solidFill>
                <a:latin typeface="Arial"/>
              </a:rPr>
              <a:t>Học thêm</a:t>
            </a:r>
          </a:p>
        </p:txBody>
      </p:sp>
      <p:sp>
        <p:nvSpPr>
          <p:cNvPr id="23" name="TextBox 22"/>
          <p:cNvSpPr txBox="1"/>
          <p:nvPr/>
        </p:nvSpPr>
        <p:spPr>
          <a:xfrm>
            <a:off x="8321040" y="2377440"/>
            <a:ext cx="3108960" cy="292608"/>
          </a:xfrm>
          <a:prstGeom prst="rect">
            <a:avLst/>
          </a:prstGeom>
          <a:noFill/>
        </p:spPr>
        <p:txBody>
          <a:bodyPr wrap="square" lIns="0" tIns="0" rIns="0" bIns="0" anchor="t">
            <a:spAutoFit/>
          </a:bodyPr>
          <a:lstStyle/>
          <a:p>
            <a:pPr algn="l">
              <a:spcAft>
                <a:spcPts val="400"/>
              </a:spcAft>
            </a:pPr>
            <a:r>
              <a:rPr sz="1250" b="1" i="0">
                <a:solidFill>
                  <a:srgbClr val="667085"/>
                </a:solidFill>
                <a:latin typeface="Arial"/>
              </a:rPr>
              <a:t>Học bài chính</a:t>
            </a:r>
          </a:p>
        </p:txBody>
      </p:sp>
      <p:sp>
        <p:nvSpPr>
          <p:cNvPr id="24" name="Rounded Rectangle 23"/>
          <p:cNvSpPr/>
          <p:nvPr/>
        </p:nvSpPr>
        <p:spPr>
          <a:xfrm>
            <a:off x="457200" y="2926080"/>
            <a:ext cx="502920" cy="502920"/>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A</a:t>
            </a:r>
          </a:p>
        </p:txBody>
      </p:sp>
      <p:sp>
        <p:nvSpPr>
          <p:cNvPr id="25" name="Rounded Rectangle 24"/>
          <p:cNvSpPr/>
          <p:nvPr/>
        </p:nvSpPr>
        <p:spPr>
          <a:xfrm>
            <a:off x="1051560" y="2743200"/>
            <a:ext cx="3520440" cy="8686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88720" y="2816352"/>
            <a:ext cx="3291840" cy="749808"/>
          </a:xfrm>
          <a:prstGeom prst="rect">
            <a:avLst/>
          </a:prstGeom>
          <a:noFill/>
        </p:spPr>
        <p:txBody>
          <a:bodyPr wrap="square" lIns="0" tIns="0" rIns="0" bIns="0" anchor="ctr">
            <a:spAutoFit/>
          </a:bodyPr>
          <a:lstStyle/>
          <a:p>
            <a:pPr algn="l">
              <a:spcAft>
                <a:spcPts val="400"/>
              </a:spcAft>
            </a:pPr>
            <a:r>
              <a:rPr sz="1300" b="1" i="0">
                <a:solidFill>
                  <a:srgbClr val="062F5C"/>
                </a:solidFill>
                <a:latin typeface="Arial"/>
              </a:rPr>
              <a:t>Bắt đầu từ số 0</a:t>
            </a:r>
          </a:p>
          <a:p>
            <a:pPr algn="l">
              <a:spcAft>
                <a:spcPts val="400"/>
              </a:spcAft>
            </a:pPr>
            <a:r>
              <a:rPr sz="1300" b="0" i="0">
                <a:solidFill>
                  <a:srgbClr val="667085"/>
                </a:solidFill>
                <a:latin typeface="Arial"/>
              </a:rPr>
              <a:t>Mạng nhỏ (CRNN)</a:t>
            </a:r>
          </a:p>
        </p:txBody>
      </p:sp>
      <p:sp>
        <p:nvSpPr>
          <p:cNvPr id="27" name="Right Arrow 26"/>
          <p:cNvSpPr/>
          <p:nvPr/>
        </p:nvSpPr>
        <p:spPr>
          <a:xfrm>
            <a:off x="4617720" y="3044952"/>
            <a:ext cx="329184"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983480" y="2743200"/>
            <a:ext cx="2926080" cy="868680"/>
          </a:xfrm>
          <a:prstGeom prst="roundRect">
            <a:avLst>
              <a:gd name="adj" fmla="val 6000"/>
            </a:avLst>
          </a:prstGeom>
          <a:solidFill>
            <a:srgbClr val="F5F7FA"/>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0640" y="2743200"/>
            <a:ext cx="2697480" cy="868680"/>
          </a:xfrm>
          <a:prstGeom prst="rect">
            <a:avLst/>
          </a:prstGeom>
          <a:noFill/>
        </p:spPr>
        <p:txBody>
          <a:bodyPr wrap="square" lIns="0" tIns="0" rIns="0" bIns="0" anchor="ctr">
            <a:spAutoFit/>
          </a:bodyPr>
          <a:lstStyle/>
          <a:p>
            <a:pPr algn="ctr">
              <a:spcAft>
                <a:spcPts val="400"/>
              </a:spcAft>
            </a:pPr>
            <a:r>
              <a:rPr sz="1300" b="0" i="0">
                <a:solidFill>
                  <a:srgbClr val="667085"/>
                </a:solidFill>
                <a:latin typeface="Arial"/>
              </a:rPr>
              <a:t>(không có)</a:t>
            </a:r>
          </a:p>
        </p:txBody>
      </p:sp>
      <p:sp>
        <p:nvSpPr>
          <p:cNvPr id="30" name="Right Arrow 29"/>
          <p:cNvSpPr/>
          <p:nvPr/>
        </p:nvSpPr>
        <p:spPr>
          <a:xfrm>
            <a:off x="7955279" y="3044952"/>
            <a:ext cx="329184"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321040" y="2743200"/>
            <a:ext cx="3410712" cy="868680"/>
          </a:xfrm>
          <a:prstGeom prst="roundRect">
            <a:avLst>
              <a:gd name="adj" fmla="val 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58200" y="2743200"/>
            <a:ext cx="3200400" cy="868680"/>
          </a:xfrm>
          <a:prstGeom prst="rect">
            <a:avLst/>
          </a:prstGeom>
          <a:noFill/>
        </p:spPr>
        <p:txBody>
          <a:bodyPr wrap="square" lIns="0" tIns="0" rIns="0" bIns="0" anchor="ctr">
            <a:spAutoFit/>
          </a:bodyPr>
          <a:lstStyle/>
          <a:p>
            <a:pPr algn="l">
              <a:spcAft>
                <a:spcPts val="400"/>
              </a:spcAft>
            </a:pPr>
            <a:r>
              <a:rPr sz="1350" b="0" i="0">
                <a:solidFill>
                  <a:srgbClr val="062F5C"/>
                </a:solidFill>
                <a:latin typeface="Arial"/>
              </a:rPr>
              <a:t>Học phát hiện sự kiện trên DataSED</a:t>
            </a:r>
          </a:p>
        </p:txBody>
      </p:sp>
      <p:sp>
        <p:nvSpPr>
          <p:cNvPr id="33" name="Rounded Rectangle 32"/>
          <p:cNvSpPr/>
          <p:nvPr/>
        </p:nvSpPr>
        <p:spPr>
          <a:xfrm>
            <a:off x="457200" y="3931920"/>
            <a:ext cx="502920" cy="502920"/>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B</a:t>
            </a:r>
          </a:p>
        </p:txBody>
      </p:sp>
      <p:sp>
        <p:nvSpPr>
          <p:cNvPr id="34" name="Rounded Rectangle 33"/>
          <p:cNvSpPr/>
          <p:nvPr/>
        </p:nvSpPr>
        <p:spPr>
          <a:xfrm>
            <a:off x="1051560" y="3749039"/>
            <a:ext cx="3520440" cy="8686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88720" y="3822191"/>
            <a:ext cx="3291840" cy="749808"/>
          </a:xfrm>
          <a:prstGeom prst="rect">
            <a:avLst/>
          </a:prstGeom>
          <a:noFill/>
        </p:spPr>
        <p:txBody>
          <a:bodyPr wrap="square" lIns="0" tIns="0" rIns="0" bIns="0" anchor="ctr">
            <a:spAutoFit/>
          </a:bodyPr>
          <a:lstStyle/>
          <a:p>
            <a:pPr algn="l">
              <a:spcAft>
                <a:spcPts val="400"/>
              </a:spcAft>
            </a:pPr>
            <a:r>
              <a:rPr sz="1300" b="1" i="0">
                <a:solidFill>
                  <a:srgbClr val="062F5C"/>
                </a:solidFill>
                <a:latin typeface="Arial"/>
              </a:rPr>
              <a:t>Mô hình CNN14 đã học AudioSet</a:t>
            </a:r>
          </a:p>
          <a:p>
            <a:pPr algn="l">
              <a:spcAft>
                <a:spcPts val="400"/>
              </a:spcAft>
            </a:pPr>
            <a:r>
              <a:rPr sz="1300" b="0" i="0">
                <a:solidFill>
                  <a:srgbClr val="667085"/>
                </a:solidFill>
                <a:latin typeface="Arial"/>
              </a:rPr>
              <a:t>AudioSet: kho âm thanh lớn, 527 loại</a:t>
            </a:r>
          </a:p>
        </p:txBody>
      </p:sp>
      <p:sp>
        <p:nvSpPr>
          <p:cNvPr id="36" name="Right Arrow 35"/>
          <p:cNvSpPr/>
          <p:nvPr/>
        </p:nvSpPr>
        <p:spPr>
          <a:xfrm>
            <a:off x="4617720" y="4050791"/>
            <a:ext cx="329184"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983480" y="3749039"/>
            <a:ext cx="2926080" cy="868680"/>
          </a:xfrm>
          <a:prstGeom prst="roundRect">
            <a:avLst>
              <a:gd name="adj" fmla="val 6000"/>
            </a:avLst>
          </a:prstGeom>
          <a:solidFill>
            <a:srgbClr val="F5F7FA"/>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20640" y="3749039"/>
            <a:ext cx="2697480" cy="868680"/>
          </a:xfrm>
          <a:prstGeom prst="rect">
            <a:avLst/>
          </a:prstGeom>
          <a:noFill/>
        </p:spPr>
        <p:txBody>
          <a:bodyPr wrap="square" lIns="0" tIns="0" rIns="0" bIns="0" anchor="ctr">
            <a:spAutoFit/>
          </a:bodyPr>
          <a:lstStyle/>
          <a:p>
            <a:pPr algn="ctr">
              <a:spcAft>
                <a:spcPts val="400"/>
              </a:spcAft>
            </a:pPr>
            <a:r>
              <a:rPr sz="1300" b="0" i="0">
                <a:solidFill>
                  <a:srgbClr val="667085"/>
                </a:solidFill>
                <a:latin typeface="Arial"/>
              </a:rPr>
              <a:t>(không có)</a:t>
            </a:r>
          </a:p>
        </p:txBody>
      </p:sp>
      <p:sp>
        <p:nvSpPr>
          <p:cNvPr id="39" name="Right Arrow 38"/>
          <p:cNvSpPr/>
          <p:nvPr/>
        </p:nvSpPr>
        <p:spPr>
          <a:xfrm>
            <a:off x="7955279" y="4050791"/>
            <a:ext cx="329184"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8321040" y="3749039"/>
            <a:ext cx="3410712" cy="868680"/>
          </a:xfrm>
          <a:prstGeom prst="roundRect">
            <a:avLst>
              <a:gd name="adj" fmla="val 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58200" y="3749039"/>
            <a:ext cx="3200400" cy="868680"/>
          </a:xfrm>
          <a:prstGeom prst="rect">
            <a:avLst/>
          </a:prstGeom>
          <a:noFill/>
        </p:spPr>
        <p:txBody>
          <a:bodyPr wrap="square" lIns="0" tIns="0" rIns="0" bIns="0" anchor="ctr">
            <a:spAutoFit/>
          </a:bodyPr>
          <a:lstStyle/>
          <a:p>
            <a:pPr algn="l">
              <a:spcAft>
                <a:spcPts val="400"/>
              </a:spcAft>
            </a:pPr>
            <a:r>
              <a:rPr sz="1350" b="0" i="0">
                <a:solidFill>
                  <a:srgbClr val="062F5C"/>
                </a:solidFill>
                <a:latin typeface="Arial"/>
              </a:rPr>
              <a:t>Học phát hiện sự kiện trên DataSED</a:t>
            </a:r>
          </a:p>
        </p:txBody>
      </p:sp>
      <p:sp>
        <p:nvSpPr>
          <p:cNvPr id="42" name="Rounded Rectangle 41"/>
          <p:cNvSpPr/>
          <p:nvPr/>
        </p:nvSpPr>
        <p:spPr>
          <a:xfrm>
            <a:off x="457200" y="4937759"/>
            <a:ext cx="502920" cy="502920"/>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C</a:t>
            </a:r>
          </a:p>
        </p:txBody>
      </p:sp>
      <p:sp>
        <p:nvSpPr>
          <p:cNvPr id="43" name="Rounded Rectangle 42"/>
          <p:cNvSpPr/>
          <p:nvPr/>
        </p:nvSpPr>
        <p:spPr>
          <a:xfrm>
            <a:off x="1051560" y="4754879"/>
            <a:ext cx="3520440" cy="8686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188720" y="4828031"/>
            <a:ext cx="3291840" cy="749808"/>
          </a:xfrm>
          <a:prstGeom prst="rect">
            <a:avLst/>
          </a:prstGeom>
          <a:noFill/>
        </p:spPr>
        <p:txBody>
          <a:bodyPr wrap="square" lIns="0" tIns="0" rIns="0" bIns="0" anchor="ctr">
            <a:spAutoFit/>
          </a:bodyPr>
          <a:lstStyle/>
          <a:p>
            <a:pPr algn="l">
              <a:spcAft>
                <a:spcPts val="400"/>
              </a:spcAft>
            </a:pPr>
            <a:r>
              <a:rPr sz="1300" b="1" i="0">
                <a:solidFill>
                  <a:srgbClr val="062F5C"/>
                </a:solidFill>
                <a:latin typeface="Arial"/>
              </a:rPr>
              <a:t>Mô hình CNN14 đã học AudioSet</a:t>
            </a:r>
          </a:p>
          <a:p>
            <a:pPr algn="l">
              <a:spcAft>
                <a:spcPts val="400"/>
              </a:spcAft>
            </a:pPr>
            <a:r>
              <a:rPr sz="1300" b="0" i="0">
                <a:solidFill>
                  <a:srgbClr val="667085"/>
                </a:solidFill>
                <a:latin typeface="Arial"/>
              </a:rPr>
              <a:t>AudioSet: kho âm thanh lớn, 527 loại</a:t>
            </a:r>
          </a:p>
        </p:txBody>
      </p:sp>
      <p:sp>
        <p:nvSpPr>
          <p:cNvPr id="45" name="Right Arrow 44"/>
          <p:cNvSpPr/>
          <p:nvPr/>
        </p:nvSpPr>
        <p:spPr>
          <a:xfrm>
            <a:off x="4617720" y="5056631"/>
            <a:ext cx="329184"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4983480" y="4754879"/>
            <a:ext cx="2926080" cy="868680"/>
          </a:xfrm>
          <a:prstGeom prst="roundRect">
            <a:avLst>
              <a:gd name="adj" fmla="val 6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120640" y="4754879"/>
            <a:ext cx="2697480" cy="868680"/>
          </a:xfrm>
          <a:prstGeom prst="rect">
            <a:avLst/>
          </a:prstGeom>
          <a:noFill/>
        </p:spPr>
        <p:txBody>
          <a:bodyPr wrap="square" lIns="0" tIns="0" rIns="0" bIns="0" anchor="ctr">
            <a:spAutoFit/>
          </a:bodyPr>
          <a:lstStyle/>
          <a:p>
            <a:pPr algn="l">
              <a:spcAft>
                <a:spcPts val="400"/>
              </a:spcAft>
            </a:pPr>
            <a:r>
              <a:rPr sz="1350" b="1" i="0">
                <a:solidFill>
                  <a:srgbClr val="062F5C"/>
                </a:solidFill>
                <a:latin typeface="Arial"/>
              </a:rPr>
              <a:t>Học thêm DataSEC (22 loại âm)</a:t>
            </a:r>
          </a:p>
        </p:txBody>
      </p:sp>
      <p:sp>
        <p:nvSpPr>
          <p:cNvPr id="48" name="Right Arrow 47"/>
          <p:cNvSpPr/>
          <p:nvPr/>
        </p:nvSpPr>
        <p:spPr>
          <a:xfrm>
            <a:off x="7955279" y="5056631"/>
            <a:ext cx="329184"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8321040" y="4754879"/>
            <a:ext cx="3410712" cy="868680"/>
          </a:xfrm>
          <a:prstGeom prst="roundRect">
            <a:avLst>
              <a:gd name="adj" fmla="val 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458200" y="4754879"/>
            <a:ext cx="3200400" cy="868680"/>
          </a:xfrm>
          <a:prstGeom prst="rect">
            <a:avLst/>
          </a:prstGeom>
          <a:noFill/>
        </p:spPr>
        <p:txBody>
          <a:bodyPr wrap="square" lIns="0" tIns="0" rIns="0" bIns="0" anchor="ctr">
            <a:spAutoFit/>
          </a:bodyPr>
          <a:lstStyle/>
          <a:p>
            <a:pPr algn="l">
              <a:spcAft>
                <a:spcPts val="400"/>
              </a:spcAft>
            </a:pPr>
            <a:r>
              <a:rPr sz="1350" b="0" i="0">
                <a:solidFill>
                  <a:srgbClr val="062F5C"/>
                </a:solidFill>
                <a:latin typeface="Arial"/>
              </a:rPr>
              <a:t>Học phát hiện sự kiện trên DataSED</a:t>
            </a:r>
          </a:p>
        </p:txBody>
      </p:sp>
      <p:sp>
        <p:nvSpPr>
          <p:cNvPr id="51" name="Rounded Rectangle 50"/>
          <p:cNvSpPr/>
          <p:nvPr/>
        </p:nvSpPr>
        <p:spPr>
          <a:xfrm>
            <a:off x="457200" y="5760720"/>
            <a:ext cx="11274552" cy="512064"/>
          </a:xfrm>
          <a:prstGeom prst="roundRect">
            <a:avLst>
              <a:gd name="adj" fmla="val 6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0080" y="5760720"/>
            <a:ext cx="10972800" cy="512064"/>
          </a:xfrm>
          <a:prstGeom prst="rect">
            <a:avLst/>
          </a:prstGeom>
          <a:noFill/>
        </p:spPr>
        <p:txBody>
          <a:bodyPr wrap="square" lIns="0" tIns="0" rIns="0" bIns="0" anchor="ctr">
            <a:spAutoFit/>
          </a:bodyPr>
          <a:lstStyle/>
          <a:p>
            <a:pPr algn="l">
              <a:spcAft>
                <a:spcPts val="400"/>
              </a:spcAft>
            </a:pPr>
            <a:r>
              <a:rPr sz="1350" b="0" i="0">
                <a:solidFill>
                  <a:srgbClr val="17212B"/>
                </a:solidFill>
                <a:latin typeface="Arial"/>
              </a:rPr>
              <a:t>Chỉ so </a:t>
            </a:r>
            <a:r>
              <a:rPr sz="1350" b="1" i="0">
                <a:solidFill>
                  <a:srgbClr val="17212B"/>
                </a:solidFill>
                <a:latin typeface="Arial"/>
              </a:rPr>
              <a:t>C với B</a:t>
            </a:r>
            <a:r>
              <a:rPr sz="1350" b="0" i="0">
                <a:solidFill>
                  <a:srgbClr val="17212B"/>
                </a:solidFill>
                <a:latin typeface="Arial"/>
              </a:rPr>
              <a:t>: hai nhánh chỉ khác đúng bước học thêm. So C với A sẽ trộn lẫn cả tác dụng của AudioSet.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04</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KB2: đo xem mô hình đầu (v1) sai ở đâu, rồi mới sửa</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4 · Phương pháp và kịch bản    12 / 29</a:t>
            </a:r>
          </a:p>
        </p:txBody>
      </p:sp>
      <p:sp>
        <p:nvSpPr>
          <p:cNvPr id="5" name="Rounded Rectangle 4"/>
          <p:cNvSpPr/>
          <p:nvPr/>
        </p:nvSpPr>
        <p:spPr>
          <a:xfrm>
            <a:off x="457200"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85216" y="1307592"/>
            <a:ext cx="292608" cy="29260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1</a:t>
            </a:r>
          </a:p>
        </p:txBody>
      </p:sp>
      <p:sp>
        <p:nvSpPr>
          <p:cNvPr id="7" name="TextBox 6"/>
          <p:cNvSpPr txBox="1"/>
          <p:nvPr/>
        </p:nvSpPr>
        <p:spPr>
          <a:xfrm>
            <a:off x="950976" y="1280160"/>
            <a:ext cx="2130552" cy="329184"/>
          </a:xfrm>
          <a:prstGeom prst="rect">
            <a:avLst/>
          </a:prstGeom>
          <a:noFill/>
        </p:spPr>
        <p:txBody>
          <a:bodyPr wrap="square" lIns="0" tIns="0" rIns="0" bIns="0" anchor="ctr">
            <a:spAutoFit/>
          </a:bodyPr>
          <a:lstStyle/>
          <a:p>
            <a:pPr algn="l">
              <a:spcAft>
                <a:spcPts val="400"/>
              </a:spcAft>
            </a:pPr>
            <a:r>
              <a:rPr sz="1250" b="1" i="0">
                <a:solidFill>
                  <a:srgbClr val="062F5C"/>
                </a:solidFill>
                <a:latin typeface="Arial"/>
              </a:rPr>
              <a:t>Câu hỏi</a:t>
            </a:r>
          </a:p>
        </p:txBody>
      </p:sp>
      <p:sp>
        <p:nvSpPr>
          <p:cNvPr id="8" name="TextBox 7"/>
          <p:cNvSpPr txBox="1"/>
          <p:nvPr/>
        </p:nvSpPr>
        <p:spPr>
          <a:xfrm>
            <a:off x="603504"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Vì sao v1 tìm sự kiện kém, nên sửa chỗ nào?</a:t>
            </a:r>
          </a:p>
        </p:txBody>
      </p:sp>
      <p:sp>
        <p:nvSpPr>
          <p:cNvPr id="9" name="Rounded Rectangle 8"/>
          <p:cNvSpPr/>
          <p:nvPr/>
        </p:nvSpPr>
        <p:spPr>
          <a:xfrm>
            <a:off x="3310128"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38144" y="1307592"/>
            <a:ext cx="292608" cy="292608"/>
          </a:xfrm>
          <a:prstGeom prst="ellipse">
            <a:avLst/>
          </a:prstGeom>
          <a:solidFill>
            <a:srgbClr val="1677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11" name="TextBox 10"/>
          <p:cNvSpPr txBox="1"/>
          <p:nvPr/>
        </p:nvSpPr>
        <p:spPr>
          <a:xfrm>
            <a:off x="3803904" y="1280160"/>
            <a:ext cx="2130552" cy="329184"/>
          </a:xfrm>
          <a:prstGeom prst="rect">
            <a:avLst/>
          </a:prstGeom>
          <a:noFill/>
        </p:spPr>
        <p:txBody>
          <a:bodyPr wrap="square" lIns="0" tIns="0" rIns="0" bIns="0" anchor="ctr">
            <a:spAutoFit/>
          </a:bodyPr>
          <a:lstStyle/>
          <a:p>
            <a:pPr algn="l">
              <a:spcAft>
                <a:spcPts val="400"/>
              </a:spcAft>
            </a:pPr>
            <a:r>
              <a:rPr sz="1250" b="1" i="0">
                <a:solidFill>
                  <a:srgbClr val="1677B8"/>
                </a:solidFill>
                <a:latin typeface="Arial"/>
              </a:rPr>
              <a:t>Cách làm</a:t>
            </a:r>
          </a:p>
        </p:txBody>
      </p:sp>
      <p:sp>
        <p:nvSpPr>
          <p:cNvPr id="12" name="TextBox 11"/>
          <p:cNvSpPr txBox="1"/>
          <p:nvPr/>
        </p:nvSpPr>
        <p:spPr>
          <a:xfrm>
            <a:off x="3456432"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Đo trên dev trước: điểm tối đa kiến trúc cho phép và loại lỗi.</a:t>
            </a:r>
          </a:p>
        </p:txBody>
      </p:sp>
      <p:sp>
        <p:nvSpPr>
          <p:cNvPr id="13" name="Rounded Rectangle 12"/>
          <p:cNvSpPr/>
          <p:nvPr/>
        </p:nvSpPr>
        <p:spPr>
          <a:xfrm>
            <a:off x="6163056"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91072" y="1307592"/>
            <a:ext cx="292608" cy="292608"/>
          </a:xfrm>
          <a:prstGeom prst="ellipse">
            <a:avLst/>
          </a:prstGeom>
          <a:solidFill>
            <a:srgbClr val="2E9B6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3</a:t>
            </a:r>
          </a:p>
        </p:txBody>
      </p:sp>
      <p:sp>
        <p:nvSpPr>
          <p:cNvPr id="15" name="TextBox 14"/>
          <p:cNvSpPr txBox="1"/>
          <p:nvPr/>
        </p:nvSpPr>
        <p:spPr>
          <a:xfrm>
            <a:off x="6656832" y="1280160"/>
            <a:ext cx="2130552" cy="329184"/>
          </a:xfrm>
          <a:prstGeom prst="rect">
            <a:avLst/>
          </a:prstGeom>
          <a:noFill/>
        </p:spPr>
        <p:txBody>
          <a:bodyPr wrap="square" lIns="0" tIns="0" rIns="0" bIns="0" anchor="ctr">
            <a:spAutoFit/>
          </a:bodyPr>
          <a:lstStyle/>
          <a:p>
            <a:pPr algn="l">
              <a:spcAft>
                <a:spcPts val="400"/>
              </a:spcAft>
            </a:pPr>
            <a:r>
              <a:rPr sz="1250" b="1" i="0">
                <a:solidFill>
                  <a:srgbClr val="2E9B67"/>
                </a:solidFill>
                <a:latin typeface="Arial"/>
              </a:rPr>
              <a:t>So sánh</a:t>
            </a:r>
          </a:p>
        </p:txBody>
      </p:sp>
      <p:sp>
        <p:nvSpPr>
          <p:cNvPr id="16" name="TextBox 15"/>
          <p:cNvSpPr txBox="1"/>
          <p:nvPr/>
        </p:nvSpPr>
        <p:spPr>
          <a:xfrm>
            <a:off x="6309360"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v2 đầy đủ với v2 bỏ từng thay đổi (ablation), mỗi biến thể 1 lần chạy.</a:t>
            </a:r>
          </a:p>
        </p:txBody>
      </p:sp>
      <p:sp>
        <p:nvSpPr>
          <p:cNvPr id="17" name="Rounded Rectangle 16"/>
          <p:cNvSpPr/>
          <p:nvPr/>
        </p:nvSpPr>
        <p:spPr>
          <a:xfrm>
            <a:off x="9015984"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44000" y="1307592"/>
            <a:ext cx="292608" cy="29260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4</a:t>
            </a:r>
          </a:p>
        </p:txBody>
      </p:sp>
      <p:sp>
        <p:nvSpPr>
          <p:cNvPr id="19" name="TextBox 18"/>
          <p:cNvSpPr txBox="1"/>
          <p:nvPr/>
        </p:nvSpPr>
        <p:spPr>
          <a:xfrm>
            <a:off x="9509759" y="1280160"/>
            <a:ext cx="2130552" cy="329184"/>
          </a:xfrm>
          <a:prstGeom prst="rect">
            <a:avLst/>
          </a:prstGeom>
          <a:noFill/>
        </p:spPr>
        <p:txBody>
          <a:bodyPr wrap="square" lIns="0" tIns="0" rIns="0" bIns="0" anchor="ctr">
            <a:spAutoFit/>
          </a:bodyPr>
          <a:lstStyle/>
          <a:p>
            <a:pPr algn="l">
              <a:spcAft>
                <a:spcPts val="400"/>
              </a:spcAft>
            </a:pPr>
            <a:r>
              <a:rPr sz="1250" b="1" i="0">
                <a:solidFill>
                  <a:srgbClr val="8A5A00"/>
                </a:solidFill>
                <a:latin typeface="Arial"/>
              </a:rPr>
              <a:t>Đo bằng</a:t>
            </a:r>
          </a:p>
        </p:txBody>
      </p:sp>
      <p:sp>
        <p:nvSpPr>
          <p:cNvPr id="20" name="TextBox 19"/>
          <p:cNvSpPr txBox="1"/>
          <p:nvPr/>
        </p:nvSpPr>
        <p:spPr>
          <a:xfrm>
            <a:off x="9162288"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Event-F1 kiểm chứng chéo 5 phần trên dev; test chỉ chấm v2 đã chọn.</a:t>
            </a:r>
          </a:p>
        </p:txBody>
      </p:sp>
      <p:sp>
        <p:nvSpPr>
          <p:cNvPr id="21" name="Rounded Rectangle 20"/>
          <p:cNvSpPr/>
          <p:nvPr/>
        </p:nvSpPr>
        <p:spPr>
          <a:xfrm>
            <a:off x="457200" y="2377440"/>
            <a:ext cx="3840480" cy="17830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2450592"/>
            <a:ext cx="3511296"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tối đa 0,63</a:t>
            </a:r>
          </a:p>
        </p:txBody>
      </p:sp>
      <p:sp>
        <p:nvSpPr>
          <p:cNvPr id="23" name="TextBox 22"/>
          <p:cNvSpPr txBox="1"/>
          <p:nvPr/>
        </p:nvSpPr>
        <p:spPr>
          <a:xfrm>
            <a:off x="621792" y="3017520"/>
            <a:ext cx="3511296" cy="1088136"/>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điểm cao nhất v1 có thể đạt, kể cả khi đoán đúng loại âm 100%: v1 chỉ quyết định theo khối 0,64 s, còn luật chấm cho lệch ≤ 0,2 s</a:t>
            </a:r>
          </a:p>
        </p:txBody>
      </p:sp>
      <p:sp>
        <p:nvSpPr>
          <p:cNvPr id="24" name="Rounded Rectangle 23"/>
          <p:cNvSpPr/>
          <p:nvPr/>
        </p:nvSpPr>
        <p:spPr>
          <a:xfrm>
            <a:off x="457200" y="4297680"/>
            <a:ext cx="3840480" cy="19659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4370832"/>
            <a:ext cx="3511296"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112 · 417 · 357</a:t>
            </a:r>
          </a:p>
        </p:txBody>
      </p:sp>
      <p:sp>
        <p:nvSpPr>
          <p:cNvPr id="26" name="TextBox 25"/>
          <p:cNvSpPr txBox="1"/>
          <p:nvPr/>
        </p:nvSpPr>
        <p:spPr>
          <a:xfrm>
            <a:off x="621792" y="4937760"/>
            <a:ext cx="3511296" cy="1271016"/>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trong 886 sự kiện dev: khớp · đúng loại nhưng lệch biên · bỏ sót → lỗi nằm ở </a:t>
            </a:r>
            <a:r>
              <a:rPr sz="1250" b="1" i="0">
                <a:solidFill>
                  <a:srgbClr val="17212B"/>
                </a:solidFill>
                <a:latin typeface="Arial"/>
              </a:rPr>
              <a:t>biên sự kiện</a:t>
            </a:r>
            <a:r>
              <a:rPr sz="1250" b="0" i="0">
                <a:solidFill>
                  <a:srgbClr val="17212B"/>
                </a:solidFill>
                <a:latin typeface="Arial"/>
              </a:rPr>
              <a:t> và </a:t>
            </a:r>
            <a:r>
              <a:rPr sz="1250" b="1" i="0">
                <a:solidFill>
                  <a:srgbClr val="17212B"/>
                </a:solidFill>
                <a:latin typeface="Arial"/>
              </a:rPr>
              <a:t>bỏ sót</a:t>
            </a:r>
            <a:r>
              <a:rPr sz="1250" b="0" i="0">
                <a:solidFill>
                  <a:srgbClr val="17212B"/>
                </a:solidFill>
                <a:latin typeface="Arial"/>
              </a:rPr>
              <a:t>, không ở nhận nhầm loại</a:t>
            </a:r>
          </a:p>
        </p:txBody>
      </p:sp>
      <p:sp>
        <p:nvSpPr>
          <p:cNvPr id="27" name="TextBox 26"/>
          <p:cNvSpPr txBox="1"/>
          <p:nvPr/>
        </p:nvSpPr>
        <p:spPr>
          <a:xfrm>
            <a:off x="4526280" y="2377440"/>
            <a:ext cx="7205472" cy="320040"/>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v2 sửa đúng những chỗ đã đo được</a:t>
            </a:r>
          </a:p>
        </p:txBody>
      </p:sp>
      <p:graphicFrame>
        <p:nvGraphicFramePr>
          <p:cNvPr id="28" name="Table 27"/>
          <p:cNvGraphicFramePr>
            <a:graphicFrameLocks noGrp="1"/>
          </p:cNvGraphicFramePr>
          <p:nvPr/>
        </p:nvGraphicFramePr>
        <p:xfrm>
          <a:off x="4526280" y="2743200"/>
          <a:ext cx="7205471" cy="2286000"/>
        </p:xfrm>
        <a:graphic>
          <a:graphicData uri="http://schemas.openxmlformats.org/drawingml/2006/table">
            <a:tbl>
              <a:tblPr firstRow="1">
                <a:tableStyleId>{5C22544A-7EE6-4342-B048-85BDC9FD1C3A}</a:tableStyleId>
              </a:tblPr>
              <a:tblGrid>
                <a:gridCol w="2006587">
                  <a:extLst>
                    <a:ext uri="{9D8B030D-6E8A-4147-A177-3AD203B41FA5}">
                      <a16:colId xmlns:a16="http://schemas.microsoft.com/office/drawing/2014/main" val="20000"/>
                    </a:ext>
                  </a:extLst>
                </a:gridCol>
                <a:gridCol w="2097795">
                  <a:extLst>
                    <a:ext uri="{9D8B030D-6E8A-4147-A177-3AD203B41FA5}">
                      <a16:colId xmlns:a16="http://schemas.microsoft.com/office/drawing/2014/main" val="20001"/>
                    </a:ext>
                  </a:extLst>
                </a:gridCol>
                <a:gridCol w="3101089">
                  <a:extLst>
                    <a:ext uri="{9D8B030D-6E8A-4147-A177-3AD203B41FA5}">
                      <a16:colId xmlns:a16="http://schemas.microsoft.com/office/drawing/2014/main" val="20002"/>
                    </a:ext>
                  </a:extLst>
                </a:gridCol>
              </a:tblGrid>
              <a:tr h="457200">
                <a:tc>
                  <a:txBody>
                    <a:bodyPr/>
                    <a:lstStyle/>
                    <a:p>
                      <a:pPr algn="ctr"/>
                      <a:r>
                        <a:rPr sz="1300" b="1">
                          <a:solidFill>
                            <a:srgbClr val="FFFFFF"/>
                          </a:solidFill>
                          <a:latin typeface="Arial"/>
                        </a:rPr>
                        <a:t>Thay đổi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v1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v2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457200">
                <a:tc>
                  <a:txBody>
                    <a:bodyPr/>
                    <a:lstStyle/>
                    <a:p>
                      <a:pPr algn="l"/>
                      <a:r>
                        <a:rPr sz="1300" b="0">
                          <a:solidFill>
                            <a:srgbClr val="17212B"/>
                          </a:solidFill>
                          <a:latin typeface="Arial"/>
                        </a:rPr>
                        <a:t>Độ chi tiết thời gian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khối 0,64 s (nén 64 lần)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1">
                          <a:solidFill>
                            <a:srgbClr val="17212B"/>
                          </a:solidFill>
                          <a:latin typeface="Arial"/>
                        </a:rPr>
                        <a:t>khối 0,08 s (nén 8 lần)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457200">
                <a:tc>
                  <a:txBody>
                    <a:bodyPr/>
                    <a:lstStyle/>
                    <a:p>
                      <a:pPr algn="l"/>
                      <a:r>
                        <a:rPr sz="1300" b="0">
                          <a:solidFill>
                            <a:srgbClr val="17212B"/>
                          </a:solidFill>
                          <a:latin typeface="Arial"/>
                        </a:rPr>
                        <a:t>Đọc theo trình tự thời gian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không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có (BiGRU 2 lớp)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457200">
                <a:tc>
                  <a:txBody>
                    <a:bodyPr/>
                    <a:lstStyle/>
                    <a:p>
                      <a:pPr algn="l"/>
                      <a:r>
                        <a:rPr sz="1300" b="0">
                          <a:solidFill>
                            <a:srgbClr val="17212B"/>
                          </a:solidFill>
                          <a:latin typeface="Arial"/>
                        </a:rPr>
                        <a:t>Số vòng huấn luyện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8 vòng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30 vòng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457200">
                <a:tc>
                  <a:txBody>
                    <a:bodyPr/>
                    <a:lstStyle/>
                    <a:p>
                      <a:pPr algn="l"/>
                      <a:r>
                        <a:rPr sz="1300" b="0">
                          <a:solidFill>
                            <a:srgbClr val="17212B"/>
                          </a:solidFill>
                          <a:latin typeface="Arial"/>
                        </a:rPr>
                        <a:t>Làm giàu dữ liệu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không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trộn hai âm (mixup), làm méo dải tần (FilterAugment)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bl>
          </a:graphicData>
        </a:graphic>
      </p:graphicFrame>
      <p:sp>
        <p:nvSpPr>
          <p:cNvPr id="29" name="Rounded Rectangle 28"/>
          <p:cNvSpPr/>
          <p:nvPr/>
        </p:nvSpPr>
        <p:spPr>
          <a:xfrm>
            <a:off x="4526280" y="5166360"/>
            <a:ext cx="7205472" cy="10972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90872" y="5276088"/>
            <a:ext cx="6876288" cy="914400"/>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50" b="0" i="0">
                <a:solidFill>
                  <a:srgbClr val="17212B"/>
                </a:solidFill>
                <a:latin typeface="Arial"/>
              </a:rPr>
              <a:t>Ablation: bỏ lần lượt từng thay đổi để biết thay đổi nào thật sự có tác dụng → kết quả ở slide 19.</a:t>
            </a:r>
          </a:p>
          <a:p>
            <a:pPr marL="219456" indent="-182880" algn="l">
              <a:spcAft>
                <a:spcPts val="400"/>
              </a:spcAft>
              <a:buClr>
                <a:srgbClr val="1677B8"/>
              </a:buClr>
              <a:buFont typeface="Arial"/>
              <a:buChar char="•"/>
            </a:pPr>
            <a:r>
              <a:rPr sz="1250" b="0" i="0">
                <a:solidFill>
                  <a:srgbClr val="17212B"/>
                </a:solidFill>
                <a:latin typeface="Arial"/>
              </a:rPr>
              <a:t>Giả thuyết ban đầu “xác suất bão hòa làm trễ biên” đã được đo và </a:t>
            </a:r>
            <a:r>
              <a:rPr sz="1250" b="1" i="0">
                <a:solidFill>
                  <a:srgbClr val="17212B"/>
                </a:solidFill>
                <a:latin typeface="Arial"/>
              </a:rPr>
              <a:t>bác bỏ</a:t>
            </a:r>
            <a:r>
              <a:rPr sz="1250" b="0" i="0">
                <a:solidFill>
                  <a:srgbClr val="17212B"/>
                </a:solidFill>
                <a:latin typeface="Arial"/>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04</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KB3: thử mô hình nền đã quen “nghe theo từng 40 ms”</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4 · Phương pháp và kịch bản    13 / 29</a:t>
            </a:r>
          </a:p>
        </p:txBody>
      </p:sp>
      <p:sp>
        <p:nvSpPr>
          <p:cNvPr id="5" name="Rounded Rectangle 4"/>
          <p:cNvSpPr/>
          <p:nvPr/>
        </p:nvSpPr>
        <p:spPr>
          <a:xfrm>
            <a:off x="457200"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85216" y="1307592"/>
            <a:ext cx="292608" cy="29260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1</a:t>
            </a:r>
          </a:p>
        </p:txBody>
      </p:sp>
      <p:sp>
        <p:nvSpPr>
          <p:cNvPr id="7" name="TextBox 6"/>
          <p:cNvSpPr txBox="1"/>
          <p:nvPr/>
        </p:nvSpPr>
        <p:spPr>
          <a:xfrm>
            <a:off x="950976" y="1280160"/>
            <a:ext cx="2130552" cy="329184"/>
          </a:xfrm>
          <a:prstGeom prst="rect">
            <a:avLst/>
          </a:prstGeom>
          <a:noFill/>
        </p:spPr>
        <p:txBody>
          <a:bodyPr wrap="square" lIns="0" tIns="0" rIns="0" bIns="0" anchor="ctr">
            <a:spAutoFit/>
          </a:bodyPr>
          <a:lstStyle/>
          <a:p>
            <a:pPr algn="l">
              <a:spcAft>
                <a:spcPts val="400"/>
              </a:spcAft>
            </a:pPr>
            <a:r>
              <a:rPr sz="1250" b="1" i="0">
                <a:solidFill>
                  <a:srgbClr val="062F5C"/>
                </a:solidFill>
                <a:latin typeface="Arial"/>
              </a:rPr>
              <a:t>Câu hỏi</a:t>
            </a:r>
          </a:p>
        </p:txBody>
      </p:sp>
      <p:sp>
        <p:nvSpPr>
          <p:cNvPr id="8" name="TextBox 7"/>
          <p:cNvSpPr txBox="1"/>
          <p:nvPr/>
        </p:nvSpPr>
        <p:spPr>
          <a:xfrm>
            <a:off x="603504"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Mô hình nền đã học nhãn theo từng 40 ms có tốt hơn v2 không?</a:t>
            </a:r>
          </a:p>
        </p:txBody>
      </p:sp>
      <p:sp>
        <p:nvSpPr>
          <p:cNvPr id="9" name="Rounded Rectangle 8"/>
          <p:cNvSpPr/>
          <p:nvPr/>
        </p:nvSpPr>
        <p:spPr>
          <a:xfrm>
            <a:off x="3310128"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38144" y="1307592"/>
            <a:ext cx="292608" cy="292608"/>
          </a:xfrm>
          <a:prstGeom prst="ellipse">
            <a:avLst/>
          </a:prstGeom>
          <a:solidFill>
            <a:srgbClr val="1677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11" name="TextBox 10"/>
          <p:cNvSpPr txBox="1"/>
          <p:nvPr/>
        </p:nvSpPr>
        <p:spPr>
          <a:xfrm>
            <a:off x="3803904" y="1280160"/>
            <a:ext cx="2130552" cy="329184"/>
          </a:xfrm>
          <a:prstGeom prst="rect">
            <a:avLst/>
          </a:prstGeom>
          <a:noFill/>
        </p:spPr>
        <p:txBody>
          <a:bodyPr wrap="square" lIns="0" tIns="0" rIns="0" bIns="0" anchor="ctr">
            <a:spAutoFit/>
          </a:bodyPr>
          <a:lstStyle/>
          <a:p>
            <a:pPr algn="l">
              <a:spcAft>
                <a:spcPts val="400"/>
              </a:spcAft>
            </a:pPr>
            <a:r>
              <a:rPr sz="1250" b="1" i="0">
                <a:solidFill>
                  <a:srgbClr val="1677B8"/>
                </a:solidFill>
                <a:latin typeface="Arial"/>
              </a:rPr>
              <a:t>Cách làm</a:t>
            </a:r>
          </a:p>
        </p:txBody>
      </p:sp>
      <p:sp>
        <p:nvSpPr>
          <p:cNvPr id="12" name="TextBox 11"/>
          <p:cNvSpPr txBox="1"/>
          <p:nvPr/>
        </p:nvSpPr>
        <p:spPr>
          <a:xfrm>
            <a:off x="3456432"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Mỗi cấu hình chạy 3 lần (3 seed), lấy trung bình xác suất (ensemble).</a:t>
            </a:r>
          </a:p>
        </p:txBody>
      </p:sp>
      <p:sp>
        <p:nvSpPr>
          <p:cNvPr id="13" name="Rounded Rectangle 12"/>
          <p:cNvSpPr/>
          <p:nvPr/>
        </p:nvSpPr>
        <p:spPr>
          <a:xfrm>
            <a:off x="6163056"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91072" y="1307592"/>
            <a:ext cx="292608" cy="292608"/>
          </a:xfrm>
          <a:prstGeom prst="ellipse">
            <a:avLst/>
          </a:prstGeom>
          <a:solidFill>
            <a:srgbClr val="2E9B6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3</a:t>
            </a:r>
          </a:p>
        </p:txBody>
      </p:sp>
      <p:sp>
        <p:nvSpPr>
          <p:cNvPr id="15" name="TextBox 14"/>
          <p:cNvSpPr txBox="1"/>
          <p:nvPr/>
        </p:nvSpPr>
        <p:spPr>
          <a:xfrm>
            <a:off x="6656832" y="1280160"/>
            <a:ext cx="2130552" cy="329184"/>
          </a:xfrm>
          <a:prstGeom prst="rect">
            <a:avLst/>
          </a:prstGeom>
          <a:noFill/>
        </p:spPr>
        <p:txBody>
          <a:bodyPr wrap="square" lIns="0" tIns="0" rIns="0" bIns="0" anchor="ctr">
            <a:spAutoFit/>
          </a:bodyPr>
          <a:lstStyle/>
          <a:p>
            <a:pPr algn="l">
              <a:spcAft>
                <a:spcPts val="400"/>
              </a:spcAft>
            </a:pPr>
            <a:r>
              <a:rPr sz="1250" b="1" i="0">
                <a:solidFill>
                  <a:srgbClr val="2E9B67"/>
                </a:solidFill>
                <a:latin typeface="Arial"/>
              </a:rPr>
              <a:t>So sánh</a:t>
            </a:r>
          </a:p>
        </p:txBody>
      </p:sp>
      <p:sp>
        <p:nvSpPr>
          <p:cNvPr id="16" name="TextBox 15"/>
          <p:cNvSpPr txBox="1"/>
          <p:nvPr/>
        </p:nvSpPr>
        <p:spPr>
          <a:xfrm>
            <a:off x="6309360"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T2a, T2b, focal loss và các tổ hợp với v2, trên cùng tập dev.</a:t>
            </a:r>
          </a:p>
        </p:txBody>
      </p:sp>
      <p:sp>
        <p:nvSpPr>
          <p:cNvPr id="17" name="Rounded Rectangle 16"/>
          <p:cNvSpPr/>
          <p:nvPr/>
        </p:nvSpPr>
        <p:spPr>
          <a:xfrm>
            <a:off x="9015984" y="1188720"/>
            <a:ext cx="2715768" cy="1024128"/>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44000" y="1307592"/>
            <a:ext cx="292608" cy="29260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4</a:t>
            </a:r>
          </a:p>
        </p:txBody>
      </p:sp>
      <p:sp>
        <p:nvSpPr>
          <p:cNvPr id="19" name="TextBox 18"/>
          <p:cNvSpPr txBox="1"/>
          <p:nvPr/>
        </p:nvSpPr>
        <p:spPr>
          <a:xfrm>
            <a:off x="9509759" y="1280160"/>
            <a:ext cx="2130552" cy="329184"/>
          </a:xfrm>
          <a:prstGeom prst="rect">
            <a:avLst/>
          </a:prstGeom>
          <a:noFill/>
        </p:spPr>
        <p:txBody>
          <a:bodyPr wrap="square" lIns="0" tIns="0" rIns="0" bIns="0" anchor="ctr">
            <a:spAutoFit/>
          </a:bodyPr>
          <a:lstStyle/>
          <a:p>
            <a:pPr algn="l">
              <a:spcAft>
                <a:spcPts val="400"/>
              </a:spcAft>
            </a:pPr>
            <a:r>
              <a:rPr sz="1250" b="1" i="0">
                <a:solidFill>
                  <a:srgbClr val="8A5A00"/>
                </a:solidFill>
                <a:latin typeface="Arial"/>
              </a:rPr>
              <a:t>Đo bằng</a:t>
            </a:r>
          </a:p>
        </p:txBody>
      </p:sp>
      <p:sp>
        <p:nvSpPr>
          <p:cNvPr id="20" name="TextBox 19"/>
          <p:cNvSpPr txBox="1"/>
          <p:nvPr/>
        </p:nvSpPr>
        <p:spPr>
          <a:xfrm>
            <a:off x="9162288" y="1645920"/>
            <a:ext cx="2441448" cy="512064"/>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Event-F1 kiểm chứng chéo trên dev; chưa mở test ở bước này.</a:t>
            </a:r>
          </a:p>
        </p:txBody>
      </p:sp>
      <p:pic>
        <p:nvPicPr>
          <p:cNvPr id="21" name="Picture 20" descr="m02_sed_architectures.png"/>
          <p:cNvPicPr>
            <a:picLocks noChangeAspect="1"/>
          </p:cNvPicPr>
          <p:nvPr/>
        </p:nvPicPr>
        <p:blipFill>
          <a:blip r:embed="rId3"/>
          <a:stretch>
            <a:fillRect/>
          </a:stretch>
        </p:blipFill>
        <p:spPr>
          <a:xfrm>
            <a:off x="457200" y="2398862"/>
            <a:ext cx="4480560" cy="3843354"/>
          </a:xfrm>
          <a:prstGeom prst="rect">
            <a:avLst/>
          </a:prstGeom>
        </p:spPr>
      </p:pic>
      <p:sp>
        <p:nvSpPr>
          <p:cNvPr id="22" name="Rounded Rectangle 21"/>
          <p:cNvSpPr/>
          <p:nvPr/>
        </p:nvSpPr>
        <p:spPr>
          <a:xfrm>
            <a:off x="5166360" y="2377440"/>
            <a:ext cx="6565392" cy="10515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30952" y="2487168"/>
            <a:ext cx="6236207" cy="329184"/>
          </a:xfrm>
          <a:prstGeom prst="rect">
            <a:avLst/>
          </a:prstGeom>
          <a:noFill/>
        </p:spPr>
        <p:txBody>
          <a:bodyPr wrap="square" lIns="0" tIns="0" rIns="0" bIns="0" anchor="t">
            <a:spAutoFit/>
          </a:bodyPr>
          <a:lstStyle/>
          <a:p>
            <a:pPr algn="l">
              <a:spcAft>
                <a:spcPts val="400"/>
              </a:spcAft>
            </a:pPr>
            <a:r>
              <a:rPr sz="1400" b="1" i="0">
                <a:solidFill>
                  <a:srgbClr val="062F5C"/>
                </a:solidFill>
                <a:latin typeface="Arial"/>
              </a:rPr>
              <a:t>T2a · BEATs giữ nguyên</a:t>
            </a:r>
          </a:p>
        </p:txBody>
      </p:sp>
      <p:sp>
        <p:nvSpPr>
          <p:cNvPr id="24" name="TextBox 23"/>
          <p:cNvSpPr txBox="1"/>
          <p:nvPr/>
        </p:nvSpPr>
        <p:spPr>
          <a:xfrm>
            <a:off x="5330952" y="2871216"/>
            <a:ext cx="6236207" cy="484631"/>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Mô hình lớn (~90,4 triệu tham số), giữ nguyên; chỉ dạy phần đầu ra (~3,3 triệu tham số).</a:t>
            </a:r>
          </a:p>
        </p:txBody>
      </p:sp>
      <p:sp>
        <p:nvSpPr>
          <p:cNvPr id="25" name="Rounded Rectangle 24"/>
          <p:cNvSpPr/>
          <p:nvPr/>
        </p:nvSpPr>
        <p:spPr>
          <a:xfrm>
            <a:off x="5166360" y="3538728"/>
            <a:ext cx="6565392" cy="10515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30952" y="3648456"/>
            <a:ext cx="6236207"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T2b · Frame-MobileNet dạy lại</a:t>
            </a:r>
          </a:p>
        </p:txBody>
      </p:sp>
      <p:sp>
        <p:nvSpPr>
          <p:cNvPr id="27" name="TextBox 26"/>
          <p:cNvSpPr txBox="1"/>
          <p:nvPr/>
        </p:nvSpPr>
        <p:spPr>
          <a:xfrm>
            <a:off x="5330952" y="4032504"/>
            <a:ext cx="6236207" cy="484631"/>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Mô hình nhỏ (~3 triệu tham số), dạy lại toàn bộ trên DataSED; ra kết quả mỗi 40 ms. </a:t>
            </a:r>
            <a:r>
              <a:rPr sz="1300" b="1" i="0">
                <a:solidFill>
                  <a:srgbClr val="17212B"/>
                </a:solidFill>
                <a:latin typeface="Arial"/>
              </a:rPr>
              <a:t>Hệ cuối f2 = T2b × 3 lần chạy.</a:t>
            </a:r>
          </a:p>
        </p:txBody>
      </p:sp>
      <p:sp>
        <p:nvSpPr>
          <p:cNvPr id="28" name="Rounded Rectangle 27"/>
          <p:cNvSpPr/>
          <p:nvPr/>
        </p:nvSpPr>
        <p:spPr>
          <a:xfrm>
            <a:off x="5166360" y="4700016"/>
            <a:ext cx="6565392" cy="10515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30952" y="4809744"/>
            <a:ext cx="6236207" cy="329184"/>
          </a:xfrm>
          <a:prstGeom prst="rect">
            <a:avLst/>
          </a:prstGeom>
          <a:noFill/>
        </p:spPr>
        <p:txBody>
          <a:bodyPr wrap="square" lIns="0" tIns="0" rIns="0" bIns="0" anchor="t">
            <a:spAutoFit/>
          </a:bodyPr>
          <a:lstStyle/>
          <a:p>
            <a:pPr algn="l">
              <a:spcAft>
                <a:spcPts val="400"/>
              </a:spcAft>
            </a:pPr>
            <a:r>
              <a:rPr sz="1400" b="1" i="0">
                <a:solidFill>
                  <a:srgbClr val="2E9B67"/>
                </a:solidFill>
                <a:latin typeface="Arial"/>
              </a:rPr>
              <a:t>g1, g2 · Focal loss</a:t>
            </a:r>
          </a:p>
        </p:txBody>
      </p:sp>
      <p:sp>
        <p:nvSpPr>
          <p:cNvPr id="30" name="TextBox 29"/>
          <p:cNvSpPr txBox="1"/>
          <p:nvPr/>
        </p:nvSpPr>
        <p:spPr>
          <a:xfrm>
            <a:off x="5330952" y="5193792"/>
            <a:ext cx="6236207" cy="484632"/>
          </a:xfrm>
          <a:prstGeom prst="rect">
            <a:avLst/>
          </a:prstGeom>
          <a:noFill/>
        </p:spPr>
        <p:txBody>
          <a:bodyPr wrap="square" lIns="0" tIns="0" rIns="0" bIns="0" anchor="t">
            <a:spAutoFit/>
          </a:bodyPr>
          <a:lstStyle/>
          <a:p>
            <a:pPr algn="l">
              <a:spcAft>
                <a:spcPts val="400"/>
              </a:spcAft>
            </a:pPr>
            <a:r>
              <a:rPr sz="1300" b="0" i="0" dirty="0" err="1">
                <a:solidFill>
                  <a:srgbClr val="17212B"/>
                </a:solidFill>
                <a:latin typeface="Arial"/>
              </a:rPr>
              <a:t>Đổi</a:t>
            </a:r>
            <a:r>
              <a:rPr sz="1300" b="0" i="0" dirty="0">
                <a:solidFill>
                  <a:srgbClr val="17212B"/>
                </a:solidFill>
                <a:latin typeface="Arial"/>
              </a:rPr>
              <a:t> </a:t>
            </a:r>
            <a:r>
              <a:rPr sz="1300" b="0" i="0" dirty="0" err="1">
                <a:solidFill>
                  <a:srgbClr val="17212B"/>
                </a:solidFill>
                <a:latin typeface="Arial"/>
              </a:rPr>
              <a:t>cách</a:t>
            </a:r>
            <a:r>
              <a:rPr sz="1300" b="0" i="0" dirty="0">
                <a:solidFill>
                  <a:srgbClr val="17212B"/>
                </a:solidFill>
                <a:latin typeface="Arial"/>
              </a:rPr>
              <a:t> </a:t>
            </a:r>
            <a:r>
              <a:rPr sz="1300" b="0" i="0" dirty="0" err="1">
                <a:solidFill>
                  <a:srgbClr val="17212B"/>
                </a:solidFill>
                <a:latin typeface="Arial"/>
              </a:rPr>
              <a:t>tính</a:t>
            </a:r>
            <a:r>
              <a:rPr sz="1300" b="0" i="0" dirty="0">
                <a:solidFill>
                  <a:srgbClr val="17212B"/>
                </a:solidFill>
                <a:latin typeface="Arial"/>
              </a:rPr>
              <a:t> </a:t>
            </a:r>
            <a:r>
              <a:rPr sz="1300" b="0" i="0" dirty="0" err="1">
                <a:solidFill>
                  <a:srgbClr val="17212B"/>
                </a:solidFill>
                <a:latin typeface="Arial"/>
              </a:rPr>
              <a:t>lỗi</a:t>
            </a:r>
            <a:r>
              <a:rPr sz="1300" b="0" i="0" dirty="0">
                <a:solidFill>
                  <a:srgbClr val="17212B"/>
                </a:solidFill>
                <a:latin typeface="Arial"/>
              </a:rPr>
              <a:t> </a:t>
            </a:r>
            <a:r>
              <a:rPr sz="1300" b="0" i="0" dirty="0" err="1">
                <a:solidFill>
                  <a:srgbClr val="17212B"/>
                </a:solidFill>
                <a:latin typeface="Arial"/>
              </a:rPr>
              <a:t>để</a:t>
            </a:r>
            <a:r>
              <a:rPr sz="1300" b="0" i="0" dirty="0">
                <a:solidFill>
                  <a:srgbClr val="17212B"/>
                </a:solidFill>
                <a:latin typeface="Arial"/>
              </a:rPr>
              <a:t> </a:t>
            </a:r>
            <a:r>
              <a:rPr sz="1300" b="0" i="0" dirty="0" err="1">
                <a:solidFill>
                  <a:srgbClr val="17212B"/>
                </a:solidFill>
                <a:latin typeface="Arial"/>
              </a:rPr>
              <a:t>mô</a:t>
            </a:r>
            <a:r>
              <a:rPr sz="1300" b="0" i="0" dirty="0">
                <a:solidFill>
                  <a:srgbClr val="17212B"/>
                </a:solidFill>
                <a:latin typeface="Arial"/>
              </a:rPr>
              <a:t> </a:t>
            </a:r>
            <a:r>
              <a:rPr sz="1300" b="0" i="0" dirty="0" err="1">
                <a:solidFill>
                  <a:srgbClr val="17212B"/>
                </a:solidFill>
                <a:latin typeface="Arial"/>
              </a:rPr>
              <a:t>hình</a:t>
            </a:r>
            <a:r>
              <a:rPr sz="1300" b="0" i="0" dirty="0">
                <a:solidFill>
                  <a:srgbClr val="17212B"/>
                </a:solidFill>
                <a:latin typeface="Arial"/>
              </a:rPr>
              <a:t> </a:t>
            </a:r>
            <a:r>
              <a:rPr sz="1300" b="0" i="0" dirty="0" err="1">
                <a:solidFill>
                  <a:srgbClr val="17212B"/>
                </a:solidFill>
                <a:latin typeface="Arial"/>
              </a:rPr>
              <a:t>chú</a:t>
            </a:r>
            <a:r>
              <a:rPr sz="1300" b="0" i="0" dirty="0">
                <a:solidFill>
                  <a:srgbClr val="17212B"/>
                </a:solidFill>
                <a:latin typeface="Arial"/>
              </a:rPr>
              <a:t> ý </a:t>
            </a:r>
            <a:r>
              <a:rPr sz="1300" b="0" i="0" dirty="0" err="1">
                <a:solidFill>
                  <a:srgbClr val="17212B"/>
                </a:solidFill>
                <a:latin typeface="Arial"/>
              </a:rPr>
              <a:t>hơn</a:t>
            </a:r>
            <a:r>
              <a:rPr sz="1300" b="0" i="0" dirty="0">
                <a:solidFill>
                  <a:srgbClr val="17212B"/>
                </a:solidFill>
                <a:latin typeface="Arial"/>
              </a:rPr>
              <a:t> </a:t>
            </a:r>
            <a:r>
              <a:rPr sz="1300" b="0" i="0" dirty="0" err="1">
                <a:solidFill>
                  <a:srgbClr val="17212B"/>
                </a:solidFill>
                <a:latin typeface="Arial"/>
              </a:rPr>
              <a:t>vào</a:t>
            </a:r>
            <a:r>
              <a:rPr sz="1300" b="0" i="0" dirty="0">
                <a:solidFill>
                  <a:srgbClr val="17212B"/>
                </a:solidFill>
                <a:latin typeface="Arial"/>
              </a:rPr>
              <a:t> </a:t>
            </a:r>
            <a:r>
              <a:rPr sz="1300" b="0" i="0" dirty="0" err="1">
                <a:solidFill>
                  <a:srgbClr val="17212B"/>
                </a:solidFill>
                <a:latin typeface="Arial"/>
              </a:rPr>
              <a:t>chỗ</a:t>
            </a:r>
            <a:r>
              <a:rPr sz="1300" b="0" i="0" dirty="0">
                <a:solidFill>
                  <a:srgbClr val="17212B"/>
                </a:solidFill>
                <a:latin typeface="Arial"/>
              </a:rPr>
              <a:t> </a:t>
            </a:r>
            <a:r>
              <a:rPr sz="1300" b="0" i="0" dirty="0" err="1">
                <a:solidFill>
                  <a:srgbClr val="17212B"/>
                </a:solidFill>
                <a:latin typeface="Arial"/>
              </a:rPr>
              <a:t>đoán</a:t>
            </a:r>
            <a:r>
              <a:rPr sz="1300" b="0" i="0" dirty="0">
                <a:solidFill>
                  <a:srgbClr val="17212B"/>
                </a:solidFill>
                <a:latin typeface="Arial"/>
              </a:rPr>
              <a:t> </a:t>
            </a:r>
            <a:r>
              <a:rPr sz="1300" b="0" i="0" dirty="0" err="1">
                <a:solidFill>
                  <a:srgbClr val="17212B"/>
                </a:solidFill>
                <a:latin typeface="Arial"/>
              </a:rPr>
              <a:t>sai</a:t>
            </a:r>
            <a:r>
              <a:rPr sz="1300" b="0" i="0" dirty="0">
                <a:solidFill>
                  <a:srgbClr val="17212B"/>
                </a:solidFill>
                <a:latin typeface="Arial"/>
              </a:rPr>
              <a:t> </a:t>
            </a:r>
            <a:r>
              <a:rPr sz="1300" b="0" i="0" dirty="0" err="1">
                <a:solidFill>
                  <a:srgbClr val="17212B"/>
                </a:solidFill>
                <a:latin typeface="Arial"/>
              </a:rPr>
              <a:t>khó</a:t>
            </a:r>
            <a:r>
              <a:rPr sz="1300" b="0" i="0" dirty="0">
                <a:solidFill>
                  <a:srgbClr val="17212B"/>
                </a:solidFill>
                <a:latin typeface="Arial"/>
              </a:rPr>
              <a:t>, </a:t>
            </a:r>
            <a:r>
              <a:rPr sz="1300" b="0" i="0" dirty="0" err="1">
                <a:solidFill>
                  <a:srgbClr val="17212B"/>
                </a:solidFill>
                <a:latin typeface="Arial"/>
              </a:rPr>
              <a:t>mong</a:t>
            </a:r>
            <a:r>
              <a:rPr sz="1300" b="0" i="0" dirty="0">
                <a:solidFill>
                  <a:srgbClr val="17212B"/>
                </a:solidFill>
                <a:latin typeface="Arial"/>
              </a:rPr>
              <a:t> </a:t>
            </a:r>
            <a:r>
              <a:rPr sz="1300" b="0" i="0" dirty="0" err="1">
                <a:solidFill>
                  <a:srgbClr val="17212B"/>
                </a:solidFill>
                <a:latin typeface="Arial"/>
              </a:rPr>
              <a:t>cứu</a:t>
            </a:r>
            <a:r>
              <a:rPr sz="1300" b="0" i="0" dirty="0">
                <a:solidFill>
                  <a:srgbClr val="17212B"/>
                </a:solidFill>
                <a:latin typeface="Arial"/>
              </a:rPr>
              <a:t> </a:t>
            </a:r>
            <a:r>
              <a:rPr sz="1300" b="0" i="0" dirty="0" err="1">
                <a:solidFill>
                  <a:srgbClr val="17212B"/>
                </a:solidFill>
                <a:latin typeface="Arial"/>
              </a:rPr>
              <a:t>các</a:t>
            </a:r>
            <a:r>
              <a:rPr sz="1300" b="0" i="0" dirty="0">
                <a:solidFill>
                  <a:srgbClr val="17212B"/>
                </a:solidFill>
                <a:latin typeface="Arial"/>
              </a:rPr>
              <a:t> </a:t>
            </a:r>
            <a:r>
              <a:rPr sz="1300" b="0" i="0" dirty="0" err="1">
                <a:solidFill>
                  <a:srgbClr val="17212B"/>
                </a:solidFill>
                <a:latin typeface="Arial"/>
              </a:rPr>
              <a:t>loại</a:t>
            </a:r>
            <a:r>
              <a:rPr sz="1300" b="0" i="0" dirty="0">
                <a:solidFill>
                  <a:srgbClr val="17212B"/>
                </a:solidFill>
                <a:latin typeface="Arial"/>
              </a:rPr>
              <a:t> </a:t>
            </a:r>
            <a:r>
              <a:rPr sz="1300" b="0" i="0" dirty="0" err="1">
                <a:solidFill>
                  <a:srgbClr val="17212B"/>
                </a:solidFill>
                <a:latin typeface="Arial"/>
              </a:rPr>
              <a:t>âm</a:t>
            </a:r>
            <a:r>
              <a:rPr sz="1300" b="0" i="0" dirty="0">
                <a:solidFill>
                  <a:srgbClr val="17212B"/>
                </a:solidFill>
                <a:latin typeface="Arial"/>
              </a:rPr>
              <a:t> </a:t>
            </a:r>
            <a:r>
              <a:rPr sz="1300" b="0" i="0" dirty="0" err="1">
                <a:solidFill>
                  <a:srgbClr val="17212B"/>
                </a:solidFill>
                <a:latin typeface="Arial"/>
              </a:rPr>
              <a:t>ít</a:t>
            </a:r>
            <a:r>
              <a:rPr sz="1300" b="0" i="0" dirty="0">
                <a:solidFill>
                  <a:srgbClr val="17212B"/>
                </a:solidFill>
                <a:latin typeface="Arial"/>
              </a:rPr>
              <a:t> </a:t>
            </a:r>
            <a:r>
              <a:rPr sz="1300" b="0" i="0" dirty="0" err="1">
                <a:solidFill>
                  <a:srgbClr val="17212B"/>
                </a:solidFill>
                <a:latin typeface="Arial"/>
              </a:rPr>
              <a:t>gặp</a:t>
            </a:r>
            <a:r>
              <a:rPr sz="1300" b="0" i="0" dirty="0">
                <a:solidFill>
                  <a:srgbClr val="17212B"/>
                </a:solidFill>
                <a:latin typeface="Arial"/>
              </a:rPr>
              <a:t>.</a:t>
            </a:r>
          </a:p>
        </p:txBody>
      </p:sp>
      <p:sp>
        <p:nvSpPr>
          <p:cNvPr id="31" name="Rounded Rectangle 30"/>
          <p:cNvSpPr/>
          <p:nvPr/>
        </p:nvSpPr>
        <p:spPr>
          <a:xfrm>
            <a:off x="5166360" y="5861304"/>
            <a:ext cx="6565392" cy="411480"/>
          </a:xfrm>
          <a:prstGeom prst="roundRect">
            <a:avLst>
              <a:gd name="adj" fmla="val 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03520" y="5861304"/>
            <a:ext cx="6309360" cy="411480"/>
          </a:xfrm>
          <a:prstGeom prst="rect">
            <a:avLst/>
          </a:prstGeom>
          <a:noFill/>
        </p:spPr>
        <p:txBody>
          <a:bodyPr wrap="square" lIns="0" tIns="0" rIns="0" bIns="0" anchor="ctr">
            <a:spAutoFit/>
          </a:bodyPr>
          <a:lstStyle/>
          <a:p>
            <a:pPr algn="l">
              <a:spcAft>
                <a:spcPts val="400"/>
              </a:spcAft>
            </a:pPr>
            <a:r>
              <a:rPr sz="1150" b="0" i="0">
                <a:solidFill>
                  <a:srgbClr val="17212B"/>
                </a:solidFill>
                <a:latin typeface="Arial"/>
              </a:rPr>
              <a:t>Lý do thử: văn liệu (Schmid và cộng sự, 2025) cho thấy giữ nguyên mô hình nền gần bằng dạy lại → rẻ, vừa GPU 8 GB.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04</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KB4: chọn hệ cuối bằng luật viết trước khi có kết quả</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4 · Phương pháp và kịch bản    14 / 29</a:t>
            </a:r>
          </a:p>
        </p:txBody>
      </p:sp>
      <p:sp>
        <p:nvSpPr>
          <p:cNvPr id="5" name="Rounded Rectangle 4"/>
          <p:cNvSpPr/>
          <p:nvPr/>
        </p:nvSpPr>
        <p:spPr>
          <a:xfrm>
            <a:off x="457200" y="1280160"/>
            <a:ext cx="1947672" cy="12344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25880"/>
            <a:ext cx="1728216" cy="320040"/>
          </a:xfrm>
          <a:prstGeom prst="rect">
            <a:avLst/>
          </a:prstGeom>
          <a:noFill/>
        </p:spPr>
        <p:txBody>
          <a:bodyPr wrap="square" lIns="0" tIns="0" rIns="0" bIns="0" anchor="t">
            <a:spAutoFit/>
          </a:bodyPr>
          <a:lstStyle/>
          <a:p>
            <a:pPr algn="l">
              <a:spcAft>
                <a:spcPts val="400"/>
              </a:spcAft>
            </a:pPr>
            <a:r>
              <a:rPr sz="1200" b="1" i="0">
                <a:solidFill>
                  <a:srgbClr val="1677B8"/>
                </a:solidFill>
                <a:latin typeface="Arial"/>
              </a:rPr>
              <a:t>Bước 1</a:t>
            </a:r>
          </a:p>
        </p:txBody>
      </p:sp>
      <p:sp>
        <p:nvSpPr>
          <p:cNvPr id="7" name="TextBox 6"/>
          <p:cNvSpPr txBox="1"/>
          <p:nvPr/>
        </p:nvSpPr>
        <p:spPr>
          <a:xfrm>
            <a:off x="566928" y="1645920"/>
            <a:ext cx="1728216" cy="841248"/>
          </a:xfrm>
          <a:prstGeom prst="rect">
            <a:avLst/>
          </a:prstGeom>
          <a:noFill/>
        </p:spPr>
        <p:txBody>
          <a:bodyPr wrap="square" lIns="0" tIns="0" rIns="0" bIns="0" anchor="t">
            <a:spAutoFit/>
          </a:bodyPr>
          <a:lstStyle/>
          <a:p>
            <a:pPr algn="l">
              <a:spcAft>
                <a:spcPts val="400"/>
              </a:spcAft>
            </a:pPr>
            <a:r>
              <a:rPr sz="1300" b="0" i="0">
                <a:solidFill>
                  <a:srgbClr val="062F5C"/>
                </a:solidFill>
                <a:latin typeface="Arial"/>
              </a:rPr>
              <a:t>Ghi trước 11 ứng viên và luật chọn</a:t>
            </a:r>
          </a:p>
        </p:txBody>
      </p:sp>
      <p:sp>
        <p:nvSpPr>
          <p:cNvPr id="8" name="Right Arrow 7"/>
          <p:cNvSpPr/>
          <p:nvPr/>
        </p:nvSpPr>
        <p:spPr>
          <a:xfrm>
            <a:off x="2441448" y="1764792"/>
            <a:ext cx="310896"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88920" y="1280160"/>
            <a:ext cx="1947672" cy="12344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98648" y="1325880"/>
            <a:ext cx="1728216" cy="320040"/>
          </a:xfrm>
          <a:prstGeom prst="rect">
            <a:avLst/>
          </a:prstGeom>
          <a:noFill/>
        </p:spPr>
        <p:txBody>
          <a:bodyPr wrap="square" lIns="0" tIns="0" rIns="0" bIns="0" anchor="t">
            <a:spAutoFit/>
          </a:bodyPr>
          <a:lstStyle/>
          <a:p>
            <a:pPr algn="l">
              <a:spcAft>
                <a:spcPts val="400"/>
              </a:spcAft>
            </a:pPr>
            <a:r>
              <a:rPr sz="1200" b="1" i="0">
                <a:solidFill>
                  <a:srgbClr val="1677B8"/>
                </a:solidFill>
                <a:latin typeface="Arial"/>
              </a:rPr>
              <a:t>Bước 2</a:t>
            </a:r>
          </a:p>
        </p:txBody>
      </p:sp>
      <p:sp>
        <p:nvSpPr>
          <p:cNvPr id="11" name="TextBox 10"/>
          <p:cNvSpPr txBox="1"/>
          <p:nvPr/>
        </p:nvSpPr>
        <p:spPr>
          <a:xfrm>
            <a:off x="2898648" y="1645920"/>
            <a:ext cx="1728216" cy="841248"/>
          </a:xfrm>
          <a:prstGeom prst="rect">
            <a:avLst/>
          </a:prstGeom>
          <a:noFill/>
        </p:spPr>
        <p:txBody>
          <a:bodyPr wrap="square" lIns="0" tIns="0" rIns="0" bIns="0" anchor="t">
            <a:spAutoFit/>
          </a:bodyPr>
          <a:lstStyle/>
          <a:p>
            <a:pPr algn="l">
              <a:spcAft>
                <a:spcPts val="400"/>
              </a:spcAft>
            </a:pPr>
            <a:r>
              <a:rPr sz="1300" b="0" i="0">
                <a:solidFill>
                  <a:srgbClr val="062F5C"/>
                </a:solidFill>
                <a:latin typeface="Arial"/>
              </a:rPr>
              <a:t>Chấm cả 11 trên dev (kiểm chứng chéo 5 phần)</a:t>
            </a:r>
          </a:p>
        </p:txBody>
      </p:sp>
      <p:sp>
        <p:nvSpPr>
          <p:cNvPr id="12" name="Right Arrow 11"/>
          <p:cNvSpPr/>
          <p:nvPr/>
        </p:nvSpPr>
        <p:spPr>
          <a:xfrm>
            <a:off x="4773168" y="1764792"/>
            <a:ext cx="310896"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120640" y="1280160"/>
            <a:ext cx="1947672" cy="1234440"/>
          </a:xfrm>
          <a:prstGeom prst="roundRect">
            <a:avLst>
              <a:gd name="adj" fmla="val 6000"/>
            </a:avLst>
          </a:prstGeom>
          <a:solidFill>
            <a:srgbClr val="062F5C"/>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30368" y="1325880"/>
            <a:ext cx="1728216" cy="320040"/>
          </a:xfrm>
          <a:prstGeom prst="rect">
            <a:avLst/>
          </a:prstGeom>
          <a:noFill/>
        </p:spPr>
        <p:txBody>
          <a:bodyPr wrap="square" lIns="0" tIns="0" rIns="0" bIns="0" anchor="t">
            <a:spAutoFit/>
          </a:bodyPr>
          <a:lstStyle/>
          <a:p>
            <a:pPr algn="l">
              <a:spcAft>
                <a:spcPts val="400"/>
              </a:spcAft>
            </a:pPr>
            <a:r>
              <a:rPr sz="1200" b="1" i="0">
                <a:solidFill>
                  <a:srgbClr val="F4B336"/>
                </a:solidFill>
                <a:latin typeface="Arial"/>
              </a:rPr>
              <a:t>Bước 3</a:t>
            </a:r>
          </a:p>
        </p:txBody>
      </p:sp>
      <p:sp>
        <p:nvSpPr>
          <p:cNvPr id="15" name="TextBox 14"/>
          <p:cNvSpPr txBox="1"/>
          <p:nvPr/>
        </p:nvSpPr>
        <p:spPr>
          <a:xfrm>
            <a:off x="5230368" y="1645920"/>
            <a:ext cx="1728216" cy="841248"/>
          </a:xfrm>
          <a:prstGeom prst="rect">
            <a:avLst/>
          </a:prstGeom>
          <a:noFill/>
        </p:spPr>
        <p:txBody>
          <a:bodyPr wrap="square" lIns="0" tIns="0" rIns="0" bIns="0" anchor="t">
            <a:spAutoFit/>
          </a:bodyPr>
          <a:lstStyle/>
          <a:p>
            <a:pPr algn="l">
              <a:spcAft>
                <a:spcPts val="400"/>
              </a:spcAft>
            </a:pPr>
            <a:r>
              <a:rPr sz="1300" b="0" i="0">
                <a:solidFill>
                  <a:srgbClr val="FFFFFF"/>
                </a:solidFill>
                <a:latin typeface="Arial"/>
              </a:rPr>
              <a:t>Chọn ứng viên cao nhất là f2, commit lên git (c3f0033)</a:t>
            </a:r>
          </a:p>
        </p:txBody>
      </p:sp>
      <p:sp>
        <p:nvSpPr>
          <p:cNvPr id="16" name="Right Arrow 15"/>
          <p:cNvSpPr/>
          <p:nvPr/>
        </p:nvSpPr>
        <p:spPr>
          <a:xfrm>
            <a:off x="7104888" y="1764792"/>
            <a:ext cx="310896"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452359" y="1280160"/>
            <a:ext cx="1947672" cy="12344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62087" y="1325880"/>
            <a:ext cx="1728216" cy="320040"/>
          </a:xfrm>
          <a:prstGeom prst="rect">
            <a:avLst/>
          </a:prstGeom>
          <a:noFill/>
        </p:spPr>
        <p:txBody>
          <a:bodyPr wrap="square" lIns="0" tIns="0" rIns="0" bIns="0" anchor="t">
            <a:spAutoFit/>
          </a:bodyPr>
          <a:lstStyle/>
          <a:p>
            <a:pPr algn="l">
              <a:spcAft>
                <a:spcPts val="400"/>
              </a:spcAft>
            </a:pPr>
            <a:r>
              <a:rPr sz="1200" b="1" i="0">
                <a:solidFill>
                  <a:srgbClr val="1677B8"/>
                </a:solidFill>
                <a:latin typeface="Arial"/>
              </a:rPr>
              <a:t>Bước 4</a:t>
            </a:r>
          </a:p>
        </p:txBody>
      </p:sp>
      <p:sp>
        <p:nvSpPr>
          <p:cNvPr id="19" name="TextBox 18"/>
          <p:cNvSpPr txBox="1"/>
          <p:nvPr/>
        </p:nvSpPr>
        <p:spPr>
          <a:xfrm>
            <a:off x="7562087" y="1645920"/>
            <a:ext cx="1728216" cy="841248"/>
          </a:xfrm>
          <a:prstGeom prst="rect">
            <a:avLst/>
          </a:prstGeom>
          <a:noFill/>
        </p:spPr>
        <p:txBody>
          <a:bodyPr wrap="square" lIns="0" tIns="0" rIns="0" bIns="0" anchor="t">
            <a:spAutoFit/>
          </a:bodyPr>
          <a:lstStyle/>
          <a:p>
            <a:pPr algn="l">
              <a:spcAft>
                <a:spcPts val="400"/>
              </a:spcAft>
            </a:pPr>
            <a:r>
              <a:rPr sz="1300" b="0" i="0">
                <a:solidFill>
                  <a:srgbClr val="062F5C"/>
                </a:solidFill>
                <a:latin typeface="Arial"/>
              </a:rPr>
              <a:t>Sau commit mới tạo dự đoán trên test</a:t>
            </a:r>
          </a:p>
        </p:txBody>
      </p:sp>
      <p:sp>
        <p:nvSpPr>
          <p:cNvPr id="20" name="Right Arrow 19"/>
          <p:cNvSpPr/>
          <p:nvPr/>
        </p:nvSpPr>
        <p:spPr>
          <a:xfrm>
            <a:off x="9436607" y="1764792"/>
            <a:ext cx="310896"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84080" y="1280160"/>
            <a:ext cx="1947672" cy="1234440"/>
          </a:xfrm>
          <a:prstGeom prst="roundRect">
            <a:avLst>
              <a:gd name="adj" fmla="val 6000"/>
            </a:avLst>
          </a:prstGeom>
          <a:solidFill>
            <a:srgbClr val="062F5C"/>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93807" y="1325880"/>
            <a:ext cx="1728216" cy="320040"/>
          </a:xfrm>
          <a:prstGeom prst="rect">
            <a:avLst/>
          </a:prstGeom>
          <a:noFill/>
        </p:spPr>
        <p:txBody>
          <a:bodyPr wrap="square" lIns="0" tIns="0" rIns="0" bIns="0" anchor="t">
            <a:spAutoFit/>
          </a:bodyPr>
          <a:lstStyle/>
          <a:p>
            <a:pPr algn="l">
              <a:spcAft>
                <a:spcPts val="400"/>
              </a:spcAft>
            </a:pPr>
            <a:r>
              <a:rPr sz="1200" b="1" i="0">
                <a:solidFill>
                  <a:srgbClr val="F4B336"/>
                </a:solidFill>
                <a:latin typeface="Arial"/>
              </a:rPr>
              <a:t>Bước 5</a:t>
            </a:r>
          </a:p>
        </p:txBody>
      </p:sp>
      <p:sp>
        <p:nvSpPr>
          <p:cNvPr id="23" name="TextBox 22"/>
          <p:cNvSpPr txBox="1"/>
          <p:nvPr/>
        </p:nvSpPr>
        <p:spPr>
          <a:xfrm>
            <a:off x="9893807" y="1645920"/>
            <a:ext cx="1728216" cy="841248"/>
          </a:xfrm>
          <a:prstGeom prst="rect">
            <a:avLst/>
          </a:prstGeom>
          <a:noFill/>
        </p:spPr>
        <p:txBody>
          <a:bodyPr wrap="square" lIns="0" tIns="0" rIns="0" bIns="0" anchor="t">
            <a:spAutoFit/>
          </a:bodyPr>
          <a:lstStyle/>
          <a:p>
            <a:pPr algn="l">
              <a:spcAft>
                <a:spcPts val="400"/>
              </a:spcAft>
            </a:pPr>
            <a:r>
              <a:rPr sz="1300" b="0" i="0">
                <a:solidFill>
                  <a:srgbClr val="FFFFFF"/>
                </a:solidFill>
                <a:latin typeface="Arial"/>
              </a:rPr>
              <a:t>Chấm test 1 lần, báo hết, không chọn lại</a:t>
            </a:r>
          </a:p>
        </p:txBody>
      </p:sp>
      <p:sp>
        <p:nvSpPr>
          <p:cNvPr id="24" name="TextBox 23"/>
          <p:cNvSpPr txBox="1"/>
          <p:nvPr/>
        </p:nvSpPr>
        <p:spPr>
          <a:xfrm>
            <a:off x="457200" y="2697480"/>
            <a:ext cx="6766560" cy="320040"/>
          </a:xfrm>
          <a:prstGeom prst="rect">
            <a:avLst/>
          </a:prstGeom>
          <a:noFill/>
        </p:spPr>
        <p:txBody>
          <a:bodyPr wrap="square" lIns="0" tIns="0" rIns="0" bIns="0" anchor="t">
            <a:spAutoFit/>
          </a:bodyPr>
          <a:lstStyle/>
          <a:p>
            <a:pPr algn="l">
              <a:spcAft>
                <a:spcPts val="400"/>
              </a:spcAft>
            </a:pPr>
            <a:r>
              <a:rPr sz="1500" b="1" i="0">
                <a:solidFill>
                  <a:srgbClr val="062F5C"/>
                </a:solidFill>
                <a:latin typeface="Arial"/>
              </a:rPr>
              <a:t>11 ứng viên</a:t>
            </a:r>
          </a:p>
        </p:txBody>
      </p:sp>
      <p:graphicFrame>
        <p:nvGraphicFramePr>
          <p:cNvPr id="25" name="Table 24"/>
          <p:cNvGraphicFramePr>
            <a:graphicFrameLocks noGrp="1"/>
          </p:cNvGraphicFramePr>
          <p:nvPr/>
        </p:nvGraphicFramePr>
        <p:xfrm>
          <a:off x="457200" y="3063240"/>
          <a:ext cx="6766560" cy="2011680"/>
        </p:xfrm>
        <a:graphic>
          <a:graphicData uri="http://schemas.openxmlformats.org/drawingml/2006/table">
            <a:tbl>
              <a:tblPr firstRow="1">
                <a:tableStyleId>{5C22544A-7EE6-4342-B048-85BDC9FD1C3A}</a:tableStyleId>
              </a:tblPr>
              <a:tblGrid>
                <a:gridCol w="9144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502920">
                <a:tc>
                  <a:txBody>
                    <a:bodyPr/>
                    <a:lstStyle/>
                    <a:p>
                      <a:pPr algn="ctr"/>
                      <a:r>
                        <a:rPr sz="1200" b="1">
                          <a:solidFill>
                            <a:srgbClr val="FFFFFF"/>
                          </a:solidFill>
                          <a:latin typeface="Arial"/>
                        </a:rPr>
                        <a:t>Nhóm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Ứng viên (×3 = gộp 3 lần chạy)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502920">
                <a:tc>
                  <a:txBody>
                    <a:bodyPr/>
                    <a:lstStyle/>
                    <a:p>
                      <a:pPr algn="l"/>
                      <a:r>
                        <a:rPr sz="1200" b="0">
                          <a:solidFill>
                            <a:srgbClr val="17212B"/>
                          </a:solidFill>
                          <a:latin typeface="Arial"/>
                        </a:rPr>
                        <a:t>a – 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Từ v1/v2: a = gộp nhánh C của v1 · b = 1 lần chạy v2 · c = v2×3 · d = C-v2×3 · e = B-v2×3 + C-v2×3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502920">
                <a:tc>
                  <a:txBody>
                    <a:bodyPr/>
                    <a:lstStyle/>
                    <a:p>
                      <a:pPr algn="l"/>
                      <a:r>
                        <a:rPr sz="1200" b="0">
                          <a:solidFill>
                            <a:srgbClr val="17212B"/>
                          </a:solidFill>
                          <a:latin typeface="Arial"/>
                        </a:rPr>
                        <a:t>f1 – f4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Mô hình nền 40 ms: f1 = T2a×3 · f2 = T2b×3 (hệ cuối) · f3 = T2a×3 + B-v2×3 · f4 = T2b×3 + B-v2×3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2"/>
                  </a:ext>
                </a:extLst>
              </a:tr>
              <a:tr h="502920">
                <a:tc>
                  <a:txBody>
                    <a:bodyPr/>
                    <a:lstStyle/>
                    <a:p>
                      <a:pPr algn="l"/>
                      <a:r>
                        <a:rPr sz="1200" b="0">
                          <a:solidFill>
                            <a:srgbClr val="17212B"/>
                          </a:solidFill>
                          <a:latin typeface="Arial"/>
                        </a:rPr>
                        <a:t>g1, g2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Focal loss: g1 = T2b focal×3 · g2 = g1 + 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bl>
          </a:graphicData>
        </a:graphic>
      </p:graphicFrame>
      <p:sp>
        <p:nvSpPr>
          <p:cNvPr id="26" name="TextBox 25"/>
          <p:cNvSpPr txBox="1"/>
          <p:nvPr/>
        </p:nvSpPr>
        <p:spPr>
          <a:xfrm>
            <a:off x="457200" y="5394960"/>
            <a:ext cx="6766560" cy="868680"/>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Luật chọn: </a:t>
            </a:r>
            <a:r>
              <a:rPr sz="1300" b="1" i="0">
                <a:solidFill>
                  <a:srgbClr val="17212B"/>
                </a:solidFill>
                <a:latin typeface="Arial"/>
              </a:rPr>
              <a:t>event-F1 micro cao nhất</a:t>
            </a:r>
            <a:r>
              <a:rPr sz="1300" b="0" i="0">
                <a:solidFill>
                  <a:srgbClr val="17212B"/>
                </a:solidFill>
                <a:latin typeface="Arial"/>
              </a:rPr>
              <a:t>, tính trung bình trên 5 phần của dev. Chênh nhỏ hơn độ dao động thì chỉ nói “được chọn”, không nói “tốt hơn”.</a:t>
            </a:r>
          </a:p>
        </p:txBody>
      </p:sp>
      <p:sp>
        <p:nvSpPr>
          <p:cNvPr id="27" name="Rounded Rectangle 26"/>
          <p:cNvSpPr/>
          <p:nvPr/>
        </p:nvSpPr>
        <p:spPr>
          <a:xfrm>
            <a:off x="7452360" y="2697480"/>
            <a:ext cx="4279392" cy="35661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16952" y="2807208"/>
            <a:ext cx="3950207"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Cùng lúc chọn cách ghép sự kiện</a:t>
            </a:r>
          </a:p>
        </p:txBody>
      </p:sp>
      <p:sp>
        <p:nvSpPr>
          <p:cNvPr id="29" name="TextBox 28"/>
          <p:cNvSpPr txBox="1"/>
          <p:nvPr/>
        </p:nvSpPr>
        <p:spPr>
          <a:xfrm>
            <a:off x="7616952" y="3191256"/>
            <a:ext cx="3950207" cy="299923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1" i="0">
                <a:solidFill>
                  <a:srgbClr val="17212B"/>
                </a:solidFill>
                <a:latin typeface="Arial"/>
              </a:rPr>
              <a:t>Ngưỡng chung</a:t>
            </a:r>
            <a:r>
              <a:rPr sz="1300" b="0" i="0">
                <a:solidFill>
                  <a:srgbClr val="17212B"/>
                </a:solidFill>
                <a:latin typeface="Arial"/>
              </a:rPr>
              <a:t>: xác suất vượt ngưỡng thì coi là có sự kiện</a:t>
            </a:r>
          </a:p>
          <a:p>
            <a:pPr marL="219456" indent="-182880" algn="l">
              <a:spcAft>
                <a:spcPts val="400"/>
              </a:spcAft>
              <a:buClr>
                <a:srgbClr val="1677B8"/>
              </a:buClr>
              <a:buFont typeface="Arial"/>
              <a:buChar char="•"/>
            </a:pPr>
            <a:r>
              <a:rPr sz="1300" b="1" i="0">
                <a:solidFill>
                  <a:srgbClr val="17212B"/>
                </a:solidFill>
                <a:latin typeface="Arial"/>
              </a:rPr>
              <a:t>cSEBB</a:t>
            </a:r>
            <a:r>
              <a:rPr sz="1300" b="0" i="0">
                <a:solidFill>
                  <a:srgbClr val="17212B"/>
                </a:solidFill>
                <a:latin typeface="Arial"/>
              </a:rPr>
              <a:t>: lấy biên ở chỗ xác suất tăng hoặc giảm mạnh nhất</a:t>
            </a:r>
          </a:p>
          <a:p>
            <a:pPr marL="219456" indent="-182880" algn="l">
              <a:spcAft>
                <a:spcPts val="400"/>
              </a:spcAft>
              <a:buClr>
                <a:srgbClr val="1677B8"/>
              </a:buClr>
              <a:buFont typeface="Arial"/>
              <a:buChar char="•"/>
            </a:pPr>
            <a:r>
              <a:rPr sz="1300" b="1" i="0">
                <a:solidFill>
                  <a:srgbClr val="17212B"/>
                </a:solidFill>
                <a:latin typeface="Arial"/>
              </a:rPr>
              <a:t>Ngưỡng riêng từng loại</a:t>
            </a:r>
            <a:r>
              <a:rPr sz="1300" b="0" i="0">
                <a:solidFill>
                  <a:srgbClr val="17212B"/>
                </a:solidFill>
                <a:latin typeface="Arial"/>
              </a:rPr>
              <a:t> bị loại: 21 ngưỡng “học thuộc” dev, sang test tụt 39–48%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04</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KB5 (RQ2): cùng một danh sách sự kiện, bốn cách viết mô tả</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4 · Phương pháp và kịch bản    15 / 29</a:t>
            </a:r>
          </a:p>
        </p:txBody>
      </p:sp>
      <p:sp>
        <p:nvSpPr>
          <p:cNvPr id="5" name="Rounded Rectangle 4"/>
          <p:cNvSpPr/>
          <p:nvPr/>
        </p:nvSpPr>
        <p:spPr>
          <a:xfrm>
            <a:off x="457200" y="1188720"/>
            <a:ext cx="2715768"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85216" y="1307592"/>
            <a:ext cx="292608" cy="29260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1</a:t>
            </a:r>
          </a:p>
        </p:txBody>
      </p:sp>
      <p:sp>
        <p:nvSpPr>
          <p:cNvPr id="7" name="TextBox 6"/>
          <p:cNvSpPr txBox="1"/>
          <p:nvPr/>
        </p:nvSpPr>
        <p:spPr>
          <a:xfrm>
            <a:off x="950976" y="1280160"/>
            <a:ext cx="2130552" cy="329184"/>
          </a:xfrm>
          <a:prstGeom prst="rect">
            <a:avLst/>
          </a:prstGeom>
          <a:noFill/>
        </p:spPr>
        <p:txBody>
          <a:bodyPr wrap="square" lIns="0" tIns="0" rIns="0" bIns="0" anchor="ctr">
            <a:spAutoFit/>
          </a:bodyPr>
          <a:lstStyle/>
          <a:p>
            <a:pPr algn="l">
              <a:spcAft>
                <a:spcPts val="400"/>
              </a:spcAft>
            </a:pPr>
            <a:r>
              <a:rPr sz="1250" b="1" i="0">
                <a:solidFill>
                  <a:srgbClr val="062F5C"/>
                </a:solidFill>
                <a:latin typeface="Arial"/>
              </a:rPr>
              <a:t>Câu hỏi</a:t>
            </a:r>
          </a:p>
        </p:txBody>
      </p:sp>
      <p:sp>
        <p:nvSpPr>
          <p:cNvPr id="8" name="TextBox 7"/>
          <p:cNvSpPr txBox="1"/>
          <p:nvPr/>
        </p:nvSpPr>
        <p:spPr>
          <a:xfrm>
            <a:off x="603504" y="1645920"/>
            <a:ext cx="2441448" cy="44805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Ép câu mô tả bám danh sách sự kiện thì giảm bịa bao nhiêu, mất gì?</a:t>
            </a:r>
          </a:p>
        </p:txBody>
      </p:sp>
      <p:sp>
        <p:nvSpPr>
          <p:cNvPr id="9" name="Rounded Rectangle 8"/>
          <p:cNvSpPr/>
          <p:nvPr/>
        </p:nvSpPr>
        <p:spPr>
          <a:xfrm>
            <a:off x="3310128" y="1188720"/>
            <a:ext cx="2715768"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38144" y="1307592"/>
            <a:ext cx="292608" cy="292608"/>
          </a:xfrm>
          <a:prstGeom prst="ellipse">
            <a:avLst/>
          </a:prstGeom>
          <a:solidFill>
            <a:srgbClr val="1677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11" name="TextBox 10"/>
          <p:cNvSpPr txBox="1"/>
          <p:nvPr/>
        </p:nvSpPr>
        <p:spPr>
          <a:xfrm>
            <a:off x="3803904" y="1280160"/>
            <a:ext cx="2130552" cy="329184"/>
          </a:xfrm>
          <a:prstGeom prst="rect">
            <a:avLst/>
          </a:prstGeom>
          <a:noFill/>
        </p:spPr>
        <p:txBody>
          <a:bodyPr wrap="square" lIns="0" tIns="0" rIns="0" bIns="0" anchor="ctr">
            <a:spAutoFit/>
          </a:bodyPr>
          <a:lstStyle/>
          <a:p>
            <a:pPr algn="l">
              <a:spcAft>
                <a:spcPts val="400"/>
              </a:spcAft>
            </a:pPr>
            <a:r>
              <a:rPr sz="1250" b="1" i="0">
                <a:solidFill>
                  <a:srgbClr val="1677B8"/>
                </a:solidFill>
                <a:latin typeface="Arial"/>
              </a:rPr>
              <a:t>Cách làm</a:t>
            </a:r>
          </a:p>
        </p:txBody>
      </p:sp>
      <p:sp>
        <p:nvSpPr>
          <p:cNvPr id="12" name="TextBox 11"/>
          <p:cNvSpPr txBox="1"/>
          <p:nvPr/>
        </p:nvSpPr>
        <p:spPr>
          <a:xfrm>
            <a:off x="3456432" y="1645920"/>
            <a:ext cx="2441448" cy="44805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Cùng một danh sách sự kiện, cùng mô hình ngôn ngữ Qwen3.5-9B chạy trên máy.</a:t>
            </a:r>
          </a:p>
        </p:txBody>
      </p:sp>
      <p:sp>
        <p:nvSpPr>
          <p:cNvPr id="13" name="Rounded Rectangle 12"/>
          <p:cNvSpPr/>
          <p:nvPr/>
        </p:nvSpPr>
        <p:spPr>
          <a:xfrm>
            <a:off x="6163056" y="1188720"/>
            <a:ext cx="2715768"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91072" y="1307592"/>
            <a:ext cx="292608" cy="292608"/>
          </a:xfrm>
          <a:prstGeom prst="ellipse">
            <a:avLst/>
          </a:prstGeom>
          <a:solidFill>
            <a:srgbClr val="2E9B6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3</a:t>
            </a:r>
          </a:p>
        </p:txBody>
      </p:sp>
      <p:sp>
        <p:nvSpPr>
          <p:cNvPr id="15" name="TextBox 14"/>
          <p:cNvSpPr txBox="1"/>
          <p:nvPr/>
        </p:nvSpPr>
        <p:spPr>
          <a:xfrm>
            <a:off x="6656832" y="1280160"/>
            <a:ext cx="2130552" cy="329184"/>
          </a:xfrm>
          <a:prstGeom prst="rect">
            <a:avLst/>
          </a:prstGeom>
          <a:noFill/>
        </p:spPr>
        <p:txBody>
          <a:bodyPr wrap="square" lIns="0" tIns="0" rIns="0" bIns="0" anchor="ctr">
            <a:spAutoFit/>
          </a:bodyPr>
          <a:lstStyle/>
          <a:p>
            <a:pPr algn="l">
              <a:spcAft>
                <a:spcPts val="400"/>
              </a:spcAft>
            </a:pPr>
            <a:r>
              <a:rPr sz="1250" b="1" i="0">
                <a:solidFill>
                  <a:srgbClr val="2E9B67"/>
                </a:solidFill>
                <a:latin typeface="Arial"/>
              </a:rPr>
              <a:t>So sánh</a:t>
            </a:r>
          </a:p>
        </p:txBody>
      </p:sp>
      <p:sp>
        <p:nvSpPr>
          <p:cNvPr id="16" name="TextBox 15"/>
          <p:cNvSpPr txBox="1"/>
          <p:nvPr/>
        </p:nvSpPr>
        <p:spPr>
          <a:xfrm>
            <a:off x="6309360" y="1645920"/>
            <a:ext cx="2441448" cy="44805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4 cách viết, ở 2 mức: danh sách đúng (oracle) và danh sách máy đoán (đầu–cuối).</a:t>
            </a:r>
          </a:p>
        </p:txBody>
      </p:sp>
      <p:sp>
        <p:nvSpPr>
          <p:cNvPr id="17" name="Rounded Rectangle 16"/>
          <p:cNvSpPr/>
          <p:nvPr/>
        </p:nvSpPr>
        <p:spPr>
          <a:xfrm>
            <a:off x="9015984" y="1188720"/>
            <a:ext cx="2715768"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44000" y="1307592"/>
            <a:ext cx="292608" cy="29260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4</a:t>
            </a:r>
          </a:p>
        </p:txBody>
      </p:sp>
      <p:sp>
        <p:nvSpPr>
          <p:cNvPr id="19" name="TextBox 18"/>
          <p:cNvSpPr txBox="1"/>
          <p:nvPr/>
        </p:nvSpPr>
        <p:spPr>
          <a:xfrm>
            <a:off x="9509759" y="1280160"/>
            <a:ext cx="2130552" cy="329184"/>
          </a:xfrm>
          <a:prstGeom prst="rect">
            <a:avLst/>
          </a:prstGeom>
          <a:noFill/>
        </p:spPr>
        <p:txBody>
          <a:bodyPr wrap="square" lIns="0" tIns="0" rIns="0" bIns="0" anchor="ctr">
            <a:spAutoFit/>
          </a:bodyPr>
          <a:lstStyle/>
          <a:p>
            <a:pPr algn="l">
              <a:spcAft>
                <a:spcPts val="400"/>
              </a:spcAft>
            </a:pPr>
            <a:r>
              <a:rPr sz="1250" b="1" i="0">
                <a:solidFill>
                  <a:srgbClr val="8A5A00"/>
                </a:solidFill>
                <a:latin typeface="Arial"/>
              </a:rPr>
              <a:t>Đo bằng</a:t>
            </a:r>
          </a:p>
        </p:txBody>
      </p:sp>
      <p:sp>
        <p:nvSpPr>
          <p:cNvPr id="20" name="TextBox 19"/>
          <p:cNvSpPr txBox="1"/>
          <p:nvPr/>
        </p:nvSpPr>
        <p:spPr>
          <a:xfrm>
            <a:off x="9162288" y="1645920"/>
            <a:ext cx="2441448" cy="44805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Tỷ lệ bịa nguồn âm, bỏ sót, thêm bối cảnh, gọi tên quá cụ thể, từ cấm.</a:t>
            </a:r>
          </a:p>
        </p:txBody>
      </p:sp>
      <p:sp>
        <p:nvSpPr>
          <p:cNvPr id="21" name="Rounded Rectangle 20"/>
          <p:cNvSpPr/>
          <p:nvPr/>
        </p:nvSpPr>
        <p:spPr>
          <a:xfrm>
            <a:off x="426720" y="3429000"/>
            <a:ext cx="11274552" cy="384048"/>
          </a:xfrm>
          <a:prstGeom prst="roundRect">
            <a:avLst>
              <a:gd name="adj" fmla="val 6000"/>
            </a:avLst>
          </a:prstGeom>
          <a:solidFill>
            <a:srgbClr val="F0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3880" y="3429000"/>
            <a:ext cx="11064240" cy="384048"/>
          </a:xfrm>
          <a:prstGeom prst="rect">
            <a:avLst/>
          </a:prstGeom>
          <a:noFill/>
        </p:spPr>
        <p:txBody>
          <a:bodyPr wrap="square" lIns="0" tIns="0" rIns="0" bIns="0" anchor="ctr">
            <a:spAutoFit/>
          </a:bodyPr>
          <a:lstStyle/>
          <a:p>
            <a:pPr algn="l">
              <a:spcAft>
                <a:spcPts val="400"/>
              </a:spcAft>
            </a:pPr>
            <a:r>
              <a:rPr sz="1300" b="1" i="0" dirty="0">
                <a:solidFill>
                  <a:srgbClr val="062F5C"/>
                </a:solidFill>
                <a:latin typeface="Arial"/>
              </a:rPr>
              <a:t>Danh </a:t>
            </a:r>
            <a:r>
              <a:rPr sz="1300" b="1" i="0" dirty="0" err="1">
                <a:solidFill>
                  <a:srgbClr val="062F5C"/>
                </a:solidFill>
                <a:latin typeface="Arial"/>
              </a:rPr>
              <a:t>sách</a:t>
            </a:r>
            <a:r>
              <a:rPr sz="1300" b="1" i="0" dirty="0">
                <a:solidFill>
                  <a:srgbClr val="062F5C"/>
                </a:solidFill>
                <a:latin typeface="Arial"/>
              </a:rPr>
              <a:t> </a:t>
            </a:r>
            <a:r>
              <a:rPr sz="1300" b="1" i="0" dirty="0" err="1">
                <a:solidFill>
                  <a:srgbClr val="062F5C"/>
                </a:solidFill>
                <a:latin typeface="Arial"/>
              </a:rPr>
              <a:t>sự</a:t>
            </a:r>
            <a:r>
              <a:rPr sz="1300" b="1" i="0" dirty="0">
                <a:solidFill>
                  <a:srgbClr val="062F5C"/>
                </a:solidFill>
                <a:latin typeface="Arial"/>
              </a:rPr>
              <a:t> </a:t>
            </a:r>
            <a:r>
              <a:rPr sz="1300" b="1" i="0" dirty="0" err="1">
                <a:solidFill>
                  <a:srgbClr val="062F5C"/>
                </a:solidFill>
                <a:latin typeface="Arial"/>
              </a:rPr>
              <a:t>kiện</a:t>
            </a:r>
            <a:r>
              <a:rPr sz="1300" b="1" i="0" dirty="0">
                <a:solidFill>
                  <a:srgbClr val="062F5C"/>
                </a:solidFill>
                <a:latin typeface="Arial"/>
              </a:rPr>
              <a:t> </a:t>
            </a:r>
            <a:r>
              <a:rPr sz="1300" b="1" i="0" dirty="0" err="1">
                <a:solidFill>
                  <a:srgbClr val="062F5C"/>
                </a:solidFill>
                <a:latin typeface="Arial"/>
              </a:rPr>
              <a:t>máy</a:t>
            </a:r>
            <a:r>
              <a:rPr sz="1300" b="1" i="0" dirty="0">
                <a:solidFill>
                  <a:srgbClr val="062F5C"/>
                </a:solidFill>
                <a:latin typeface="Arial"/>
              </a:rPr>
              <a:t> </a:t>
            </a:r>
            <a:r>
              <a:rPr sz="1300" b="1" i="0" dirty="0" err="1">
                <a:solidFill>
                  <a:srgbClr val="062F5C"/>
                </a:solidFill>
                <a:latin typeface="Arial"/>
              </a:rPr>
              <a:t>đoán</a:t>
            </a:r>
            <a:r>
              <a:rPr sz="1300" b="1" i="0" dirty="0">
                <a:solidFill>
                  <a:srgbClr val="062F5C"/>
                </a:solidFill>
                <a:latin typeface="Arial"/>
              </a:rPr>
              <a:t> </a:t>
            </a:r>
            <a:r>
              <a:rPr sz="1300" b="1" i="0" dirty="0" err="1">
                <a:solidFill>
                  <a:srgbClr val="062F5C"/>
                </a:solidFill>
                <a:latin typeface="Arial"/>
              </a:rPr>
              <a:t>cho</a:t>
            </a:r>
            <a:r>
              <a:rPr sz="1300" b="1" i="0" dirty="0">
                <a:solidFill>
                  <a:srgbClr val="062F5C"/>
                </a:solidFill>
                <a:latin typeface="Arial"/>
              </a:rPr>
              <a:t> S-0009:  </a:t>
            </a:r>
            <a:r>
              <a:rPr sz="1300" b="1" i="0" dirty="0" err="1">
                <a:solidFill>
                  <a:srgbClr val="062F5C"/>
                </a:solidFill>
                <a:latin typeface="Arial"/>
              </a:rPr>
              <a:t>máy</a:t>
            </a:r>
            <a:r>
              <a:rPr sz="1300" b="1" i="0" dirty="0">
                <a:solidFill>
                  <a:srgbClr val="062F5C"/>
                </a:solidFill>
                <a:latin typeface="Arial"/>
              </a:rPr>
              <a:t> bay </a:t>
            </a:r>
            <a:r>
              <a:rPr sz="1300" b="1" i="0" dirty="0" err="1">
                <a:solidFill>
                  <a:srgbClr val="062F5C"/>
                </a:solidFill>
                <a:latin typeface="Arial"/>
              </a:rPr>
              <a:t>phản</a:t>
            </a:r>
            <a:r>
              <a:rPr sz="1300" b="1" i="0" dirty="0">
                <a:solidFill>
                  <a:srgbClr val="062F5C"/>
                </a:solidFill>
                <a:latin typeface="Arial"/>
              </a:rPr>
              <a:t> </a:t>
            </a:r>
            <a:r>
              <a:rPr sz="1300" b="1" i="0" dirty="0" err="1">
                <a:solidFill>
                  <a:srgbClr val="062F5C"/>
                </a:solidFill>
                <a:latin typeface="Arial"/>
              </a:rPr>
              <a:t>lực</a:t>
            </a:r>
            <a:r>
              <a:rPr sz="1300" b="1" i="0" dirty="0">
                <a:solidFill>
                  <a:srgbClr val="062F5C"/>
                </a:solidFill>
                <a:latin typeface="Arial"/>
              </a:rPr>
              <a:t> 0,3–10,0 s  ·  </a:t>
            </a:r>
            <a:r>
              <a:rPr sz="1300" b="1" i="0" dirty="0" err="1">
                <a:solidFill>
                  <a:srgbClr val="062F5C"/>
                </a:solidFill>
                <a:latin typeface="Arial"/>
              </a:rPr>
              <a:t>chim</a:t>
            </a:r>
            <a:r>
              <a:rPr sz="1300" b="1" i="0" dirty="0">
                <a:solidFill>
                  <a:srgbClr val="062F5C"/>
                </a:solidFill>
                <a:latin typeface="Arial"/>
              </a:rPr>
              <a:t> 10,0–29,2 s  ·  </a:t>
            </a:r>
            <a:r>
              <a:rPr sz="1300" b="1" i="0" dirty="0" err="1">
                <a:solidFill>
                  <a:srgbClr val="062F5C"/>
                </a:solidFill>
                <a:latin typeface="Arial"/>
              </a:rPr>
              <a:t>chim</a:t>
            </a:r>
            <a:r>
              <a:rPr sz="1300" b="1" i="0" dirty="0">
                <a:solidFill>
                  <a:srgbClr val="062F5C"/>
                </a:solidFill>
                <a:latin typeface="Arial"/>
              </a:rPr>
              <a:t> 90,0–108,8 s</a:t>
            </a:r>
          </a:p>
        </p:txBody>
      </p:sp>
      <p:graphicFrame>
        <p:nvGraphicFramePr>
          <p:cNvPr id="23" name="Table 22"/>
          <p:cNvGraphicFramePr>
            <a:graphicFrameLocks noGrp="1"/>
          </p:cNvGraphicFramePr>
          <p:nvPr>
            <p:extLst>
              <p:ext uri="{D42A27DB-BD31-4B8C-83A1-F6EECF244321}">
                <p14:modId xmlns:p14="http://schemas.microsoft.com/office/powerpoint/2010/main" val="1262905792"/>
              </p:ext>
            </p:extLst>
          </p:nvPr>
        </p:nvGraphicFramePr>
        <p:xfrm>
          <a:off x="426720" y="3904488"/>
          <a:ext cx="11274552" cy="2423160"/>
        </p:xfrm>
        <a:graphic>
          <a:graphicData uri="http://schemas.openxmlformats.org/drawingml/2006/table">
            <a:tbl>
              <a:tblPr firstRow="1">
                <a:tableStyleId>{5C22544A-7EE6-4342-B048-85BDC9FD1C3A}</a:tableStyleId>
              </a:tblPr>
              <a:tblGrid>
                <a:gridCol w="1558271">
                  <a:extLst>
                    <a:ext uri="{9D8B030D-6E8A-4147-A177-3AD203B41FA5}">
                      <a16:colId xmlns:a16="http://schemas.microsoft.com/office/drawing/2014/main" val="20000"/>
                    </a:ext>
                  </a:extLst>
                </a:gridCol>
                <a:gridCol w="6049760">
                  <a:extLst>
                    <a:ext uri="{9D8B030D-6E8A-4147-A177-3AD203B41FA5}">
                      <a16:colId xmlns:a16="http://schemas.microsoft.com/office/drawing/2014/main" val="20001"/>
                    </a:ext>
                  </a:extLst>
                </a:gridCol>
                <a:gridCol w="3666521">
                  <a:extLst>
                    <a:ext uri="{9D8B030D-6E8A-4147-A177-3AD203B41FA5}">
                      <a16:colId xmlns:a16="http://schemas.microsoft.com/office/drawing/2014/main" val="20002"/>
                    </a:ext>
                  </a:extLst>
                </a:gridCol>
              </a:tblGrid>
              <a:tr h="484632">
                <a:tc>
                  <a:txBody>
                    <a:bodyPr/>
                    <a:lstStyle/>
                    <a:p>
                      <a:pPr algn="ctr"/>
                      <a:r>
                        <a:rPr sz="1200" b="1">
                          <a:solidFill>
                            <a:srgbClr val="FFFFFF"/>
                          </a:solidFill>
                          <a:latin typeface="Arial"/>
                        </a:rPr>
                        <a:t>Cách viết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Câu sinh ra (thật, mức đầu–cuối)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dirty="0" err="1">
                          <a:solidFill>
                            <a:srgbClr val="FFFFFF"/>
                          </a:solidFill>
                          <a:latin typeface="Arial"/>
                        </a:rPr>
                        <a:t>Đặc</a:t>
                      </a:r>
                      <a:r>
                        <a:rPr sz="1200" b="1" dirty="0">
                          <a:solidFill>
                            <a:srgbClr val="FFFFFF"/>
                          </a:solidFill>
                          <a:latin typeface="Arial"/>
                        </a:rPr>
                        <a:t> </a:t>
                      </a:r>
                      <a:r>
                        <a:rPr sz="1200" b="1" dirty="0" err="1">
                          <a:solidFill>
                            <a:srgbClr val="FFFFFF"/>
                          </a:solidFill>
                          <a:latin typeface="Arial"/>
                        </a:rPr>
                        <a:t>điểm</a:t>
                      </a:r>
                      <a:endParaRPr sz="1200" b="1" dirty="0">
                        <a:solidFill>
                          <a:srgbClr val="FFFFFF"/>
                        </a:solidFill>
                        <a:latin typeface="Arial"/>
                      </a:endParaRPr>
                    </a:p>
                  </a:txBody>
                  <a:tcPr marL="54864" marR="54864" marT="22860" marB="22860" anchor="ctr">
                    <a:lnL w="9525">
                      <a:solidFill>
                        <a:srgbClr val="C9D2DD"/>
                      </a:solidFill>
                    </a:lnL>
                    <a:lnR w="9525" cap="flat" cmpd="sng" algn="ctr">
                      <a:solidFill>
                        <a:srgbClr val="C9D2DD"/>
                      </a:solidFill>
                      <a:prstDash val="solid"/>
                      <a:round/>
                      <a:headEnd type="none" w="med" len="med"/>
                      <a:tailEnd type="none" w="med" len="med"/>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484632">
                <a:tc>
                  <a:txBody>
                    <a:bodyPr/>
                    <a:lstStyle/>
                    <a:p>
                      <a:pPr algn="l"/>
                      <a:r>
                        <a:rPr sz="1200" b="0">
                          <a:solidFill>
                            <a:srgbClr val="17212B"/>
                          </a:solidFill>
                          <a:latin typeface="Arial"/>
                        </a:rPr>
                        <a:t>Template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Có thể nghe thấy tiếng máy bay phản lực từ 0,3 đến 10,0 giây. Có thể nghe thấy tiếng chim từ 10,0 đến 29,2 giây. …</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Điền khuôn, không thể bịa; demo đang dùng</a:t>
                      </a:r>
                    </a:p>
                  </a:txBody>
                  <a:tcPr marL="54864" marR="54864" marT="22860" marB="22860" anchor="ctr">
                    <a:lnL w="9525">
                      <a:solidFill>
                        <a:srgbClr val="C9D2DD"/>
                      </a:solidFill>
                    </a:lnL>
                    <a:lnR w="9525" cap="flat" cmpd="sng" algn="ctr">
                      <a:solidFill>
                        <a:srgbClr val="C9D2DD"/>
                      </a:solidFill>
                      <a:prstDash val="solid"/>
                      <a:round/>
                      <a:headEnd type="none" w="med" len="med"/>
                      <a:tailEnd type="none" w="med" len="med"/>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1"/>
                  </a:ext>
                </a:extLst>
              </a:tr>
              <a:tr h="484632">
                <a:tc>
                  <a:txBody>
                    <a:bodyPr/>
                    <a:lstStyle/>
                    <a:p>
                      <a:pPr algn="l"/>
                      <a:r>
                        <a:rPr sz="1200" b="0">
                          <a:solidFill>
                            <a:srgbClr val="17212B"/>
                          </a:solidFill>
                          <a:latin typeface="Arial"/>
                        </a:rPr>
                        <a:t>Unconstrained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A brief jet aircraft roar fades into a peaceful chorus of birds singing in the forest.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Viết tự do → tự thêm bối cảnh “in the forest”</a:t>
                      </a:r>
                    </a:p>
                  </a:txBody>
                  <a:tcPr marL="54864" marR="54864" marT="22860" marB="22860" anchor="ctr">
                    <a:lnL w="9525">
                      <a:solidFill>
                        <a:srgbClr val="C9D2DD"/>
                      </a:solidFill>
                    </a:lnL>
                    <a:lnR w="9525" cap="flat" cmpd="sng" algn="ctr">
                      <a:solidFill>
                        <a:srgbClr val="C9D2DD"/>
                      </a:solidFill>
                      <a:prstDash val="solid"/>
                      <a:round/>
                      <a:headEnd type="none" w="med" len="med"/>
                      <a:tailEnd type="none" w="med" len="med"/>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484632">
                <a:tc>
                  <a:txBody>
                    <a:bodyPr/>
                    <a:lstStyle/>
                    <a:p>
                      <a:pPr algn="l"/>
                      <a:r>
                        <a:rPr sz="1200" b="0">
                          <a:solidFill>
                            <a:srgbClr val="17212B"/>
                          </a:solidFill>
                          <a:latin typeface="Arial"/>
                        </a:rPr>
                        <a:t>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The sound of jet aircrafts can be heard from 0.3 to 10.0 seconds, followed by the sound of birds from 10.0 to 29.2 seconds and …</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Bị “ngữ pháp” ép: chỉ liệt kê sự kiện có thật, đúng tên, đúng giây</a:t>
                      </a:r>
                    </a:p>
                  </a:txBody>
                  <a:tcPr marL="54864" marR="54864" marT="22860" marB="22860" anchor="ctr">
                    <a:lnL w="9525">
                      <a:solidFill>
                        <a:srgbClr val="C9D2DD"/>
                      </a:solidFill>
                    </a:lnL>
                    <a:lnR w="9525" cap="flat" cmpd="sng" algn="ctr">
                      <a:solidFill>
                        <a:srgbClr val="C9D2DD"/>
                      </a:solidFill>
                      <a:prstDash val="solid"/>
                      <a:round/>
                      <a:headEnd type="none" w="med" len="med"/>
                      <a:tailEnd type="none" w="med" len="med"/>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484632">
                <a:tc>
                  <a:txBody>
                    <a:bodyPr/>
                    <a:lstStyle/>
                    <a:p>
                      <a:pPr algn="l"/>
                      <a:r>
                        <a:rPr sz="1200" b="0">
                          <a:solidFill>
                            <a:srgbClr val="17212B"/>
                          </a:solidFill>
                          <a:latin typeface="Arial"/>
                        </a:rPr>
                        <a:t>Constrained-cover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(giống câu trên ở ví dụ này)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dirty="0" err="1">
                          <a:solidFill>
                            <a:srgbClr val="17212B"/>
                          </a:solidFill>
                          <a:latin typeface="Arial"/>
                        </a:rPr>
                        <a:t>Thêm</a:t>
                      </a:r>
                      <a:r>
                        <a:rPr sz="1200" b="0" dirty="0">
                          <a:solidFill>
                            <a:srgbClr val="17212B"/>
                          </a:solidFill>
                          <a:latin typeface="Arial"/>
                        </a:rPr>
                        <a:t> </a:t>
                      </a:r>
                      <a:r>
                        <a:rPr sz="1200" b="0" dirty="0" err="1">
                          <a:solidFill>
                            <a:srgbClr val="17212B"/>
                          </a:solidFill>
                          <a:latin typeface="Arial"/>
                        </a:rPr>
                        <a:t>điều</a:t>
                      </a:r>
                      <a:r>
                        <a:rPr sz="1200" b="0" dirty="0">
                          <a:solidFill>
                            <a:srgbClr val="17212B"/>
                          </a:solidFill>
                          <a:latin typeface="Arial"/>
                        </a:rPr>
                        <a:t> </a:t>
                      </a:r>
                      <a:r>
                        <a:rPr sz="1200" b="0" dirty="0" err="1">
                          <a:solidFill>
                            <a:srgbClr val="17212B"/>
                          </a:solidFill>
                          <a:latin typeface="Arial"/>
                        </a:rPr>
                        <a:t>kiện</a:t>
                      </a:r>
                      <a:r>
                        <a:rPr sz="1200" b="0" dirty="0">
                          <a:solidFill>
                            <a:srgbClr val="17212B"/>
                          </a:solidFill>
                          <a:latin typeface="Arial"/>
                        </a:rPr>
                        <a:t>: </a:t>
                      </a:r>
                      <a:r>
                        <a:rPr sz="1200" b="0" dirty="0" err="1">
                          <a:solidFill>
                            <a:srgbClr val="17212B"/>
                          </a:solidFill>
                          <a:latin typeface="Arial"/>
                        </a:rPr>
                        <a:t>phải</a:t>
                      </a:r>
                      <a:r>
                        <a:rPr sz="1200" b="0" dirty="0">
                          <a:solidFill>
                            <a:srgbClr val="17212B"/>
                          </a:solidFill>
                          <a:latin typeface="Arial"/>
                        </a:rPr>
                        <a:t> </a:t>
                      </a:r>
                      <a:r>
                        <a:rPr sz="1200" b="0" dirty="0" err="1">
                          <a:solidFill>
                            <a:srgbClr val="17212B"/>
                          </a:solidFill>
                          <a:latin typeface="Arial"/>
                        </a:rPr>
                        <a:t>nhắc</a:t>
                      </a:r>
                      <a:r>
                        <a:rPr sz="1200" b="0" dirty="0">
                          <a:solidFill>
                            <a:srgbClr val="17212B"/>
                          </a:solidFill>
                          <a:latin typeface="Arial"/>
                        </a:rPr>
                        <a:t> </a:t>
                      </a:r>
                      <a:r>
                        <a:rPr sz="1200" b="0" dirty="0" err="1">
                          <a:solidFill>
                            <a:srgbClr val="17212B"/>
                          </a:solidFill>
                          <a:latin typeface="Arial"/>
                        </a:rPr>
                        <a:t>đủ</a:t>
                      </a:r>
                      <a:r>
                        <a:rPr sz="1200" b="0" dirty="0">
                          <a:solidFill>
                            <a:srgbClr val="17212B"/>
                          </a:solidFill>
                          <a:latin typeface="Arial"/>
                        </a:rPr>
                        <a:t> </a:t>
                      </a:r>
                      <a:r>
                        <a:rPr sz="1200" b="0" dirty="0" err="1">
                          <a:solidFill>
                            <a:srgbClr val="17212B"/>
                          </a:solidFill>
                          <a:latin typeface="Arial"/>
                        </a:rPr>
                        <a:t>mọi</a:t>
                      </a:r>
                      <a:r>
                        <a:rPr sz="1200" b="0" dirty="0">
                          <a:solidFill>
                            <a:srgbClr val="17212B"/>
                          </a:solidFill>
                          <a:latin typeface="Arial"/>
                        </a:rPr>
                        <a:t> </a:t>
                      </a:r>
                      <a:r>
                        <a:rPr sz="1200" b="0" dirty="0" err="1">
                          <a:solidFill>
                            <a:srgbClr val="17212B"/>
                          </a:solidFill>
                          <a:latin typeface="Arial"/>
                        </a:rPr>
                        <a:t>loại</a:t>
                      </a:r>
                      <a:r>
                        <a:rPr sz="1200" b="0" dirty="0">
                          <a:solidFill>
                            <a:srgbClr val="17212B"/>
                          </a:solidFill>
                          <a:latin typeface="Arial"/>
                        </a:rPr>
                        <a:t> </a:t>
                      </a:r>
                      <a:r>
                        <a:rPr sz="1200" b="0" dirty="0" err="1">
                          <a:solidFill>
                            <a:srgbClr val="17212B"/>
                          </a:solidFill>
                          <a:latin typeface="Arial"/>
                        </a:rPr>
                        <a:t>âm</a:t>
                      </a:r>
                      <a:endParaRPr sz="1200" b="0" dirty="0">
                        <a:solidFill>
                          <a:srgbClr val="17212B"/>
                        </a:solidFill>
                        <a:latin typeface="Arial"/>
                      </a:endParaRPr>
                    </a:p>
                  </a:txBody>
                  <a:tcPr marL="54864" marR="54864" marT="22860" marB="22860" anchor="ctr">
                    <a:lnL w="9525">
                      <a:solidFill>
                        <a:srgbClr val="C9D2DD"/>
                      </a:solidFill>
                    </a:lnL>
                    <a:lnR w="9525" cap="flat" cmpd="sng" algn="ctr">
                      <a:solidFill>
                        <a:srgbClr val="C9D2DD"/>
                      </a:solidFill>
                      <a:prstDash val="solid"/>
                      <a:round/>
                      <a:headEnd type="none" w="med" len="med"/>
                      <a:tailEnd type="none" w="med" len="med"/>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bl>
          </a:graphicData>
        </a:graphic>
      </p:graphicFrame>
      <p:grpSp>
        <p:nvGrpSpPr>
          <p:cNvPr id="35" name="Group 34">
            <a:extLst>
              <a:ext uri="{FF2B5EF4-FFF2-40B4-BE49-F238E27FC236}">
                <a16:creationId xmlns:a16="http://schemas.microsoft.com/office/drawing/2014/main" id="{3BFF995C-ED39-487B-F933-99F47281AAFA}"/>
              </a:ext>
            </a:extLst>
          </p:cNvPr>
          <p:cNvGrpSpPr/>
          <p:nvPr/>
        </p:nvGrpSpPr>
        <p:grpSpPr>
          <a:xfrm>
            <a:off x="260604" y="2615184"/>
            <a:ext cx="11274552" cy="512064"/>
            <a:chOff x="457200" y="5760720"/>
            <a:chExt cx="11274552" cy="512064"/>
          </a:xfrm>
        </p:grpSpPr>
        <p:sp>
          <p:nvSpPr>
            <p:cNvPr id="24" name="Rounded Rectangle 23"/>
            <p:cNvSpPr/>
            <p:nvPr/>
          </p:nvSpPr>
          <p:spPr>
            <a:xfrm>
              <a:off x="457200" y="5760720"/>
              <a:ext cx="3666744" cy="512064"/>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48640" y="5815584"/>
              <a:ext cx="402336" cy="402336"/>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62F5C"/>
                  </a:solidFill>
                  <a:latin typeface="Arial"/>
                </a:rPr>
                <a:t>G1</a:t>
              </a:r>
            </a:p>
          </p:txBody>
        </p:sp>
        <p:sp>
          <p:nvSpPr>
            <p:cNvPr id="26" name="TextBox 25"/>
            <p:cNvSpPr txBox="1"/>
            <p:nvPr/>
          </p:nvSpPr>
          <p:spPr>
            <a:xfrm>
              <a:off x="1051560" y="5760720"/>
              <a:ext cx="2980944" cy="512064"/>
            </a:xfrm>
            <a:prstGeom prst="rect">
              <a:avLst/>
            </a:prstGeom>
            <a:noFill/>
          </p:spPr>
          <p:txBody>
            <a:bodyPr wrap="square" lIns="0" tIns="0" rIns="0" bIns="0" anchor="ctr">
              <a:spAutoFit/>
            </a:bodyPr>
            <a:lstStyle/>
            <a:p>
              <a:pPr algn="l">
                <a:spcAft>
                  <a:spcPts val="400"/>
                </a:spcAft>
              </a:pPr>
              <a:r>
                <a:rPr sz="1200" b="0" i="0">
                  <a:solidFill>
                    <a:srgbClr val="17212B"/>
                  </a:solidFill>
                  <a:latin typeface="Arial"/>
                </a:rPr>
                <a:t>Nguồn âm được nhắc phải có trong danh sách</a:t>
              </a:r>
            </a:p>
          </p:txBody>
        </p:sp>
        <p:sp>
          <p:nvSpPr>
            <p:cNvPr id="27" name="Rounded Rectangle 26"/>
            <p:cNvSpPr/>
            <p:nvPr/>
          </p:nvSpPr>
          <p:spPr>
            <a:xfrm>
              <a:off x="4261104" y="5760720"/>
              <a:ext cx="3666744" cy="512064"/>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352544" y="5815584"/>
              <a:ext cx="402336" cy="402336"/>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62F5C"/>
                  </a:solidFill>
                  <a:latin typeface="Arial"/>
                </a:rPr>
                <a:t>G2</a:t>
              </a:r>
            </a:p>
          </p:txBody>
        </p:sp>
        <p:sp>
          <p:nvSpPr>
            <p:cNvPr id="29" name="TextBox 28"/>
            <p:cNvSpPr txBox="1"/>
            <p:nvPr/>
          </p:nvSpPr>
          <p:spPr>
            <a:xfrm>
              <a:off x="4855464" y="5760720"/>
              <a:ext cx="2980944" cy="512064"/>
            </a:xfrm>
            <a:prstGeom prst="rect">
              <a:avLst/>
            </a:prstGeom>
            <a:noFill/>
          </p:spPr>
          <p:txBody>
            <a:bodyPr wrap="square" lIns="0" tIns="0" rIns="0" bIns="0" anchor="ctr">
              <a:spAutoFit/>
            </a:bodyPr>
            <a:lstStyle/>
            <a:p>
              <a:pPr algn="l">
                <a:spcAft>
                  <a:spcPts val="400"/>
                </a:spcAft>
              </a:pPr>
              <a:r>
                <a:rPr sz="1200" b="0" i="0">
                  <a:solidFill>
                    <a:srgbClr val="17212B"/>
                  </a:solidFill>
                  <a:latin typeface="Arial"/>
                </a:rPr>
                <a:t>Mỗi lần nhắc chỉ ra được sự kiện làm bằng chứng</a:t>
              </a:r>
            </a:p>
          </p:txBody>
        </p:sp>
        <p:sp>
          <p:nvSpPr>
            <p:cNvPr id="30" name="Rounded Rectangle 29"/>
            <p:cNvSpPr/>
            <p:nvPr/>
          </p:nvSpPr>
          <p:spPr>
            <a:xfrm>
              <a:off x="8065008" y="5760720"/>
              <a:ext cx="3666744" cy="512064"/>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156448" y="5815584"/>
              <a:ext cx="402336" cy="402336"/>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62F5C"/>
                  </a:solidFill>
                  <a:latin typeface="Arial"/>
                </a:rPr>
                <a:t>G3</a:t>
              </a:r>
            </a:p>
          </p:txBody>
        </p:sp>
        <p:sp>
          <p:nvSpPr>
            <p:cNvPr id="32" name="TextBox 31"/>
            <p:cNvSpPr txBox="1"/>
            <p:nvPr/>
          </p:nvSpPr>
          <p:spPr>
            <a:xfrm>
              <a:off x="8659368" y="5760720"/>
              <a:ext cx="2980944" cy="512064"/>
            </a:xfrm>
            <a:prstGeom prst="rect">
              <a:avLst/>
            </a:prstGeom>
            <a:noFill/>
          </p:spPr>
          <p:txBody>
            <a:bodyPr wrap="square" lIns="0" tIns="0" rIns="0" bIns="0" anchor="ctr">
              <a:spAutoFit/>
            </a:bodyPr>
            <a:lstStyle/>
            <a:p>
              <a:pPr algn="l">
                <a:spcAft>
                  <a:spcPts val="400"/>
                </a:spcAft>
              </a:pPr>
              <a:r>
                <a:rPr sz="1200" b="0" i="0">
                  <a:solidFill>
                    <a:srgbClr val="17212B"/>
                  </a:solidFill>
                  <a:latin typeface="Arial"/>
                </a:rPr>
                <a:t>Cấm từ về nguyên nhân, ý định, nguy hiểm</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04</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KB6 (RQ3): ba cách tìm, đo trên 100 câu hỏi mẫu</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4 · Phương pháp và kịch bản    16 / 29</a:t>
            </a:r>
          </a:p>
        </p:txBody>
      </p:sp>
      <p:sp>
        <p:nvSpPr>
          <p:cNvPr id="5" name="Rounded Rectangle 4"/>
          <p:cNvSpPr/>
          <p:nvPr/>
        </p:nvSpPr>
        <p:spPr>
          <a:xfrm>
            <a:off x="457200" y="1188720"/>
            <a:ext cx="2715768"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85216" y="1307592"/>
            <a:ext cx="292608" cy="292608"/>
          </a:xfrm>
          <a:prstGeom prst="ellipse">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1</a:t>
            </a:r>
          </a:p>
        </p:txBody>
      </p:sp>
      <p:sp>
        <p:nvSpPr>
          <p:cNvPr id="7" name="TextBox 6"/>
          <p:cNvSpPr txBox="1"/>
          <p:nvPr/>
        </p:nvSpPr>
        <p:spPr>
          <a:xfrm>
            <a:off x="950976" y="1280160"/>
            <a:ext cx="2130552" cy="329184"/>
          </a:xfrm>
          <a:prstGeom prst="rect">
            <a:avLst/>
          </a:prstGeom>
          <a:noFill/>
        </p:spPr>
        <p:txBody>
          <a:bodyPr wrap="square" lIns="0" tIns="0" rIns="0" bIns="0" anchor="ctr">
            <a:spAutoFit/>
          </a:bodyPr>
          <a:lstStyle/>
          <a:p>
            <a:pPr algn="l">
              <a:spcAft>
                <a:spcPts val="400"/>
              </a:spcAft>
            </a:pPr>
            <a:r>
              <a:rPr sz="1250" b="1" i="0">
                <a:solidFill>
                  <a:srgbClr val="062F5C"/>
                </a:solidFill>
                <a:latin typeface="Arial"/>
              </a:rPr>
              <a:t>Câu hỏi</a:t>
            </a:r>
          </a:p>
        </p:txBody>
      </p:sp>
      <p:sp>
        <p:nvSpPr>
          <p:cNvPr id="8" name="TextBox 7"/>
          <p:cNvSpPr txBox="1"/>
          <p:nvPr/>
        </p:nvSpPr>
        <p:spPr>
          <a:xfrm>
            <a:off x="603504" y="1645920"/>
            <a:ext cx="2441448" cy="44805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Tìm lại sự kiện: lọc cứng, tìm theo nghĩa, hay kết hợp?</a:t>
            </a:r>
          </a:p>
        </p:txBody>
      </p:sp>
      <p:sp>
        <p:nvSpPr>
          <p:cNvPr id="9" name="Rounded Rectangle 8"/>
          <p:cNvSpPr/>
          <p:nvPr/>
        </p:nvSpPr>
        <p:spPr>
          <a:xfrm>
            <a:off x="3310128" y="1188720"/>
            <a:ext cx="2715768"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38144" y="1307592"/>
            <a:ext cx="292608" cy="292608"/>
          </a:xfrm>
          <a:prstGeom prst="ellipse">
            <a:avLst/>
          </a:prstGeom>
          <a:solidFill>
            <a:srgbClr val="1677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11" name="TextBox 10"/>
          <p:cNvSpPr txBox="1"/>
          <p:nvPr/>
        </p:nvSpPr>
        <p:spPr>
          <a:xfrm>
            <a:off x="3803904" y="1280160"/>
            <a:ext cx="2130552" cy="329184"/>
          </a:xfrm>
          <a:prstGeom prst="rect">
            <a:avLst/>
          </a:prstGeom>
          <a:noFill/>
        </p:spPr>
        <p:txBody>
          <a:bodyPr wrap="square" lIns="0" tIns="0" rIns="0" bIns="0" anchor="ctr">
            <a:spAutoFit/>
          </a:bodyPr>
          <a:lstStyle/>
          <a:p>
            <a:pPr algn="l">
              <a:spcAft>
                <a:spcPts val="400"/>
              </a:spcAft>
            </a:pPr>
            <a:r>
              <a:rPr sz="1250" b="1" i="0">
                <a:solidFill>
                  <a:srgbClr val="1677B8"/>
                </a:solidFill>
                <a:latin typeface="Arial"/>
              </a:rPr>
              <a:t>Cách làm</a:t>
            </a:r>
          </a:p>
        </p:txBody>
      </p:sp>
      <p:sp>
        <p:nvSpPr>
          <p:cNvPr id="12" name="TextBox 11"/>
          <p:cNvSpPr txBox="1"/>
          <p:nvPr/>
        </p:nvSpPr>
        <p:spPr>
          <a:xfrm>
            <a:off x="3456432" y="1645920"/>
            <a:ext cx="2441448" cy="44805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100 câu hỏi mẫu, 4 nhóm; đáp án đúng tính từ nhãn gốc, viết trước khi xem kết quả.</a:t>
            </a:r>
          </a:p>
        </p:txBody>
      </p:sp>
      <p:sp>
        <p:nvSpPr>
          <p:cNvPr id="13" name="Rounded Rectangle 12"/>
          <p:cNvSpPr/>
          <p:nvPr/>
        </p:nvSpPr>
        <p:spPr>
          <a:xfrm>
            <a:off x="6163056" y="1188720"/>
            <a:ext cx="2715768"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91072" y="1307592"/>
            <a:ext cx="292608" cy="292608"/>
          </a:xfrm>
          <a:prstGeom prst="ellipse">
            <a:avLst/>
          </a:prstGeom>
          <a:solidFill>
            <a:srgbClr val="2E9B6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3</a:t>
            </a:r>
          </a:p>
        </p:txBody>
      </p:sp>
      <p:sp>
        <p:nvSpPr>
          <p:cNvPr id="15" name="TextBox 14"/>
          <p:cNvSpPr txBox="1"/>
          <p:nvPr/>
        </p:nvSpPr>
        <p:spPr>
          <a:xfrm>
            <a:off x="6656832" y="1280160"/>
            <a:ext cx="2130552" cy="329184"/>
          </a:xfrm>
          <a:prstGeom prst="rect">
            <a:avLst/>
          </a:prstGeom>
          <a:noFill/>
        </p:spPr>
        <p:txBody>
          <a:bodyPr wrap="square" lIns="0" tIns="0" rIns="0" bIns="0" anchor="ctr">
            <a:spAutoFit/>
          </a:bodyPr>
          <a:lstStyle/>
          <a:p>
            <a:pPr algn="l">
              <a:spcAft>
                <a:spcPts val="400"/>
              </a:spcAft>
            </a:pPr>
            <a:r>
              <a:rPr sz="1250" b="1" i="0">
                <a:solidFill>
                  <a:srgbClr val="2E9B67"/>
                </a:solidFill>
                <a:latin typeface="Arial"/>
              </a:rPr>
              <a:t>So sánh</a:t>
            </a:r>
          </a:p>
        </p:txBody>
      </p:sp>
      <p:sp>
        <p:nvSpPr>
          <p:cNvPr id="16" name="TextBox 15"/>
          <p:cNvSpPr txBox="1"/>
          <p:nvPr/>
        </p:nvSpPr>
        <p:spPr>
          <a:xfrm>
            <a:off x="6309360" y="1645920"/>
            <a:ext cx="2441448" cy="44805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3 cách tìm × 2 kho sự kiện (dự đoán nhánh B và dự đoán f2) × tiếng Anh/Việt.</a:t>
            </a:r>
          </a:p>
        </p:txBody>
      </p:sp>
      <p:sp>
        <p:nvSpPr>
          <p:cNvPr id="17" name="Rounded Rectangle 16"/>
          <p:cNvSpPr/>
          <p:nvPr/>
        </p:nvSpPr>
        <p:spPr>
          <a:xfrm>
            <a:off x="9015984" y="1188720"/>
            <a:ext cx="2715768"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44000" y="1307592"/>
            <a:ext cx="292608" cy="29260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4</a:t>
            </a:r>
          </a:p>
        </p:txBody>
      </p:sp>
      <p:sp>
        <p:nvSpPr>
          <p:cNvPr id="19" name="TextBox 18"/>
          <p:cNvSpPr txBox="1"/>
          <p:nvPr/>
        </p:nvSpPr>
        <p:spPr>
          <a:xfrm>
            <a:off x="9509759" y="1280160"/>
            <a:ext cx="2130552" cy="329184"/>
          </a:xfrm>
          <a:prstGeom prst="rect">
            <a:avLst/>
          </a:prstGeom>
          <a:noFill/>
        </p:spPr>
        <p:txBody>
          <a:bodyPr wrap="square" lIns="0" tIns="0" rIns="0" bIns="0" anchor="ctr">
            <a:spAutoFit/>
          </a:bodyPr>
          <a:lstStyle/>
          <a:p>
            <a:pPr algn="l">
              <a:spcAft>
                <a:spcPts val="400"/>
              </a:spcAft>
            </a:pPr>
            <a:r>
              <a:rPr sz="1250" b="1" i="0">
                <a:solidFill>
                  <a:srgbClr val="8A5A00"/>
                </a:solidFill>
                <a:latin typeface="Arial"/>
              </a:rPr>
              <a:t>Đo bằng</a:t>
            </a:r>
          </a:p>
        </p:txBody>
      </p:sp>
      <p:sp>
        <p:nvSpPr>
          <p:cNvPr id="20" name="TextBox 19"/>
          <p:cNvSpPr txBox="1"/>
          <p:nvPr/>
        </p:nvSpPr>
        <p:spPr>
          <a:xfrm>
            <a:off x="9162288" y="1645920"/>
            <a:ext cx="2441448" cy="44805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nDCG@10, độ đúng bộ lọc, tỷ lệ khẳng định thiếu bằng chứng.</a:t>
            </a:r>
          </a:p>
        </p:txBody>
      </p:sp>
      <p:sp>
        <p:nvSpPr>
          <p:cNvPr id="21" name="Rounded Rectangle 20"/>
          <p:cNvSpPr/>
          <p:nvPr/>
        </p:nvSpPr>
        <p:spPr>
          <a:xfrm>
            <a:off x="457200" y="2286000"/>
            <a:ext cx="5486400"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2395728"/>
            <a:ext cx="5157216" cy="329184"/>
          </a:xfrm>
          <a:prstGeom prst="rect">
            <a:avLst/>
          </a:prstGeom>
          <a:noFill/>
        </p:spPr>
        <p:txBody>
          <a:bodyPr wrap="square" lIns="0" tIns="0" rIns="0" bIns="0" anchor="t">
            <a:spAutoFit/>
          </a:bodyPr>
          <a:lstStyle/>
          <a:p>
            <a:pPr algn="l">
              <a:spcAft>
                <a:spcPts val="400"/>
              </a:spcAft>
            </a:pPr>
            <a:r>
              <a:rPr sz="1250" b="1" i="0">
                <a:solidFill>
                  <a:srgbClr val="062F5C"/>
                </a:solidFill>
                <a:latin typeface="Arial"/>
              </a:rPr>
              <a:t>Câu hỏi</a:t>
            </a:r>
          </a:p>
        </p:txBody>
      </p:sp>
      <p:sp>
        <p:nvSpPr>
          <p:cNvPr id="23" name="TextBox 22"/>
          <p:cNvSpPr txBox="1"/>
          <p:nvPr/>
        </p:nvSpPr>
        <p:spPr>
          <a:xfrm>
            <a:off x="621792" y="2779776"/>
            <a:ext cx="5157216" cy="393191"/>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“Có tiếng người nói trước tiếng động cơ xe chạy không tải không?”</a:t>
            </a:r>
          </a:p>
        </p:txBody>
      </p:sp>
      <p:sp>
        <p:nvSpPr>
          <p:cNvPr id="24" name="Rounded Rectangle 23"/>
          <p:cNvSpPr/>
          <p:nvPr/>
        </p:nvSpPr>
        <p:spPr>
          <a:xfrm>
            <a:off x="457200" y="3364991"/>
            <a:ext cx="5486400"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3474720"/>
            <a:ext cx="5157216" cy="329184"/>
          </a:xfrm>
          <a:prstGeom prst="rect">
            <a:avLst/>
          </a:prstGeom>
          <a:noFill/>
        </p:spPr>
        <p:txBody>
          <a:bodyPr wrap="square" lIns="0" tIns="0" rIns="0" bIns="0" anchor="t">
            <a:spAutoFit/>
          </a:bodyPr>
          <a:lstStyle/>
          <a:p>
            <a:pPr algn="l">
              <a:spcAft>
                <a:spcPts val="400"/>
              </a:spcAft>
            </a:pPr>
            <a:r>
              <a:rPr sz="1250" b="1" i="0">
                <a:solidFill>
                  <a:srgbClr val="1677B8"/>
                </a:solidFill>
                <a:latin typeface="Arial"/>
              </a:rPr>
              <a:t>Bộ lọc (mô hình ngôn ngữ đổi ra)</a:t>
            </a:r>
          </a:p>
        </p:txBody>
      </p:sp>
      <p:sp>
        <p:nvSpPr>
          <p:cNvPr id="26" name="TextBox 25"/>
          <p:cNvSpPr txBox="1"/>
          <p:nvPr/>
        </p:nvSpPr>
        <p:spPr>
          <a:xfrm>
            <a:off x="621792" y="3858768"/>
            <a:ext cx="5157216" cy="393191"/>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điều kiện: trước · A = tiếng người nói · B = xe chạy không tải</a:t>
            </a:r>
          </a:p>
        </p:txBody>
      </p:sp>
      <p:sp>
        <p:nvSpPr>
          <p:cNvPr id="27" name="Rounded Rectangle 26"/>
          <p:cNvSpPr/>
          <p:nvPr/>
        </p:nvSpPr>
        <p:spPr>
          <a:xfrm>
            <a:off x="457200" y="4443983"/>
            <a:ext cx="5486400" cy="9601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4553712"/>
            <a:ext cx="5157216" cy="329184"/>
          </a:xfrm>
          <a:prstGeom prst="rect">
            <a:avLst/>
          </a:prstGeom>
          <a:noFill/>
        </p:spPr>
        <p:txBody>
          <a:bodyPr wrap="square" lIns="0" tIns="0" rIns="0" bIns="0" anchor="t">
            <a:spAutoFit/>
          </a:bodyPr>
          <a:lstStyle/>
          <a:p>
            <a:pPr algn="l">
              <a:spcAft>
                <a:spcPts val="400"/>
              </a:spcAft>
            </a:pPr>
            <a:r>
              <a:rPr sz="1250" b="1" i="0">
                <a:solidFill>
                  <a:srgbClr val="2E9B67"/>
                </a:solidFill>
                <a:latin typeface="Arial"/>
              </a:rPr>
              <a:t>Câu trả lời</a:t>
            </a:r>
          </a:p>
        </p:txBody>
      </p:sp>
      <p:sp>
        <p:nvSpPr>
          <p:cNvPr id="29" name="TextBox 28"/>
          <p:cNvSpPr txBox="1"/>
          <p:nvPr/>
        </p:nvSpPr>
        <p:spPr>
          <a:xfrm>
            <a:off x="621792" y="4937759"/>
            <a:ext cx="5157216" cy="393191"/>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“…tiếng người nói ở 18,2–19,4 giây, sau đó tiếng động cơ xe chạy không tải ở 119,5–130,7 giây.” (kèm mã bản ghi)</a:t>
            </a:r>
          </a:p>
        </p:txBody>
      </p:sp>
      <p:sp>
        <p:nvSpPr>
          <p:cNvPr id="30" name="TextBox 29"/>
          <p:cNvSpPr txBox="1"/>
          <p:nvPr/>
        </p:nvSpPr>
        <p:spPr>
          <a:xfrm>
            <a:off x="457200" y="5532120"/>
            <a:ext cx="5486400" cy="731520"/>
          </a:xfrm>
          <a:prstGeom prst="rect">
            <a:avLst/>
          </a:prstGeom>
          <a:noFill/>
        </p:spPr>
        <p:txBody>
          <a:bodyPr wrap="square" lIns="0" tIns="0" rIns="0" bIns="0" anchor="t">
            <a:spAutoFit/>
          </a:bodyPr>
          <a:lstStyle/>
          <a:p>
            <a:pPr algn="l">
              <a:spcAft>
                <a:spcPts val="400"/>
              </a:spcAft>
            </a:pPr>
            <a:r>
              <a:rPr sz="1150" b="0" i="1">
                <a:solidFill>
                  <a:srgbClr val="667085"/>
                </a:solidFill>
                <a:latin typeface="Arial"/>
              </a:rPr>
              <a:t>Ví dụ thật từ lượt chạy demo 03/10. Bộ lọc hiện trên giao diện dưới dạng thẻ để người dùng sửa.</a:t>
            </a:r>
          </a:p>
        </p:txBody>
      </p:sp>
      <p:sp>
        <p:nvSpPr>
          <p:cNvPr id="31" name="Rounded Rectangle 30"/>
          <p:cNvSpPr/>
          <p:nvPr/>
        </p:nvSpPr>
        <p:spPr>
          <a:xfrm>
            <a:off x="6172200" y="2286000"/>
            <a:ext cx="5559552" cy="896112"/>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36792" y="2395728"/>
            <a:ext cx="5230368" cy="329184"/>
          </a:xfrm>
          <a:prstGeom prst="rect">
            <a:avLst/>
          </a:prstGeom>
          <a:noFill/>
        </p:spPr>
        <p:txBody>
          <a:bodyPr wrap="square" lIns="0" tIns="0" rIns="0" bIns="0" anchor="t">
            <a:spAutoFit/>
          </a:bodyPr>
          <a:lstStyle/>
          <a:p>
            <a:pPr algn="l">
              <a:spcAft>
                <a:spcPts val="400"/>
              </a:spcAft>
            </a:pPr>
            <a:r>
              <a:rPr sz="1300" b="1" i="0">
                <a:solidFill>
                  <a:srgbClr val="062F5C"/>
                </a:solidFill>
                <a:latin typeface="Arial"/>
              </a:rPr>
              <a:t>Chỉ lọc (structured_only)</a:t>
            </a:r>
          </a:p>
        </p:txBody>
      </p:sp>
      <p:sp>
        <p:nvSpPr>
          <p:cNvPr id="33" name="TextBox 32"/>
          <p:cNvSpPr txBox="1"/>
          <p:nvPr/>
        </p:nvSpPr>
        <p:spPr>
          <a:xfrm>
            <a:off x="6336792" y="2779776"/>
            <a:ext cx="5230368" cy="329183"/>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Giữ đúng bản ghi thỏa mọi điều kiện, xếp theo thời điểm.</a:t>
            </a:r>
          </a:p>
        </p:txBody>
      </p:sp>
      <p:sp>
        <p:nvSpPr>
          <p:cNvPr id="34" name="Rounded Rectangle 33"/>
          <p:cNvSpPr/>
          <p:nvPr/>
        </p:nvSpPr>
        <p:spPr>
          <a:xfrm>
            <a:off x="6172200" y="3273552"/>
            <a:ext cx="5559552" cy="896112"/>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36792" y="3383280"/>
            <a:ext cx="5230368" cy="329184"/>
          </a:xfrm>
          <a:prstGeom prst="rect">
            <a:avLst/>
          </a:prstGeom>
          <a:noFill/>
        </p:spPr>
        <p:txBody>
          <a:bodyPr wrap="square" lIns="0" tIns="0" rIns="0" bIns="0" anchor="t">
            <a:spAutoFit/>
          </a:bodyPr>
          <a:lstStyle/>
          <a:p>
            <a:pPr algn="l">
              <a:spcAft>
                <a:spcPts val="400"/>
              </a:spcAft>
            </a:pPr>
            <a:r>
              <a:rPr sz="1300" b="1" i="0">
                <a:solidFill>
                  <a:srgbClr val="1677B8"/>
                </a:solidFill>
                <a:latin typeface="Arial"/>
              </a:rPr>
              <a:t>Chỉ theo nghĩa (vector_only)</a:t>
            </a:r>
          </a:p>
        </p:txBody>
      </p:sp>
      <p:sp>
        <p:nvSpPr>
          <p:cNvPr id="36" name="TextBox 35"/>
          <p:cNvSpPr txBox="1"/>
          <p:nvPr/>
        </p:nvSpPr>
        <p:spPr>
          <a:xfrm>
            <a:off x="6336792" y="3767328"/>
            <a:ext cx="5230368" cy="329184"/>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Tìm bản ghi có mô tả “na ná” câu hỏi, không xét điều kiện.</a:t>
            </a:r>
          </a:p>
        </p:txBody>
      </p:sp>
      <p:sp>
        <p:nvSpPr>
          <p:cNvPr id="37" name="Rounded Rectangle 36"/>
          <p:cNvSpPr/>
          <p:nvPr/>
        </p:nvSpPr>
        <p:spPr>
          <a:xfrm>
            <a:off x="6172200" y="4261104"/>
            <a:ext cx="5559552" cy="896112"/>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36792" y="4370832"/>
            <a:ext cx="5230368" cy="329184"/>
          </a:xfrm>
          <a:prstGeom prst="rect">
            <a:avLst/>
          </a:prstGeom>
          <a:noFill/>
        </p:spPr>
        <p:txBody>
          <a:bodyPr wrap="square" lIns="0" tIns="0" rIns="0" bIns="0" anchor="t">
            <a:spAutoFit/>
          </a:bodyPr>
          <a:lstStyle/>
          <a:p>
            <a:pPr algn="l">
              <a:spcAft>
                <a:spcPts val="400"/>
              </a:spcAft>
            </a:pPr>
            <a:r>
              <a:rPr sz="1300" b="1" i="0">
                <a:solidFill>
                  <a:srgbClr val="2E9B67"/>
                </a:solidFill>
                <a:latin typeface="Arial"/>
              </a:rPr>
              <a:t>Kết hợp (hybrid) — demo dùng</a:t>
            </a:r>
          </a:p>
        </p:txBody>
      </p:sp>
      <p:sp>
        <p:nvSpPr>
          <p:cNvPr id="39" name="TextBox 38"/>
          <p:cNvSpPr txBox="1"/>
          <p:nvPr/>
        </p:nvSpPr>
        <p:spPr>
          <a:xfrm>
            <a:off x="6336792" y="4754880"/>
            <a:ext cx="5230368" cy="329184"/>
          </a:xfrm>
          <a:prstGeom prst="rect">
            <a:avLst/>
          </a:prstGeom>
          <a:noFill/>
        </p:spPr>
        <p:txBody>
          <a:bodyPr wrap="square" lIns="0" tIns="0" rIns="0" bIns="0" anchor="t">
            <a:spAutoFit/>
          </a:bodyPr>
          <a:lstStyle/>
          <a:p>
            <a:pPr algn="l">
              <a:spcAft>
                <a:spcPts val="400"/>
              </a:spcAft>
            </a:pPr>
            <a:r>
              <a:rPr sz="1300" b="0" i="0">
                <a:solidFill>
                  <a:srgbClr val="17212B"/>
                </a:solidFill>
                <a:latin typeface="Arial"/>
              </a:rPr>
              <a:t>Lọc trước, rồi xếp hạng theo nghĩa trong tập đã lọc.</a:t>
            </a:r>
          </a:p>
        </p:txBody>
      </p:sp>
      <p:sp>
        <p:nvSpPr>
          <p:cNvPr id="40" name="Rounded Rectangle 39"/>
          <p:cNvSpPr/>
          <p:nvPr/>
        </p:nvSpPr>
        <p:spPr>
          <a:xfrm>
            <a:off x="6172200" y="5257800"/>
            <a:ext cx="5559552" cy="10058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36792" y="5367528"/>
            <a:ext cx="5230368"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4 điều kiện thời gian</a:t>
            </a:r>
          </a:p>
        </p:txBody>
      </p:sp>
      <p:sp>
        <p:nvSpPr>
          <p:cNvPr id="42" name="TextBox 41"/>
          <p:cNvSpPr txBox="1"/>
          <p:nvPr/>
        </p:nvSpPr>
        <p:spPr>
          <a:xfrm>
            <a:off x="6336792" y="5751576"/>
            <a:ext cx="5230368" cy="438911"/>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trước · sau · chồng nhau · nằm trong (viết 1 lần SQL + 1 lần Python, kiểm khớp nhau)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Bộ phân loại DataSEC làm tốt bài dễ: macro-F1 0,85 trên 22 loại âm</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17 / 29</a:t>
            </a:r>
          </a:p>
        </p:txBody>
      </p:sp>
      <p:graphicFrame>
        <p:nvGraphicFramePr>
          <p:cNvPr id="5" name="Table 4"/>
          <p:cNvGraphicFramePr>
            <a:graphicFrameLocks noGrp="1"/>
          </p:cNvGraphicFramePr>
          <p:nvPr/>
        </p:nvGraphicFramePr>
        <p:xfrm>
          <a:off x="457200" y="1280160"/>
          <a:ext cx="6949440" cy="3200400"/>
        </p:xfrm>
        <a:graphic>
          <a:graphicData uri="http://schemas.openxmlformats.org/drawingml/2006/table">
            <a:tbl>
              <a:tblPr firstRow="1">
                <a:tableStyleId>{5C22544A-7EE6-4342-B048-85BDC9FD1C3A}</a:tableStyleId>
              </a:tblPr>
              <a:tblGrid>
                <a:gridCol w="3291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57200">
                <a:tc>
                  <a:txBody>
                    <a:bodyPr/>
                    <a:lstStyle/>
                    <a:p>
                      <a:pPr algn="ctr"/>
                      <a:r>
                        <a:rPr sz="1300" b="1">
                          <a:solidFill>
                            <a:srgbClr val="FFFFFF"/>
                          </a:solidFill>
                          <a:latin typeface="Arial"/>
                        </a:rPr>
                        <a:t>Chỉ số (tập test)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Giá trị</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Ghi chú</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457200">
                <a:tc>
                  <a:txBody>
                    <a:bodyPr/>
                    <a:lstStyle/>
                    <a:p>
                      <a:pPr algn="l"/>
                      <a:r>
                        <a:rPr sz="1300" b="0">
                          <a:solidFill>
                            <a:srgbClr val="17212B"/>
                          </a:solidFill>
                          <a:latin typeface="Arial"/>
                        </a:rPr>
                        <a:t>Macro-F1 lớp gộp (22 lớp)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0.8466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740 đoạn test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457200">
                <a:tc>
                  <a:txBody>
                    <a:bodyPr/>
                    <a:lstStyle/>
                    <a:p>
                      <a:pPr algn="l"/>
                      <a:r>
                        <a:rPr sz="1300" b="0">
                          <a:solidFill>
                            <a:srgbClr val="17212B"/>
                          </a:solidFill>
                          <a:latin typeface="Arial"/>
                        </a:rPr>
                        <a:t>Macro-F1 lớp con, mọi nút (28)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0.6266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Gồm cả nút có n_test &lt; 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457200">
                <a:tc>
                  <a:txBody>
                    <a:bodyPr/>
                    <a:lstStyle/>
                    <a:p>
                      <a:pPr algn="l"/>
                      <a:r>
                        <a:rPr sz="1300" b="0">
                          <a:solidFill>
                            <a:srgbClr val="17212B"/>
                          </a:solidFill>
                          <a:latin typeface="Arial"/>
                        </a:rPr>
                        <a:t>Macro-F1 lớp con, nút có n_test ≥ 10 (5)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0.8453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Con số diễn giải được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457200">
                <a:tc>
                  <a:txBody>
                    <a:bodyPr/>
                    <a:lstStyle/>
                    <a:p>
                      <a:pPr algn="l"/>
                      <a:r>
                        <a:rPr sz="1300" b="0">
                          <a:solidFill>
                            <a:srgbClr val="17212B"/>
                          </a:solidFill>
                          <a:latin typeface="Arial"/>
                        </a:rPr>
                        <a:t>Lớp con nằm đúng lớp gộp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0.9526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203 đoạn có lớp con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457200">
                <a:tc>
                  <a:txBody>
                    <a:bodyPr/>
                    <a:lstStyle/>
                    <a:p>
                      <a:pPr algn="l"/>
                      <a:r>
                        <a:rPr sz="1300" b="0">
                          <a:solidFill>
                            <a:srgbClr val="17212B"/>
                          </a:solidFill>
                          <a:latin typeface="Arial"/>
                        </a:rPr>
                        <a:t>Sai số độ tin cậy (ECE), chưa hiệu chỉnh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0.033190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Đầu lớp gộp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457200">
                <a:tc>
                  <a:txBody>
                    <a:bodyPr/>
                    <a:lstStyle/>
                    <a:p>
                      <a:pPr algn="l"/>
                      <a:r>
                        <a:rPr sz="1300" b="0">
                          <a:solidFill>
                            <a:srgbClr val="17212B"/>
                          </a:solidFill>
                          <a:latin typeface="Arial"/>
                        </a:rPr>
                        <a:t>ECE sau hiệu chỉnh nhiệt độ (T = 1,5681, chọn trên 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0.056394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Tăng, không giảm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57200" y="4526280"/>
            <a:ext cx="694944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ml/runs/classifier_datasec_20260923T121808Z/metrics.json; docs/measurements/ece_datasec_20260923.md.</a:t>
            </a:r>
          </a:p>
        </p:txBody>
      </p:sp>
      <p:sp>
        <p:nvSpPr>
          <p:cNvPr id="7" name="Rounded Rectangle 6"/>
          <p:cNvSpPr/>
          <p:nvPr/>
        </p:nvSpPr>
        <p:spPr>
          <a:xfrm>
            <a:off x="457200" y="4892040"/>
            <a:ext cx="3383280" cy="137160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4965192"/>
            <a:ext cx="3054096" cy="548640"/>
          </a:xfrm>
          <a:prstGeom prst="rect">
            <a:avLst/>
          </a:prstGeom>
          <a:noFill/>
        </p:spPr>
        <p:txBody>
          <a:bodyPr wrap="square" lIns="0" tIns="0" rIns="0" bIns="0" anchor="t">
            <a:spAutoFit/>
          </a:bodyPr>
          <a:lstStyle/>
          <a:p>
            <a:pPr algn="l">
              <a:spcAft>
                <a:spcPts val="400"/>
              </a:spcAft>
            </a:pPr>
            <a:r>
              <a:rPr sz="2800" b="1" i="0">
                <a:solidFill>
                  <a:srgbClr val="062F5C"/>
                </a:solidFill>
                <a:latin typeface="Arial"/>
              </a:rPr>
              <a:t>0,8466</a:t>
            </a:r>
          </a:p>
        </p:txBody>
      </p:sp>
      <p:sp>
        <p:nvSpPr>
          <p:cNvPr id="9" name="TextBox 8"/>
          <p:cNvSpPr txBox="1"/>
          <p:nvPr/>
        </p:nvSpPr>
        <p:spPr>
          <a:xfrm>
            <a:off x="621792" y="5532120"/>
            <a:ext cx="3054096" cy="676656"/>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macro-F1 trên 22 loại âm gộp, 740 đoạn test</a:t>
            </a:r>
          </a:p>
        </p:txBody>
      </p:sp>
      <p:sp>
        <p:nvSpPr>
          <p:cNvPr id="10" name="Rounded Rectangle 9"/>
          <p:cNvSpPr/>
          <p:nvPr/>
        </p:nvSpPr>
        <p:spPr>
          <a:xfrm>
            <a:off x="4023360" y="4892040"/>
            <a:ext cx="3383280" cy="137160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87952" y="4965192"/>
            <a:ext cx="3054096" cy="548640"/>
          </a:xfrm>
          <a:prstGeom prst="rect">
            <a:avLst/>
          </a:prstGeom>
          <a:noFill/>
        </p:spPr>
        <p:txBody>
          <a:bodyPr wrap="square" lIns="0" tIns="0" rIns="0" bIns="0" anchor="t">
            <a:spAutoFit/>
          </a:bodyPr>
          <a:lstStyle/>
          <a:p>
            <a:pPr algn="l">
              <a:spcAft>
                <a:spcPts val="400"/>
              </a:spcAft>
            </a:pPr>
            <a:r>
              <a:rPr sz="2400" b="1" i="0">
                <a:solidFill>
                  <a:srgbClr val="B42318"/>
                </a:solidFill>
                <a:latin typeface="Arial"/>
              </a:rPr>
              <a:t>0,033 → 0,056</a:t>
            </a:r>
          </a:p>
        </p:txBody>
      </p:sp>
      <p:sp>
        <p:nvSpPr>
          <p:cNvPr id="12" name="TextBox 11"/>
          <p:cNvSpPr txBox="1"/>
          <p:nvPr/>
        </p:nvSpPr>
        <p:spPr>
          <a:xfrm>
            <a:off x="4187952" y="5532120"/>
            <a:ext cx="3054096" cy="676656"/>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sai số độ tin cậy </a:t>
            </a:r>
            <a:r>
              <a:rPr sz="1250" b="1" i="0">
                <a:solidFill>
                  <a:srgbClr val="17212B"/>
                </a:solidFill>
                <a:latin typeface="Arial"/>
              </a:rPr>
              <a:t>tăng</a:t>
            </a:r>
            <a:r>
              <a:rPr sz="1250" b="0" i="0">
                <a:solidFill>
                  <a:srgbClr val="17212B"/>
                </a:solidFill>
                <a:latin typeface="Arial"/>
              </a:rPr>
              <a:t> sau hiệu chỉnh → báo nguyên kết quả âm tính</a:t>
            </a:r>
          </a:p>
        </p:txBody>
      </p:sp>
      <p:sp>
        <p:nvSpPr>
          <p:cNvPr id="13" name="Rounded Rectangle 12"/>
          <p:cNvSpPr/>
          <p:nvPr/>
        </p:nvSpPr>
        <p:spPr>
          <a:xfrm>
            <a:off x="7635240" y="1280160"/>
            <a:ext cx="4096512" cy="2023932"/>
          </a:xfrm>
          <a:prstGeom prst="roundRect">
            <a:avLst>
              <a:gd name="adj" fmla="val 6000"/>
            </a:avLst>
          </a:prstGeom>
          <a:solidFill>
            <a:srgbClr val="EAF2FB"/>
          </a:solidFill>
          <a:ln w="9525">
            <a:solidFill>
              <a:srgbClr val="EAF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99831" y="1389888"/>
            <a:ext cx="3767328"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Đọc kết quả</a:t>
            </a:r>
          </a:p>
        </p:txBody>
      </p:sp>
      <p:sp>
        <p:nvSpPr>
          <p:cNvPr id="15" name="TextBox 14"/>
          <p:cNvSpPr txBox="1"/>
          <p:nvPr/>
        </p:nvSpPr>
        <p:spPr>
          <a:xfrm>
            <a:off x="7799831" y="1773936"/>
            <a:ext cx="3767328" cy="1457004"/>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Bài này dễ hơn phát hiện sự kiện: chỉ đoán loại cho một </a:t>
            </a:r>
            <a:r>
              <a:rPr sz="1300" b="1" i="0">
                <a:solidFill>
                  <a:srgbClr val="17212B"/>
                </a:solidFill>
                <a:latin typeface="Arial"/>
              </a:rPr>
              <a:t>đoạn ngắn đã cắt sẵn</a:t>
            </a:r>
          </a:p>
          <a:p>
            <a:pPr marL="219456" indent="-182880" algn="l">
              <a:spcAft>
                <a:spcPts val="400"/>
              </a:spcAft>
              <a:buClr>
                <a:srgbClr val="1677B8"/>
              </a:buClr>
              <a:buFont typeface="Arial"/>
              <a:buChar char="•"/>
            </a:pPr>
            <a:r>
              <a:rPr sz="1300" b="0" i="0">
                <a:solidFill>
                  <a:srgbClr val="17212B"/>
                </a:solidFill>
                <a:latin typeface="Arial"/>
              </a:rPr>
              <a:t>Mô hình này là bước giữa của nhánh C trong RQ1</a:t>
            </a:r>
          </a:p>
        </p:txBody>
      </p:sp>
      <p:sp>
        <p:nvSpPr>
          <p:cNvPr id="16" name="Rounded Rectangle 15"/>
          <p:cNvSpPr/>
          <p:nvPr/>
        </p:nvSpPr>
        <p:spPr>
          <a:xfrm>
            <a:off x="7635240" y="3468684"/>
            <a:ext cx="4096512" cy="2794955"/>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99831" y="3578412"/>
            <a:ext cx="3767328"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có nghĩa là</a:t>
            </a:r>
          </a:p>
        </p:txBody>
      </p:sp>
      <p:sp>
        <p:nvSpPr>
          <p:cNvPr id="18" name="TextBox 17"/>
          <p:cNvSpPr txBox="1"/>
          <p:nvPr/>
        </p:nvSpPr>
        <p:spPr>
          <a:xfrm>
            <a:off x="7799831" y="3962460"/>
            <a:ext cx="3767328" cy="2228027"/>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Nhận tốt mọi loại — yếu nhất là vehicle_idling 0,62 và vehicle_pass_by 0,65</a:t>
            </a:r>
          </a:p>
          <a:p>
            <a:pPr marL="219456" indent="-182880" algn="l">
              <a:spcAft>
                <a:spcPts val="400"/>
              </a:spcAft>
              <a:buClr>
                <a:srgbClr val="1677B8"/>
              </a:buClr>
              <a:buFont typeface="Arial"/>
              <a:buChar char="•"/>
            </a:pPr>
            <a:r>
              <a:rPr sz="1300" b="0" i="0">
                <a:solidFill>
                  <a:srgbClr val="17212B"/>
                </a:solidFill>
                <a:latin typeface="Arial"/>
              </a:rPr>
              <a:t>Đánh giá đủ mọi lớp con — lớp ít mẫu (dưới 10 mẫu test) chỉ báo số đếm, ví dụ vacuum_cleaner đúng 0/4 (Phụ lục)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RQ1: học thêm trên DataSEC không giúp tìm sự kiện tốt hơn</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18 / 29</a:t>
            </a:r>
          </a:p>
        </p:txBody>
      </p:sp>
      <p:graphicFrame>
        <p:nvGraphicFramePr>
          <p:cNvPr id="5" name="Table 4"/>
          <p:cNvGraphicFramePr>
            <a:graphicFrameLocks noGrp="1"/>
          </p:cNvGraphicFramePr>
          <p:nvPr/>
        </p:nvGraphicFramePr>
        <p:xfrm>
          <a:off x="457200" y="1280160"/>
          <a:ext cx="11274548" cy="2432304"/>
        </p:xfrm>
        <a:graphic>
          <a:graphicData uri="http://schemas.openxmlformats.org/drawingml/2006/table">
            <a:tbl>
              <a:tblPr firstRow="1">
                <a:tableStyleId>{5C22544A-7EE6-4342-B048-85BDC9FD1C3A}</a:tableStyleId>
              </a:tblPr>
              <a:tblGrid>
                <a:gridCol w="2818638">
                  <a:extLst>
                    <a:ext uri="{9D8B030D-6E8A-4147-A177-3AD203B41FA5}">
                      <a16:colId xmlns:a16="http://schemas.microsoft.com/office/drawing/2014/main" val="20000"/>
                    </a:ext>
                  </a:extLst>
                </a:gridCol>
                <a:gridCol w="975682">
                  <a:extLst>
                    <a:ext uri="{9D8B030D-6E8A-4147-A177-3AD203B41FA5}">
                      <a16:colId xmlns:a16="http://schemas.microsoft.com/office/drawing/2014/main" val="20001"/>
                    </a:ext>
                  </a:extLst>
                </a:gridCol>
                <a:gridCol w="1192500">
                  <a:extLst>
                    <a:ext uri="{9D8B030D-6E8A-4147-A177-3AD203B41FA5}">
                      <a16:colId xmlns:a16="http://schemas.microsoft.com/office/drawing/2014/main" val="20002"/>
                    </a:ext>
                  </a:extLst>
                </a:gridCol>
                <a:gridCol w="1300909">
                  <a:extLst>
                    <a:ext uri="{9D8B030D-6E8A-4147-A177-3AD203B41FA5}">
                      <a16:colId xmlns:a16="http://schemas.microsoft.com/office/drawing/2014/main" val="20003"/>
                    </a:ext>
                  </a:extLst>
                </a:gridCol>
                <a:gridCol w="1300909">
                  <a:extLst>
                    <a:ext uri="{9D8B030D-6E8A-4147-A177-3AD203B41FA5}">
                      <a16:colId xmlns:a16="http://schemas.microsoft.com/office/drawing/2014/main" val="20004"/>
                    </a:ext>
                  </a:extLst>
                </a:gridCol>
                <a:gridCol w="2385001">
                  <a:extLst>
                    <a:ext uri="{9D8B030D-6E8A-4147-A177-3AD203B41FA5}">
                      <a16:colId xmlns:a16="http://schemas.microsoft.com/office/drawing/2014/main" val="20005"/>
                    </a:ext>
                  </a:extLst>
                </a:gridCol>
                <a:gridCol w="1300909">
                  <a:extLst>
                    <a:ext uri="{9D8B030D-6E8A-4147-A177-3AD203B41FA5}">
                      <a16:colId xmlns:a16="http://schemas.microsoft.com/office/drawing/2014/main" val="20006"/>
                    </a:ext>
                  </a:extLst>
                </a:gridCol>
              </a:tblGrid>
              <a:tr h="347472">
                <a:tc>
                  <a:txBody>
                    <a:bodyPr/>
                    <a:lstStyle/>
                    <a:p>
                      <a:pPr algn="ctr"/>
                      <a:r>
                        <a:rPr sz="1300" b="1">
                          <a:solidFill>
                            <a:srgbClr val="FFFFFF"/>
                          </a:solidFill>
                          <a:latin typeface="Arial"/>
                        </a:rPr>
                        <a:t>Thí nghiệm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Nhánh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Số lần chạy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Macro-F1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Micro-F1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KTC 95% (micro)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p (Welch)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47472">
                <a:tc>
                  <a:txBody>
                    <a:bodyPr/>
                    <a:lstStyle/>
                    <a:p>
                      <a:pPr algn="l"/>
                      <a:r>
                        <a:rPr sz="1300" b="0">
                          <a:solidFill>
                            <a:srgbClr val="17212B"/>
                          </a:solidFill>
                          <a:latin typeface="Arial"/>
                        </a:rPr>
                        <a:t>Công thức v1 (test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0.0610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[0.0440, 0.0795]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47472">
                <a:tc>
                  <a:txBody>
                    <a:bodyPr/>
                    <a:lstStyle/>
                    <a:p>
                      <a:pPr algn="l"/>
                      <a:r>
                        <a:rPr sz="1300" b="0">
                          <a:solidFill>
                            <a:srgbClr val="17212B"/>
                          </a:solidFill>
                          <a:latin typeface="Arial"/>
                        </a:rPr>
                        <a:t>Công thức v1 (test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0.0539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[0.0391, 0.0699]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47472">
                <a:tc>
                  <a:txBody>
                    <a:bodyPr/>
                    <a:lstStyle/>
                    <a:p>
                      <a:pPr algn="l"/>
                      <a:r>
                        <a:rPr sz="1300" b="0">
                          <a:solidFill>
                            <a:srgbClr val="17212B"/>
                          </a:solidFill>
                          <a:latin typeface="Arial"/>
                        </a:rPr>
                        <a:t>Công thức v1 (test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C−B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-0.0071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[-0.0164, 0.0021]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0.2336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47472">
                <a:tc>
                  <a:txBody>
                    <a:bodyPr/>
                    <a:lstStyle/>
                    <a:p>
                      <a:pPr algn="l"/>
                      <a:r>
                        <a:rPr sz="1300" b="0">
                          <a:solidFill>
                            <a:srgbClr val="17212B"/>
                          </a:solidFill>
                          <a:latin typeface="Arial"/>
                        </a:rPr>
                        <a:t>Công thức v2 (test annotated)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0.1221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0.1324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[0.0985, 0.1681]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47472">
                <a:tc>
                  <a:txBody>
                    <a:bodyPr/>
                    <a:lstStyle/>
                    <a:p>
                      <a:pPr algn="l"/>
                      <a:r>
                        <a:rPr sz="1300" b="0">
                          <a:solidFill>
                            <a:srgbClr val="17212B"/>
                          </a:solidFill>
                          <a:latin typeface="Arial"/>
                        </a:rPr>
                        <a:t>Công thức v2 (test annotated)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0.1147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0.1294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[0.0966, 0.1644]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47472">
                <a:tc>
                  <a:txBody>
                    <a:bodyPr/>
                    <a:lstStyle/>
                    <a:p>
                      <a:pPr algn="l"/>
                      <a:r>
                        <a:rPr sz="1300" b="0">
                          <a:solidFill>
                            <a:srgbClr val="17212B"/>
                          </a:solidFill>
                          <a:latin typeface="Arial"/>
                        </a:rPr>
                        <a:t>Công thức v2 (test annotated)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300" b="0">
                          <a:solidFill>
                            <a:srgbClr val="17212B"/>
                          </a:solidFill>
                          <a:latin typeface="Arial"/>
                        </a:rPr>
                        <a:t>C−B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-0.0074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-0.0029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[-0.0254, 0.0199]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0.6965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57200" y="3730752"/>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docs/measurements/rq1_multiseed_clean_20260924.json; docs/measurements/rq1_multirun_bootstrap_clean_20260925.json; docs/measurements/rq1_v2_multiseed_20260929.json; docs/measurements/rq1_multirun_bootstrap_rq1_v2_annotated_20260929.json.</a:t>
            </a:r>
          </a:p>
        </p:txBody>
      </p:sp>
      <p:graphicFrame>
        <p:nvGraphicFramePr>
          <p:cNvPr id="7" name="Chart 6"/>
          <p:cNvGraphicFramePr>
            <a:graphicFrameLocks noGrp="1"/>
          </p:cNvGraphicFramePr>
          <p:nvPr/>
        </p:nvGraphicFramePr>
        <p:xfrm>
          <a:off x="457200" y="4069080"/>
          <a:ext cx="512064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5806440" y="4069080"/>
            <a:ext cx="3341217" cy="2194560"/>
          </a:xfrm>
          <a:prstGeom prst="roundRect">
            <a:avLst>
              <a:gd name="adj" fmla="val 6000"/>
            </a:avLst>
          </a:prstGeom>
          <a:solidFill>
            <a:srgbClr val="EAF2FB"/>
          </a:solidFill>
          <a:ln w="9525">
            <a:solidFill>
              <a:srgbClr val="EAF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71031" y="4178808"/>
            <a:ext cx="3012033"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Đọc kết quả</a:t>
            </a:r>
          </a:p>
        </p:txBody>
      </p:sp>
      <p:sp>
        <p:nvSpPr>
          <p:cNvPr id="10" name="TextBox 9"/>
          <p:cNvSpPr txBox="1"/>
          <p:nvPr/>
        </p:nvSpPr>
        <p:spPr>
          <a:xfrm>
            <a:off x="5971031" y="4562856"/>
            <a:ext cx="3012033" cy="162763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C − B âm nhẹ, khoảng tin cậy </a:t>
            </a:r>
            <a:r>
              <a:rPr sz="1200" b="1" i="0">
                <a:solidFill>
                  <a:srgbClr val="17212B"/>
                </a:solidFill>
                <a:latin typeface="Arial"/>
              </a:rPr>
              <a:t>chứa 0</a:t>
            </a:r>
            <a:r>
              <a:rPr sz="1200" b="0" i="0">
                <a:solidFill>
                  <a:srgbClr val="17212B"/>
                </a:solidFill>
                <a:latin typeface="Arial"/>
              </a:rPr>
              <a:t> ở cả hai công thức → </a:t>
            </a:r>
            <a:r>
              <a:rPr sz="1200" b="1" i="0">
                <a:solidFill>
                  <a:srgbClr val="17212B"/>
                </a:solidFill>
                <a:latin typeface="Arial"/>
              </a:rPr>
              <a:t>không có khác biệt</a:t>
            </a:r>
          </a:p>
          <a:p>
            <a:pPr marL="219456" indent="-182880" algn="l">
              <a:spcAft>
                <a:spcPts val="400"/>
              </a:spcAft>
              <a:buClr>
                <a:srgbClr val="1677B8"/>
              </a:buClr>
              <a:buFont typeface="Arial"/>
              <a:buChar char="•"/>
            </a:pPr>
            <a:r>
              <a:rPr sz="1200" b="0" i="0">
                <a:solidFill>
                  <a:srgbClr val="17212B"/>
                </a:solidFill>
                <a:latin typeface="Arial"/>
              </a:rPr>
              <a:t>Học sẵn AudioSet thì giúp rõ: nhánh A (từ số 0) 0,036 so với B 0,062</a:t>
            </a:r>
          </a:p>
        </p:txBody>
      </p:sp>
      <p:sp>
        <p:nvSpPr>
          <p:cNvPr id="11" name="Rounded Rectangle 10"/>
          <p:cNvSpPr/>
          <p:nvPr/>
        </p:nvSpPr>
        <p:spPr>
          <a:xfrm>
            <a:off x="9312249" y="4069080"/>
            <a:ext cx="2419502" cy="2194560"/>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76841" y="4178808"/>
            <a:ext cx="2090318"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có nghĩa là</a:t>
            </a:r>
          </a:p>
        </p:txBody>
      </p:sp>
      <p:sp>
        <p:nvSpPr>
          <p:cNvPr id="13" name="TextBox 12"/>
          <p:cNvSpPr txBox="1"/>
          <p:nvPr/>
        </p:nvSpPr>
        <p:spPr>
          <a:xfrm>
            <a:off x="9476841" y="4562856"/>
            <a:ext cx="2090318" cy="162763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DataSEC vô ích — riêng PSDS-2 của v2 tăng +0,028 (p = 0,019, chưa hiệu chỉnh so sánh bội)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Vì sao v1 thấp, và v2 cải thiện được bao nhiêu</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19 / 29</a:t>
            </a:r>
          </a:p>
        </p:txBody>
      </p:sp>
      <p:graphicFrame>
        <p:nvGraphicFramePr>
          <p:cNvPr id="5" name="Table 4"/>
          <p:cNvGraphicFramePr>
            <a:graphicFrameLocks noGrp="1"/>
          </p:cNvGraphicFramePr>
          <p:nvPr/>
        </p:nvGraphicFramePr>
        <p:xfrm>
          <a:off x="457200" y="1280160"/>
          <a:ext cx="5715000" cy="2715768"/>
        </p:xfrm>
        <a:graphic>
          <a:graphicData uri="http://schemas.openxmlformats.org/drawingml/2006/table">
            <a:tbl>
              <a:tblPr firstRow="1">
                <a:tableStyleId>{5C22544A-7EE6-4342-B048-85BDC9FD1C3A}</a:tableStyleId>
              </a:tblPr>
              <a:tblGrid>
                <a:gridCol w="420624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301752">
                <a:tc>
                  <a:txBody>
                    <a:bodyPr/>
                    <a:lstStyle/>
                    <a:p>
                      <a:pPr algn="ctr"/>
                      <a:r>
                        <a:rPr sz="1200" b="1">
                          <a:solidFill>
                            <a:srgbClr val="FFFFFF"/>
                          </a:solidFill>
                          <a:latin typeface="Arial"/>
                        </a:rPr>
                        <a:t>Đại lượng (tập 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Event-F1 micro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01752">
                <a:tc>
                  <a:txBody>
                    <a:bodyPr/>
                    <a:lstStyle/>
                    <a:p>
                      <a:pPr algn="l"/>
                      <a:r>
                        <a:rPr sz="1200" b="0">
                          <a:solidFill>
                            <a:srgbClr val="17212B"/>
                          </a:solidFill>
                          <a:latin typeface="Arial"/>
                        </a:rPr>
                        <a:t>Tối đa có thể, khối 0,32 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01752">
                <a:tc>
                  <a:txBody>
                    <a:bodyPr/>
                    <a:lstStyle/>
                    <a:p>
                      <a:pPr algn="l"/>
                      <a:r>
                        <a:rPr sz="1200" b="0">
                          <a:solidFill>
                            <a:srgbClr val="17212B"/>
                          </a:solidFill>
                          <a:latin typeface="Arial"/>
                        </a:rPr>
                        <a:t>Tối đa có thể, khối 0,64 s (như v1)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0.6294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01752">
                <a:tc>
                  <a:txBody>
                    <a:bodyPr/>
                    <a:lstStyle/>
                    <a:p>
                      <a:pPr algn="l"/>
                      <a:r>
                        <a:rPr sz="1200" b="0">
                          <a:solidFill>
                            <a:srgbClr val="17212B"/>
                          </a:solidFill>
                          <a:latin typeface="Arial"/>
                        </a:rPr>
                        <a:t>Tối đa có thể, khối 1,28 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0.3032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01752">
                <a:tc>
                  <a:txBody>
                    <a:bodyPr/>
                    <a:lstStyle/>
                    <a:p>
                      <a:pPr algn="l"/>
                      <a:r>
                        <a:rPr sz="1200" b="0">
                          <a:solidFill>
                            <a:srgbClr val="17212B"/>
                          </a:solidFill>
                          <a:latin typeface="Arial"/>
                        </a:rPr>
                        <a:t>Người với người (8 cặp gán nhãn 2 lần)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0.5785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01752">
                <a:tc>
                  <a:txBody>
                    <a:bodyPr/>
                    <a:lstStyle/>
                    <a:p>
                      <a:pPr algn="l"/>
                      <a:r>
                        <a:rPr sz="1200" b="0">
                          <a:solidFill>
                            <a:srgbClr val="17212B"/>
                          </a:solidFill>
                          <a:latin typeface="Arial"/>
                        </a:rPr>
                        <a:t>v1 (gộp nhánh 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0.1588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01752">
                <a:tc>
                  <a:txBody>
                    <a:bodyPr/>
                    <a:lstStyle/>
                    <a:p>
                      <a:pPr algn="l"/>
                      <a:r>
                        <a:rPr sz="1200" b="0">
                          <a:solidFill>
                            <a:srgbClr val="17212B"/>
                          </a:solidFill>
                          <a:latin typeface="Arial"/>
                        </a:rPr>
                        <a:t>v2 (gộp 3 lần chạy)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0.2120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01752">
                <a:tc>
                  <a:txBody>
                    <a:bodyPr/>
                    <a:lstStyle/>
                    <a:p>
                      <a:pPr algn="l"/>
                      <a:r>
                        <a:rPr sz="1200" b="0">
                          <a:solidFill>
                            <a:srgbClr val="17212B"/>
                          </a:solidFill>
                          <a:latin typeface="Arial"/>
                        </a:rPr>
                        <a:t>v1: khớp / lệch biên / bỏ sót (886 sự kiện)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112 / 417 / 357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01752">
                <a:tc>
                  <a:txBody>
                    <a:bodyPr/>
                    <a:lstStyle/>
                    <a:p>
                      <a:pPr algn="l"/>
                      <a:r>
                        <a:rPr sz="1200" b="0">
                          <a:solidFill>
                            <a:srgbClr val="17212B"/>
                          </a:solidFill>
                          <a:latin typeface="Arial"/>
                        </a:rPr>
                        <a:t>v2: khớp / lệch biên / bỏ sót (886 sự kiện)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148 / 377 / 361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457200" y="4069080"/>
            <a:ext cx="5715000" cy="292608"/>
          </a:xfrm>
          <a:prstGeom prst="rect">
            <a:avLst/>
          </a:prstGeom>
          <a:noFill/>
        </p:spPr>
        <p:txBody>
          <a:bodyPr wrap="square" lIns="0" tIns="0" rIns="0" bIns="0" anchor="t">
            <a:spAutoFit/>
          </a:bodyPr>
          <a:lstStyle/>
          <a:p>
            <a:pPr algn="l">
              <a:spcAft>
                <a:spcPts val="400"/>
              </a:spcAft>
            </a:pPr>
            <a:r>
              <a:rPr sz="1250" b="1" i="0">
                <a:solidFill>
                  <a:srgbClr val="062F5C"/>
                </a:solidFill>
                <a:latin typeface="Arial"/>
              </a:rPr>
              <a:t>Bỏ từng thay đổi của v2 (dev, mỗi biến thể 1 lần chạy)</a:t>
            </a:r>
          </a:p>
        </p:txBody>
      </p:sp>
      <p:graphicFrame>
        <p:nvGraphicFramePr>
          <p:cNvPr id="7" name="Table 6"/>
          <p:cNvGraphicFramePr>
            <a:graphicFrameLocks noGrp="1"/>
          </p:cNvGraphicFramePr>
          <p:nvPr/>
        </p:nvGraphicFramePr>
        <p:xfrm>
          <a:off x="457200" y="4389120"/>
          <a:ext cx="5715000" cy="1591056"/>
        </p:xfrm>
        <a:graphic>
          <a:graphicData uri="http://schemas.openxmlformats.org/drawingml/2006/table">
            <a:tbl>
              <a:tblPr firstRow="1">
                <a:tableStyleId>{5C22544A-7EE6-4342-B048-85BDC9FD1C3A}</a:tableStyleId>
              </a:tblPr>
              <a:tblGrid>
                <a:gridCol w="3017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5176">
                <a:tc>
                  <a:txBody>
                    <a:bodyPr/>
                    <a:lstStyle/>
                    <a:p>
                      <a:pPr algn="ctr"/>
                      <a:r>
                        <a:rPr sz="1150" b="1">
                          <a:solidFill>
                            <a:srgbClr val="FFFFFF"/>
                          </a:solidFill>
                          <a:latin typeface="Arial"/>
                        </a:rPr>
                        <a:t>Cấu hình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Micro-F1 (dev)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Chênh so với v2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265176">
                <a:tc>
                  <a:txBody>
                    <a:bodyPr/>
                    <a:lstStyle/>
                    <a:p>
                      <a:pPr algn="l"/>
                      <a:r>
                        <a:rPr sz="1150" b="0">
                          <a:solidFill>
                            <a:srgbClr val="17212B"/>
                          </a:solidFill>
                          <a:latin typeface="Arial"/>
                        </a:rPr>
                        <a:t>v2 đầy đủ (lần chạy 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0.1900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265176">
                <a:tc>
                  <a:txBody>
                    <a:bodyPr/>
                    <a:lstStyle/>
                    <a:p>
                      <a:pPr algn="l"/>
                      <a:r>
                        <a:rPr sz="1150" b="0">
                          <a:solidFill>
                            <a:srgbClr val="17212B"/>
                          </a:solidFill>
                          <a:latin typeface="Arial"/>
                        </a:rPr>
                        <a:t>bỏ độ chi tiết thời gian (nén 64 lần)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0.1060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-0.0840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265176">
                <a:tc>
                  <a:txBody>
                    <a:bodyPr/>
                    <a:lstStyle/>
                    <a:p>
                      <a:pPr algn="l"/>
                      <a:r>
                        <a:rPr sz="1150" b="0">
                          <a:solidFill>
                            <a:srgbClr val="17212B"/>
                          </a:solidFill>
                          <a:latin typeface="Arial"/>
                        </a:rPr>
                        <a:t>trọng số lớp dương trần 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0.1773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-0.0126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265176">
                <a:tc>
                  <a:txBody>
                    <a:bodyPr/>
                    <a:lstStyle/>
                    <a:p>
                      <a:pPr algn="l"/>
                      <a:r>
                        <a:rPr sz="1150" b="0">
                          <a:solidFill>
                            <a:srgbClr val="17212B"/>
                          </a:solidFill>
                          <a:latin typeface="Arial"/>
                        </a:rPr>
                        <a:t>bỏ làm giàu dữ liệu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0.1968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265176">
                <a:tc>
                  <a:txBody>
                    <a:bodyPr/>
                    <a:lstStyle/>
                    <a:p>
                      <a:pPr algn="l"/>
                      <a:r>
                        <a:rPr sz="1150" b="0">
                          <a:solidFill>
                            <a:srgbClr val="17212B"/>
                          </a:solidFill>
                          <a:latin typeface="Arial"/>
                        </a:rPr>
                        <a:t>tham chiếu: v1 (gộp nhánh 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0.1538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-0.0362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6400800" y="1280160"/>
            <a:ext cx="2587752" cy="14630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65392" y="1353312"/>
            <a:ext cx="2258568" cy="548640"/>
          </a:xfrm>
          <a:prstGeom prst="rect">
            <a:avLst/>
          </a:prstGeom>
          <a:noFill/>
        </p:spPr>
        <p:txBody>
          <a:bodyPr wrap="square" lIns="0" tIns="0" rIns="0" bIns="0" anchor="t">
            <a:spAutoFit/>
          </a:bodyPr>
          <a:lstStyle/>
          <a:p>
            <a:pPr algn="l">
              <a:spcAft>
                <a:spcPts val="400"/>
              </a:spcAft>
            </a:pPr>
            <a:r>
              <a:rPr sz="2600" b="1" i="0">
                <a:solidFill>
                  <a:srgbClr val="2E9B67"/>
                </a:solidFill>
                <a:latin typeface="Arial"/>
              </a:rPr>
              <a:t>+0,054</a:t>
            </a:r>
          </a:p>
        </p:txBody>
      </p:sp>
      <p:sp>
        <p:nvSpPr>
          <p:cNvPr id="10" name="TextBox 9"/>
          <p:cNvSpPr txBox="1"/>
          <p:nvPr/>
        </p:nvSpPr>
        <p:spPr>
          <a:xfrm>
            <a:off x="6565392" y="1920239"/>
            <a:ext cx="2258568" cy="768096"/>
          </a:xfrm>
          <a:prstGeom prst="rect">
            <a:avLst/>
          </a:prstGeom>
          <a:noFill/>
        </p:spPr>
        <p:txBody>
          <a:bodyPr wrap="square" lIns="0" tIns="0" rIns="0" bIns="0" anchor="t">
            <a:spAutoFit/>
          </a:bodyPr>
          <a:lstStyle/>
          <a:p>
            <a:pPr algn="l">
              <a:spcAft>
                <a:spcPts val="400"/>
              </a:spcAft>
            </a:pPr>
            <a:r>
              <a:rPr sz="1150" b="0" i="0">
                <a:solidFill>
                  <a:srgbClr val="17212B"/>
                </a:solidFill>
                <a:latin typeface="Arial"/>
              </a:rPr>
              <a:t>v2 hơn v1 trên test; khoảng tin cậy [+0,026; +0,085] </a:t>
            </a:r>
            <a:r>
              <a:rPr sz="1150" b="1" i="0">
                <a:solidFill>
                  <a:srgbClr val="17212B"/>
                </a:solidFill>
                <a:latin typeface="Arial"/>
              </a:rPr>
              <a:t>không chứa 0</a:t>
            </a:r>
          </a:p>
        </p:txBody>
      </p:sp>
      <p:sp>
        <p:nvSpPr>
          <p:cNvPr id="11" name="Rounded Rectangle 10"/>
          <p:cNvSpPr/>
          <p:nvPr/>
        </p:nvSpPr>
        <p:spPr>
          <a:xfrm>
            <a:off x="9144000" y="1280160"/>
            <a:ext cx="2587752" cy="146304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08592" y="1353312"/>
            <a:ext cx="2258568" cy="548640"/>
          </a:xfrm>
          <a:prstGeom prst="rect">
            <a:avLst/>
          </a:prstGeom>
          <a:noFill/>
        </p:spPr>
        <p:txBody>
          <a:bodyPr wrap="square" lIns="0" tIns="0" rIns="0" bIns="0" anchor="t">
            <a:spAutoFit/>
          </a:bodyPr>
          <a:lstStyle/>
          <a:p>
            <a:pPr algn="l">
              <a:spcAft>
                <a:spcPts val="400"/>
              </a:spcAft>
            </a:pPr>
            <a:r>
              <a:rPr sz="2600" b="1" i="0">
                <a:solidFill>
                  <a:srgbClr val="B42318"/>
                </a:solidFill>
                <a:latin typeface="Arial"/>
              </a:rPr>
              <a:t>−0,084</a:t>
            </a:r>
          </a:p>
        </p:txBody>
      </p:sp>
      <p:sp>
        <p:nvSpPr>
          <p:cNvPr id="13" name="TextBox 12"/>
          <p:cNvSpPr txBox="1"/>
          <p:nvPr/>
        </p:nvSpPr>
        <p:spPr>
          <a:xfrm>
            <a:off x="9308592" y="1920239"/>
            <a:ext cx="2258568" cy="768096"/>
          </a:xfrm>
          <a:prstGeom prst="rect">
            <a:avLst/>
          </a:prstGeom>
          <a:noFill/>
        </p:spPr>
        <p:txBody>
          <a:bodyPr wrap="square" lIns="0" tIns="0" rIns="0" bIns="0" anchor="t">
            <a:spAutoFit/>
          </a:bodyPr>
          <a:lstStyle/>
          <a:p>
            <a:pPr algn="l">
              <a:spcAft>
                <a:spcPts val="400"/>
              </a:spcAft>
            </a:pPr>
            <a:r>
              <a:rPr sz="1150" b="0" i="0">
                <a:solidFill>
                  <a:srgbClr val="17212B"/>
                </a:solidFill>
                <a:latin typeface="Arial"/>
              </a:rPr>
              <a:t>khi bỏ độ chi tiết thời gian: thay đổi có tác dụng lớn nhất</a:t>
            </a:r>
          </a:p>
        </p:txBody>
      </p:sp>
      <p:sp>
        <p:nvSpPr>
          <p:cNvPr id="14" name="Rounded Rectangle 13"/>
          <p:cNvSpPr/>
          <p:nvPr/>
        </p:nvSpPr>
        <p:spPr>
          <a:xfrm>
            <a:off x="6400800" y="2926080"/>
            <a:ext cx="5330952" cy="1649943"/>
          </a:xfrm>
          <a:prstGeom prst="roundRect">
            <a:avLst>
              <a:gd name="adj" fmla="val 6000"/>
            </a:avLst>
          </a:prstGeom>
          <a:solidFill>
            <a:srgbClr val="EAF2FB"/>
          </a:solidFill>
          <a:ln w="9525">
            <a:solidFill>
              <a:srgbClr val="EAF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3035808"/>
            <a:ext cx="5001768"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Đọc kết quả</a:t>
            </a:r>
          </a:p>
        </p:txBody>
      </p:sp>
      <p:sp>
        <p:nvSpPr>
          <p:cNvPr id="16" name="TextBox 15"/>
          <p:cNvSpPr txBox="1"/>
          <p:nvPr/>
        </p:nvSpPr>
        <p:spPr>
          <a:xfrm>
            <a:off x="6565392" y="3419856"/>
            <a:ext cx="5001768" cy="1083015"/>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Lỗi chính là </a:t>
            </a:r>
            <a:r>
              <a:rPr sz="1200" b="1" i="0">
                <a:solidFill>
                  <a:srgbClr val="17212B"/>
                </a:solidFill>
                <a:latin typeface="Arial"/>
              </a:rPr>
              <a:t>lệch biên và bỏ sót</a:t>
            </a:r>
            <a:r>
              <a:rPr sz="1200" b="0" i="0">
                <a:solidFill>
                  <a:srgbClr val="17212B"/>
                </a:solidFill>
                <a:latin typeface="Arial"/>
              </a:rPr>
              <a:t>, không phải nhận nhầm loại</a:t>
            </a:r>
          </a:p>
          <a:p>
            <a:pPr marL="219456" indent="-182880" algn="l">
              <a:spcAft>
                <a:spcPts val="400"/>
              </a:spcAft>
              <a:buClr>
                <a:srgbClr val="1677B8"/>
              </a:buClr>
              <a:buFont typeface="Arial"/>
              <a:buChar char="•"/>
            </a:pPr>
            <a:r>
              <a:rPr sz="1200" b="0" i="0">
                <a:solidFill>
                  <a:srgbClr val="17212B"/>
                </a:solidFill>
                <a:latin typeface="Arial"/>
              </a:rPr>
              <a:t>v2 giảm lệch biên (417 → 377) nhưng </a:t>
            </a:r>
            <a:r>
              <a:rPr sz="1200" b="1" i="0">
                <a:solidFill>
                  <a:srgbClr val="17212B"/>
                </a:solidFill>
                <a:latin typeface="Arial"/>
              </a:rPr>
              <a:t>bỏ sót không giảm</a:t>
            </a:r>
            <a:r>
              <a:rPr sz="1200" b="0" i="0">
                <a:solidFill>
                  <a:srgbClr val="17212B"/>
                </a:solidFill>
                <a:latin typeface="Arial"/>
              </a:rPr>
              <a:t> (357 → 361)</a:t>
            </a:r>
          </a:p>
          <a:p>
            <a:pPr marL="219456" indent="-182880" algn="l">
              <a:spcAft>
                <a:spcPts val="400"/>
              </a:spcAft>
              <a:buClr>
                <a:srgbClr val="1677B8"/>
              </a:buClr>
              <a:buFont typeface="Arial"/>
              <a:buChar char="•"/>
            </a:pPr>
            <a:r>
              <a:rPr sz="1200" b="0" i="0">
                <a:solidFill>
                  <a:srgbClr val="17212B"/>
                </a:solidFill>
                <a:latin typeface="Arial"/>
              </a:rPr>
              <a:t>Test: micro v2 0,1476 so với v1 0,0941</a:t>
            </a:r>
          </a:p>
        </p:txBody>
      </p:sp>
      <p:sp>
        <p:nvSpPr>
          <p:cNvPr id="17" name="Rounded Rectangle 16"/>
          <p:cNvSpPr/>
          <p:nvPr/>
        </p:nvSpPr>
        <p:spPr>
          <a:xfrm>
            <a:off x="6400800" y="4740615"/>
            <a:ext cx="5330952" cy="1523024"/>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65392" y="4850343"/>
            <a:ext cx="5001768"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có nghĩa là</a:t>
            </a:r>
          </a:p>
        </p:txBody>
      </p:sp>
      <p:sp>
        <p:nvSpPr>
          <p:cNvPr id="19" name="TextBox 18"/>
          <p:cNvSpPr txBox="1"/>
          <p:nvPr/>
        </p:nvSpPr>
        <p:spPr>
          <a:xfrm>
            <a:off x="6565392" y="5234391"/>
            <a:ext cx="5001768" cy="956096"/>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v2 tốt hơn trên mọi mức nhạy — </a:t>
            </a:r>
            <a:r>
              <a:rPr sz="1200" b="1" i="0">
                <a:solidFill>
                  <a:srgbClr val="17212B"/>
                </a:solidFill>
                <a:latin typeface="Arial"/>
              </a:rPr>
              <a:t>PSDS không tăng</a:t>
            </a:r>
            <a:r>
              <a:rPr sz="1200" b="0" i="0">
                <a:solidFill>
                  <a:srgbClr val="17212B"/>
                </a:solidFill>
                <a:latin typeface="Arial"/>
              </a:rPr>
              <a:t> (0,3447 so với 0,3489); nguyên nhân chưa rõ</a:t>
            </a:r>
          </a:p>
          <a:p>
            <a:pPr marL="219456" indent="-182880" algn="l">
              <a:spcAft>
                <a:spcPts val="400"/>
              </a:spcAft>
              <a:buClr>
                <a:srgbClr val="1677B8"/>
              </a:buClr>
              <a:buFont typeface="Arial"/>
              <a:buChar char="•"/>
            </a:pPr>
            <a:r>
              <a:rPr sz="1200" b="0" i="0">
                <a:solidFill>
                  <a:srgbClr val="17212B"/>
                </a:solidFill>
                <a:latin typeface="Arial"/>
              </a:rPr>
              <a:t>Hai thay đổi kia vô dụng — chỉ là chưa đủ bằng chứng (1 lần chạy)</a:t>
            </a:r>
          </a:p>
        </p:txBody>
      </p:sp>
      <p:sp>
        <p:nvSpPr>
          <p:cNvPr id="20" name="TextBox 19"/>
          <p:cNvSpPr txBox="1"/>
          <p:nvPr/>
        </p:nvSpPr>
        <p:spPr>
          <a:xfrm>
            <a:off x="457200" y="6053328"/>
            <a:ext cx="571500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sed_ceilings_*_20260926.json; sed_v2_ablation_20260926.json (dev, chỉ để chẩn đoán)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Chọn hệ cuối: f2 đứng đầu trên dev, nhưng test xếp hạng khác</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20 / 29</a:t>
            </a:r>
          </a:p>
        </p:txBody>
      </p:sp>
      <p:pic>
        <p:nvPicPr>
          <p:cNvPr id="5" name="Picture 4" descr="m03_s13_dev_vs_test.png"/>
          <p:cNvPicPr>
            <a:picLocks noChangeAspect="1"/>
          </p:cNvPicPr>
          <p:nvPr/>
        </p:nvPicPr>
        <p:blipFill>
          <a:blip r:embed="rId3"/>
          <a:stretch>
            <a:fillRect/>
          </a:stretch>
        </p:blipFill>
        <p:spPr>
          <a:xfrm>
            <a:off x="457200" y="1619761"/>
            <a:ext cx="5394960" cy="3847077"/>
          </a:xfrm>
          <a:prstGeom prst="rect">
            <a:avLst/>
          </a:prstGeom>
        </p:spPr>
      </p:pic>
      <p:sp>
        <p:nvSpPr>
          <p:cNvPr id="6" name="TextBox 5"/>
          <p:cNvSpPr txBox="1"/>
          <p:nvPr/>
        </p:nvSpPr>
        <p:spPr>
          <a:xfrm>
            <a:off x="457200" y="5897880"/>
            <a:ext cx="539496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s13_selection_20261018.json; s13_test_20261018.json</a:t>
            </a:r>
          </a:p>
        </p:txBody>
      </p:sp>
      <p:graphicFrame>
        <p:nvGraphicFramePr>
          <p:cNvPr id="7" name="Table 6"/>
          <p:cNvGraphicFramePr>
            <a:graphicFrameLocks noGrp="1"/>
          </p:cNvGraphicFramePr>
          <p:nvPr/>
        </p:nvGraphicFramePr>
        <p:xfrm>
          <a:off x="6080760" y="1280160"/>
          <a:ext cx="5650991" cy="2304288"/>
        </p:xfrm>
        <a:graphic>
          <a:graphicData uri="http://schemas.openxmlformats.org/drawingml/2006/table">
            <a:tbl>
              <a:tblPr firstRow="1">
                <a:tableStyleId>{5C22544A-7EE6-4342-B048-85BDC9FD1C3A}</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33271">
                  <a:extLst>
                    <a:ext uri="{9D8B030D-6E8A-4147-A177-3AD203B41FA5}">
                      <a16:colId xmlns:a16="http://schemas.microsoft.com/office/drawing/2014/main" val="20005"/>
                    </a:ext>
                  </a:extLst>
                </a:gridCol>
              </a:tblGrid>
              <a:tr h="329184">
                <a:tc>
                  <a:txBody>
                    <a:bodyPr/>
                    <a:lstStyle/>
                    <a:p>
                      <a:pPr algn="ctr"/>
                      <a:r>
                        <a:rPr sz="1200" b="1">
                          <a:solidFill>
                            <a:srgbClr val="FFFFFF"/>
                          </a:solidFill>
                          <a:latin typeface="Arial"/>
                        </a:rPr>
                        <a:t>Hạng 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Mã</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Dev micro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Dao động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Test macro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Test micro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29184">
                <a:tc>
                  <a:txBody>
                    <a:bodyPr/>
                    <a:lstStyle/>
                    <a:p>
                      <a:pPr algn="l"/>
                      <a:r>
                        <a:rPr sz="1200" b="0">
                          <a:solidFill>
                            <a:srgbClr val="17212B"/>
                          </a:solidFill>
                          <a:latin typeface="Arial"/>
                        </a:rPr>
                        <a:t>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1">
                          <a:solidFill>
                            <a:srgbClr val="17212B"/>
                          </a:solidFill>
                          <a:latin typeface="Arial"/>
                        </a:rPr>
                        <a:t>0.2383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0.0562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0.1206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0.1643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1"/>
                  </a:ext>
                </a:extLst>
              </a:tr>
              <a:tr h="329184">
                <a:tc>
                  <a:txBody>
                    <a:bodyPr/>
                    <a:lstStyle/>
                    <a:p>
                      <a:pPr algn="l"/>
                      <a:r>
                        <a:rPr sz="1200" b="0">
                          <a:solidFill>
                            <a:srgbClr val="17212B"/>
                          </a:solidFill>
                          <a:latin typeface="Arial"/>
                        </a:rPr>
                        <a:t>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f4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0.2354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0.0585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0.1543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29184">
                <a:tc>
                  <a:txBody>
                    <a:bodyPr/>
                    <a:lstStyle/>
                    <a:p>
                      <a:pPr algn="l"/>
                      <a:r>
                        <a:rPr sz="12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g2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0.2319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0.0418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0.1421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0.1722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29184">
                <a:tc>
                  <a:txBody>
                    <a:bodyPr/>
                    <a:lstStyle/>
                    <a:p>
                      <a:pPr algn="l"/>
                      <a:r>
                        <a:rPr sz="1200" b="0">
                          <a:solidFill>
                            <a:srgbClr val="17212B"/>
                          </a:solidFill>
                          <a:latin typeface="Arial"/>
                        </a:rPr>
                        <a:t>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0.2286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0.0601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0.1521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0.1817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29184">
                <a:tc>
                  <a:txBody>
                    <a:bodyPr/>
                    <a:lstStyle/>
                    <a:p>
                      <a:pPr algn="l"/>
                      <a:r>
                        <a:rPr sz="1200" b="0">
                          <a:solidFill>
                            <a:srgbClr val="17212B"/>
                          </a:solidFill>
                          <a:latin typeface="Arial"/>
                        </a:rPr>
                        <a:t>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g1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0.2268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0.0547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0.1617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0.1774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29184">
                <a:tc>
                  <a:txBody>
                    <a:bodyPr/>
                    <a:lstStyle/>
                    <a:p>
                      <a:pPr algn="l"/>
                      <a:r>
                        <a:rPr sz="1200" b="0">
                          <a:solidFill>
                            <a:srgbClr val="17212B"/>
                          </a:solidFill>
                          <a:latin typeface="Arial"/>
                        </a:rPr>
                        <a:t>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0.2212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0.0498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0.1389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0.1500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6080760" y="3639312"/>
            <a:ext cx="5650992" cy="256032"/>
          </a:xfrm>
          <a:prstGeom prst="rect">
            <a:avLst/>
          </a:prstGeom>
          <a:noFill/>
        </p:spPr>
        <p:txBody>
          <a:bodyPr wrap="square" lIns="0" tIns="0" rIns="0" bIns="0" anchor="t">
            <a:spAutoFit/>
          </a:bodyPr>
          <a:lstStyle/>
          <a:p>
            <a:pPr algn="l">
              <a:spcAft>
                <a:spcPts val="400"/>
              </a:spcAft>
            </a:pPr>
            <a:r>
              <a:rPr sz="1000" b="0" i="1">
                <a:solidFill>
                  <a:srgbClr val="667085"/>
                </a:solidFill>
                <a:latin typeface="Arial"/>
              </a:rPr>
              <a:t>In đậm: tốt nhất trong cột (không có nghĩa là khác biệt có ý nghĩa) · nền xám: cấu hình đang dùng</a:t>
            </a:r>
          </a:p>
        </p:txBody>
      </p:sp>
      <p:sp>
        <p:nvSpPr>
          <p:cNvPr id="9" name="Rounded Rectangle 8"/>
          <p:cNvSpPr/>
          <p:nvPr/>
        </p:nvSpPr>
        <p:spPr>
          <a:xfrm>
            <a:off x="6080760" y="3977639"/>
            <a:ext cx="5650992" cy="1187988"/>
          </a:xfrm>
          <a:prstGeom prst="roundRect">
            <a:avLst>
              <a:gd name="adj" fmla="val 6000"/>
            </a:avLst>
          </a:prstGeom>
          <a:solidFill>
            <a:srgbClr val="EAF2FB"/>
          </a:solidFill>
          <a:ln w="9525">
            <a:solidFill>
              <a:srgbClr val="EAF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45352" y="4087368"/>
            <a:ext cx="5321807"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Đọc kết quả</a:t>
            </a:r>
          </a:p>
        </p:txBody>
      </p:sp>
      <p:sp>
        <p:nvSpPr>
          <p:cNvPr id="11" name="TextBox 10"/>
          <p:cNvSpPr txBox="1"/>
          <p:nvPr/>
        </p:nvSpPr>
        <p:spPr>
          <a:xfrm>
            <a:off x="6245352" y="4471416"/>
            <a:ext cx="5321807" cy="621060"/>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f2 hơn f4 trên dev chỉ 0,003, nhỏ hơn độ dao động 0,056 → </a:t>
            </a:r>
            <a:r>
              <a:rPr sz="1200" b="1" i="0">
                <a:solidFill>
                  <a:srgbClr val="17212B"/>
                </a:solidFill>
                <a:latin typeface="Arial"/>
              </a:rPr>
              <a:t>được chọn theo luật</a:t>
            </a:r>
            <a:r>
              <a:rPr sz="1200" b="0" i="0">
                <a:solidFill>
                  <a:srgbClr val="17212B"/>
                </a:solidFill>
                <a:latin typeface="Arial"/>
              </a:rPr>
              <a:t>, không gọi là tốt hơn</a:t>
            </a:r>
          </a:p>
          <a:p>
            <a:pPr marL="219456" indent="-182880" algn="l">
              <a:spcAft>
                <a:spcPts val="400"/>
              </a:spcAft>
              <a:buClr>
                <a:srgbClr val="1677B8"/>
              </a:buClr>
              <a:buFont typeface="Arial"/>
              <a:buChar char="•"/>
            </a:pPr>
            <a:r>
              <a:rPr sz="1200" b="0" i="0">
                <a:solidFill>
                  <a:srgbClr val="17212B"/>
                </a:solidFill>
                <a:latin typeface="Arial"/>
              </a:rPr>
              <a:t>Test: f1 micro cao nhất (0,1817), g1 macro cao nhất (0,1617)</a:t>
            </a:r>
          </a:p>
        </p:txBody>
      </p:sp>
      <p:sp>
        <p:nvSpPr>
          <p:cNvPr id="12" name="Rounded Rectangle 11"/>
          <p:cNvSpPr/>
          <p:nvPr/>
        </p:nvSpPr>
        <p:spPr>
          <a:xfrm>
            <a:off x="6080760" y="5330220"/>
            <a:ext cx="5650992" cy="933419"/>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45352" y="5439948"/>
            <a:ext cx="5321807"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có nghĩa là</a:t>
            </a:r>
          </a:p>
        </p:txBody>
      </p:sp>
      <p:sp>
        <p:nvSpPr>
          <p:cNvPr id="14" name="TextBox 13"/>
          <p:cNvSpPr txBox="1"/>
          <p:nvPr/>
        </p:nvSpPr>
        <p:spPr>
          <a:xfrm>
            <a:off x="6245352" y="5823996"/>
            <a:ext cx="5321807" cy="36649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Nên đổi sang f1 — chọn lại theo điểm test là “học thuộc đề”; khoảng tin cậy test các ứng viên đầu đều chồng nhau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v1 → v2 → f2: tiến bộ rõ so với v1, nhưng f2 chưa chắc hơn v2</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21 / 29</a:t>
            </a:r>
          </a:p>
        </p:txBody>
      </p:sp>
      <p:graphicFrame>
        <p:nvGraphicFramePr>
          <p:cNvPr id="5" name="Table 4"/>
          <p:cNvGraphicFramePr>
            <a:graphicFrameLocks noGrp="1"/>
          </p:cNvGraphicFramePr>
          <p:nvPr/>
        </p:nvGraphicFramePr>
        <p:xfrm>
          <a:off x="457200" y="1280160"/>
          <a:ext cx="11274551" cy="1536192"/>
        </p:xfrm>
        <a:graphic>
          <a:graphicData uri="http://schemas.openxmlformats.org/drawingml/2006/table">
            <a:tbl>
              <a:tblPr firstRow="1">
                <a:tableStyleId>{5C22544A-7EE6-4342-B048-85BDC9FD1C3A}</a:tableStyleId>
              </a:tblPr>
              <a:tblGrid>
                <a:gridCol w="3392343">
                  <a:extLst>
                    <a:ext uri="{9D8B030D-6E8A-4147-A177-3AD203B41FA5}">
                      <a16:colId xmlns:a16="http://schemas.microsoft.com/office/drawing/2014/main" val="20000"/>
                    </a:ext>
                  </a:extLst>
                </a:gridCol>
                <a:gridCol w="1396847">
                  <a:extLst>
                    <a:ext uri="{9D8B030D-6E8A-4147-A177-3AD203B41FA5}">
                      <a16:colId xmlns:a16="http://schemas.microsoft.com/office/drawing/2014/main" val="20001"/>
                    </a:ext>
                  </a:extLst>
                </a:gridCol>
                <a:gridCol w="1396847">
                  <a:extLst>
                    <a:ext uri="{9D8B030D-6E8A-4147-A177-3AD203B41FA5}">
                      <a16:colId xmlns:a16="http://schemas.microsoft.com/office/drawing/2014/main" val="20002"/>
                    </a:ext>
                  </a:extLst>
                </a:gridCol>
                <a:gridCol w="2294820">
                  <a:extLst>
                    <a:ext uri="{9D8B030D-6E8A-4147-A177-3AD203B41FA5}">
                      <a16:colId xmlns:a16="http://schemas.microsoft.com/office/drawing/2014/main" val="20003"/>
                    </a:ext>
                  </a:extLst>
                </a:gridCol>
                <a:gridCol w="1396847">
                  <a:extLst>
                    <a:ext uri="{9D8B030D-6E8A-4147-A177-3AD203B41FA5}">
                      <a16:colId xmlns:a16="http://schemas.microsoft.com/office/drawing/2014/main" val="20004"/>
                    </a:ext>
                  </a:extLst>
                </a:gridCol>
                <a:gridCol w="1396847">
                  <a:extLst>
                    <a:ext uri="{9D8B030D-6E8A-4147-A177-3AD203B41FA5}">
                      <a16:colId xmlns:a16="http://schemas.microsoft.com/office/drawing/2014/main" val="20005"/>
                    </a:ext>
                  </a:extLst>
                </a:gridCol>
              </a:tblGrid>
              <a:tr h="384048">
                <a:tc>
                  <a:txBody>
                    <a:bodyPr/>
                    <a:lstStyle/>
                    <a:p>
                      <a:pPr algn="ctr"/>
                      <a:r>
                        <a:rPr sz="1300" b="1">
                          <a:solidFill>
                            <a:srgbClr val="FFFFFF"/>
                          </a:solidFill>
                          <a:latin typeface="Arial"/>
                        </a:rPr>
                        <a:t>Hệ thống (test annotated, 139 bản ghi)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Macro-F1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Micro-F1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KTC 95% (micro)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PSDS-1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300" b="1">
                          <a:solidFill>
                            <a:srgbClr val="FFFFFF"/>
                          </a:solidFill>
                          <a:latin typeface="Arial"/>
                        </a:rPr>
                        <a:t>PSDS-2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84048">
                <a:tc>
                  <a:txBody>
                    <a:bodyPr/>
                    <a:lstStyle/>
                    <a:p>
                      <a:pPr algn="l"/>
                      <a:r>
                        <a:rPr sz="1300" b="0">
                          <a:solidFill>
                            <a:srgbClr val="17212B"/>
                          </a:solidFill>
                          <a:latin typeface="Arial"/>
                        </a:rPr>
                        <a:t>v1 (gộp nhánh 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0.0924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0.0945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[0.0639, 0.1258]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1">
                          <a:solidFill>
                            <a:srgbClr val="17212B"/>
                          </a:solidFill>
                          <a:latin typeface="Arial"/>
                        </a:rPr>
                        <a:t>0.3486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0.6991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84048">
                <a:tc>
                  <a:txBody>
                    <a:bodyPr/>
                    <a:lstStyle/>
                    <a:p>
                      <a:pPr algn="l"/>
                      <a:r>
                        <a:rPr sz="1300" b="0">
                          <a:solidFill>
                            <a:srgbClr val="17212B"/>
                          </a:solidFill>
                          <a:latin typeface="Arial"/>
                        </a:rPr>
                        <a:t>v2 (gộp 3 lần chạy)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1">
                          <a:solidFill>
                            <a:srgbClr val="17212B"/>
                          </a:solidFill>
                          <a:latin typeface="Arial"/>
                        </a:rPr>
                        <a:t>0.1389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0.1500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[0.1119, 0.1909]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0.3458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300" b="0">
                          <a:solidFill>
                            <a:srgbClr val="17212B"/>
                          </a:solidFill>
                          <a:latin typeface="Arial"/>
                        </a:rPr>
                        <a:t>0.6767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84048">
                <a:tc>
                  <a:txBody>
                    <a:bodyPr/>
                    <a:lstStyle/>
                    <a:p>
                      <a:pPr algn="l"/>
                      <a:r>
                        <a:rPr sz="1300" b="0">
                          <a:solidFill>
                            <a:srgbClr val="17212B"/>
                          </a:solidFill>
                          <a:latin typeface="Arial"/>
                        </a:rPr>
                        <a:t>f2: T2b×3 + cSEBB (hệ 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300" b="0">
                          <a:solidFill>
                            <a:srgbClr val="17212B"/>
                          </a:solidFill>
                          <a:latin typeface="Arial"/>
                        </a:rPr>
                        <a:t>0.1206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300" b="1">
                          <a:solidFill>
                            <a:srgbClr val="17212B"/>
                          </a:solidFill>
                          <a:latin typeface="Arial"/>
                        </a:rPr>
                        <a:t>0.1643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300" b="0">
                          <a:solidFill>
                            <a:srgbClr val="17212B"/>
                          </a:solidFill>
                          <a:latin typeface="Arial"/>
                        </a:rPr>
                        <a:t>[0.1103, 0.2242]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300" b="0">
                          <a:solidFill>
                            <a:srgbClr val="17212B"/>
                          </a:solidFill>
                          <a:latin typeface="Arial"/>
                        </a:rPr>
                        <a:t>0.3164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300" b="1">
                          <a:solidFill>
                            <a:srgbClr val="17212B"/>
                          </a:solidFill>
                          <a:latin typeface="Arial"/>
                        </a:rPr>
                        <a:t>0.7253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57200" y="2852928"/>
            <a:ext cx="11274552" cy="256032"/>
          </a:xfrm>
          <a:prstGeom prst="rect">
            <a:avLst/>
          </a:prstGeom>
          <a:noFill/>
        </p:spPr>
        <p:txBody>
          <a:bodyPr wrap="square" lIns="0" tIns="0" rIns="0" bIns="0" anchor="t">
            <a:spAutoFit/>
          </a:bodyPr>
          <a:lstStyle/>
          <a:p>
            <a:pPr algn="l">
              <a:spcAft>
                <a:spcPts val="400"/>
              </a:spcAft>
            </a:pPr>
            <a:r>
              <a:rPr sz="1000" b="0" i="1">
                <a:solidFill>
                  <a:srgbClr val="667085"/>
                </a:solidFill>
                <a:latin typeface="Arial"/>
              </a:rPr>
              <a:t>In đậm: tốt nhất trong cột (không có nghĩa là khác biệt có ý nghĩa) · nền xám: cấu hình đang dùng</a:t>
            </a:r>
          </a:p>
        </p:txBody>
      </p:sp>
      <p:graphicFrame>
        <p:nvGraphicFramePr>
          <p:cNvPr id="7" name="Chart 6"/>
          <p:cNvGraphicFramePr>
            <a:graphicFrameLocks noGrp="1"/>
          </p:cNvGraphicFramePr>
          <p:nvPr/>
        </p:nvGraphicFramePr>
        <p:xfrm>
          <a:off x="457200" y="3200400"/>
          <a:ext cx="51206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5806440" y="3200400"/>
            <a:ext cx="5925312" cy="1797161"/>
          </a:xfrm>
          <a:prstGeom prst="roundRect">
            <a:avLst>
              <a:gd name="adj" fmla="val 6000"/>
            </a:avLst>
          </a:prstGeom>
          <a:solidFill>
            <a:srgbClr val="EAF2FB"/>
          </a:solidFill>
          <a:ln w="9525">
            <a:solidFill>
              <a:srgbClr val="EAF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71031" y="3310128"/>
            <a:ext cx="5596128"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Đọc kết quả</a:t>
            </a:r>
          </a:p>
        </p:txBody>
      </p:sp>
      <p:sp>
        <p:nvSpPr>
          <p:cNvPr id="10" name="TextBox 9"/>
          <p:cNvSpPr txBox="1"/>
          <p:nvPr/>
        </p:nvSpPr>
        <p:spPr>
          <a:xfrm>
            <a:off x="5971031" y="3694176"/>
            <a:ext cx="5596128" cy="1230233"/>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f2 hơn v1 rõ (micro 0,164 so với 0,095)</a:t>
            </a:r>
          </a:p>
          <a:p>
            <a:pPr marL="219456" indent="-182880" algn="l">
              <a:spcAft>
                <a:spcPts val="400"/>
              </a:spcAft>
              <a:buClr>
                <a:srgbClr val="1677B8"/>
              </a:buClr>
              <a:buFont typeface="Arial"/>
              <a:buChar char="•"/>
            </a:pPr>
            <a:r>
              <a:rPr sz="1200" b="0" i="0">
                <a:solidFill>
                  <a:srgbClr val="17212B"/>
                </a:solidFill>
                <a:latin typeface="Arial"/>
              </a:rPr>
              <a:t>f2 chỉ báo </a:t>
            </a:r>
            <a:r>
              <a:rPr sz="1200" b="1" i="0">
                <a:solidFill>
                  <a:srgbClr val="17212B"/>
                </a:solidFill>
                <a:latin typeface="Arial"/>
              </a:rPr>
              <a:t>295 sự kiện / 740 thật</a:t>
            </a:r>
            <a:r>
              <a:rPr sz="1200" b="0" i="0">
                <a:solidFill>
                  <a:srgbClr val="17212B"/>
                </a:solidFill>
                <a:latin typeface="Arial"/>
              </a:rPr>
              <a:t>; 7/21 loại âm điểm 0 → bị giới hạn bởi </a:t>
            </a:r>
            <a:r>
              <a:rPr sz="1200" b="1" i="0">
                <a:solidFill>
                  <a:srgbClr val="17212B"/>
                </a:solidFill>
                <a:latin typeface="Arial"/>
              </a:rPr>
              <a:t>bỏ sót</a:t>
            </a:r>
          </a:p>
          <a:p>
            <a:pPr marL="219456" indent="-182880" algn="l">
              <a:spcAft>
                <a:spcPts val="400"/>
              </a:spcAft>
              <a:buClr>
                <a:srgbClr val="1677B8"/>
              </a:buClr>
              <a:buFont typeface="Arial"/>
              <a:buChar char="•"/>
            </a:pPr>
            <a:r>
              <a:rPr sz="1200" b="0" i="0">
                <a:solidFill>
                  <a:srgbClr val="17212B"/>
                </a:solidFill>
                <a:latin typeface="Arial"/>
              </a:rPr>
              <a:t>cSEBB lần đầu thắng ngưỡng chung ở f2 (0,2383 so với 0,2107 trên dev, trong biên dao động)</a:t>
            </a:r>
          </a:p>
        </p:txBody>
      </p:sp>
      <p:sp>
        <p:nvSpPr>
          <p:cNvPr id="11" name="Rounded Rectangle 10"/>
          <p:cNvSpPr/>
          <p:nvPr/>
        </p:nvSpPr>
        <p:spPr>
          <a:xfrm>
            <a:off x="5806440" y="5162153"/>
            <a:ext cx="5925312" cy="1101486"/>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71031" y="5271881"/>
            <a:ext cx="5596128"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có nghĩa là</a:t>
            </a:r>
          </a:p>
        </p:txBody>
      </p:sp>
      <p:sp>
        <p:nvSpPr>
          <p:cNvPr id="13" name="TextBox 12"/>
          <p:cNvSpPr txBox="1"/>
          <p:nvPr/>
        </p:nvSpPr>
        <p:spPr>
          <a:xfrm>
            <a:off x="5971031" y="5655929"/>
            <a:ext cx="5596128" cy="534558"/>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f2 là tốt nhất — macro và PSDS-1 thấp hơn v2, khoảng tin cậy micro chồng nhau → f2 là hệ </a:t>
            </a:r>
            <a:r>
              <a:rPr sz="1200" b="1" i="0">
                <a:solidFill>
                  <a:srgbClr val="17212B"/>
                </a:solidFill>
                <a:latin typeface="Arial"/>
              </a:rPr>
              <a:t>được chọn theo luật</a:t>
            </a:r>
            <a:r>
              <a:rPr sz="1200" b="0" i="0">
                <a:solidFill>
                  <a:srgbClr val="17212B"/>
                </a:solidFill>
                <a:latin typeface="Arial"/>
              </a:rPr>
              <a:t>, chưa chứng minh là tốt nhất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RQ2: ép theo luật đưa “bịa” và “thêm bối cảnh” về 0, đổi lại dễ bỏ sót</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22 / 29</a:t>
            </a:r>
          </a:p>
        </p:txBody>
      </p:sp>
      <p:graphicFrame>
        <p:nvGraphicFramePr>
          <p:cNvPr id="5" name="Table 4"/>
          <p:cNvGraphicFramePr>
            <a:graphicFrameLocks noGrp="1"/>
          </p:cNvGraphicFramePr>
          <p:nvPr/>
        </p:nvGraphicFramePr>
        <p:xfrm>
          <a:off x="457200" y="1280160"/>
          <a:ext cx="11274548" cy="2913888"/>
        </p:xfrm>
        <a:graphic>
          <a:graphicData uri="http://schemas.openxmlformats.org/drawingml/2006/table">
            <a:tbl>
              <a:tblPr firstRow="1">
                <a:tableStyleId>{5C22544A-7EE6-4342-B048-85BDC9FD1C3A}</a:tableStyleId>
              </a:tblPr>
              <a:tblGrid>
                <a:gridCol w="1863562">
                  <a:extLst>
                    <a:ext uri="{9D8B030D-6E8A-4147-A177-3AD203B41FA5}">
                      <a16:colId xmlns:a16="http://schemas.microsoft.com/office/drawing/2014/main" val="20000"/>
                    </a:ext>
                  </a:extLst>
                </a:gridCol>
                <a:gridCol w="1118137">
                  <a:extLst>
                    <a:ext uri="{9D8B030D-6E8A-4147-A177-3AD203B41FA5}">
                      <a16:colId xmlns:a16="http://schemas.microsoft.com/office/drawing/2014/main" val="20001"/>
                    </a:ext>
                  </a:extLst>
                </a:gridCol>
                <a:gridCol w="1304493">
                  <a:extLst>
                    <a:ext uri="{9D8B030D-6E8A-4147-A177-3AD203B41FA5}">
                      <a16:colId xmlns:a16="http://schemas.microsoft.com/office/drawing/2014/main" val="20002"/>
                    </a:ext>
                  </a:extLst>
                </a:gridCol>
                <a:gridCol w="1118137">
                  <a:extLst>
                    <a:ext uri="{9D8B030D-6E8A-4147-A177-3AD203B41FA5}">
                      <a16:colId xmlns:a16="http://schemas.microsoft.com/office/drawing/2014/main" val="20003"/>
                    </a:ext>
                  </a:extLst>
                </a:gridCol>
                <a:gridCol w="1677206">
                  <a:extLst>
                    <a:ext uri="{9D8B030D-6E8A-4147-A177-3AD203B41FA5}">
                      <a16:colId xmlns:a16="http://schemas.microsoft.com/office/drawing/2014/main" val="20004"/>
                    </a:ext>
                  </a:extLst>
                </a:gridCol>
                <a:gridCol w="1584027">
                  <a:extLst>
                    <a:ext uri="{9D8B030D-6E8A-4147-A177-3AD203B41FA5}">
                      <a16:colId xmlns:a16="http://schemas.microsoft.com/office/drawing/2014/main" val="20005"/>
                    </a:ext>
                  </a:extLst>
                </a:gridCol>
                <a:gridCol w="1490849">
                  <a:extLst>
                    <a:ext uri="{9D8B030D-6E8A-4147-A177-3AD203B41FA5}">
                      <a16:colId xmlns:a16="http://schemas.microsoft.com/office/drawing/2014/main" val="20006"/>
                    </a:ext>
                  </a:extLst>
                </a:gridCol>
                <a:gridCol w="1118137">
                  <a:extLst>
                    <a:ext uri="{9D8B030D-6E8A-4147-A177-3AD203B41FA5}">
                      <a16:colId xmlns:a16="http://schemas.microsoft.com/office/drawing/2014/main" val="20007"/>
                    </a:ext>
                  </a:extLst>
                </a:gridCol>
              </a:tblGrid>
              <a:tr h="310896">
                <a:tc>
                  <a:txBody>
                    <a:bodyPr/>
                    <a:lstStyle/>
                    <a:p>
                      <a:pPr algn="ctr"/>
                      <a:r>
                        <a:rPr sz="1250" b="1">
                          <a:solidFill>
                            <a:srgbClr val="FFFFFF"/>
                          </a:solidFill>
                          <a:latin typeface="Arial"/>
                        </a:rPr>
                        <a:t>Cách viết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50" b="1">
                          <a:solidFill>
                            <a:srgbClr val="FFFFFF"/>
                          </a:solidFill>
                          <a:latin typeface="Arial"/>
                        </a:rPr>
                        <a:t>Mức chấm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50" b="1">
                          <a:solidFill>
                            <a:srgbClr val="FFFFFF"/>
                          </a:solidFill>
                          <a:latin typeface="Arial"/>
                        </a:rPr>
                        <a:t>Bịa nguồn âm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50" b="1">
                          <a:solidFill>
                            <a:srgbClr val="FFFFFF"/>
                          </a:solidFill>
                          <a:latin typeface="Arial"/>
                        </a:rPr>
                        <a:t>Bỏ sót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50" b="1">
                          <a:solidFill>
                            <a:srgbClr val="FFFFFF"/>
                          </a:solidFill>
                          <a:latin typeface="Arial"/>
                        </a:rPr>
                        <a:t>Đúng thứ tự (số câu)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50" b="1">
                          <a:solidFill>
                            <a:srgbClr val="FFFFFF"/>
                          </a:solidFill>
                          <a:latin typeface="Arial"/>
                        </a:rPr>
                        <a:t>Tên quá cụ thể</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50" b="1">
                          <a:solidFill>
                            <a:srgbClr val="FFFFFF"/>
                          </a:solidFill>
                          <a:latin typeface="Arial"/>
                        </a:rPr>
                        <a:t>Thêm bối cảnh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50" b="1">
                          <a:solidFill>
                            <a:srgbClr val="FFFFFF"/>
                          </a:solidFill>
                          <a:latin typeface="Arial"/>
                        </a:rPr>
                        <a:t>Từ cấm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10896">
                <a:tc>
                  <a:txBody>
                    <a:bodyPr/>
                    <a:lstStyle/>
                    <a:p>
                      <a:pPr algn="l"/>
                      <a:r>
                        <a:rPr sz="1250" b="0">
                          <a:solidFill>
                            <a:srgbClr val="17212B"/>
                          </a:solidFill>
                          <a:latin typeface="Arial"/>
                        </a:rPr>
                        <a:t>Template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50" b="0">
                          <a:solidFill>
                            <a:srgbClr val="17212B"/>
                          </a:solidFill>
                          <a:latin typeface="Arial"/>
                        </a:rPr>
                        <a:t>oracle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0">
                          <a:solidFill>
                            <a:srgbClr val="17212B"/>
                          </a:solidFill>
                          <a:latin typeface="Arial"/>
                        </a:rPr>
                        <a:t>1.0000 (107)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1"/>
                  </a:ext>
                </a:extLst>
              </a:tr>
              <a:tr h="310896">
                <a:tc>
                  <a:txBody>
                    <a:bodyPr/>
                    <a:lstStyle/>
                    <a:p>
                      <a:pPr algn="l"/>
                      <a:r>
                        <a:rPr sz="1250" b="0">
                          <a:solidFill>
                            <a:srgbClr val="17212B"/>
                          </a:solidFill>
                          <a:latin typeface="Arial"/>
                        </a:rPr>
                        <a:t>Template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50" b="0">
                          <a:solidFill>
                            <a:srgbClr val="17212B"/>
                          </a:solidFill>
                          <a:latin typeface="Arial"/>
                        </a:rPr>
                        <a:t>đầu–cuối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0">
                          <a:solidFill>
                            <a:srgbClr val="17212B"/>
                          </a:solidFill>
                          <a:latin typeface="Arial"/>
                        </a:rPr>
                        <a:t>1.0000 (63)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2"/>
                  </a:ext>
                </a:extLst>
              </a:tr>
              <a:tr h="310896">
                <a:tc>
                  <a:txBody>
                    <a:bodyPr/>
                    <a:lstStyle/>
                    <a:p>
                      <a:pPr algn="l"/>
                      <a:r>
                        <a:rPr sz="1250" b="0">
                          <a:solidFill>
                            <a:srgbClr val="17212B"/>
                          </a:solidFill>
                          <a:latin typeface="Arial"/>
                        </a:rPr>
                        <a:t>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50" b="0">
                          <a:solidFill>
                            <a:srgbClr val="17212B"/>
                          </a:solidFill>
                          <a:latin typeface="Arial"/>
                        </a:rPr>
                        <a:t>oracle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0.0925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1.0000 (99)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10896">
                <a:tc>
                  <a:txBody>
                    <a:bodyPr/>
                    <a:lstStyle/>
                    <a:p>
                      <a:pPr algn="l"/>
                      <a:r>
                        <a:rPr sz="1250" b="0">
                          <a:solidFill>
                            <a:srgbClr val="17212B"/>
                          </a:solidFill>
                          <a:latin typeface="Arial"/>
                        </a:rPr>
                        <a:t>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50" b="0">
                          <a:solidFill>
                            <a:srgbClr val="17212B"/>
                          </a:solidFill>
                          <a:latin typeface="Arial"/>
                        </a:rPr>
                        <a:t>đầu–cuối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0.0117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1.0000 (61)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10896">
                <a:tc>
                  <a:txBody>
                    <a:bodyPr/>
                    <a:lstStyle/>
                    <a:p>
                      <a:pPr algn="l"/>
                      <a:r>
                        <a:rPr sz="1250" b="0">
                          <a:solidFill>
                            <a:srgbClr val="17212B"/>
                          </a:solidFill>
                          <a:latin typeface="Arial"/>
                        </a:rPr>
                        <a:t>Constrained-cover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50" b="0">
                          <a:solidFill>
                            <a:srgbClr val="17212B"/>
                          </a:solidFill>
                          <a:latin typeface="Arial"/>
                        </a:rPr>
                        <a:t>oracle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1.0000 (107)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10896">
                <a:tc>
                  <a:txBody>
                    <a:bodyPr/>
                    <a:lstStyle/>
                    <a:p>
                      <a:pPr algn="l"/>
                      <a:r>
                        <a:rPr sz="1250" b="0">
                          <a:solidFill>
                            <a:srgbClr val="17212B"/>
                          </a:solidFill>
                          <a:latin typeface="Arial"/>
                        </a:rPr>
                        <a:t>Constrained-cover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50" b="0">
                          <a:solidFill>
                            <a:srgbClr val="17212B"/>
                          </a:solidFill>
                          <a:latin typeface="Arial"/>
                        </a:rPr>
                        <a:t>đầu–cuối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1.0000 (63)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1">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10896">
                <a:tc>
                  <a:txBody>
                    <a:bodyPr/>
                    <a:lstStyle/>
                    <a:p>
                      <a:pPr algn="l"/>
                      <a:r>
                        <a:rPr sz="1250" b="0">
                          <a:solidFill>
                            <a:srgbClr val="17212B"/>
                          </a:solidFill>
                          <a:latin typeface="Arial"/>
                        </a:rPr>
                        <a:t>Unconstrained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50" b="0">
                          <a:solidFill>
                            <a:srgbClr val="17212B"/>
                          </a:solidFill>
                          <a:latin typeface="Arial"/>
                        </a:rPr>
                        <a:t>oracle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0.0065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0.0184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0.8475 (73)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0.1388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0.2887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0.0070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10896">
                <a:tc>
                  <a:txBody>
                    <a:bodyPr/>
                    <a:lstStyle/>
                    <a:p>
                      <a:pPr algn="l"/>
                      <a:r>
                        <a:rPr sz="1250" b="0">
                          <a:solidFill>
                            <a:srgbClr val="17212B"/>
                          </a:solidFill>
                          <a:latin typeface="Arial"/>
                        </a:rPr>
                        <a:t>Unconstrained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50" b="0">
                          <a:solidFill>
                            <a:srgbClr val="17212B"/>
                          </a:solidFill>
                          <a:latin typeface="Arial"/>
                        </a:rPr>
                        <a:t>đầu–cuối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0.0112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0.0047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0.8596 (38)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0.1373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0.4014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50" b="0">
                          <a:solidFill>
                            <a:srgbClr val="17212B"/>
                          </a:solidFill>
                          <a:latin typeface="Arial"/>
                        </a:rPr>
                        <a:t>0.0070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457200" y="4370832"/>
            <a:ext cx="7315200" cy="256032"/>
          </a:xfrm>
          <a:prstGeom prst="rect">
            <a:avLst/>
          </a:prstGeom>
          <a:noFill/>
        </p:spPr>
        <p:txBody>
          <a:bodyPr wrap="square" lIns="0" tIns="0" rIns="0" bIns="0" anchor="t">
            <a:spAutoFit/>
          </a:bodyPr>
          <a:lstStyle/>
          <a:p>
            <a:pPr algn="l">
              <a:spcAft>
                <a:spcPts val="400"/>
              </a:spcAft>
            </a:pPr>
            <a:r>
              <a:rPr sz="1000" b="0" i="1">
                <a:solidFill>
                  <a:srgbClr val="667085"/>
                </a:solidFill>
                <a:latin typeface="Arial"/>
              </a:rPr>
              <a:t>In đậm: tốt nhất trong cột (không có nghĩa là khác biệt có ý nghĩa) · nền xám: cấu hình đang dùng</a:t>
            </a:r>
          </a:p>
        </p:txBody>
      </p:sp>
      <p:sp>
        <p:nvSpPr>
          <p:cNvPr id="7" name="TextBox 6"/>
          <p:cNvSpPr txBox="1"/>
          <p:nvPr/>
        </p:nvSpPr>
        <p:spPr>
          <a:xfrm>
            <a:off x="7589520" y="4370832"/>
            <a:ext cx="414223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caption_grounding_…_f2_test.json (142 bản ghi)</a:t>
            </a:r>
          </a:p>
        </p:txBody>
      </p:sp>
      <p:sp>
        <p:nvSpPr>
          <p:cNvPr id="8" name="Rounded Rectangle 7"/>
          <p:cNvSpPr/>
          <p:nvPr/>
        </p:nvSpPr>
        <p:spPr>
          <a:xfrm>
            <a:off x="457200" y="4681728"/>
            <a:ext cx="7110374" cy="1581912"/>
          </a:xfrm>
          <a:prstGeom prst="roundRect">
            <a:avLst>
              <a:gd name="adj" fmla="val 6000"/>
            </a:avLst>
          </a:prstGeom>
          <a:solidFill>
            <a:srgbClr val="EAF2FB"/>
          </a:solidFill>
          <a:ln w="9525">
            <a:solidFill>
              <a:srgbClr val="EAF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4791456"/>
            <a:ext cx="6781190"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Đọc kết quả</a:t>
            </a:r>
          </a:p>
        </p:txBody>
      </p:sp>
      <p:sp>
        <p:nvSpPr>
          <p:cNvPr id="10" name="TextBox 9"/>
          <p:cNvSpPr txBox="1"/>
          <p:nvPr/>
        </p:nvSpPr>
        <p:spPr>
          <a:xfrm>
            <a:off x="621792" y="5175504"/>
            <a:ext cx="6781190" cy="1014983"/>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Viết tự do </a:t>
            </a:r>
            <a:r>
              <a:rPr sz="1200" b="1" i="0">
                <a:solidFill>
                  <a:srgbClr val="17212B"/>
                </a:solidFill>
                <a:latin typeface="Arial"/>
              </a:rPr>
              <a:t>hiếm bịa nguồn âm</a:t>
            </a:r>
            <a:r>
              <a:rPr sz="1200" b="0" i="0">
                <a:solidFill>
                  <a:srgbClr val="17212B"/>
                </a:solidFill>
                <a:latin typeface="Arial"/>
              </a:rPr>
              <a:t> (0,0065 / 0,0112), nhưng 28,9% / 40,1% câu </a:t>
            </a:r>
            <a:r>
              <a:rPr sz="1200" b="1" i="0">
                <a:solidFill>
                  <a:srgbClr val="17212B"/>
                </a:solidFill>
                <a:latin typeface="Arial"/>
              </a:rPr>
              <a:t>thêm bối cảnh</a:t>
            </a:r>
            <a:r>
              <a:rPr sz="1200" b="0" i="0">
                <a:solidFill>
                  <a:srgbClr val="17212B"/>
                </a:solidFill>
                <a:latin typeface="Arial"/>
              </a:rPr>
              <a:t>, ~14% gọi tên quá cụ thể</a:t>
            </a:r>
          </a:p>
          <a:p>
            <a:pPr marL="219456" indent="-182880" algn="l">
              <a:spcAft>
                <a:spcPts val="400"/>
              </a:spcAft>
              <a:buClr>
                <a:srgbClr val="1677B8"/>
              </a:buClr>
              <a:buFont typeface="Arial"/>
              <a:buChar char="•"/>
            </a:pPr>
            <a:r>
              <a:rPr sz="1200" b="0" i="0">
                <a:solidFill>
                  <a:srgbClr val="17212B"/>
                </a:solidFill>
                <a:latin typeface="Arial"/>
              </a:rPr>
              <a:t>Ép theo ngữ pháp → các lỗi này về 0; cái giá là bỏ sót (oracle 0,0925); bản cover → bỏ sót 0</a:t>
            </a:r>
          </a:p>
        </p:txBody>
      </p:sp>
      <p:sp>
        <p:nvSpPr>
          <p:cNvPr id="11" name="Rounded Rectangle 10"/>
          <p:cNvSpPr/>
          <p:nvPr/>
        </p:nvSpPr>
        <p:spPr>
          <a:xfrm>
            <a:off x="7732166" y="4681728"/>
            <a:ext cx="3999585" cy="1581912"/>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96758" y="4791456"/>
            <a:ext cx="3670401"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có nghĩa là</a:t>
            </a:r>
          </a:p>
        </p:txBody>
      </p:sp>
      <p:sp>
        <p:nvSpPr>
          <p:cNvPr id="13" name="TextBox 12"/>
          <p:cNvSpPr txBox="1"/>
          <p:nvPr/>
        </p:nvSpPr>
        <p:spPr>
          <a:xfrm>
            <a:off x="7896758" y="5175504"/>
            <a:ext cx="3670401" cy="1014983"/>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Câu “0 bịa” là câu đúng với âm thanh — xem slide sau</a:t>
            </a:r>
          </a:p>
          <a:p>
            <a:pPr marL="219456" indent="-182880" algn="l">
              <a:spcAft>
                <a:spcPts val="400"/>
              </a:spcAft>
              <a:buClr>
                <a:srgbClr val="1677B8"/>
              </a:buClr>
              <a:buFont typeface="Arial"/>
              <a:buChar char="•"/>
            </a:pPr>
            <a:r>
              <a:rPr sz="1200" b="0" i="0">
                <a:solidFill>
                  <a:srgbClr val="17212B"/>
                </a:solidFill>
                <a:latin typeface="Arial"/>
              </a:rPr>
              <a:t>Bộ đếm lỗi hoàn hảo — dựa trên từ điển, mới đối chiếu 1 người / 60 câu</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RQ2: “không bịa” chưa có nghĩa là “đúng với âm thanh”</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23 / 29</a:t>
            </a:r>
          </a:p>
        </p:txBody>
      </p:sp>
      <p:pic>
        <p:nvPicPr>
          <p:cNvPr id="5" name="Picture 4" descr="m05_dev_timeline.png"/>
          <p:cNvPicPr>
            <a:picLocks noChangeAspect="1"/>
          </p:cNvPicPr>
          <p:nvPr/>
        </p:nvPicPr>
        <p:blipFill>
          <a:blip r:embed="rId3"/>
          <a:stretch>
            <a:fillRect/>
          </a:stretch>
        </p:blipFill>
        <p:spPr>
          <a:xfrm>
            <a:off x="457200" y="1280951"/>
            <a:ext cx="6766560" cy="3537144"/>
          </a:xfrm>
          <a:prstGeom prst="rect">
            <a:avLst/>
          </a:prstGeom>
        </p:spPr>
      </p:pic>
      <p:sp>
        <p:nvSpPr>
          <p:cNvPr id="6" name="Rounded Rectangle 5"/>
          <p:cNvSpPr/>
          <p:nvPr/>
        </p:nvSpPr>
        <p:spPr>
          <a:xfrm>
            <a:off x="457200" y="4983480"/>
            <a:ext cx="6766560" cy="1280160"/>
          </a:xfrm>
          <a:prstGeom prst="roundRect">
            <a:avLst>
              <a:gd name="adj" fmla="val 6000"/>
            </a:avLst>
          </a:prstGeom>
          <a:solidFill>
            <a:srgbClr val="F0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5029200"/>
            <a:ext cx="6400800" cy="1188720"/>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Câu mô tả (constrained-cover, S-0009): “The sound of jet aircrafts can be heard from 0.3 to 10.0 seconds, followed by the sound of birds …”</a:t>
            </a:r>
          </a:p>
          <a:p>
            <a:pPr algn="l">
              <a:spcAft>
                <a:spcPts val="400"/>
              </a:spcAft>
            </a:pPr>
            <a:r>
              <a:rPr sz="1250" b="0" i="0">
                <a:solidFill>
                  <a:srgbClr val="17212B"/>
                </a:solidFill>
                <a:latin typeface="Arial"/>
              </a:rPr>
              <a:t>→ Hợp lệ G1–G3, nhưng đặt máy bay sai chỗ và bỏ sót 4 sự kiện so với nhãn gốc.</a:t>
            </a:r>
          </a:p>
        </p:txBody>
      </p:sp>
      <p:sp>
        <p:nvSpPr>
          <p:cNvPr id="8" name="Rounded Rectangle 7"/>
          <p:cNvSpPr/>
          <p:nvPr/>
        </p:nvSpPr>
        <p:spPr>
          <a:xfrm>
            <a:off x="7452360" y="1280160"/>
            <a:ext cx="4279392" cy="137160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16952" y="1353312"/>
            <a:ext cx="3950207" cy="548640"/>
          </a:xfrm>
          <a:prstGeom prst="rect">
            <a:avLst/>
          </a:prstGeom>
          <a:noFill/>
        </p:spPr>
        <p:txBody>
          <a:bodyPr wrap="square" lIns="0" tIns="0" rIns="0" bIns="0" anchor="t">
            <a:spAutoFit/>
          </a:bodyPr>
          <a:lstStyle/>
          <a:p>
            <a:pPr algn="l">
              <a:spcAft>
                <a:spcPts val="400"/>
              </a:spcAft>
            </a:pPr>
            <a:r>
              <a:rPr sz="2800" b="1" i="0">
                <a:solidFill>
                  <a:srgbClr val="B42318"/>
                </a:solidFill>
                <a:latin typeface="Arial"/>
              </a:rPr>
              <a:t>349 / 740</a:t>
            </a:r>
          </a:p>
        </p:txBody>
      </p:sp>
      <p:sp>
        <p:nvSpPr>
          <p:cNvPr id="10" name="TextBox 9"/>
          <p:cNvSpPr txBox="1"/>
          <p:nvPr/>
        </p:nvSpPr>
        <p:spPr>
          <a:xfrm>
            <a:off x="7616952" y="1920239"/>
            <a:ext cx="3950207" cy="676656"/>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sự kiện thật mà hệ f2 bỏ sót trên test</a:t>
            </a:r>
          </a:p>
        </p:txBody>
      </p:sp>
      <p:sp>
        <p:nvSpPr>
          <p:cNvPr id="11" name="Rounded Rectangle 10"/>
          <p:cNvSpPr/>
          <p:nvPr/>
        </p:nvSpPr>
        <p:spPr>
          <a:xfrm>
            <a:off x="7452360" y="2788920"/>
            <a:ext cx="4279392" cy="137160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16952" y="2862072"/>
            <a:ext cx="3950207" cy="548640"/>
          </a:xfrm>
          <a:prstGeom prst="rect">
            <a:avLst/>
          </a:prstGeom>
          <a:noFill/>
        </p:spPr>
        <p:txBody>
          <a:bodyPr wrap="square" lIns="0" tIns="0" rIns="0" bIns="0" anchor="t">
            <a:spAutoFit/>
          </a:bodyPr>
          <a:lstStyle/>
          <a:p>
            <a:pPr algn="l">
              <a:spcAft>
                <a:spcPts val="400"/>
              </a:spcAft>
            </a:pPr>
            <a:r>
              <a:rPr sz="2600" b="1" i="0">
                <a:solidFill>
                  <a:srgbClr val="062F5C"/>
                </a:solidFill>
                <a:latin typeface="Arial"/>
              </a:rPr>
              <a:t>0,896 / 0,936</a:t>
            </a:r>
          </a:p>
        </p:txBody>
      </p:sp>
      <p:sp>
        <p:nvSpPr>
          <p:cNvPr id="13" name="TextBox 12"/>
          <p:cNvSpPr txBox="1"/>
          <p:nvPr/>
        </p:nvSpPr>
        <p:spPr>
          <a:xfrm>
            <a:off x="7616952" y="3429000"/>
            <a:ext cx="3950207" cy="676656"/>
          </a:xfrm>
          <a:prstGeom prst="rect">
            <a:avLst/>
          </a:prstGeom>
          <a:noFill/>
        </p:spPr>
        <p:txBody>
          <a:bodyPr wrap="square" lIns="0" tIns="0" rIns="0" bIns="0" anchor="t">
            <a:spAutoFit/>
          </a:bodyPr>
          <a:lstStyle/>
          <a:p>
            <a:pPr algn="l">
              <a:spcAft>
                <a:spcPts val="400"/>
              </a:spcAft>
            </a:pPr>
            <a:r>
              <a:rPr sz="1250" b="0" i="0">
                <a:solidFill>
                  <a:srgbClr val="17212B"/>
                </a:solidFill>
                <a:latin typeface="Arial"/>
              </a:rPr>
              <a:t>precision / recall của bộ đếm từ điển so với 1 người đọc trên 60 câu</a:t>
            </a:r>
          </a:p>
        </p:txBody>
      </p:sp>
      <p:sp>
        <p:nvSpPr>
          <p:cNvPr id="14" name="Rounded Rectangle 13"/>
          <p:cNvSpPr/>
          <p:nvPr/>
        </p:nvSpPr>
        <p:spPr>
          <a:xfrm>
            <a:off x="7452360" y="4297680"/>
            <a:ext cx="4279392" cy="196596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16952" y="4407408"/>
            <a:ext cx="3950207"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Vì vậy</a:t>
            </a:r>
          </a:p>
        </p:txBody>
      </p:sp>
      <p:sp>
        <p:nvSpPr>
          <p:cNvPr id="16" name="TextBox 15"/>
          <p:cNvSpPr txBox="1"/>
          <p:nvPr/>
        </p:nvSpPr>
        <p:spPr>
          <a:xfrm>
            <a:off x="7616952" y="4791456"/>
            <a:ext cx="3950207" cy="139903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50" b="0" i="0">
                <a:solidFill>
                  <a:srgbClr val="17212B"/>
                </a:solidFill>
                <a:latin typeface="Arial"/>
              </a:rPr>
              <a:t>Câu mô tả trung thành với </a:t>
            </a:r>
            <a:r>
              <a:rPr sz="1250" b="1" i="0">
                <a:solidFill>
                  <a:srgbClr val="17212B"/>
                </a:solidFill>
                <a:latin typeface="Arial"/>
              </a:rPr>
              <a:t>danh sách máy đoán</a:t>
            </a:r>
          </a:p>
          <a:p>
            <a:pPr marL="219456" indent="-182880" algn="l">
              <a:spcAft>
                <a:spcPts val="400"/>
              </a:spcAft>
              <a:buClr>
                <a:srgbClr val="1677B8"/>
              </a:buClr>
              <a:buFont typeface="Arial"/>
              <a:buChar char="•"/>
            </a:pPr>
            <a:r>
              <a:rPr sz="1250" b="0" i="0">
                <a:solidFill>
                  <a:srgbClr val="17212B"/>
                </a:solidFill>
                <a:latin typeface="Arial"/>
              </a:rPr>
              <a:t>Máy nghe sai thì câu cũng sai theo; ràng buộc chỉ giúp </a:t>
            </a:r>
            <a:r>
              <a:rPr sz="1250" b="1" i="0">
                <a:solidFill>
                  <a:srgbClr val="17212B"/>
                </a:solidFill>
                <a:latin typeface="Arial"/>
              </a:rPr>
              <a:t>truy ra</a:t>
            </a:r>
            <a:r>
              <a:rPr sz="1250" b="0" i="0">
                <a:solidFill>
                  <a:srgbClr val="17212B"/>
                </a:solidFill>
                <a:latin typeface="Arial"/>
              </a:rPr>
              <a:t> lỗi đến từ sự kiện nào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RQ3: lọc cứng luôn đúng điều kiện, nhưng xếp hạng phụ thuộc SED</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24 / 29</a:t>
            </a:r>
          </a:p>
        </p:txBody>
      </p:sp>
      <p:graphicFrame>
        <p:nvGraphicFramePr>
          <p:cNvPr id="5" name="Table 4"/>
          <p:cNvGraphicFramePr>
            <a:graphicFrameLocks noGrp="1"/>
          </p:cNvGraphicFramePr>
          <p:nvPr/>
        </p:nvGraphicFramePr>
        <p:xfrm>
          <a:off x="457200" y="1280160"/>
          <a:ext cx="6812278" cy="2606040"/>
        </p:xfrm>
        <a:graphic>
          <a:graphicData uri="http://schemas.openxmlformats.org/drawingml/2006/table">
            <a:tbl>
              <a:tblPr firstRow="1">
                <a:tableStyleId>{5C22544A-7EE6-4342-B048-85BDC9FD1C3A}</a:tableStyleId>
              </a:tblPr>
              <a:tblGrid>
                <a:gridCol w="1223762">
                  <a:extLst>
                    <a:ext uri="{9D8B030D-6E8A-4147-A177-3AD203B41FA5}">
                      <a16:colId xmlns:a16="http://schemas.microsoft.com/office/drawing/2014/main" val="20000"/>
                    </a:ext>
                  </a:extLst>
                </a:gridCol>
                <a:gridCol w="1427723">
                  <a:extLst>
                    <a:ext uri="{9D8B030D-6E8A-4147-A177-3AD203B41FA5}">
                      <a16:colId xmlns:a16="http://schemas.microsoft.com/office/drawing/2014/main" val="20001"/>
                    </a:ext>
                  </a:extLst>
                </a:gridCol>
                <a:gridCol w="938218">
                  <a:extLst>
                    <a:ext uri="{9D8B030D-6E8A-4147-A177-3AD203B41FA5}">
                      <a16:colId xmlns:a16="http://schemas.microsoft.com/office/drawing/2014/main" val="20002"/>
                    </a:ext>
                  </a:extLst>
                </a:gridCol>
                <a:gridCol w="1305347">
                  <a:extLst>
                    <a:ext uri="{9D8B030D-6E8A-4147-A177-3AD203B41FA5}">
                      <a16:colId xmlns:a16="http://schemas.microsoft.com/office/drawing/2014/main" val="20003"/>
                    </a:ext>
                  </a:extLst>
                </a:gridCol>
                <a:gridCol w="979010">
                  <a:extLst>
                    <a:ext uri="{9D8B030D-6E8A-4147-A177-3AD203B41FA5}">
                      <a16:colId xmlns:a16="http://schemas.microsoft.com/office/drawing/2014/main" val="20004"/>
                    </a:ext>
                  </a:extLst>
                </a:gridCol>
                <a:gridCol w="938218">
                  <a:extLst>
                    <a:ext uri="{9D8B030D-6E8A-4147-A177-3AD203B41FA5}">
                      <a16:colId xmlns:a16="http://schemas.microsoft.com/office/drawing/2014/main" val="20005"/>
                    </a:ext>
                  </a:extLst>
                </a:gridCol>
              </a:tblGrid>
              <a:tr h="365760">
                <a:tc>
                  <a:txBody>
                    <a:bodyPr/>
                    <a:lstStyle/>
                    <a:p>
                      <a:pPr algn="ctr"/>
                      <a:r>
                        <a:rPr sz="1200" b="1">
                          <a:solidFill>
                            <a:srgbClr val="FFFFFF"/>
                          </a:solidFill>
                          <a:latin typeface="Arial"/>
                        </a:rPr>
                        <a:t>Kho sự kiện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Cách tìm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nDCG@10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KTC 95%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Recall@10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Đúng bộ lọc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65760">
                <a:tc>
                  <a:txBody>
                    <a:bodyPr/>
                    <a:lstStyle/>
                    <a:p>
                      <a:pPr algn="l"/>
                      <a:r>
                        <a:rPr sz="1200" b="0">
                          <a:solidFill>
                            <a:srgbClr val="17212B"/>
                          </a:solidFill>
                          <a:latin typeface="Arial"/>
                        </a:rPr>
                        <a:t>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Chỉ lọc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0.5231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[0.4603, 0.5887]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0.5123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65760">
                <a:tc>
                  <a:txBody>
                    <a:bodyPr/>
                    <a:lstStyle/>
                    <a:p>
                      <a:pPr algn="l"/>
                      <a:r>
                        <a:rPr sz="1200" b="0">
                          <a:solidFill>
                            <a:srgbClr val="17212B"/>
                          </a:solidFill>
                          <a:latin typeface="Arial"/>
                        </a:rPr>
                        <a:t>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Chỉ theo nghĩa</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0.4179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[0.3610, 0.4723]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0.4265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0.5866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65760">
                <a:tc>
                  <a:txBody>
                    <a:bodyPr/>
                    <a:lstStyle/>
                    <a:p>
                      <a:pPr algn="l"/>
                      <a:r>
                        <a:rPr sz="1200" b="0">
                          <a:solidFill>
                            <a:srgbClr val="17212B"/>
                          </a:solidFill>
                          <a:latin typeface="Arial"/>
                        </a:rPr>
                        <a:t>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Kết hợp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0.4808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[0.4236, 0.5386]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0.4865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65760">
                <a:tc>
                  <a:txBody>
                    <a:bodyPr/>
                    <a:lstStyle/>
                    <a:p>
                      <a:pPr algn="l"/>
                      <a:r>
                        <a:rPr sz="1200" b="0">
                          <a:solidFill>
                            <a:srgbClr val="17212B"/>
                          </a:solidFill>
                          <a:latin typeface="Arial"/>
                        </a:rPr>
                        <a:t>f2 (hệ 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Chỉ lọc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0.4161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[0.3463, 0.4873]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0.3056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65760">
                <a:tc>
                  <a:txBody>
                    <a:bodyPr/>
                    <a:lstStyle/>
                    <a:p>
                      <a:pPr algn="l"/>
                      <a:r>
                        <a:rPr sz="1200" b="0">
                          <a:solidFill>
                            <a:srgbClr val="17212B"/>
                          </a:solidFill>
                          <a:latin typeface="Arial"/>
                        </a:rPr>
                        <a:t>f2 (hệ 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Chỉ theo nghĩa</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0.5261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[0.4669, 0.5824]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0.5027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0.2742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65760">
                <a:tc>
                  <a:txBody>
                    <a:bodyPr/>
                    <a:lstStyle/>
                    <a:p>
                      <a:pPr algn="l"/>
                      <a:r>
                        <a:rPr sz="1200" b="0">
                          <a:solidFill>
                            <a:srgbClr val="17212B"/>
                          </a:solidFill>
                          <a:latin typeface="Arial"/>
                        </a:rPr>
                        <a:t>f2 (hệ 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Kết hợp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0.4147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[0.3438, 0.4852]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0.3050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57200" y="3904487"/>
            <a:ext cx="6812280" cy="256032"/>
          </a:xfrm>
          <a:prstGeom prst="rect">
            <a:avLst/>
          </a:prstGeom>
          <a:noFill/>
        </p:spPr>
        <p:txBody>
          <a:bodyPr wrap="square" lIns="0" tIns="0" rIns="0" bIns="0" anchor="t">
            <a:spAutoFit/>
          </a:bodyPr>
          <a:lstStyle/>
          <a:p>
            <a:pPr algn="l">
              <a:spcAft>
                <a:spcPts val="400"/>
              </a:spcAft>
            </a:pPr>
            <a:r>
              <a:rPr sz="1000" b="0" i="1">
                <a:solidFill>
                  <a:srgbClr val="667085"/>
                </a:solidFill>
                <a:latin typeface="Arial"/>
              </a:rPr>
              <a:t>In đậm: tốt nhất trong cột (không có nghĩa là khác biệt có ý nghĩa) · nền xám: cấu hình đang dùng</a:t>
            </a:r>
          </a:p>
        </p:txBody>
      </p:sp>
      <p:sp>
        <p:nvSpPr>
          <p:cNvPr id="7" name="TextBox 6"/>
          <p:cNvSpPr txBox="1"/>
          <p:nvPr/>
        </p:nvSpPr>
        <p:spPr>
          <a:xfrm>
            <a:off x="457200" y="4160520"/>
            <a:ext cx="681228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s8_summary_20261002.json (test, tiếng Anh, bộ lọc chuẩn; bảng đầy đủ ở Phụ lục 2)</a:t>
            </a:r>
          </a:p>
        </p:txBody>
      </p:sp>
      <p:sp>
        <p:nvSpPr>
          <p:cNvPr id="8" name="Rounded Rectangle 7"/>
          <p:cNvSpPr/>
          <p:nvPr/>
        </p:nvSpPr>
        <p:spPr>
          <a:xfrm>
            <a:off x="457200" y="4617720"/>
            <a:ext cx="3337560" cy="16459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4690872"/>
            <a:ext cx="3008376" cy="548640"/>
          </a:xfrm>
          <a:prstGeom prst="rect">
            <a:avLst/>
          </a:prstGeom>
          <a:noFill/>
        </p:spPr>
        <p:txBody>
          <a:bodyPr wrap="square" lIns="0" tIns="0" rIns="0" bIns="0" anchor="t">
            <a:spAutoFit/>
          </a:bodyPr>
          <a:lstStyle/>
          <a:p>
            <a:pPr algn="l">
              <a:spcAft>
                <a:spcPts val="400"/>
              </a:spcAft>
            </a:pPr>
            <a:r>
              <a:rPr sz="2800" b="1" i="0">
                <a:solidFill>
                  <a:srgbClr val="2E9B67"/>
                </a:solidFill>
                <a:latin typeface="Arial"/>
              </a:rPr>
              <a:t>0,000</a:t>
            </a:r>
          </a:p>
        </p:txBody>
      </p:sp>
      <p:sp>
        <p:nvSpPr>
          <p:cNvPr id="10" name="TextBox 9"/>
          <p:cNvSpPr txBox="1"/>
          <p:nvPr/>
        </p:nvSpPr>
        <p:spPr>
          <a:xfrm>
            <a:off x="621792" y="5257800"/>
            <a:ext cx="3008376" cy="95097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khẳng định thiếu bằng chứng trong câu trả lời, ở cả 8 cấu hình</a:t>
            </a:r>
          </a:p>
        </p:txBody>
      </p:sp>
      <p:sp>
        <p:nvSpPr>
          <p:cNvPr id="11" name="Rounded Rectangle 10"/>
          <p:cNvSpPr/>
          <p:nvPr/>
        </p:nvSpPr>
        <p:spPr>
          <a:xfrm>
            <a:off x="3931920" y="4617720"/>
            <a:ext cx="3337560" cy="16459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6511" y="4690872"/>
            <a:ext cx="3008376" cy="548640"/>
          </a:xfrm>
          <a:prstGeom prst="rect">
            <a:avLst/>
          </a:prstGeom>
          <a:noFill/>
        </p:spPr>
        <p:txBody>
          <a:bodyPr wrap="square" lIns="0" tIns="0" rIns="0" bIns="0" anchor="t">
            <a:spAutoFit/>
          </a:bodyPr>
          <a:lstStyle/>
          <a:p>
            <a:pPr algn="l">
              <a:spcAft>
                <a:spcPts val="400"/>
              </a:spcAft>
            </a:pPr>
            <a:r>
              <a:rPr sz="2800" b="1" i="0">
                <a:solidFill>
                  <a:srgbClr val="2E9B67"/>
                </a:solidFill>
                <a:latin typeface="Arial"/>
              </a:rPr>
              <a:t>97 / 97</a:t>
            </a:r>
          </a:p>
        </p:txBody>
      </p:sp>
      <p:sp>
        <p:nvSpPr>
          <p:cNvPr id="13" name="TextBox 12"/>
          <p:cNvSpPr txBox="1"/>
          <p:nvPr/>
        </p:nvSpPr>
        <p:spPr>
          <a:xfrm>
            <a:off x="4096511" y="5257800"/>
            <a:ext cx="3008376" cy="950976"/>
          </a:xfrm>
          <a:prstGeom prst="rect">
            <a:avLst/>
          </a:prstGeom>
          <a:noFill/>
        </p:spPr>
        <p:txBody>
          <a:bodyPr wrap="square" lIns="0" tIns="0" rIns="0" bIns="0" anchor="t">
            <a:spAutoFit/>
          </a:bodyPr>
          <a:lstStyle/>
          <a:p>
            <a:pPr algn="l">
              <a:spcAft>
                <a:spcPts val="400"/>
              </a:spcAft>
            </a:pPr>
            <a:r>
              <a:rPr sz="1200" b="0" i="0">
                <a:solidFill>
                  <a:srgbClr val="17212B"/>
                </a:solidFill>
                <a:latin typeface="Arial"/>
              </a:rPr>
              <a:t>câu trả lời đúng khuôn, có bằng chứng thật, trích dẫn thỏa bộ lọc</a:t>
            </a:r>
          </a:p>
        </p:txBody>
      </p:sp>
      <p:sp>
        <p:nvSpPr>
          <p:cNvPr id="14" name="Rounded Rectangle 13"/>
          <p:cNvSpPr/>
          <p:nvPr/>
        </p:nvSpPr>
        <p:spPr>
          <a:xfrm>
            <a:off x="7498079" y="1280160"/>
            <a:ext cx="4233672" cy="2650388"/>
          </a:xfrm>
          <a:prstGeom prst="roundRect">
            <a:avLst>
              <a:gd name="adj" fmla="val 6000"/>
            </a:avLst>
          </a:prstGeom>
          <a:solidFill>
            <a:srgbClr val="EAF2FB"/>
          </a:solidFill>
          <a:ln w="9525">
            <a:solidFill>
              <a:srgbClr val="EAF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62671" y="1389888"/>
            <a:ext cx="3904487"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Đọc kết quả</a:t>
            </a:r>
          </a:p>
        </p:txBody>
      </p:sp>
      <p:sp>
        <p:nvSpPr>
          <p:cNvPr id="16" name="TextBox 15"/>
          <p:cNvSpPr txBox="1"/>
          <p:nvPr/>
        </p:nvSpPr>
        <p:spPr>
          <a:xfrm>
            <a:off x="7662671" y="1773936"/>
            <a:ext cx="3904487" cy="2083460"/>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Kho B: </a:t>
            </a:r>
            <a:r>
              <a:rPr sz="1200" b="1" i="0">
                <a:solidFill>
                  <a:srgbClr val="17212B"/>
                </a:solidFill>
                <a:latin typeface="Arial"/>
              </a:rPr>
              <a:t>chỉ lọc</a:t>
            </a:r>
            <a:r>
              <a:rPr sz="1200" b="0" i="0">
                <a:solidFill>
                  <a:srgbClr val="17212B"/>
                </a:solidFill>
                <a:latin typeface="Arial"/>
              </a:rPr>
              <a:t> cao nhất (0,523); kết hợp kém hơn −0,042 [−0,085; −0,004]</a:t>
            </a:r>
          </a:p>
          <a:p>
            <a:pPr marL="219456" indent="-182880" algn="l">
              <a:spcAft>
                <a:spcPts val="400"/>
              </a:spcAft>
              <a:buClr>
                <a:srgbClr val="1677B8"/>
              </a:buClr>
              <a:buFont typeface="Arial"/>
              <a:buChar char="•"/>
            </a:pPr>
            <a:r>
              <a:rPr sz="1200" b="0" i="0">
                <a:solidFill>
                  <a:srgbClr val="17212B"/>
                </a:solidFill>
                <a:latin typeface="Arial"/>
              </a:rPr>
              <a:t>Đổi sang kho f2: hai cách có lọc </a:t>
            </a:r>
            <a:r>
              <a:rPr sz="1200" b="1" i="0">
                <a:solidFill>
                  <a:srgbClr val="17212B"/>
                </a:solidFill>
                <a:latin typeface="Arial"/>
              </a:rPr>
              <a:t>giảm</a:t>
            </a:r>
            <a:r>
              <a:rPr sz="1200" b="0" i="0">
                <a:solidFill>
                  <a:srgbClr val="17212B"/>
                </a:solidFill>
                <a:latin typeface="Arial"/>
              </a:rPr>
              <a:t> (0,523 → 0,416)</a:t>
            </a:r>
          </a:p>
          <a:p>
            <a:pPr marL="219456" indent="-182880" algn="l">
              <a:spcAft>
                <a:spcPts val="400"/>
              </a:spcAft>
              <a:buClr>
                <a:srgbClr val="1677B8"/>
              </a:buClr>
              <a:buFont typeface="Arial"/>
              <a:buChar char="•"/>
            </a:pPr>
            <a:r>
              <a:rPr sz="1200" b="0" i="0">
                <a:solidFill>
                  <a:srgbClr val="17212B"/>
                </a:solidFill>
                <a:latin typeface="Arial"/>
              </a:rPr>
              <a:t>Chỉ theo nghĩa tăng lên 0,526, nhưng </a:t>
            </a:r>
            <a:r>
              <a:rPr sz="1200" b="1" i="0">
                <a:solidFill>
                  <a:srgbClr val="17212B"/>
                </a:solidFill>
                <a:latin typeface="Arial"/>
              </a:rPr>
              <a:t>73% kết quả sai điều kiện</a:t>
            </a:r>
          </a:p>
        </p:txBody>
      </p:sp>
      <p:sp>
        <p:nvSpPr>
          <p:cNvPr id="17" name="Rounded Rectangle 16"/>
          <p:cNvSpPr/>
          <p:nvPr/>
        </p:nvSpPr>
        <p:spPr>
          <a:xfrm>
            <a:off x="7498079" y="4095140"/>
            <a:ext cx="4233672" cy="2168499"/>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62671" y="4204868"/>
            <a:ext cx="3904487"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có nghĩa là</a:t>
            </a:r>
          </a:p>
        </p:txBody>
      </p:sp>
      <p:sp>
        <p:nvSpPr>
          <p:cNvPr id="19" name="TextBox 18"/>
          <p:cNvSpPr txBox="1"/>
          <p:nvPr/>
        </p:nvSpPr>
        <p:spPr>
          <a:xfrm>
            <a:off x="7662671" y="4588916"/>
            <a:ext cx="3904487" cy="1601571"/>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Phần tìm kiếm hỏng — giả thuyết là f2 bỏ sót sự kiện nên bộ lọc loại mất bản ghi đúng (chưa kiểm chứng)</a:t>
            </a:r>
          </a:p>
          <a:p>
            <a:pPr marL="219456" indent="-182880" algn="l">
              <a:spcAft>
                <a:spcPts val="400"/>
              </a:spcAft>
              <a:buClr>
                <a:srgbClr val="1677B8"/>
              </a:buClr>
              <a:buFont typeface="Arial"/>
              <a:buChar char="•"/>
            </a:pPr>
            <a:r>
              <a:rPr sz="1200" b="0" i="0">
                <a:solidFill>
                  <a:srgbClr val="17212B"/>
                </a:solidFill>
                <a:latin typeface="Arial"/>
              </a:rPr>
              <a:t>Kết quả thực tế cao như vậy — bộ lọc chuẩn giả định hiểu đúng câu hỏi, nên đây là cận trên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Bộ đổi câu hỏi ra bộ lọc đúng khuôn 100%, hiểu đúng nghĩa 86–93%</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25 / 29</a:t>
            </a:r>
          </a:p>
        </p:txBody>
      </p:sp>
      <p:graphicFrame>
        <p:nvGraphicFramePr>
          <p:cNvPr id="5" name="Table 4"/>
          <p:cNvGraphicFramePr>
            <a:graphicFrameLocks noGrp="1"/>
          </p:cNvGraphicFramePr>
          <p:nvPr/>
        </p:nvGraphicFramePr>
        <p:xfrm>
          <a:off x="457200" y="1280160"/>
          <a:ext cx="7315197" cy="1371600"/>
        </p:xfrm>
        <a:graphic>
          <a:graphicData uri="http://schemas.openxmlformats.org/drawingml/2006/table">
            <a:tbl>
              <a:tblPr firstRow="1">
                <a:tableStyleId>{5C22544A-7EE6-4342-B048-85BDC9FD1C3A}</a:tableStyleId>
              </a:tblPr>
              <a:tblGrid>
                <a:gridCol w="1531088">
                  <a:extLst>
                    <a:ext uri="{9D8B030D-6E8A-4147-A177-3AD203B41FA5}">
                      <a16:colId xmlns:a16="http://schemas.microsoft.com/office/drawing/2014/main" val="20000"/>
                    </a:ext>
                  </a:extLst>
                </a:gridCol>
                <a:gridCol w="680483">
                  <a:extLst>
                    <a:ext uri="{9D8B030D-6E8A-4147-A177-3AD203B41FA5}">
                      <a16:colId xmlns:a16="http://schemas.microsoft.com/office/drawing/2014/main" val="20001"/>
                    </a:ext>
                  </a:extLst>
                </a:gridCol>
                <a:gridCol w="935665">
                  <a:extLst>
                    <a:ext uri="{9D8B030D-6E8A-4147-A177-3AD203B41FA5}">
                      <a16:colId xmlns:a16="http://schemas.microsoft.com/office/drawing/2014/main" val="20002"/>
                    </a:ext>
                  </a:extLst>
                </a:gridCol>
                <a:gridCol w="1020725">
                  <a:extLst>
                    <a:ext uri="{9D8B030D-6E8A-4147-A177-3AD203B41FA5}">
                      <a16:colId xmlns:a16="http://schemas.microsoft.com/office/drawing/2014/main" val="20003"/>
                    </a:ext>
                  </a:extLst>
                </a:gridCol>
                <a:gridCol w="935665">
                  <a:extLst>
                    <a:ext uri="{9D8B030D-6E8A-4147-A177-3AD203B41FA5}">
                      <a16:colId xmlns:a16="http://schemas.microsoft.com/office/drawing/2014/main" val="20004"/>
                    </a:ext>
                  </a:extLst>
                </a:gridCol>
                <a:gridCol w="935665">
                  <a:extLst>
                    <a:ext uri="{9D8B030D-6E8A-4147-A177-3AD203B41FA5}">
                      <a16:colId xmlns:a16="http://schemas.microsoft.com/office/drawing/2014/main" val="20005"/>
                    </a:ext>
                  </a:extLst>
                </a:gridCol>
                <a:gridCol w="1275906">
                  <a:extLst>
                    <a:ext uri="{9D8B030D-6E8A-4147-A177-3AD203B41FA5}">
                      <a16:colId xmlns:a16="http://schemas.microsoft.com/office/drawing/2014/main" val="20006"/>
                    </a:ext>
                  </a:extLst>
                </a:gridCol>
              </a:tblGrid>
              <a:tr h="457200">
                <a:tc>
                  <a:txBody>
                    <a:bodyPr/>
                    <a:lstStyle/>
                    <a:p>
                      <a:pPr algn="ctr"/>
                      <a:r>
                        <a:rPr sz="1200" b="1">
                          <a:solidFill>
                            <a:srgbClr val="FFFFFF"/>
                          </a:solidFill>
                          <a:latin typeface="Arial"/>
                        </a:rPr>
                        <a:t>Tập câu hỏi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Số câu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Đúng khuôn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Đúng hoàn toàn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Loại âm (P)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Loại âm (R)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Đúng điều kiện thời gian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457200">
                <a:tc>
                  <a:txBody>
                    <a:bodyPr/>
                    <a:lstStyle/>
                    <a:p>
                      <a:pPr algn="l"/>
                      <a:r>
                        <a:rPr sz="1200" b="0">
                          <a:solidFill>
                            <a:srgbClr val="17212B"/>
                          </a:solidFill>
                          <a:latin typeface="Arial"/>
                        </a:rPr>
                        <a:t>Câu mẫu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0.8550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0.7667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457200">
                <a:tc>
                  <a:txBody>
                    <a:bodyPr/>
                    <a:lstStyle/>
                    <a:p>
                      <a:pPr algn="l"/>
                      <a:r>
                        <a:rPr sz="1200" b="0">
                          <a:solidFill>
                            <a:srgbClr val="17212B"/>
                          </a:solidFill>
                          <a:latin typeface="Arial"/>
                        </a:rPr>
                        <a:t>Câu diễn đạt lại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40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0.9250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0.9836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2697480"/>
            <a:ext cx="731520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docs/measurements/query_parser_20260928.json.</a:t>
            </a:r>
          </a:p>
        </p:txBody>
      </p:sp>
      <p:sp>
        <p:nvSpPr>
          <p:cNvPr id="7" name="TextBox 6"/>
          <p:cNvSpPr txBox="1"/>
          <p:nvPr/>
        </p:nvSpPr>
        <p:spPr>
          <a:xfrm>
            <a:off x="457200" y="3200400"/>
            <a:ext cx="7315200" cy="320040"/>
          </a:xfrm>
          <a:prstGeom prst="rect">
            <a:avLst/>
          </a:prstGeom>
          <a:noFill/>
        </p:spPr>
        <p:txBody>
          <a:bodyPr wrap="square" lIns="0" tIns="0" rIns="0" bIns="0" anchor="t">
            <a:spAutoFit/>
          </a:bodyPr>
          <a:lstStyle/>
          <a:p>
            <a:pPr algn="l">
              <a:spcAft>
                <a:spcPts val="400"/>
              </a:spcAft>
            </a:pPr>
            <a:r>
              <a:rPr sz="1400" b="1" i="0">
                <a:solidFill>
                  <a:srgbClr val="062F5C"/>
                </a:solidFill>
                <a:latin typeface="Arial"/>
              </a:rPr>
              <a:t>Hệ đang phục vụ có tái tạo đúng hệ đã đo không?</a:t>
            </a:r>
          </a:p>
        </p:txBody>
      </p:sp>
      <p:graphicFrame>
        <p:nvGraphicFramePr>
          <p:cNvPr id="8" name="Table 7"/>
          <p:cNvGraphicFramePr>
            <a:graphicFrameLocks noGrp="1"/>
          </p:cNvGraphicFramePr>
          <p:nvPr/>
        </p:nvGraphicFramePr>
        <p:xfrm>
          <a:off x="457200" y="3566160"/>
          <a:ext cx="7315200" cy="1371600"/>
        </p:xfrm>
        <a:graphic>
          <a:graphicData uri="http://schemas.openxmlformats.org/drawingml/2006/table">
            <a:tbl>
              <a:tblPr firstRow="1">
                <a:tableStyleId>{5C22544A-7EE6-4342-B048-85BDC9FD1C3A}</a:tableStyleId>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457200">
                <a:tc>
                  <a:txBody>
                    <a:bodyPr/>
                    <a:lstStyle/>
                    <a:p>
                      <a:pPr algn="ctr"/>
                      <a:r>
                        <a:rPr sz="1200" b="1">
                          <a:solidFill>
                            <a:srgbClr val="FFFFFF"/>
                          </a:solidFill>
                          <a:latin typeface="Arial"/>
                        </a:rPr>
                        <a:t>Nơi chạy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Sự kiện chuẩn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Sự kiện phục vụ</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Trùng khít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Trong sai số 0,2 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Lệch xác suất lớn nhất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457200">
                <a:tc>
                  <a:txBody>
                    <a:bodyPr/>
                    <a:lstStyle/>
                    <a:p>
                      <a:pPr algn="l"/>
                      <a:r>
                        <a:rPr sz="1200" b="0">
                          <a:solidFill>
                            <a:srgbClr val="17212B"/>
                          </a:solidFill>
                          <a:latin typeface="Arial"/>
                        </a:rPr>
                        <a:t>Máy chủ, GPU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0.005014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457200">
                <a:tc>
                  <a:txBody>
                    <a:bodyPr/>
                    <a:lstStyle/>
                    <a:p>
                      <a:pPr algn="l"/>
                      <a:r>
                        <a:rPr sz="1200" b="0">
                          <a:solidFill>
                            <a:srgbClr val="17212B"/>
                          </a:solidFill>
                          <a:latin typeface="Arial"/>
                        </a:rPr>
                        <a:t>Docker, CPU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300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290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294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0.023931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457200" y="4983480"/>
            <a:ext cx="731520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docs/measurements/inference_parity_20260929.json; docs/measurements/inference_parity_cpu_20261002.json.</a:t>
            </a:r>
          </a:p>
        </p:txBody>
      </p:sp>
      <p:sp>
        <p:nvSpPr>
          <p:cNvPr id="10" name="Rounded Rectangle 9"/>
          <p:cNvSpPr/>
          <p:nvPr/>
        </p:nvSpPr>
        <p:spPr>
          <a:xfrm>
            <a:off x="8001000" y="1280160"/>
            <a:ext cx="3730752" cy="2505821"/>
          </a:xfrm>
          <a:prstGeom prst="roundRect">
            <a:avLst>
              <a:gd name="adj" fmla="val 6000"/>
            </a:avLst>
          </a:prstGeom>
          <a:solidFill>
            <a:srgbClr val="EAF2FB"/>
          </a:solidFill>
          <a:ln w="9525">
            <a:solidFill>
              <a:srgbClr val="EAF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65592" y="1389888"/>
            <a:ext cx="3401568" cy="329184"/>
          </a:xfrm>
          <a:prstGeom prst="rect">
            <a:avLst/>
          </a:prstGeom>
          <a:noFill/>
        </p:spPr>
        <p:txBody>
          <a:bodyPr wrap="square" lIns="0" tIns="0" rIns="0" bIns="0" anchor="t">
            <a:spAutoFit/>
          </a:bodyPr>
          <a:lstStyle/>
          <a:p>
            <a:pPr algn="l">
              <a:spcAft>
                <a:spcPts val="400"/>
              </a:spcAft>
            </a:pPr>
            <a:r>
              <a:rPr sz="1400" b="1" i="0">
                <a:solidFill>
                  <a:srgbClr val="1677B8"/>
                </a:solidFill>
                <a:latin typeface="Arial"/>
              </a:rPr>
              <a:t>Đọc kết quả</a:t>
            </a:r>
          </a:p>
        </p:txBody>
      </p:sp>
      <p:sp>
        <p:nvSpPr>
          <p:cNvPr id="12" name="TextBox 11"/>
          <p:cNvSpPr txBox="1"/>
          <p:nvPr/>
        </p:nvSpPr>
        <p:spPr>
          <a:xfrm>
            <a:off x="8165592" y="1773936"/>
            <a:ext cx="3401568" cy="1938893"/>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Lỗi chủ yếu ở điều kiện thời gian (0,767 trên câu mẫu): đảo vai trò A/B, nhầm “nằm trong” với “chồng nhau”</a:t>
            </a:r>
          </a:p>
          <a:p>
            <a:pPr marL="219456" indent="-182880" algn="l">
              <a:spcAft>
                <a:spcPts val="400"/>
              </a:spcAft>
              <a:buClr>
                <a:srgbClr val="1677B8"/>
              </a:buClr>
              <a:buFont typeface="Arial"/>
              <a:buChar char="•"/>
            </a:pPr>
            <a:r>
              <a:rPr sz="1200" b="0" i="0">
                <a:solidFill>
                  <a:srgbClr val="17212B"/>
                </a:solidFill>
                <a:latin typeface="Arial"/>
              </a:rPr>
              <a:t>GPU tái tạo đúng 299/299 sự kiện</a:t>
            </a:r>
          </a:p>
        </p:txBody>
      </p:sp>
      <p:sp>
        <p:nvSpPr>
          <p:cNvPr id="13" name="Rounded Rectangle 12"/>
          <p:cNvSpPr/>
          <p:nvPr/>
        </p:nvSpPr>
        <p:spPr>
          <a:xfrm>
            <a:off x="8001000" y="3950573"/>
            <a:ext cx="3730752" cy="2313066"/>
          </a:xfrm>
          <a:prstGeom prst="roundRect">
            <a:avLst>
              <a:gd name="adj" fmla="val 6000"/>
            </a:avLst>
          </a:prstGeom>
          <a:solidFill>
            <a:srgbClr val="FFF4DB"/>
          </a:solidFill>
          <a:ln w="9525">
            <a:solidFill>
              <a:srgbClr val="FFF4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65592" y="4060301"/>
            <a:ext cx="3401568"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Không có nghĩa là</a:t>
            </a:r>
          </a:p>
        </p:txBody>
      </p:sp>
      <p:sp>
        <p:nvSpPr>
          <p:cNvPr id="15" name="TextBox 14"/>
          <p:cNvSpPr txBox="1"/>
          <p:nvPr/>
        </p:nvSpPr>
        <p:spPr>
          <a:xfrm>
            <a:off x="8165592" y="4444349"/>
            <a:ext cx="3401568" cy="1746138"/>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200" b="0" i="0">
                <a:solidFill>
                  <a:srgbClr val="17212B"/>
                </a:solidFill>
                <a:latin typeface="Arial"/>
              </a:rPr>
              <a:t>Bản demo trùng khít hệ đã đo — chạy CPU thì 290/299 trùng khít, 294/299 trong sai số</a:t>
            </a:r>
          </a:p>
          <a:p>
            <a:pPr marL="219456" indent="-182880" algn="l">
              <a:spcAft>
                <a:spcPts val="400"/>
              </a:spcAft>
              <a:buClr>
                <a:srgbClr val="1677B8"/>
              </a:buClr>
              <a:buFont typeface="Arial"/>
              <a:buChar char="•"/>
            </a:pPr>
            <a:r>
              <a:rPr sz="1200" b="0" i="0">
                <a:solidFill>
                  <a:srgbClr val="17212B"/>
                </a:solidFill>
                <a:latin typeface="Arial"/>
              </a:rPr>
              <a:t>Bộ đổi câu hỏi làm tìm kiếm tốt lên — nDCG@10 lệch với bộ lọc chuẩn chỉ −0,006 … 0,000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05</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Tổng kết: hệ thống chạy đầu–cuối; điểm nghẽn là SED còn bỏ sót</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5 · Kết quả    26 / 29</a:t>
            </a:r>
          </a:p>
        </p:txBody>
      </p:sp>
      <p:sp>
        <p:nvSpPr>
          <p:cNvPr id="5" name="Rounded Rectangle 4"/>
          <p:cNvSpPr/>
          <p:nvPr/>
        </p:nvSpPr>
        <p:spPr>
          <a:xfrm>
            <a:off x="457200" y="1280160"/>
            <a:ext cx="3666744" cy="23317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44752"/>
            <a:ext cx="566928" cy="566928"/>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rial"/>
              </a:rPr>
              <a:t>RQ1</a:t>
            </a:r>
          </a:p>
        </p:txBody>
      </p:sp>
      <p:sp>
        <p:nvSpPr>
          <p:cNvPr id="7" name="TextBox 6"/>
          <p:cNvSpPr txBox="1"/>
          <p:nvPr/>
        </p:nvSpPr>
        <p:spPr>
          <a:xfrm>
            <a:off x="1325880" y="1444752"/>
            <a:ext cx="2660903" cy="566928"/>
          </a:xfrm>
          <a:prstGeom prst="rect">
            <a:avLst/>
          </a:prstGeom>
          <a:noFill/>
        </p:spPr>
        <p:txBody>
          <a:bodyPr wrap="square" lIns="0" tIns="0" rIns="0" bIns="0" anchor="ctr">
            <a:spAutoFit/>
          </a:bodyPr>
          <a:lstStyle/>
          <a:p>
            <a:pPr algn="l">
              <a:spcAft>
                <a:spcPts val="400"/>
              </a:spcAft>
            </a:pPr>
            <a:r>
              <a:rPr sz="1700" b="1" i="0">
                <a:solidFill>
                  <a:srgbClr val="667085"/>
                </a:solidFill>
                <a:latin typeface="Arial"/>
              </a:rPr>
              <a:t>Âm tính</a:t>
            </a:r>
          </a:p>
        </p:txBody>
      </p:sp>
      <p:sp>
        <p:nvSpPr>
          <p:cNvPr id="8" name="TextBox 7"/>
          <p:cNvSpPr txBox="1"/>
          <p:nvPr/>
        </p:nvSpPr>
        <p:spPr>
          <a:xfrm>
            <a:off x="640080" y="2194560"/>
            <a:ext cx="3300984" cy="1371600"/>
          </a:xfrm>
          <a:prstGeom prst="rect">
            <a:avLst/>
          </a:prstGeom>
          <a:noFill/>
        </p:spPr>
        <p:txBody>
          <a:bodyPr wrap="square" lIns="0" tIns="0" rIns="0" bIns="0" anchor="t">
            <a:spAutoFit/>
          </a:bodyPr>
          <a:lstStyle/>
          <a:p>
            <a:pPr algn="l">
              <a:spcAft>
                <a:spcPts val="400"/>
              </a:spcAft>
            </a:pPr>
            <a:r>
              <a:rPr sz="1400" b="0" i="0">
                <a:solidFill>
                  <a:srgbClr val="17212B"/>
                </a:solidFill>
                <a:latin typeface="Arial"/>
              </a:rPr>
              <a:t>Học thêm DataSEC không làm event-F1 tốt hơn, ở cả 2 công thức và nhiều lần chạy.</a:t>
            </a:r>
          </a:p>
        </p:txBody>
      </p:sp>
      <p:sp>
        <p:nvSpPr>
          <p:cNvPr id="9" name="Rounded Rectangle 8"/>
          <p:cNvSpPr/>
          <p:nvPr/>
        </p:nvSpPr>
        <p:spPr>
          <a:xfrm>
            <a:off x="4261104" y="1280160"/>
            <a:ext cx="3666744" cy="23317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443984" y="1444752"/>
            <a:ext cx="566928" cy="566928"/>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rial"/>
              </a:rPr>
              <a:t>RQ2</a:t>
            </a:r>
          </a:p>
        </p:txBody>
      </p:sp>
      <p:sp>
        <p:nvSpPr>
          <p:cNvPr id="11" name="TextBox 10"/>
          <p:cNvSpPr txBox="1"/>
          <p:nvPr/>
        </p:nvSpPr>
        <p:spPr>
          <a:xfrm>
            <a:off x="5129784" y="1444752"/>
            <a:ext cx="2660903" cy="566928"/>
          </a:xfrm>
          <a:prstGeom prst="rect">
            <a:avLst/>
          </a:prstGeom>
          <a:noFill/>
        </p:spPr>
        <p:txBody>
          <a:bodyPr wrap="square" lIns="0" tIns="0" rIns="0" bIns="0" anchor="ctr">
            <a:spAutoFit/>
          </a:bodyPr>
          <a:lstStyle/>
          <a:p>
            <a:pPr algn="l">
              <a:spcAft>
                <a:spcPts val="400"/>
              </a:spcAft>
            </a:pPr>
            <a:r>
              <a:rPr sz="1700" b="1" i="0">
                <a:solidFill>
                  <a:srgbClr val="2E9B67"/>
                </a:solidFill>
                <a:latin typeface="Arial"/>
              </a:rPr>
              <a:t>Hiệu quả, có giá</a:t>
            </a:r>
          </a:p>
        </p:txBody>
      </p:sp>
      <p:sp>
        <p:nvSpPr>
          <p:cNvPr id="12" name="TextBox 11"/>
          <p:cNvSpPr txBox="1"/>
          <p:nvPr/>
        </p:nvSpPr>
        <p:spPr>
          <a:xfrm>
            <a:off x="4443984" y="2194560"/>
            <a:ext cx="3300984" cy="1371600"/>
          </a:xfrm>
          <a:prstGeom prst="rect">
            <a:avLst/>
          </a:prstGeom>
          <a:noFill/>
        </p:spPr>
        <p:txBody>
          <a:bodyPr wrap="square" lIns="0" tIns="0" rIns="0" bIns="0" anchor="t">
            <a:spAutoFit/>
          </a:bodyPr>
          <a:lstStyle/>
          <a:p>
            <a:pPr algn="l">
              <a:spcAft>
                <a:spcPts val="400"/>
              </a:spcAft>
            </a:pPr>
            <a:r>
              <a:rPr sz="1400" b="0" i="0">
                <a:solidFill>
                  <a:srgbClr val="17212B"/>
                </a:solidFill>
                <a:latin typeface="Arial"/>
              </a:rPr>
              <a:t>Ép theo ngữ pháp → 0 bịa, 0 bối cảnh, 0 từ cấm; cái giá là bỏ sót, bản cover khử được.</a:t>
            </a:r>
          </a:p>
        </p:txBody>
      </p:sp>
      <p:sp>
        <p:nvSpPr>
          <p:cNvPr id="13" name="Rounded Rectangle 12"/>
          <p:cNvSpPr/>
          <p:nvPr/>
        </p:nvSpPr>
        <p:spPr>
          <a:xfrm>
            <a:off x="8065008" y="1280160"/>
            <a:ext cx="3666744" cy="233172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47888" y="1444752"/>
            <a:ext cx="566928" cy="566928"/>
          </a:xfrm>
          <a:prstGeom prst="roundRect">
            <a:avLst>
              <a:gd name="adj" fmla="val 18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rial"/>
              </a:rPr>
              <a:t>RQ3</a:t>
            </a:r>
          </a:p>
        </p:txBody>
      </p:sp>
      <p:sp>
        <p:nvSpPr>
          <p:cNvPr id="15" name="TextBox 14"/>
          <p:cNvSpPr txBox="1"/>
          <p:nvPr/>
        </p:nvSpPr>
        <p:spPr>
          <a:xfrm>
            <a:off x="8933688" y="1444752"/>
            <a:ext cx="2660903" cy="566928"/>
          </a:xfrm>
          <a:prstGeom prst="rect">
            <a:avLst/>
          </a:prstGeom>
          <a:noFill/>
        </p:spPr>
        <p:txBody>
          <a:bodyPr wrap="square" lIns="0" tIns="0" rIns="0" bIns="0" anchor="ctr">
            <a:spAutoFit/>
          </a:bodyPr>
          <a:lstStyle/>
          <a:p>
            <a:pPr algn="l">
              <a:spcAft>
                <a:spcPts val="400"/>
              </a:spcAft>
            </a:pPr>
            <a:r>
              <a:rPr sz="1700" b="1" i="0">
                <a:solidFill>
                  <a:srgbClr val="1677B8"/>
                </a:solidFill>
                <a:latin typeface="Arial"/>
              </a:rPr>
              <a:t>Lọc đúng, xếp hạng bị chặn</a:t>
            </a:r>
          </a:p>
        </p:txBody>
      </p:sp>
      <p:sp>
        <p:nvSpPr>
          <p:cNvPr id="16" name="TextBox 15"/>
          <p:cNvSpPr txBox="1"/>
          <p:nvPr/>
        </p:nvSpPr>
        <p:spPr>
          <a:xfrm>
            <a:off x="8247888" y="2194560"/>
            <a:ext cx="3300984" cy="1371600"/>
          </a:xfrm>
          <a:prstGeom prst="rect">
            <a:avLst/>
          </a:prstGeom>
          <a:noFill/>
        </p:spPr>
        <p:txBody>
          <a:bodyPr wrap="square" lIns="0" tIns="0" rIns="0" bIns="0" anchor="t">
            <a:spAutoFit/>
          </a:bodyPr>
          <a:lstStyle/>
          <a:p>
            <a:pPr algn="l">
              <a:spcAft>
                <a:spcPts val="400"/>
              </a:spcAft>
            </a:pPr>
            <a:r>
              <a:rPr sz="1400" b="0" i="0">
                <a:solidFill>
                  <a:srgbClr val="17212B"/>
                </a:solidFill>
                <a:latin typeface="Arial"/>
              </a:rPr>
              <a:t>Lọc cứng đúng điều kiện 100%; chất lượng xếp hạng phụ thuộc recall của SED.</a:t>
            </a:r>
          </a:p>
        </p:txBody>
      </p:sp>
      <p:sp>
        <p:nvSpPr>
          <p:cNvPr id="17" name="Rounded Rectangle 16"/>
          <p:cNvSpPr/>
          <p:nvPr/>
        </p:nvSpPr>
        <p:spPr>
          <a:xfrm>
            <a:off x="457200" y="3794760"/>
            <a:ext cx="6949440" cy="2468880"/>
          </a:xfrm>
          <a:prstGeom prst="roundRect">
            <a:avLst>
              <a:gd name="adj" fmla="val 6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3904488"/>
            <a:ext cx="6620255" cy="329184"/>
          </a:xfrm>
          <a:prstGeom prst="rect">
            <a:avLst/>
          </a:prstGeom>
          <a:noFill/>
        </p:spPr>
        <p:txBody>
          <a:bodyPr wrap="square" lIns="0" tIns="0" rIns="0" bIns="0" anchor="t">
            <a:spAutoFit/>
          </a:bodyPr>
          <a:lstStyle/>
          <a:p>
            <a:pPr algn="l">
              <a:spcAft>
                <a:spcPts val="400"/>
              </a:spcAft>
            </a:pPr>
            <a:r>
              <a:rPr sz="1400" b="1" i="0">
                <a:solidFill>
                  <a:srgbClr val="8A5A00"/>
                </a:solidFill>
                <a:latin typeface="Arial"/>
              </a:rPr>
              <a:t>Hạn chế</a:t>
            </a:r>
          </a:p>
        </p:txBody>
      </p:sp>
      <p:sp>
        <p:nvSpPr>
          <p:cNvPr id="19" name="TextBox 18"/>
          <p:cNvSpPr txBox="1"/>
          <p:nvPr/>
        </p:nvSpPr>
        <p:spPr>
          <a:xfrm>
            <a:off x="621792" y="4288536"/>
            <a:ext cx="6620255" cy="1901952"/>
          </a:xfrm>
          <a:prstGeom prst="rect">
            <a:avLst/>
          </a:prstGeom>
          <a:noFill/>
        </p:spPr>
        <p:txBody>
          <a:bodyPr wrap="square" lIns="0" tIns="0" rIns="0" bIns="0" anchor="t">
            <a:spAutoFit/>
          </a:bodyPr>
          <a:lstStyle/>
          <a:p>
            <a:pPr marL="219456" indent="-182880" algn="l">
              <a:spcAft>
                <a:spcPts val="400"/>
              </a:spcAft>
              <a:buClr>
                <a:srgbClr val="1677B8"/>
              </a:buClr>
              <a:buFont typeface="Arial"/>
              <a:buChar char="•"/>
            </a:pPr>
            <a:r>
              <a:rPr sz="1300" b="0" i="0">
                <a:solidFill>
                  <a:srgbClr val="17212B"/>
                </a:solidFill>
                <a:latin typeface="Arial"/>
              </a:rPr>
              <a:t>SED còn yếu: event-F1 micro 0,164, bỏ sót nhiều</a:t>
            </a:r>
          </a:p>
          <a:p>
            <a:pPr marL="219456" indent="-182880" algn="l">
              <a:spcAft>
                <a:spcPts val="400"/>
              </a:spcAft>
              <a:buClr>
                <a:srgbClr val="1677B8"/>
              </a:buClr>
              <a:buFont typeface="Arial"/>
              <a:buChar char="•"/>
            </a:pPr>
            <a:r>
              <a:rPr sz="1300" b="0" i="0">
                <a:solidFill>
                  <a:srgbClr val="17212B"/>
                </a:solidFill>
                <a:latin typeface="Arial"/>
              </a:rPr>
              <a:t>Tập dev/test nhỏ (134/139 bản ghi), huấn luyện không ổn định giữa các lần chạy</a:t>
            </a:r>
          </a:p>
          <a:p>
            <a:pPr marL="219456" indent="-182880" algn="l">
              <a:spcAft>
                <a:spcPts val="400"/>
              </a:spcAft>
              <a:buClr>
                <a:srgbClr val="1677B8"/>
              </a:buClr>
              <a:buFont typeface="Arial"/>
              <a:buChar char="•"/>
            </a:pPr>
            <a:r>
              <a:rPr sz="1300" b="0" i="0">
                <a:solidFill>
                  <a:srgbClr val="17212B"/>
                </a:solidFill>
                <a:latin typeface="Arial"/>
              </a:rPr>
              <a:t>Bộ đếm lỗi mô tả dựa trên từ điển, mới đối chiếu 1 người</a:t>
            </a:r>
          </a:p>
          <a:p>
            <a:pPr marL="219456" indent="-182880" algn="l">
              <a:spcAft>
                <a:spcPts val="400"/>
              </a:spcAft>
              <a:buClr>
                <a:srgbClr val="1677B8"/>
              </a:buClr>
              <a:buFont typeface="Arial"/>
              <a:buChar char="•"/>
            </a:pPr>
            <a:r>
              <a:rPr sz="1300" b="0" i="0">
                <a:solidFill>
                  <a:srgbClr val="17212B"/>
                </a:solidFill>
                <a:latin typeface="Arial"/>
              </a:rPr>
              <a:t>10/40 lượt chấm test SED ghi cờ dirty (đã công khai, mã không đổi)</a:t>
            </a:r>
          </a:p>
          <a:p>
            <a:pPr marL="219456" indent="-182880" algn="l">
              <a:spcAft>
                <a:spcPts val="400"/>
              </a:spcAft>
              <a:buClr>
                <a:srgbClr val="1677B8"/>
              </a:buClr>
              <a:buFont typeface="Arial"/>
              <a:buChar char="•"/>
            </a:pPr>
            <a:r>
              <a:rPr sz="1300" b="0" i="0">
                <a:solidFill>
                  <a:srgbClr val="17212B"/>
                </a:solidFill>
                <a:latin typeface="Arial"/>
              </a:rPr>
              <a:t>Âm thanh nguồn trùng AudioSet: không đo được mức trùng</a:t>
            </a:r>
          </a:p>
        </p:txBody>
      </p:sp>
      <p:sp>
        <p:nvSpPr>
          <p:cNvPr id="20" name="Rounded Rectangle 19"/>
          <p:cNvSpPr/>
          <p:nvPr/>
        </p:nvSpPr>
        <p:spPr>
          <a:xfrm>
            <a:off x="7635240" y="3794760"/>
            <a:ext cx="4096512" cy="2468880"/>
          </a:xfrm>
          <a:prstGeom prst="roundRect">
            <a:avLst>
              <a:gd name="adj" fmla="val 6000"/>
            </a:avLst>
          </a:prstGeom>
          <a:solidFill>
            <a:srgbClr val="062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63840" y="3931920"/>
            <a:ext cx="3657600" cy="2194560"/>
          </a:xfrm>
          <a:prstGeom prst="rect">
            <a:avLst/>
          </a:prstGeom>
          <a:noFill/>
        </p:spPr>
        <p:txBody>
          <a:bodyPr wrap="square" lIns="0" tIns="0" rIns="0" bIns="0" anchor="t">
            <a:spAutoFit/>
          </a:bodyPr>
          <a:lstStyle/>
          <a:p>
            <a:pPr algn="l">
              <a:spcAft>
                <a:spcPts val="800"/>
              </a:spcAft>
            </a:pPr>
            <a:r>
              <a:rPr sz="1400" b="1" i="0">
                <a:solidFill>
                  <a:srgbClr val="F4B336"/>
                </a:solidFill>
                <a:latin typeface="Arial"/>
              </a:rPr>
              <a:t>Điều nhóm làm được</a:t>
            </a:r>
          </a:p>
          <a:p>
            <a:pPr algn="l">
              <a:spcAft>
                <a:spcPts val="800"/>
              </a:spcAft>
            </a:pPr>
            <a:r>
              <a:rPr sz="1400" b="0" i="0">
                <a:solidFill>
                  <a:srgbClr val="FFFFFF"/>
                </a:solidFill>
                <a:latin typeface="Arial"/>
              </a:rPr>
              <a:t>Hệ thống không chỉ chạy, mà </a:t>
            </a:r>
            <a:r>
              <a:rPr sz="1400" b="1" i="0">
                <a:solidFill>
                  <a:srgbClr val="F4B336"/>
                </a:solidFill>
                <a:latin typeface="Arial"/>
              </a:rPr>
              <a:t>biết và đo được giới hạn của mình</a:t>
            </a:r>
            <a:r>
              <a:rPr sz="1400" b="0" i="0">
                <a:solidFill>
                  <a:srgbClr val="FFFFFF"/>
                </a:solidFill>
                <a:latin typeface="Arial"/>
              </a:rPr>
              <a:t>: dữ liệu trùng, RQ1 âm tính, lỗi nằm ở biên và bỏ sót, cái giá của ràng buộc, và vì sao tìm kiếm bị chặn.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06</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Tiến độ: phần kỹ thuật đi trước lịch, kỷ luật đánh giá giữ nguyên</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6 · Tiến độ và kế hoạch    27 / 29</a:t>
            </a:r>
          </a:p>
        </p:txBody>
      </p:sp>
      <p:graphicFrame>
        <p:nvGraphicFramePr>
          <p:cNvPr id="5" name="Table 4"/>
          <p:cNvGraphicFramePr>
            <a:graphicFrameLocks noGrp="1"/>
          </p:cNvGraphicFramePr>
          <p:nvPr/>
        </p:nvGraphicFramePr>
        <p:xfrm>
          <a:off x="457200" y="1280160"/>
          <a:ext cx="11274550" cy="3749040"/>
        </p:xfrm>
        <a:graphic>
          <a:graphicData uri="http://schemas.openxmlformats.org/drawingml/2006/table">
            <a:tbl>
              <a:tblPr firstRow="1">
                <a:tableStyleId>{5C22544A-7EE6-4342-B048-85BDC9FD1C3A}</a:tableStyleId>
              </a:tblPr>
              <a:tblGrid>
                <a:gridCol w="3849847">
                  <a:extLst>
                    <a:ext uri="{9D8B030D-6E8A-4147-A177-3AD203B41FA5}">
                      <a16:colId xmlns:a16="http://schemas.microsoft.com/office/drawing/2014/main" val="20000"/>
                    </a:ext>
                  </a:extLst>
                </a:gridCol>
                <a:gridCol w="2108249">
                  <a:extLst>
                    <a:ext uri="{9D8B030D-6E8A-4147-A177-3AD203B41FA5}">
                      <a16:colId xmlns:a16="http://schemas.microsoft.com/office/drawing/2014/main" val="20001"/>
                    </a:ext>
                  </a:extLst>
                </a:gridCol>
                <a:gridCol w="3483194">
                  <a:extLst>
                    <a:ext uri="{9D8B030D-6E8A-4147-A177-3AD203B41FA5}">
                      <a16:colId xmlns:a16="http://schemas.microsoft.com/office/drawing/2014/main" val="20002"/>
                    </a:ext>
                  </a:extLst>
                </a:gridCol>
                <a:gridCol w="1833260">
                  <a:extLst>
                    <a:ext uri="{9D8B030D-6E8A-4147-A177-3AD203B41FA5}">
                      <a16:colId xmlns:a16="http://schemas.microsoft.com/office/drawing/2014/main" val="20003"/>
                    </a:ext>
                  </a:extLst>
                </a:gridCol>
              </a:tblGrid>
              <a:tr h="365760">
                <a:tc>
                  <a:txBody>
                    <a:bodyPr/>
                    <a:lstStyle/>
                    <a:p>
                      <a:pPr algn="ctr"/>
                      <a:r>
                        <a:rPr sz="1200" b="1">
                          <a:solidFill>
                            <a:srgbClr val="FFFFFF"/>
                          </a:solidFill>
                          <a:latin typeface="Arial"/>
                        </a:rPr>
                        <a:t>Hạng mục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Kế hoạch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Thực tế</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Trạng thái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65760">
                <a:tc>
                  <a:txBody>
                    <a:bodyPr/>
                    <a:lstStyle/>
                    <a:p>
                      <a:pPr algn="l"/>
                      <a:r>
                        <a:rPr sz="1200" b="0">
                          <a:solidFill>
                            <a:srgbClr val="17212B"/>
                          </a:solidFill>
                          <a:latin typeface="Arial"/>
                        </a:rPr>
                        <a:t>Dữ liệu D0–D4, tập chia đóng băng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22–28/09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Xong 23/09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Đã kiểm chứng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65760">
                <a:tc>
                  <a:txBody>
                    <a:bodyPr/>
                    <a:lstStyle/>
                    <a:p>
                      <a:pPr algn="l"/>
                      <a:r>
                        <a:rPr sz="1200" b="0">
                          <a:solidFill>
                            <a:srgbClr val="17212B"/>
                          </a:solidFill>
                          <a:latin typeface="Arial"/>
                        </a:rPr>
                        <a:t>Mô hình phân loại DataSEC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29/09–05/10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Xong 23/09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Đã kiểm chứng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65760">
                <a:tc>
                  <a:txBody>
                    <a:bodyPr/>
                    <a:lstStyle/>
                    <a:p>
                      <a:pPr algn="l"/>
                      <a:r>
                        <a:rPr sz="1200" b="0">
                          <a:solidFill>
                            <a:srgbClr val="17212B"/>
                          </a:solidFill>
                          <a:latin typeface="Arial"/>
                        </a:rPr>
                        <a:t>SED ba nhánh, chỉ số, phân tích lỗi (W3–W4)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06–19/10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Xong 24–26/09; RQ1 nhiều seed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Đã kiểm chứng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65760">
                <a:tc>
                  <a:txBody>
                    <a:bodyPr/>
                    <a:lstStyle/>
                    <a:p>
                      <a:pPr algn="l"/>
                      <a:r>
                        <a:rPr sz="1200" b="0">
                          <a:solidFill>
                            <a:srgbClr val="17212B"/>
                          </a:solidFill>
                          <a:latin typeface="Arial"/>
                        </a:rPr>
                        <a:t>Cải tiến SED (v2, Track 2, chọn hệ 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Thêm 26/09; khóa mô hình 18/10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v2 chốt 26/09; khóa f2 ngày 29/09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Đã kiểm chứng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65760">
                <a:tc>
                  <a:txBody>
                    <a:bodyPr/>
                    <a:lstStyle/>
                    <a:p>
                      <a:pPr algn="l"/>
                      <a:r>
                        <a:rPr sz="1200" b="0">
                          <a:solidFill>
                            <a:srgbClr val="17212B"/>
                          </a:solidFill>
                          <a:latin typeface="Arial"/>
                        </a:rPr>
                        <a:t>Mô tả bám sát sự kiện (RQ2)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20–26/10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Xong 25–26/09; chạy lại trên f2 ngày 02/10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Đã kiểm chứng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65760">
                <a:tc>
                  <a:txBody>
                    <a:bodyPr/>
                    <a:lstStyle/>
                    <a:p>
                      <a:pPr algn="l"/>
                      <a:r>
                        <a:rPr sz="1200" b="0">
                          <a:solidFill>
                            <a:srgbClr val="17212B"/>
                          </a:solidFill>
                          <a:latin typeface="Arial"/>
                        </a:rPr>
                        <a:t>Kho sự kiện, RAG, truy hồi (RQ3)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27/10–02/11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Xong 26/09; bộ phân tích câu hỏi 28/09; chạy lại trên f2 ngày 02/10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Đã kiểm chứng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65760">
                <a:tc>
                  <a:txBody>
                    <a:bodyPr/>
                    <a:lstStyle/>
                    <a:p>
                      <a:pPr algn="l"/>
                      <a:r>
                        <a:rPr sz="1200" b="0">
                          <a:solidFill>
                            <a:srgbClr val="17212B"/>
                          </a:solidFill>
                          <a:latin typeface="Arial"/>
                        </a:rPr>
                        <a:t>API, giao diện, demo, đóng băng tệp kết quả</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03–09/11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Xong 02/10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Đã kiểm chứng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65760">
                <a:tc>
                  <a:txBody>
                    <a:bodyPr/>
                    <a:lstStyle/>
                    <a:p>
                      <a:pPr algn="l"/>
                      <a:r>
                        <a:rPr sz="1200" b="0">
                          <a:solidFill>
                            <a:srgbClr val="17212B"/>
                          </a:solidFill>
                          <a:latin typeface="Arial"/>
                        </a:rPr>
                        <a:t>Viết báo cáo khóa luận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19/10–09/11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Báo cáo giữa kỳ này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Đang thực hiện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8"/>
                  </a:ext>
                </a:extLst>
              </a:tr>
              <a:tr h="365760">
                <a:tc>
                  <a:txBody>
                    <a:bodyPr/>
                    <a:lstStyle/>
                    <a:p>
                      <a:pPr algn="l"/>
                      <a:r>
                        <a:rPr sz="1200" b="0">
                          <a:solidFill>
                            <a:srgbClr val="17212B"/>
                          </a:solidFill>
                          <a:latin typeface="Arial"/>
                        </a:rPr>
                        <a:t>Slide bảo vệ</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03–09/11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Chưa bắt đầu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Chưa thực hiện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9"/>
                  </a:ext>
                </a:extLst>
              </a:tr>
            </a:tbl>
          </a:graphicData>
        </a:graphic>
      </p:graphicFrame>
      <p:sp>
        <p:nvSpPr>
          <p:cNvPr id="6" name="TextBox 5"/>
          <p:cNvSpPr txBox="1"/>
          <p:nvPr/>
        </p:nvSpPr>
        <p:spPr>
          <a:xfrm>
            <a:off x="457200" y="5486400"/>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docs/PLAN.md (bảng trạng thái tổng, khối Lộ trình tới hạn nộp); CLAUDE.md §10.</a:t>
            </a:r>
          </a:p>
        </p:txBody>
      </p:sp>
      <p:sp>
        <p:nvSpPr>
          <p:cNvPr id="7" name="TextBox 6"/>
          <p:cNvSpPr txBox="1"/>
          <p:nvPr/>
        </p:nvSpPr>
        <p:spPr>
          <a:xfrm>
            <a:off x="457200" y="5760720"/>
            <a:ext cx="11274552" cy="548640"/>
          </a:xfrm>
          <a:prstGeom prst="rect">
            <a:avLst/>
          </a:prstGeom>
          <a:noFill/>
        </p:spPr>
        <p:txBody>
          <a:bodyPr wrap="square" lIns="0" tIns="0" rIns="0" bIns="0" anchor="t">
            <a:spAutoFit/>
          </a:bodyPr>
          <a:lstStyle/>
          <a:p>
            <a:pPr algn="l">
              <a:spcAft>
                <a:spcPts val="400"/>
              </a:spcAft>
            </a:pPr>
            <a:r>
              <a:rPr sz="1300" b="0" i="0">
                <a:solidFill>
                  <a:srgbClr val="667085"/>
                </a:solidFill>
                <a:latin typeface="Arial"/>
              </a:rPr>
              <a:t>Nền xám: việc chưa xong. Ba hạng mục phát sinh ngoài kế hoạch, đều do số đo chỉ ra: cải tiến SED, tập đánh giá annotated, bộ đổi câu hỏi ra bộ lọc.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06</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Kế hoạch đến hạn nộp 09/11: làm rõ kết quả, không mở rộng phạm vi</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Phần 6 · Tiến độ và kế hoạch    28 / 29</a:t>
            </a:r>
          </a:p>
        </p:txBody>
      </p:sp>
      <p:graphicFrame>
        <p:nvGraphicFramePr>
          <p:cNvPr id="5" name="Table 4"/>
          <p:cNvGraphicFramePr>
            <a:graphicFrameLocks noGrp="1"/>
          </p:cNvGraphicFramePr>
          <p:nvPr/>
        </p:nvGraphicFramePr>
        <p:xfrm>
          <a:off x="457200" y="1280160"/>
          <a:ext cx="11274552" cy="3438144"/>
        </p:xfrm>
        <a:graphic>
          <a:graphicData uri="http://schemas.openxmlformats.org/drawingml/2006/table">
            <a:tbl>
              <a:tblPr firstRow="1">
                <a:tableStyleId>{5C22544A-7EE6-4342-B048-85BDC9FD1C3A}</a:tableStyleId>
              </a:tblPr>
              <a:tblGrid>
                <a:gridCol w="13716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3502152">
                  <a:extLst>
                    <a:ext uri="{9D8B030D-6E8A-4147-A177-3AD203B41FA5}">
                      <a16:colId xmlns:a16="http://schemas.microsoft.com/office/drawing/2014/main" val="20002"/>
                    </a:ext>
                  </a:extLst>
                </a:gridCol>
              </a:tblGrid>
              <a:tr h="429768">
                <a:tc>
                  <a:txBody>
                    <a:bodyPr/>
                    <a:lstStyle/>
                    <a:p>
                      <a:pPr algn="ctr"/>
                      <a:r>
                        <a:rPr sz="1200" b="1">
                          <a:solidFill>
                            <a:srgbClr val="FFFFFF"/>
                          </a:solidFill>
                          <a:latin typeface="Arial"/>
                        </a:rPr>
                        <a:t>Thời gian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Công việc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Kết quả nghiệm thu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429768">
                <a:tc>
                  <a:txBody>
                    <a:bodyPr/>
                    <a:lstStyle/>
                    <a:p>
                      <a:pPr algn="l"/>
                      <a:r>
                        <a:rPr sz="1200" b="0">
                          <a:solidFill>
                            <a:srgbClr val="17212B"/>
                          </a:solidFill>
                          <a:latin typeface="Arial"/>
                        </a:rPr>
                        <a:t>04–12/10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Nhận nhận xét giữa kỳ của giảng viên hướng dẫn; điều chỉnh đề cương báo cáo 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Danh sách chỉnh sửa có xác nhận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429768">
                <a:tc>
                  <a:txBody>
                    <a:bodyPr/>
                    <a:lstStyle/>
                    <a:p>
                      <a:pPr algn="l"/>
                      <a:r>
                        <a:rPr sz="1200" b="0">
                          <a:solidFill>
                            <a:srgbClr val="17212B"/>
                          </a:solidFill>
                          <a:latin typeface="Arial"/>
                        </a:rPr>
                        <a:t>04–18/10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Khảo sát văn liệu có hệ thống (mô tả âm thanh tự động và ảo giác, truy hồi âm thanh, kiểm soát trùng lặp giữa các bộ dữ liệu, baseline trên DataSED)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Ba nhận định về tính mới được xác nhận hoặc rút lại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429768">
                <a:tc>
                  <a:txBody>
                    <a:bodyPr/>
                    <a:lstStyle/>
                    <a:p>
                      <a:pPr algn="l"/>
                      <a:r>
                        <a:rPr sz="1200" b="0">
                          <a:solidFill>
                            <a:srgbClr val="17212B"/>
                          </a:solidFill>
                          <a:latin typeface="Arial"/>
                        </a:rPr>
                        <a:t>06–18/10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Giải thích vì sao PSDS không tăng khi event-F1 tăng, chỉ trên dev; phân tích tương quan lỗi giữa các họ mô hình trong ensemble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Báo cáo đo sinh bằng script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429768">
                <a:tc>
                  <a:txBody>
                    <a:bodyPr/>
                    <a:lstStyle/>
                    <a:p>
                      <a:pPr algn="l"/>
                      <a:r>
                        <a:rPr sz="1200" b="0">
                          <a:solidFill>
                            <a:srgbClr val="17212B"/>
                          </a:solidFill>
                          <a:latin typeface="Arial"/>
                        </a:rPr>
                        <a:t>06–18/10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Mở rộng kiểm tra bộ đo mô tả: thêm người đọc, mẫu lớn hơn nếu kịp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Độ đồng thuận từ điển–người có khoảng tin cậy hẹp hơn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429768">
                <a:tc>
                  <a:txBody>
                    <a:bodyPr/>
                    <a:lstStyle/>
                    <a:p>
                      <a:pPr algn="l"/>
                      <a:r>
                        <a:rPr sz="1200" b="0">
                          <a:solidFill>
                            <a:srgbClr val="17212B"/>
                          </a:solidFill>
                          <a:latin typeface="Arial"/>
                        </a:rPr>
                        <a:t>19/10–02/11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Viết báo cáo cuối kỳ hoàn chỉnh; duyệt cụm từ tiếng Việt của giao diện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Bản thảo đầy đủ gửi giảng viên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429768">
                <a:tc>
                  <a:txBody>
                    <a:bodyPr/>
                    <a:lstStyle/>
                    <a:p>
                      <a:pPr algn="l"/>
                      <a:r>
                        <a:rPr sz="1200" b="0">
                          <a:solidFill>
                            <a:srgbClr val="17212B"/>
                          </a:solidFill>
                          <a:latin typeface="Arial"/>
                        </a:rPr>
                        <a:t>03–09/11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Hoàn thiện định dạng, slide bảo vệ, tập dượt demo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Bản nộp và slide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429768">
                <a:tc>
                  <a:txBody>
                    <a:bodyPr/>
                    <a:lstStyle/>
                    <a:p>
                      <a:pPr algn="l"/>
                      <a:r>
                        <a:rPr sz="1200" b="0">
                          <a:solidFill>
                            <a:srgbClr val="17212B"/>
                          </a:solidFill>
                          <a:latin typeface="Arial"/>
                        </a:rPr>
                        <a:t>10–16/11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Dự phòng, chỉ dùng khi được gia hạn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457200" y="5029200"/>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docs/PLAN.md (L3–L6, nợ kỹ thuật #5, #6, #11); docs/PAPER_NOTES.md §6.</a:t>
            </a:r>
          </a:p>
        </p:txBody>
      </p:sp>
      <p:sp>
        <p:nvSpPr>
          <p:cNvPr id="7" name="Rounded Rectangle 6"/>
          <p:cNvSpPr/>
          <p:nvPr/>
        </p:nvSpPr>
        <p:spPr>
          <a:xfrm>
            <a:off x="457200" y="5349240"/>
            <a:ext cx="11274552" cy="914400"/>
          </a:xfrm>
          <a:prstGeom prst="roundRect">
            <a:avLst>
              <a:gd name="adj" fmla="val 6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5349240"/>
            <a:ext cx="10881360" cy="914400"/>
          </a:xfrm>
          <a:prstGeom prst="rect">
            <a:avLst/>
          </a:prstGeom>
          <a:noFill/>
        </p:spPr>
        <p:txBody>
          <a:bodyPr wrap="square" lIns="0" tIns="0" rIns="0" bIns="0" anchor="ctr">
            <a:spAutoFit/>
          </a:bodyPr>
          <a:lstStyle/>
          <a:p>
            <a:pPr algn="l">
              <a:spcAft>
                <a:spcPts val="400"/>
              </a:spcAft>
            </a:pPr>
            <a:r>
              <a:rPr sz="1350" b="0" i="0">
                <a:solidFill>
                  <a:srgbClr val="17212B"/>
                </a:solidFill>
                <a:latin typeface="Arial"/>
              </a:rPr>
              <a:t>Nguyên tắc: </a:t>
            </a:r>
            <a:r>
              <a:rPr sz="1350" b="1" i="0">
                <a:solidFill>
                  <a:srgbClr val="17212B"/>
                </a:solidFill>
                <a:latin typeface="Arial"/>
              </a:rPr>
              <a:t>không</a:t>
            </a:r>
            <a:r>
              <a:rPr sz="1350" b="0" i="0">
                <a:solidFill>
                  <a:srgbClr val="17212B"/>
                </a:solidFill>
                <a:latin typeface="Arial"/>
              </a:rPr>
              <a:t> chạy thêm đánh giá trên test cho hệ đã khóa; mọi phân tích bổ sung (vì sao PSDS không tăng, tương quan lỗi giữa các mô hình) </a:t>
            </a:r>
            <a:r>
              <a:rPr sz="1350" b="1" i="0">
                <a:solidFill>
                  <a:srgbClr val="17212B"/>
                </a:solidFill>
                <a:latin typeface="Arial"/>
              </a:rPr>
              <a:t>chỉ làm trên dev</a:t>
            </a:r>
            <a:r>
              <a:rPr sz="1350" b="0" i="0">
                <a:solidFill>
                  <a:srgbClr val="17212B"/>
                </a:solidFill>
                <a:latin typeface="Arial"/>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011680"/>
            <a:ext cx="10515600" cy="1188720"/>
          </a:xfrm>
          <a:prstGeom prst="rect">
            <a:avLst/>
          </a:prstGeom>
          <a:noFill/>
        </p:spPr>
        <p:txBody>
          <a:bodyPr wrap="square" lIns="0" tIns="0" rIns="0" bIns="0" anchor="t">
            <a:spAutoFit/>
          </a:bodyPr>
          <a:lstStyle/>
          <a:p>
            <a:pPr algn="l">
              <a:spcAft>
                <a:spcPts val="400"/>
              </a:spcAft>
            </a:pPr>
            <a:r>
              <a:rPr sz="5400" b="1" i="0">
                <a:solidFill>
                  <a:srgbClr val="FFFFFF"/>
                </a:solidFill>
                <a:latin typeface="Arial"/>
              </a:rPr>
              <a:t>Hỏi đáp</a:t>
            </a:r>
          </a:p>
        </p:txBody>
      </p:sp>
      <p:sp>
        <p:nvSpPr>
          <p:cNvPr id="3" name="Rectangle 2"/>
          <p:cNvSpPr/>
          <p:nvPr/>
        </p:nvSpPr>
        <p:spPr>
          <a:xfrm>
            <a:off x="868680" y="3246120"/>
            <a:ext cx="1097280" cy="73152"/>
          </a:xfrm>
          <a:prstGeom prst="rect">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520440"/>
            <a:ext cx="10515600" cy="548640"/>
          </a:xfrm>
          <a:prstGeom prst="rect">
            <a:avLst/>
          </a:prstGeom>
          <a:noFill/>
        </p:spPr>
        <p:txBody>
          <a:bodyPr wrap="square" lIns="0" tIns="0" rIns="0" bIns="0" anchor="t">
            <a:spAutoFit/>
          </a:bodyPr>
          <a:lstStyle/>
          <a:p>
            <a:pPr algn="l">
              <a:spcAft>
                <a:spcPts val="400"/>
              </a:spcAft>
            </a:pPr>
            <a:r>
              <a:rPr sz="2000" b="0" i="0">
                <a:solidFill>
                  <a:srgbClr val="FFFFFF"/>
                </a:solidFill>
                <a:latin typeface="Arial"/>
              </a:rPr>
              <a:t>Cảm ơn thầy đã lắng nghe. Nhóm xin nhận câu hỏi và góp ý.</a:t>
            </a:r>
          </a:p>
        </p:txBody>
      </p:sp>
      <p:sp>
        <p:nvSpPr>
          <p:cNvPr id="5" name="TextBox 4"/>
          <p:cNvSpPr txBox="1"/>
          <p:nvPr/>
        </p:nvSpPr>
        <p:spPr>
          <a:xfrm>
            <a:off x="822960" y="4206240"/>
            <a:ext cx="10515600" cy="457200"/>
          </a:xfrm>
          <a:prstGeom prst="rect">
            <a:avLst/>
          </a:prstGeom>
          <a:noFill/>
        </p:spPr>
        <p:txBody>
          <a:bodyPr wrap="square" lIns="0" tIns="0" rIns="0" bIns="0" anchor="t">
            <a:spAutoFit/>
          </a:bodyPr>
          <a:lstStyle/>
          <a:p>
            <a:pPr algn="l">
              <a:spcAft>
                <a:spcPts val="400"/>
              </a:spcAft>
            </a:pPr>
            <a:r>
              <a:rPr sz="1400" b="0" i="0">
                <a:solidFill>
                  <a:srgbClr val="C9D6E6"/>
                </a:solidFill>
                <a:latin typeface="Arial"/>
              </a:rPr>
              <a:t>Phạm Hoàng Phát – 22703861 · Thân Trọng Tính – 22665711 · GVHD: TS. Huỳnh Công Bằng</a:t>
            </a:r>
          </a:p>
        </p:txBody>
      </p:sp>
      <p:sp>
        <p:nvSpPr>
          <p:cNvPr id="6" name="TextBox 5"/>
          <p:cNvSpPr txBox="1"/>
          <p:nvPr/>
        </p:nvSpPr>
        <p:spPr>
          <a:xfrm>
            <a:off x="822960" y="6035040"/>
            <a:ext cx="10515600" cy="365760"/>
          </a:xfrm>
          <a:prstGeom prst="rect">
            <a:avLst/>
          </a:prstGeom>
          <a:noFill/>
        </p:spPr>
        <p:txBody>
          <a:bodyPr wrap="square" lIns="0" tIns="0" rIns="0" bIns="0" anchor="t">
            <a:spAutoFit/>
          </a:bodyPr>
          <a:lstStyle/>
          <a:p>
            <a:pPr algn="l">
              <a:spcAft>
                <a:spcPts val="400"/>
              </a:spcAft>
            </a:pPr>
            <a:r>
              <a:rPr sz="1200" b="0" i="1">
                <a:solidFill>
                  <a:srgbClr val="C9D6E6"/>
                </a:solidFill>
                <a:latin typeface="Arial"/>
              </a:rPr>
              <a:t>Phụ lục phía sau: bảng đầy đủ và từ điển thuật ngữ</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PL</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Phụ lục 1 — Đầy đủ 11 ứng viên: kiểm chứng chéo dev và test</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Phụ lục 1 · không trình bày, dùng khi được hỏi</a:t>
            </a:r>
          </a:p>
        </p:txBody>
      </p:sp>
      <p:graphicFrame>
        <p:nvGraphicFramePr>
          <p:cNvPr id="5" name="Table 4"/>
          <p:cNvGraphicFramePr>
            <a:graphicFrameLocks noGrp="1"/>
          </p:cNvGraphicFramePr>
          <p:nvPr/>
        </p:nvGraphicFramePr>
        <p:xfrm>
          <a:off x="457200" y="1280160"/>
          <a:ext cx="11274546" cy="4169664"/>
        </p:xfrm>
        <a:graphic>
          <a:graphicData uri="http://schemas.openxmlformats.org/drawingml/2006/table">
            <a:tbl>
              <a:tblPr firstRow="1">
                <a:tableStyleId>{5C22544A-7EE6-4342-B048-85BDC9FD1C3A}</a:tableStyleId>
              </a:tblPr>
              <a:tblGrid>
                <a:gridCol w="1068115">
                  <a:extLst>
                    <a:ext uri="{9D8B030D-6E8A-4147-A177-3AD203B41FA5}">
                      <a16:colId xmlns:a16="http://schemas.microsoft.com/office/drawing/2014/main" val="20000"/>
                    </a:ext>
                  </a:extLst>
                </a:gridCol>
                <a:gridCol w="712076">
                  <a:extLst>
                    <a:ext uri="{9D8B030D-6E8A-4147-A177-3AD203B41FA5}">
                      <a16:colId xmlns:a16="http://schemas.microsoft.com/office/drawing/2014/main" val="20001"/>
                    </a:ext>
                  </a:extLst>
                </a:gridCol>
                <a:gridCol w="949435">
                  <a:extLst>
                    <a:ext uri="{9D8B030D-6E8A-4147-A177-3AD203B41FA5}">
                      <a16:colId xmlns:a16="http://schemas.microsoft.com/office/drawing/2014/main" val="20002"/>
                    </a:ext>
                  </a:extLst>
                </a:gridCol>
                <a:gridCol w="1305474">
                  <a:extLst>
                    <a:ext uri="{9D8B030D-6E8A-4147-A177-3AD203B41FA5}">
                      <a16:colId xmlns:a16="http://schemas.microsoft.com/office/drawing/2014/main" val="20003"/>
                    </a:ext>
                  </a:extLst>
                </a:gridCol>
                <a:gridCol w="1186794">
                  <a:extLst>
                    <a:ext uri="{9D8B030D-6E8A-4147-A177-3AD203B41FA5}">
                      <a16:colId xmlns:a16="http://schemas.microsoft.com/office/drawing/2014/main" val="20004"/>
                    </a:ext>
                  </a:extLst>
                </a:gridCol>
                <a:gridCol w="1186794">
                  <a:extLst>
                    <a:ext uri="{9D8B030D-6E8A-4147-A177-3AD203B41FA5}">
                      <a16:colId xmlns:a16="http://schemas.microsoft.com/office/drawing/2014/main" val="20005"/>
                    </a:ext>
                  </a:extLst>
                </a:gridCol>
                <a:gridCol w="1305474">
                  <a:extLst>
                    <a:ext uri="{9D8B030D-6E8A-4147-A177-3AD203B41FA5}">
                      <a16:colId xmlns:a16="http://schemas.microsoft.com/office/drawing/2014/main" val="20006"/>
                    </a:ext>
                  </a:extLst>
                </a:gridCol>
                <a:gridCol w="1305474">
                  <a:extLst>
                    <a:ext uri="{9D8B030D-6E8A-4147-A177-3AD203B41FA5}">
                      <a16:colId xmlns:a16="http://schemas.microsoft.com/office/drawing/2014/main" val="20007"/>
                    </a:ext>
                  </a:extLst>
                </a:gridCol>
                <a:gridCol w="2254910">
                  <a:extLst>
                    <a:ext uri="{9D8B030D-6E8A-4147-A177-3AD203B41FA5}">
                      <a16:colId xmlns:a16="http://schemas.microsoft.com/office/drawing/2014/main" val="20008"/>
                    </a:ext>
                  </a:extLst>
                </a:gridCol>
              </a:tblGrid>
              <a:tr h="347472">
                <a:tc>
                  <a:txBody>
                    <a:bodyPr/>
                    <a:lstStyle/>
                    <a:p>
                      <a:pPr algn="ctr"/>
                      <a:r>
                        <a:rPr sz="1200" b="1">
                          <a:solidFill>
                            <a:srgbClr val="FFFFFF"/>
                          </a:solidFill>
                          <a:latin typeface="Arial"/>
                        </a:rPr>
                        <a:t>Hạng 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Mã</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Số mô hình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Cách ghép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Dev micro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Dao động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Test macro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Test micro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200" b="1">
                          <a:solidFill>
                            <a:srgbClr val="FFFFFF"/>
                          </a:solidFill>
                          <a:latin typeface="Arial"/>
                        </a:rPr>
                        <a:t>KTC 95% test micro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47472">
                <a:tc>
                  <a:txBody>
                    <a:bodyPr/>
                    <a:lstStyle/>
                    <a:p>
                      <a:pPr algn="l"/>
                      <a:r>
                        <a:rPr sz="1200" b="0">
                          <a:solidFill>
                            <a:srgbClr val="17212B"/>
                          </a:solidFill>
                          <a:latin typeface="Arial"/>
                        </a:rPr>
                        <a:t>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200" b="0">
                          <a:solidFill>
                            <a:srgbClr val="17212B"/>
                          </a:solidFill>
                          <a:latin typeface="Arial"/>
                        </a:rPr>
                        <a:t>cSEBB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1">
                          <a:solidFill>
                            <a:srgbClr val="17212B"/>
                          </a:solidFill>
                          <a:latin typeface="Arial"/>
                        </a:rPr>
                        <a:t>0.2383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0.0562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0.1206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0.1643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200" b="0">
                          <a:solidFill>
                            <a:srgbClr val="17212B"/>
                          </a:solidFill>
                          <a:latin typeface="Arial"/>
                        </a:rPr>
                        <a:t>[0.1103, 0.2242]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01"/>
                  </a:ext>
                </a:extLst>
              </a:tr>
              <a:tr h="347472">
                <a:tc>
                  <a:txBody>
                    <a:bodyPr/>
                    <a:lstStyle/>
                    <a:p>
                      <a:pPr algn="l"/>
                      <a:r>
                        <a:rPr sz="1200" b="0">
                          <a:solidFill>
                            <a:srgbClr val="17212B"/>
                          </a:solidFill>
                          <a:latin typeface="Arial"/>
                        </a:rPr>
                        <a:t>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f4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0.2354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0.0585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0.1543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[0.1163, 0.1912]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47472">
                <a:tc>
                  <a:txBody>
                    <a:bodyPr/>
                    <a:lstStyle/>
                    <a:p>
                      <a:pPr algn="l"/>
                      <a:r>
                        <a:rPr sz="12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g2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cSEBB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0.2319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0.0418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0.1421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0.1722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[0.1232, 0.2218]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47472">
                <a:tc>
                  <a:txBody>
                    <a:bodyPr/>
                    <a:lstStyle/>
                    <a:p>
                      <a:pPr algn="l"/>
                      <a:r>
                        <a:rPr sz="1200" b="0">
                          <a:solidFill>
                            <a:srgbClr val="17212B"/>
                          </a:solidFill>
                          <a:latin typeface="Arial"/>
                        </a:rPr>
                        <a:t>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0.2286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0.0601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0.1521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0.1817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[0.1363, 0.2284]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47472">
                <a:tc>
                  <a:txBody>
                    <a:bodyPr/>
                    <a:lstStyle/>
                    <a:p>
                      <a:pPr algn="l"/>
                      <a:r>
                        <a:rPr sz="1200" b="0">
                          <a:solidFill>
                            <a:srgbClr val="17212B"/>
                          </a:solidFill>
                          <a:latin typeface="Arial"/>
                        </a:rPr>
                        <a:t>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0.2285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0.0570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0.1161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[0.0976, 0.1695]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47472">
                <a:tc>
                  <a:txBody>
                    <a:bodyPr/>
                    <a:lstStyle/>
                    <a:p>
                      <a:pPr algn="l"/>
                      <a:r>
                        <a:rPr sz="1200" b="0">
                          <a:solidFill>
                            <a:srgbClr val="17212B"/>
                          </a:solidFill>
                          <a:latin typeface="Arial"/>
                        </a:rPr>
                        <a:t>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g1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0.2268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0.0547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1">
                          <a:solidFill>
                            <a:srgbClr val="17212B"/>
                          </a:solidFill>
                          <a:latin typeface="Arial"/>
                        </a:rPr>
                        <a:t>0.1617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0.1774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[0.1337, 0.2260]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47472">
                <a:tc>
                  <a:txBody>
                    <a:bodyPr/>
                    <a:lstStyle/>
                    <a:p>
                      <a:pPr algn="l"/>
                      <a:r>
                        <a:rPr sz="1200" b="0">
                          <a:solidFill>
                            <a:srgbClr val="17212B"/>
                          </a:solidFill>
                          <a:latin typeface="Arial"/>
                        </a:rPr>
                        <a:t>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0.2237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0.0665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0.1230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0.1392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[0.1038, 0.1768]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47472">
                <a:tc>
                  <a:txBody>
                    <a:bodyPr/>
                    <a:lstStyle/>
                    <a:p>
                      <a:pPr algn="l"/>
                      <a:r>
                        <a:rPr sz="1200" b="0">
                          <a:solidFill>
                            <a:srgbClr val="17212B"/>
                          </a:solidFill>
                          <a:latin typeface="Arial"/>
                        </a:rPr>
                        <a:t>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0.2212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0.0498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0.1389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0.1500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[0.1119, 0.1909]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347472">
                <a:tc>
                  <a:txBody>
                    <a:bodyPr/>
                    <a:lstStyle/>
                    <a:p>
                      <a:pPr algn="l"/>
                      <a:r>
                        <a:rPr sz="1200" b="0">
                          <a:solidFill>
                            <a:srgbClr val="17212B"/>
                          </a:solidFill>
                          <a:latin typeface="Arial"/>
                        </a:rPr>
                        <a:t>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f3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0.2070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0.0560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0.1387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0.1544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[0.1175, 0.1940]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347472">
                <a:tc>
                  <a:txBody>
                    <a:bodyPr/>
                    <a:lstStyle/>
                    <a:p>
                      <a:pPr algn="l"/>
                      <a:r>
                        <a:rPr sz="1200" b="0">
                          <a:solidFill>
                            <a:srgbClr val="17212B"/>
                          </a:solidFill>
                          <a:latin typeface="Arial"/>
                        </a:rPr>
                        <a:t>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0.2031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0.0565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0.1211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0.1275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[0.0893, 0.1662]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r h="347472">
                <a:tc>
                  <a:txBody>
                    <a:bodyPr/>
                    <a:lstStyle/>
                    <a:p>
                      <a:pPr algn="l"/>
                      <a:r>
                        <a:rPr sz="1200" b="0">
                          <a:solidFill>
                            <a:srgbClr val="17212B"/>
                          </a:solidFill>
                          <a:latin typeface="Arial"/>
                        </a:rPr>
                        <a:t>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a</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200" b="0">
                          <a:solidFill>
                            <a:srgbClr val="17212B"/>
                          </a:solidFill>
                          <a:latin typeface="Arial"/>
                        </a:rPr>
                        <a:t>ngưỡng chung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0.1620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0.0226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0.0924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0.0945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200" b="0">
                          <a:solidFill>
                            <a:srgbClr val="17212B"/>
                          </a:solidFill>
                          <a:latin typeface="Arial"/>
                        </a:rPr>
                        <a:t>[0.0639, 0.1258]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1"/>
                  </a:ext>
                </a:extLst>
              </a:tr>
            </a:tbl>
          </a:graphicData>
        </a:graphic>
      </p:graphicFrame>
      <p:sp>
        <p:nvSpPr>
          <p:cNvPr id="6" name="TextBox 5"/>
          <p:cNvSpPr txBox="1"/>
          <p:nvPr/>
        </p:nvSpPr>
        <p:spPr>
          <a:xfrm>
            <a:off x="457200" y="5532120"/>
            <a:ext cx="11274552" cy="256032"/>
          </a:xfrm>
          <a:prstGeom prst="rect">
            <a:avLst/>
          </a:prstGeom>
          <a:noFill/>
        </p:spPr>
        <p:txBody>
          <a:bodyPr wrap="square" lIns="0" tIns="0" rIns="0" bIns="0" anchor="t">
            <a:spAutoFit/>
          </a:bodyPr>
          <a:lstStyle/>
          <a:p>
            <a:pPr algn="l">
              <a:spcAft>
                <a:spcPts val="400"/>
              </a:spcAft>
            </a:pPr>
            <a:r>
              <a:rPr sz="1000" b="0" i="1">
                <a:solidFill>
                  <a:srgbClr val="667085"/>
                </a:solidFill>
                <a:latin typeface="Arial"/>
              </a:rPr>
              <a:t>In đậm: tốt nhất trong cột (không có nghĩa là khác biệt có ý nghĩa) · nền xám: cấu hình đang dùng</a:t>
            </a:r>
          </a:p>
        </p:txBody>
      </p:sp>
      <p:sp>
        <p:nvSpPr>
          <p:cNvPr id="7" name="TextBox 6"/>
          <p:cNvSpPr txBox="1"/>
          <p:nvPr/>
        </p:nvSpPr>
        <p:spPr>
          <a:xfrm>
            <a:off x="457200" y="5806440"/>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docs/measurements/s13_selection_20261018.json; docs/measurements/s13_test_20261018.json.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PL</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Phụ lục 2 — RQ3 đầy đủ: bộ lọc chuẩn (gold) và bộ lọc máy đổi (parsed)</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Phụ lục 2 · không trình bày, dùng khi được hỏi</a:t>
            </a:r>
          </a:p>
        </p:txBody>
      </p:sp>
      <p:graphicFrame>
        <p:nvGraphicFramePr>
          <p:cNvPr id="5" name="Table 4"/>
          <p:cNvGraphicFramePr>
            <a:graphicFrameLocks noGrp="1"/>
          </p:cNvGraphicFramePr>
          <p:nvPr/>
        </p:nvGraphicFramePr>
        <p:xfrm>
          <a:off x="457200" y="1234440"/>
          <a:ext cx="11274547" cy="4656121"/>
        </p:xfrm>
        <a:graphic>
          <a:graphicData uri="http://schemas.openxmlformats.org/drawingml/2006/table">
            <a:tbl>
              <a:tblPr firstRow="1">
                <a:tableStyleId>{5C22544A-7EE6-4342-B048-85BDC9FD1C3A}</a:tableStyleId>
              </a:tblPr>
              <a:tblGrid>
                <a:gridCol w="2107392">
                  <a:extLst>
                    <a:ext uri="{9D8B030D-6E8A-4147-A177-3AD203B41FA5}">
                      <a16:colId xmlns:a16="http://schemas.microsoft.com/office/drawing/2014/main" val="20000"/>
                    </a:ext>
                  </a:extLst>
                </a:gridCol>
                <a:gridCol w="2318132">
                  <a:extLst>
                    <a:ext uri="{9D8B030D-6E8A-4147-A177-3AD203B41FA5}">
                      <a16:colId xmlns:a16="http://schemas.microsoft.com/office/drawing/2014/main" val="20001"/>
                    </a:ext>
                  </a:extLst>
                </a:gridCol>
                <a:gridCol w="1053696">
                  <a:extLst>
                    <a:ext uri="{9D8B030D-6E8A-4147-A177-3AD203B41FA5}">
                      <a16:colId xmlns:a16="http://schemas.microsoft.com/office/drawing/2014/main" val="20002"/>
                    </a:ext>
                  </a:extLst>
                </a:gridCol>
                <a:gridCol w="1685914">
                  <a:extLst>
                    <a:ext uri="{9D8B030D-6E8A-4147-A177-3AD203B41FA5}">
                      <a16:colId xmlns:a16="http://schemas.microsoft.com/office/drawing/2014/main" val="20003"/>
                    </a:ext>
                  </a:extLst>
                </a:gridCol>
                <a:gridCol w="948326">
                  <a:extLst>
                    <a:ext uri="{9D8B030D-6E8A-4147-A177-3AD203B41FA5}">
                      <a16:colId xmlns:a16="http://schemas.microsoft.com/office/drawing/2014/main" val="20004"/>
                    </a:ext>
                  </a:extLst>
                </a:gridCol>
                <a:gridCol w="948326">
                  <a:extLst>
                    <a:ext uri="{9D8B030D-6E8A-4147-A177-3AD203B41FA5}">
                      <a16:colId xmlns:a16="http://schemas.microsoft.com/office/drawing/2014/main" val="20005"/>
                    </a:ext>
                  </a:extLst>
                </a:gridCol>
                <a:gridCol w="948326">
                  <a:extLst>
                    <a:ext uri="{9D8B030D-6E8A-4147-A177-3AD203B41FA5}">
                      <a16:colId xmlns:a16="http://schemas.microsoft.com/office/drawing/2014/main" val="20006"/>
                    </a:ext>
                  </a:extLst>
                </a:gridCol>
                <a:gridCol w="1264435">
                  <a:extLst>
                    <a:ext uri="{9D8B030D-6E8A-4147-A177-3AD203B41FA5}">
                      <a16:colId xmlns:a16="http://schemas.microsoft.com/office/drawing/2014/main" val="20007"/>
                    </a:ext>
                  </a:extLst>
                </a:gridCol>
              </a:tblGrid>
              <a:tr h="245059">
                <a:tc>
                  <a:txBody>
                    <a:bodyPr/>
                    <a:lstStyle/>
                    <a:p>
                      <a:pPr algn="ctr"/>
                      <a:r>
                        <a:rPr sz="1050" b="1">
                          <a:solidFill>
                            <a:srgbClr val="FFFFFF"/>
                          </a:solidFill>
                          <a:latin typeface="Arial"/>
                        </a:rPr>
                        <a:t>Kho / bộ lọc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050" b="1">
                          <a:solidFill>
                            <a:srgbClr val="FFFFFF"/>
                          </a:solidFill>
                          <a:latin typeface="Arial"/>
                        </a:rPr>
                        <a:t>Cách tìm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050" b="1">
                          <a:solidFill>
                            <a:srgbClr val="FFFFFF"/>
                          </a:solidFill>
                          <a:latin typeface="Arial"/>
                        </a:rPr>
                        <a:t>nDCG@10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050" b="1">
                          <a:solidFill>
                            <a:srgbClr val="FFFFFF"/>
                          </a:solidFill>
                          <a:latin typeface="Arial"/>
                        </a:rPr>
                        <a:t>KTC 95%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050" b="1">
                          <a:solidFill>
                            <a:srgbClr val="FFFFFF"/>
                          </a:solidFill>
                          <a:latin typeface="Arial"/>
                        </a:rPr>
                        <a:t>R@1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050" b="1">
                          <a:solidFill>
                            <a:srgbClr val="FFFFFF"/>
                          </a:solidFill>
                          <a:latin typeface="Arial"/>
                        </a:rPr>
                        <a:t>R@5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050" b="1">
                          <a:solidFill>
                            <a:srgbClr val="FFFFFF"/>
                          </a:solidFill>
                          <a:latin typeface="Arial"/>
                        </a:rPr>
                        <a:t>R@10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050" b="1">
                          <a:solidFill>
                            <a:srgbClr val="FFFFFF"/>
                          </a:solidFill>
                          <a:latin typeface="Arial"/>
                        </a:rPr>
                        <a:t>Đúng bộ lọc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245059">
                <a:tc>
                  <a:txBody>
                    <a:bodyPr/>
                    <a:lstStyle/>
                    <a:p>
                      <a:pPr algn="l"/>
                      <a:r>
                        <a:rPr sz="1050" b="0">
                          <a:solidFill>
                            <a:srgbClr val="17212B"/>
                          </a:solidFill>
                          <a:latin typeface="Arial"/>
                        </a:rPr>
                        <a:t>Dự đoán 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lọc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0.5231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[0.4603, 0.5887]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0.1088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0.3636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0.5123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245059">
                <a:tc>
                  <a:txBody>
                    <a:bodyPr/>
                    <a:lstStyle/>
                    <a:p>
                      <a:pPr algn="l"/>
                      <a:r>
                        <a:rPr sz="1050" b="0">
                          <a:solidFill>
                            <a:srgbClr val="17212B"/>
                          </a:solidFill>
                          <a:latin typeface="Arial"/>
                        </a:rPr>
                        <a:t>Dự đoán 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lọc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0.5231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[0.4603, 0.5887]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0.1088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0.3636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0.5123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245059">
                <a:tc>
                  <a:txBody>
                    <a:bodyPr/>
                    <a:lstStyle/>
                    <a:p>
                      <a:pPr algn="l"/>
                      <a:r>
                        <a:rPr sz="1050" b="0">
                          <a:solidFill>
                            <a:srgbClr val="17212B"/>
                          </a:solidFill>
                          <a:latin typeface="Arial"/>
                        </a:rPr>
                        <a:t>Dự đoán 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theo nghĩa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0.4179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[0.3610, 0.4723]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0.0686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0.2561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0.4265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0.5866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245059">
                <a:tc>
                  <a:txBody>
                    <a:bodyPr/>
                    <a:lstStyle/>
                    <a:p>
                      <a:pPr algn="l"/>
                      <a:r>
                        <a:rPr sz="1050" b="0">
                          <a:solidFill>
                            <a:srgbClr val="17212B"/>
                          </a:solidFill>
                          <a:latin typeface="Arial"/>
                        </a:rPr>
                        <a:t>Dự đoán 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theo nghĩa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0.3403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[0.2911, 0.3914]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0.0515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0.2120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0.3409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0.4670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245059">
                <a:tc>
                  <a:txBody>
                    <a:bodyPr/>
                    <a:lstStyle/>
                    <a:p>
                      <a:pPr algn="l"/>
                      <a:r>
                        <a:rPr sz="1050" b="0">
                          <a:solidFill>
                            <a:srgbClr val="17212B"/>
                          </a:solidFill>
                          <a:latin typeface="Arial"/>
                        </a:rPr>
                        <a:t>Dự đoán 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Kết hợp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0.4808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[0.4236, 0.5386]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0.0717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0.3348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0.4865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245059">
                <a:tc>
                  <a:txBody>
                    <a:bodyPr/>
                    <a:lstStyle/>
                    <a:p>
                      <a:pPr algn="l"/>
                      <a:r>
                        <a:rPr sz="1050" b="0">
                          <a:solidFill>
                            <a:srgbClr val="17212B"/>
                          </a:solidFill>
                          <a:latin typeface="Arial"/>
                        </a:rPr>
                        <a:t>Dự đoán nhánh 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Kết hợp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0.4716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[0.4124, 0.5301]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0.0570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0.3309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0.4974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245059">
                <a:tc>
                  <a:txBody>
                    <a:bodyPr/>
                    <a:lstStyle/>
                    <a:p>
                      <a:pPr algn="l"/>
                      <a:r>
                        <a:rPr sz="1050" b="0">
                          <a:solidFill>
                            <a:srgbClr val="17212B"/>
                          </a:solidFill>
                          <a:latin typeface="Arial"/>
                        </a:rPr>
                        <a:t>Dự đoán 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lọc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0.4161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[0.3463, 0.4873]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0.0812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0.2518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0.3056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245059">
                <a:tc>
                  <a:txBody>
                    <a:bodyPr/>
                    <a:lstStyle/>
                    <a:p>
                      <a:pPr algn="l"/>
                      <a:r>
                        <a:rPr sz="1050" b="0">
                          <a:solidFill>
                            <a:srgbClr val="17212B"/>
                          </a:solidFill>
                          <a:latin typeface="Arial"/>
                        </a:rPr>
                        <a:t>Dự đoán 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lọc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0.4161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[0.3463, 0.4873]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0.0812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0.2518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0.3056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245059">
                <a:tc>
                  <a:txBody>
                    <a:bodyPr/>
                    <a:lstStyle/>
                    <a:p>
                      <a:pPr algn="l"/>
                      <a:r>
                        <a:rPr sz="1050" b="0">
                          <a:solidFill>
                            <a:srgbClr val="17212B"/>
                          </a:solidFill>
                          <a:latin typeface="Arial"/>
                        </a:rPr>
                        <a:t>Dự đoán 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theo nghĩa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0.5261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[0.4669, 0.5824]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0.0873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0.3480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0.5027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0.2742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245059">
                <a:tc>
                  <a:txBody>
                    <a:bodyPr/>
                    <a:lstStyle/>
                    <a:p>
                      <a:pPr algn="l"/>
                      <a:r>
                        <a:rPr sz="1050" b="0">
                          <a:solidFill>
                            <a:srgbClr val="17212B"/>
                          </a:solidFill>
                          <a:latin typeface="Arial"/>
                        </a:rPr>
                        <a:t>Dự đoán 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theo nghĩa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0.4890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[0.4295, 0.5483]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0.0711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0.3286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0.4616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0.2629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r h="245059">
                <a:tc>
                  <a:txBody>
                    <a:bodyPr/>
                    <a:lstStyle/>
                    <a:p>
                      <a:pPr algn="l"/>
                      <a:r>
                        <a:rPr sz="1050" b="0">
                          <a:solidFill>
                            <a:srgbClr val="17212B"/>
                          </a:solidFill>
                          <a:latin typeface="Arial"/>
                        </a:rPr>
                        <a:t>Dự đoán 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050" b="0">
                          <a:solidFill>
                            <a:srgbClr val="17212B"/>
                          </a:solidFill>
                          <a:latin typeface="Arial"/>
                        </a:rPr>
                        <a:t>Kết hợp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0.4147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[0.3438, 0.4852]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0.0823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0.2468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0.3050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11"/>
                  </a:ext>
                </a:extLst>
              </a:tr>
              <a:tr h="245059">
                <a:tc>
                  <a:txBody>
                    <a:bodyPr/>
                    <a:lstStyle/>
                    <a:p>
                      <a:pPr algn="l"/>
                      <a:r>
                        <a:rPr sz="1050" b="0">
                          <a:solidFill>
                            <a:srgbClr val="17212B"/>
                          </a:solidFill>
                          <a:latin typeface="Arial"/>
                        </a:rPr>
                        <a:t>Dự đoán f2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l"/>
                      <a:r>
                        <a:rPr sz="1050" b="0">
                          <a:solidFill>
                            <a:srgbClr val="17212B"/>
                          </a:solidFill>
                          <a:latin typeface="Arial"/>
                        </a:rPr>
                        <a:t>Kết hợp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0.4197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[0.3501, 0.4908]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0.0848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0.2503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0">
                          <a:solidFill>
                            <a:srgbClr val="17212B"/>
                          </a:solidFill>
                          <a:latin typeface="Arial"/>
                        </a:rPr>
                        <a:t>0.3056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D9D9D9"/>
                    </a:solidFill>
                  </a:tcPr>
                </a:tc>
                <a:extLst>
                  <a:ext uri="{0D108BD9-81ED-4DB2-BD59-A6C34878D82A}">
                    <a16:rowId xmlns:a16="http://schemas.microsoft.com/office/drawing/2014/main" val="10012"/>
                  </a:ext>
                </a:extLst>
              </a:tr>
              <a:tr h="245059">
                <a:tc>
                  <a:txBody>
                    <a:bodyPr/>
                    <a:lstStyle/>
                    <a:p>
                      <a:pPr algn="l"/>
                      <a:r>
                        <a:rPr sz="1050" b="0">
                          <a:solidFill>
                            <a:srgbClr val="17212B"/>
                          </a:solidFill>
                          <a:latin typeface="Arial"/>
                        </a:rPr>
                        <a:t>Dự đoán f2 (parsed)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lọc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0.4119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[0.3399, 0.4836]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0.0797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0.2445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0.3056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3"/>
                  </a:ext>
                </a:extLst>
              </a:tr>
              <a:tr h="245059">
                <a:tc>
                  <a:txBody>
                    <a:bodyPr/>
                    <a:lstStyle/>
                    <a:p>
                      <a:pPr algn="l"/>
                      <a:r>
                        <a:rPr sz="1050" b="0">
                          <a:solidFill>
                            <a:srgbClr val="17212B"/>
                          </a:solidFill>
                          <a:latin typeface="Arial"/>
                        </a:rPr>
                        <a:t>Dự đoán f2 (parsed)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lọc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0.4113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[0.3406, 0.4829]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0.0778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0.2455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0.3036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4"/>
                  </a:ext>
                </a:extLst>
              </a:tr>
              <a:tr h="245059">
                <a:tc>
                  <a:txBody>
                    <a:bodyPr/>
                    <a:lstStyle/>
                    <a:p>
                      <a:pPr algn="l"/>
                      <a:r>
                        <a:rPr sz="1050" b="0">
                          <a:solidFill>
                            <a:srgbClr val="17212B"/>
                          </a:solidFill>
                          <a:latin typeface="Arial"/>
                        </a:rPr>
                        <a:t>Dự đoán f2 (parsed)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theo nghĩa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0.5261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[0.4669, 0.5824]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0.0873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0.3480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0.5027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0.2918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5"/>
                  </a:ext>
                </a:extLst>
              </a:tr>
              <a:tr h="245059">
                <a:tc>
                  <a:txBody>
                    <a:bodyPr/>
                    <a:lstStyle/>
                    <a:p>
                      <a:pPr algn="l"/>
                      <a:r>
                        <a:rPr sz="1050" b="0">
                          <a:solidFill>
                            <a:srgbClr val="17212B"/>
                          </a:solidFill>
                          <a:latin typeface="Arial"/>
                        </a:rPr>
                        <a:t>Dự đoán f2 (parsed)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Chỉ theo nghĩa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0.4890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[0.4295, 0.5483]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0.0711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0.3286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0.4616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0.2691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6"/>
                  </a:ext>
                </a:extLst>
              </a:tr>
              <a:tr h="245059">
                <a:tc>
                  <a:txBody>
                    <a:bodyPr/>
                    <a:lstStyle/>
                    <a:p>
                      <a:pPr algn="l"/>
                      <a:r>
                        <a:rPr sz="1050" b="0">
                          <a:solidFill>
                            <a:srgbClr val="17212B"/>
                          </a:solidFill>
                          <a:latin typeface="Arial"/>
                        </a:rPr>
                        <a:t>Dự đoán f2 (parsed)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Kết hợp (EN)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0.4089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[0.3363, 0.4808]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0.0774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0.2424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0.3035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7"/>
                  </a:ext>
                </a:extLst>
              </a:tr>
              <a:tr h="245059">
                <a:tc>
                  <a:txBody>
                    <a:bodyPr/>
                    <a:lstStyle/>
                    <a:p>
                      <a:pPr algn="l"/>
                      <a:r>
                        <a:rPr sz="1050" b="0">
                          <a:solidFill>
                            <a:srgbClr val="17212B"/>
                          </a:solidFill>
                          <a:latin typeface="Arial"/>
                        </a:rPr>
                        <a:t>Dự đoán f2 (parsed)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050" b="0">
                          <a:solidFill>
                            <a:srgbClr val="17212B"/>
                          </a:solidFill>
                          <a:latin typeface="Arial"/>
                        </a:rPr>
                        <a:t>Kết hợp (VI)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0.4159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[0.3453, 0.4891]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0.0814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0.2469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0">
                          <a:solidFill>
                            <a:srgbClr val="17212B"/>
                          </a:solidFill>
                          <a:latin typeface="Arial"/>
                        </a:rPr>
                        <a:t>0.3036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050" b="1">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8"/>
                  </a:ext>
                </a:extLst>
              </a:tr>
            </a:tbl>
          </a:graphicData>
        </a:graphic>
      </p:graphicFrame>
      <p:sp>
        <p:nvSpPr>
          <p:cNvPr id="6" name="TextBox 5"/>
          <p:cNvSpPr txBox="1"/>
          <p:nvPr/>
        </p:nvSpPr>
        <p:spPr>
          <a:xfrm>
            <a:off x="457200" y="5943600"/>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docs/measurements/s8_summary_20261002.json.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PL</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Phụ lục 3 — RQ2 ở mức đầu–cuối: hệ v1 so với hệ f2 (test)</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Phụ lục 3 · không trình bày, dùng khi được hỏi</a:t>
            </a:r>
          </a:p>
        </p:txBody>
      </p:sp>
      <p:graphicFrame>
        <p:nvGraphicFramePr>
          <p:cNvPr id="5" name="Table 4"/>
          <p:cNvGraphicFramePr>
            <a:graphicFrameLocks noGrp="1"/>
          </p:cNvGraphicFramePr>
          <p:nvPr/>
        </p:nvGraphicFramePr>
        <p:xfrm>
          <a:off x="457200" y="1280160"/>
          <a:ext cx="11274547" cy="4398264"/>
        </p:xfrm>
        <a:graphic>
          <a:graphicData uri="http://schemas.openxmlformats.org/drawingml/2006/table">
            <a:tbl>
              <a:tblPr firstRow="1">
                <a:tableStyleId>{5C22544A-7EE6-4342-B048-85BDC9FD1C3A}</a:tableStyleId>
              </a:tblPr>
              <a:tblGrid>
                <a:gridCol w="1582393">
                  <a:extLst>
                    <a:ext uri="{9D8B030D-6E8A-4147-A177-3AD203B41FA5}">
                      <a16:colId xmlns:a16="http://schemas.microsoft.com/office/drawing/2014/main" val="20000"/>
                    </a:ext>
                  </a:extLst>
                </a:gridCol>
                <a:gridCol w="1977991">
                  <a:extLst>
                    <a:ext uri="{9D8B030D-6E8A-4147-A177-3AD203B41FA5}">
                      <a16:colId xmlns:a16="http://schemas.microsoft.com/office/drawing/2014/main" val="20001"/>
                    </a:ext>
                  </a:extLst>
                </a:gridCol>
                <a:gridCol w="593397">
                  <a:extLst>
                    <a:ext uri="{9D8B030D-6E8A-4147-A177-3AD203B41FA5}">
                      <a16:colId xmlns:a16="http://schemas.microsoft.com/office/drawing/2014/main" val="20002"/>
                    </a:ext>
                  </a:extLst>
                </a:gridCol>
                <a:gridCol w="1384594">
                  <a:extLst>
                    <a:ext uri="{9D8B030D-6E8A-4147-A177-3AD203B41FA5}">
                      <a16:colId xmlns:a16="http://schemas.microsoft.com/office/drawing/2014/main" val="20003"/>
                    </a:ext>
                  </a:extLst>
                </a:gridCol>
                <a:gridCol w="1879091">
                  <a:extLst>
                    <a:ext uri="{9D8B030D-6E8A-4147-A177-3AD203B41FA5}">
                      <a16:colId xmlns:a16="http://schemas.microsoft.com/office/drawing/2014/main" val="20004"/>
                    </a:ext>
                  </a:extLst>
                </a:gridCol>
                <a:gridCol w="1186794">
                  <a:extLst>
                    <a:ext uri="{9D8B030D-6E8A-4147-A177-3AD203B41FA5}">
                      <a16:colId xmlns:a16="http://schemas.microsoft.com/office/drawing/2014/main" val="20005"/>
                    </a:ext>
                  </a:extLst>
                </a:gridCol>
                <a:gridCol w="1879091">
                  <a:extLst>
                    <a:ext uri="{9D8B030D-6E8A-4147-A177-3AD203B41FA5}">
                      <a16:colId xmlns:a16="http://schemas.microsoft.com/office/drawing/2014/main" val="20006"/>
                    </a:ext>
                  </a:extLst>
                </a:gridCol>
                <a:gridCol w="791196">
                  <a:extLst>
                    <a:ext uri="{9D8B030D-6E8A-4147-A177-3AD203B41FA5}">
                      <a16:colId xmlns:a16="http://schemas.microsoft.com/office/drawing/2014/main" val="20007"/>
                    </a:ext>
                  </a:extLst>
                </a:gridCol>
              </a:tblGrid>
              <a:tr h="338328">
                <a:tc>
                  <a:txBody>
                    <a:bodyPr/>
                    <a:lstStyle/>
                    <a:p>
                      <a:pPr algn="ctr"/>
                      <a:r>
                        <a:rPr sz="1150" b="1">
                          <a:solidFill>
                            <a:srgbClr val="FFFFFF"/>
                          </a:solidFill>
                          <a:latin typeface="Arial"/>
                        </a:rPr>
                        <a:t>Hệ — tập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Cách viết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Bịa nguồn âm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KTC 95%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Bỏ sót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KTC 95%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G3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38328">
                <a:tc>
                  <a:txBody>
                    <a:bodyPr/>
                    <a:lstStyle/>
                    <a:p>
                      <a:pPr algn="l"/>
                      <a:r>
                        <a:rPr sz="1150" b="0">
                          <a:solidFill>
                            <a:srgbClr val="17212B"/>
                          </a:solidFill>
                          <a:latin typeface="Arial"/>
                        </a:rPr>
                        <a:t>v1 —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0.0358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[0.0158, 0.0587]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38328">
                <a:tc>
                  <a:txBody>
                    <a:bodyPr/>
                    <a:lstStyle/>
                    <a:p>
                      <a:pPr algn="l"/>
                      <a:r>
                        <a:rPr sz="1150" b="0">
                          <a:solidFill>
                            <a:srgbClr val="17212B"/>
                          </a:solidFill>
                          <a:latin typeface="Arial"/>
                        </a:rPr>
                        <a:t>v1 —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constrained_cover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38328">
                <a:tc>
                  <a:txBody>
                    <a:bodyPr/>
                    <a:lstStyle/>
                    <a:p>
                      <a:pPr algn="l"/>
                      <a:r>
                        <a:rPr sz="1150" b="0">
                          <a:solidFill>
                            <a:srgbClr val="17212B"/>
                          </a:solidFill>
                          <a:latin typeface="Arial"/>
                        </a:rPr>
                        <a:t>v1 —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template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38328">
                <a:tc>
                  <a:txBody>
                    <a:bodyPr/>
                    <a:lstStyle/>
                    <a:p>
                      <a:pPr algn="l"/>
                      <a:r>
                        <a:rPr sz="1150" b="0">
                          <a:solidFill>
                            <a:srgbClr val="17212B"/>
                          </a:solidFill>
                          <a:latin typeface="Arial"/>
                        </a:rPr>
                        <a:t>v1 —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unconstrained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0.0047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0.0117]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0.0129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0.0305]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38328">
                <a:tc>
                  <a:txBody>
                    <a:bodyPr/>
                    <a:lstStyle/>
                    <a:p>
                      <a:pPr algn="l"/>
                      <a:r>
                        <a:rPr sz="1150" b="0">
                          <a:solidFill>
                            <a:srgbClr val="17212B"/>
                          </a:solidFill>
                          <a:latin typeface="Arial"/>
                        </a:rPr>
                        <a:t>f2 —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[0.0023, 0.0246]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38328">
                <a:tc>
                  <a:txBody>
                    <a:bodyPr/>
                    <a:lstStyle/>
                    <a:p>
                      <a:pPr algn="l"/>
                      <a:r>
                        <a:rPr sz="1150" b="0">
                          <a:solidFill>
                            <a:srgbClr val="17212B"/>
                          </a:solidFill>
                          <a:latin typeface="Arial"/>
                        </a:rPr>
                        <a:t>f2 —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constrained_cover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38328">
                <a:tc>
                  <a:txBody>
                    <a:bodyPr/>
                    <a:lstStyle/>
                    <a:p>
                      <a:pPr algn="l"/>
                      <a:r>
                        <a:rPr sz="1150" b="0">
                          <a:solidFill>
                            <a:srgbClr val="17212B"/>
                          </a:solidFill>
                          <a:latin typeface="Arial"/>
                        </a:rPr>
                        <a:t>f2 —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template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38328">
                <a:tc>
                  <a:txBody>
                    <a:bodyPr/>
                    <a:lstStyle/>
                    <a:p>
                      <a:pPr algn="l"/>
                      <a:r>
                        <a:rPr sz="1150" b="0">
                          <a:solidFill>
                            <a:srgbClr val="17212B"/>
                          </a:solidFill>
                          <a:latin typeface="Arial"/>
                        </a:rPr>
                        <a:t>f2 — 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unconstrained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142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0.0112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[0.0023, 0.0223]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0.0047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0.0117]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338328">
                <a:tc>
                  <a:txBody>
                    <a:bodyPr/>
                    <a:lstStyle/>
                    <a:p>
                      <a:pPr algn="l"/>
                      <a:r>
                        <a:rPr sz="1150" b="0">
                          <a:solidFill>
                            <a:srgbClr val="17212B"/>
                          </a:solidFill>
                          <a:latin typeface="Arial"/>
                        </a:rPr>
                        <a:t>f2 — annotated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139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0.0120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[0.0024, 0.0240]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338328">
                <a:tc>
                  <a:txBody>
                    <a:bodyPr/>
                    <a:lstStyle/>
                    <a:p>
                      <a:pPr algn="l"/>
                      <a:r>
                        <a:rPr sz="1150" b="0">
                          <a:solidFill>
                            <a:srgbClr val="17212B"/>
                          </a:solidFill>
                          <a:latin typeface="Arial"/>
                        </a:rPr>
                        <a:t>f2 — annotated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constrained_cover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139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r h="338328">
                <a:tc>
                  <a:txBody>
                    <a:bodyPr/>
                    <a:lstStyle/>
                    <a:p>
                      <a:pPr algn="l"/>
                      <a:r>
                        <a:rPr sz="1150" b="0">
                          <a:solidFill>
                            <a:srgbClr val="17212B"/>
                          </a:solidFill>
                          <a:latin typeface="Arial"/>
                        </a:rPr>
                        <a:t>f2 — annotated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template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139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1"/>
                  </a:ext>
                </a:extLst>
              </a:tr>
              <a:tr h="338328">
                <a:tc>
                  <a:txBody>
                    <a:bodyPr/>
                    <a:lstStyle/>
                    <a:p>
                      <a:pPr algn="l"/>
                      <a:r>
                        <a:rPr sz="1150" b="0">
                          <a:solidFill>
                            <a:srgbClr val="17212B"/>
                          </a:solidFill>
                          <a:latin typeface="Arial"/>
                        </a:rPr>
                        <a:t>f2 — annotated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unconstrained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139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[0.0024, 0.0228]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0.0048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 0.0120]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0.0072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2"/>
                  </a:ext>
                </a:extLst>
              </a:tr>
            </a:tbl>
          </a:graphicData>
        </a:graphic>
      </p:graphicFrame>
      <p:sp>
        <p:nvSpPr>
          <p:cNvPr id="6" name="TextBox 5"/>
          <p:cNvSpPr txBox="1"/>
          <p:nvPr/>
        </p:nvSpPr>
        <p:spPr>
          <a:xfrm>
            <a:off x="457200" y="5806440"/>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docs/measurements/s8_summary_20261002.json.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PL</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Phụ lục 4 — Event-F1 theo từng loại âm của hệ f2 (test annotated)</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Phụ lục 4 · không trình bày, dùng khi được hỏi</a:t>
            </a:r>
          </a:p>
        </p:txBody>
      </p:sp>
      <p:graphicFrame>
        <p:nvGraphicFramePr>
          <p:cNvPr id="5" name="Table 4"/>
          <p:cNvGraphicFramePr>
            <a:graphicFrameLocks noGrp="1"/>
          </p:cNvGraphicFramePr>
          <p:nvPr/>
        </p:nvGraphicFramePr>
        <p:xfrm>
          <a:off x="457200" y="1280160"/>
          <a:ext cx="5513829" cy="4404360"/>
        </p:xfrm>
        <a:graphic>
          <a:graphicData uri="http://schemas.openxmlformats.org/drawingml/2006/table">
            <a:tbl>
              <a:tblPr firstRow="1">
                <a:tableStyleId>{5C22544A-7EE6-4342-B048-85BDC9FD1C3A}</a:tableStyleId>
              </a:tblPr>
              <a:tblGrid>
                <a:gridCol w="2642993">
                  <a:extLst>
                    <a:ext uri="{9D8B030D-6E8A-4147-A177-3AD203B41FA5}">
                      <a16:colId xmlns:a16="http://schemas.microsoft.com/office/drawing/2014/main" val="20000"/>
                    </a:ext>
                  </a:extLst>
                </a:gridCol>
                <a:gridCol w="820239">
                  <a:extLst>
                    <a:ext uri="{9D8B030D-6E8A-4147-A177-3AD203B41FA5}">
                      <a16:colId xmlns:a16="http://schemas.microsoft.com/office/drawing/2014/main" val="20001"/>
                    </a:ext>
                  </a:extLst>
                </a:gridCol>
                <a:gridCol w="683532">
                  <a:extLst>
                    <a:ext uri="{9D8B030D-6E8A-4147-A177-3AD203B41FA5}">
                      <a16:colId xmlns:a16="http://schemas.microsoft.com/office/drawing/2014/main" val="20002"/>
                    </a:ext>
                  </a:extLst>
                </a:gridCol>
                <a:gridCol w="729101">
                  <a:extLst>
                    <a:ext uri="{9D8B030D-6E8A-4147-A177-3AD203B41FA5}">
                      <a16:colId xmlns:a16="http://schemas.microsoft.com/office/drawing/2014/main" val="20003"/>
                    </a:ext>
                  </a:extLst>
                </a:gridCol>
                <a:gridCol w="637964">
                  <a:extLst>
                    <a:ext uri="{9D8B030D-6E8A-4147-A177-3AD203B41FA5}">
                      <a16:colId xmlns:a16="http://schemas.microsoft.com/office/drawing/2014/main" val="20004"/>
                    </a:ext>
                  </a:extLst>
                </a:gridCol>
              </a:tblGrid>
              <a:tr h="365760">
                <a:tc>
                  <a:txBody>
                    <a:bodyPr/>
                    <a:lstStyle/>
                    <a:p>
                      <a:pPr algn="ctr"/>
                      <a:r>
                        <a:rPr sz="1100" b="1">
                          <a:solidFill>
                            <a:srgbClr val="FFFFFF"/>
                          </a:solidFill>
                          <a:latin typeface="Arial"/>
                        </a:rPr>
                        <a:t>Loại âm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Sự kiện thật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Precision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Recall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65760">
                <a:tc>
                  <a:txBody>
                    <a:bodyPr/>
                    <a:lstStyle/>
                    <a:p>
                      <a:pPr algn="l"/>
                      <a:r>
                        <a:rPr sz="1100" b="0">
                          <a:solidFill>
                            <a:srgbClr val="17212B"/>
                          </a:solidFill>
                          <a:latin typeface="Arial"/>
                        </a:rPr>
                        <a:t>bells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0.1364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0.1875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0.1071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65760">
                <a:tc>
                  <a:txBody>
                    <a:bodyPr/>
                    <a:lstStyle/>
                    <a:p>
                      <a:pPr algn="l"/>
                      <a:r>
                        <a:rPr sz="1100" b="0">
                          <a:solidFill>
                            <a:srgbClr val="17212B"/>
                          </a:solidFill>
                          <a:latin typeface="Arial"/>
                        </a:rPr>
                        <a:t>birds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65760">
                <a:tc>
                  <a:txBody>
                    <a:bodyPr/>
                    <a:lstStyle/>
                    <a:p>
                      <a:pPr algn="l"/>
                      <a:r>
                        <a:rPr sz="1100" b="0">
                          <a:solidFill>
                            <a:srgbClr val="17212B"/>
                          </a:solidFill>
                          <a:latin typeface="Arial"/>
                        </a:rPr>
                        <a:t>cat_fights_and_moans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khớp 1/9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65760">
                <a:tc>
                  <a:txBody>
                    <a:bodyPr/>
                    <a:lstStyle/>
                    <a:p>
                      <a:pPr algn="l"/>
                      <a:r>
                        <a:rPr sz="1100" b="0">
                          <a:solidFill>
                            <a:srgbClr val="17212B"/>
                          </a:solidFill>
                          <a:latin typeface="Arial"/>
                        </a:rPr>
                        <a:t>chicken_coop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0.0513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0.2000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0.0294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65760">
                <a:tc>
                  <a:txBody>
                    <a:bodyPr/>
                    <a:lstStyle/>
                    <a:p>
                      <a:pPr algn="l"/>
                      <a:r>
                        <a:rPr sz="1100" b="0">
                          <a:solidFill>
                            <a:srgbClr val="17212B"/>
                          </a:solidFill>
                          <a:latin typeface="Arial"/>
                        </a:rPr>
                        <a:t>cicadas_and_crickets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0.4138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0.5217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0.3429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65760">
                <a:tc>
                  <a:txBody>
                    <a:bodyPr/>
                    <a:lstStyle/>
                    <a:p>
                      <a:pPr algn="l"/>
                      <a:r>
                        <a:rPr sz="1100" b="0">
                          <a:solidFill>
                            <a:srgbClr val="17212B"/>
                          </a:solidFill>
                          <a:latin typeface="Arial"/>
                        </a:rPr>
                        <a:t>crows_seagulls_magpies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65760">
                <a:tc>
                  <a:txBody>
                    <a:bodyPr/>
                    <a:lstStyle/>
                    <a:p>
                      <a:pPr algn="l"/>
                      <a:r>
                        <a:rPr sz="1100" b="0">
                          <a:solidFill>
                            <a:srgbClr val="17212B"/>
                          </a:solidFill>
                          <a:latin typeface="Arial"/>
                        </a:rPr>
                        <a:t>dog_barkings_and_howlings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65760">
                <a:tc>
                  <a:txBody>
                    <a:bodyPr/>
                    <a:lstStyle/>
                    <a:p>
                      <a:pPr algn="l"/>
                      <a:r>
                        <a:rPr sz="1100" b="0">
                          <a:solidFill>
                            <a:srgbClr val="17212B"/>
                          </a:solidFill>
                          <a:latin typeface="Arial"/>
                        </a:rPr>
                        <a:t>glass_breaking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0.2593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0.3043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0.2258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365760">
                <a:tc>
                  <a:txBody>
                    <a:bodyPr/>
                    <a:lstStyle/>
                    <a:p>
                      <a:pPr algn="l"/>
                      <a:r>
                        <a:rPr sz="1100" b="0">
                          <a:solidFill>
                            <a:srgbClr val="17212B"/>
                          </a:solidFill>
                          <a:latin typeface="Arial"/>
                        </a:rPr>
                        <a:t>horn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0.1111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0.3333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0.0667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365760">
                <a:tc>
                  <a:txBody>
                    <a:bodyPr/>
                    <a:lstStyle/>
                    <a:p>
                      <a:pPr algn="l"/>
                      <a:r>
                        <a:rPr sz="1100" b="0">
                          <a:solidFill>
                            <a:srgbClr val="17212B"/>
                          </a:solidFill>
                          <a:latin typeface="Arial"/>
                        </a:rPr>
                        <a:t>jet_aircrafts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r h="365760">
                <a:tc>
                  <a:txBody>
                    <a:bodyPr/>
                    <a:lstStyle/>
                    <a:p>
                      <a:pPr algn="l"/>
                      <a:r>
                        <a:rPr sz="1100" b="0">
                          <a:solidFill>
                            <a:srgbClr val="17212B"/>
                          </a:solidFill>
                          <a:latin typeface="Arial"/>
                        </a:rPr>
                        <a:t>lawn_mower_brush_cutter_olive_shaker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0.0930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0.2500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0.0571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nvGraphicFramePr>
        <p:xfrm>
          <a:off x="6217920" y="1280160"/>
          <a:ext cx="5513829" cy="4038600"/>
        </p:xfrm>
        <a:graphic>
          <a:graphicData uri="http://schemas.openxmlformats.org/drawingml/2006/table">
            <a:tbl>
              <a:tblPr firstRow="1">
                <a:tableStyleId>{5C22544A-7EE6-4342-B048-85BDC9FD1C3A}</a:tableStyleId>
              </a:tblPr>
              <a:tblGrid>
                <a:gridCol w="2642993">
                  <a:extLst>
                    <a:ext uri="{9D8B030D-6E8A-4147-A177-3AD203B41FA5}">
                      <a16:colId xmlns:a16="http://schemas.microsoft.com/office/drawing/2014/main" val="20000"/>
                    </a:ext>
                  </a:extLst>
                </a:gridCol>
                <a:gridCol w="820239">
                  <a:extLst>
                    <a:ext uri="{9D8B030D-6E8A-4147-A177-3AD203B41FA5}">
                      <a16:colId xmlns:a16="http://schemas.microsoft.com/office/drawing/2014/main" val="20001"/>
                    </a:ext>
                  </a:extLst>
                </a:gridCol>
                <a:gridCol w="683532">
                  <a:extLst>
                    <a:ext uri="{9D8B030D-6E8A-4147-A177-3AD203B41FA5}">
                      <a16:colId xmlns:a16="http://schemas.microsoft.com/office/drawing/2014/main" val="20002"/>
                    </a:ext>
                  </a:extLst>
                </a:gridCol>
                <a:gridCol w="729101">
                  <a:extLst>
                    <a:ext uri="{9D8B030D-6E8A-4147-A177-3AD203B41FA5}">
                      <a16:colId xmlns:a16="http://schemas.microsoft.com/office/drawing/2014/main" val="20003"/>
                    </a:ext>
                  </a:extLst>
                </a:gridCol>
                <a:gridCol w="637964">
                  <a:extLst>
                    <a:ext uri="{9D8B030D-6E8A-4147-A177-3AD203B41FA5}">
                      <a16:colId xmlns:a16="http://schemas.microsoft.com/office/drawing/2014/main" val="20004"/>
                    </a:ext>
                  </a:extLst>
                </a:gridCol>
              </a:tblGrid>
              <a:tr h="365760">
                <a:tc>
                  <a:txBody>
                    <a:bodyPr/>
                    <a:lstStyle/>
                    <a:p>
                      <a:pPr algn="ctr"/>
                      <a:r>
                        <a:rPr sz="1100" b="1">
                          <a:solidFill>
                            <a:srgbClr val="FFFFFF"/>
                          </a:solidFill>
                          <a:latin typeface="Arial"/>
                        </a:rPr>
                        <a:t>Loại âm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Sự kiện thật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Precision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Recall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65760">
                <a:tc>
                  <a:txBody>
                    <a:bodyPr/>
                    <a:lstStyle/>
                    <a:p>
                      <a:pPr algn="l"/>
                      <a:r>
                        <a:rPr sz="1100" b="0">
                          <a:solidFill>
                            <a:srgbClr val="17212B"/>
                          </a:solidFill>
                          <a:latin typeface="Arial"/>
                        </a:rPr>
                        <a:t>music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0.3750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0.4286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0.3333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65760">
                <a:tc>
                  <a:txBody>
                    <a:bodyPr/>
                    <a:lstStyle/>
                    <a:p>
                      <a:pPr algn="l"/>
                      <a:r>
                        <a:rPr sz="1100" b="0">
                          <a:solidFill>
                            <a:srgbClr val="17212B"/>
                          </a:solidFill>
                          <a:latin typeface="Arial"/>
                        </a:rPr>
                        <a:t>propeller_aircrafts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0.0952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0.1250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0.0769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65760">
                <a:tc>
                  <a:txBody>
                    <a:bodyPr/>
                    <a:lstStyle/>
                    <a:p>
                      <a:pPr algn="l"/>
                      <a:r>
                        <a:rPr sz="1100" b="0">
                          <a:solidFill>
                            <a:srgbClr val="17212B"/>
                          </a:solidFill>
                          <a:latin typeface="Arial"/>
                        </a:rPr>
                        <a:t>sirens_and_alarms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0.1538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0.2143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0.1200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65760">
                <a:tc>
                  <a:txBody>
                    <a:bodyPr/>
                    <a:lstStyle/>
                    <a:p>
                      <a:pPr algn="l"/>
                      <a:r>
                        <a:rPr sz="1100" b="0">
                          <a:solidFill>
                            <a:srgbClr val="17212B"/>
                          </a:solidFill>
                          <a:latin typeface="Arial"/>
                        </a:rPr>
                        <a:t>thunder_fireworks_gunshot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65760">
                <a:tc>
                  <a:txBody>
                    <a:bodyPr/>
                    <a:lstStyle/>
                    <a:p>
                      <a:pPr algn="l"/>
                      <a:r>
                        <a:rPr sz="1100" b="0">
                          <a:solidFill>
                            <a:srgbClr val="17212B"/>
                          </a:solidFill>
                          <a:latin typeface="Arial"/>
                        </a:rPr>
                        <a:t>train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0.0952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0.1429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0.0714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65760">
                <a:tc>
                  <a:txBody>
                    <a:bodyPr/>
                    <a:lstStyle/>
                    <a:p>
                      <a:pPr algn="l"/>
                      <a:r>
                        <a:rPr sz="1100" b="0">
                          <a:solidFill>
                            <a:srgbClr val="17212B"/>
                          </a:solidFill>
                          <a:latin typeface="Arial"/>
                        </a:rPr>
                        <a:t>vacuum_cleaner_fan_hairdryer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0.1143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0.1111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0.1176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65760">
                <a:tc>
                  <a:txBody>
                    <a:bodyPr/>
                    <a:lstStyle/>
                    <a:p>
                      <a:pPr algn="l"/>
                      <a:r>
                        <a:rPr sz="1100" b="0">
                          <a:solidFill>
                            <a:srgbClr val="17212B"/>
                          </a:solidFill>
                          <a:latin typeface="Arial"/>
                        </a:rPr>
                        <a:t>vehicle_idling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65760">
                <a:tc>
                  <a:txBody>
                    <a:bodyPr/>
                    <a:lstStyle/>
                    <a:p>
                      <a:pPr algn="l"/>
                      <a:r>
                        <a:rPr sz="1100" b="0">
                          <a:solidFill>
                            <a:srgbClr val="17212B"/>
                          </a:solidFill>
                          <a:latin typeface="Arial"/>
                        </a:rPr>
                        <a:t>vehicle_pass_by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365760">
                <a:tc>
                  <a:txBody>
                    <a:bodyPr/>
                    <a:lstStyle/>
                    <a:p>
                      <a:pPr algn="l"/>
                      <a:r>
                        <a:rPr sz="1100" b="0">
                          <a:solidFill>
                            <a:srgbClr val="17212B"/>
                          </a:solidFill>
                          <a:latin typeface="Arial"/>
                        </a:rPr>
                        <a:t>voices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60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0.1039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0.2353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0.0667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365760">
                <a:tc>
                  <a:txBody>
                    <a:bodyPr/>
                    <a:lstStyle/>
                    <a:p>
                      <a:pPr algn="l"/>
                      <a:r>
                        <a:rPr sz="1100" b="0">
                          <a:solidFill>
                            <a:srgbClr val="17212B"/>
                          </a:solidFill>
                          <a:latin typeface="Arial"/>
                        </a:rPr>
                        <a:t>workshop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69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0.3636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0.4878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0.2899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bl>
          </a:graphicData>
        </a:graphic>
      </p:graphicFrame>
      <p:sp>
        <p:nvSpPr>
          <p:cNvPr id="7" name="TextBox 6"/>
          <p:cNvSpPr txBox="1"/>
          <p:nvPr/>
        </p:nvSpPr>
        <p:spPr>
          <a:xfrm>
            <a:off x="457200" y="5806440"/>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evaluation_cv_annotated.json của f2; loại có dưới 10 sự kiện chỉ báo số đếm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PL</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Phụ lục 5 — Bộ phân loại DataSEC theo 22 loại âm gộp (test)</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Phụ lục 5 · không trình bày, dùng khi được hỏi</a:t>
            </a:r>
          </a:p>
        </p:txBody>
      </p:sp>
      <p:graphicFrame>
        <p:nvGraphicFramePr>
          <p:cNvPr id="5" name="Table 4"/>
          <p:cNvGraphicFramePr>
            <a:graphicFrameLocks noGrp="1"/>
          </p:cNvGraphicFramePr>
          <p:nvPr/>
        </p:nvGraphicFramePr>
        <p:xfrm>
          <a:off x="457200" y="1280160"/>
          <a:ext cx="5513831" cy="4389120"/>
        </p:xfrm>
        <a:graphic>
          <a:graphicData uri="http://schemas.openxmlformats.org/drawingml/2006/table">
            <a:tbl>
              <a:tblPr firstRow="1">
                <a:tableStyleId>{5C22544A-7EE6-4342-B048-85BDC9FD1C3A}</a:tableStyleId>
              </a:tblPr>
              <a:tblGrid>
                <a:gridCol w="3308299">
                  <a:extLst>
                    <a:ext uri="{9D8B030D-6E8A-4147-A177-3AD203B41FA5}">
                      <a16:colId xmlns:a16="http://schemas.microsoft.com/office/drawing/2014/main" val="20000"/>
                    </a:ext>
                  </a:extLst>
                </a:gridCol>
                <a:gridCol w="1102766">
                  <a:extLst>
                    <a:ext uri="{9D8B030D-6E8A-4147-A177-3AD203B41FA5}">
                      <a16:colId xmlns:a16="http://schemas.microsoft.com/office/drawing/2014/main" val="20001"/>
                    </a:ext>
                  </a:extLst>
                </a:gridCol>
                <a:gridCol w="1102766">
                  <a:extLst>
                    <a:ext uri="{9D8B030D-6E8A-4147-A177-3AD203B41FA5}">
                      <a16:colId xmlns:a16="http://schemas.microsoft.com/office/drawing/2014/main" val="20002"/>
                    </a:ext>
                  </a:extLst>
                </a:gridCol>
              </a:tblGrid>
              <a:tr h="365760">
                <a:tc>
                  <a:txBody>
                    <a:bodyPr/>
                    <a:lstStyle/>
                    <a:p>
                      <a:pPr algn="ctr"/>
                      <a:r>
                        <a:rPr sz="1100" b="1">
                          <a:solidFill>
                            <a:srgbClr val="FFFFFF"/>
                          </a:solidFill>
                          <a:latin typeface="Arial"/>
                        </a:rPr>
                        <a:t>Loại âm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Đúng / tổng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65760">
                <a:tc>
                  <a:txBody>
                    <a:bodyPr/>
                    <a:lstStyle/>
                    <a:p>
                      <a:pPr algn="l"/>
                      <a:r>
                        <a:rPr sz="1100" b="0">
                          <a:solidFill>
                            <a:srgbClr val="17212B"/>
                          </a:solidFill>
                          <a:latin typeface="Arial"/>
                        </a:rPr>
                        <a:t>bells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9/10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0.7826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65760">
                <a:tc>
                  <a:txBody>
                    <a:bodyPr/>
                    <a:lstStyle/>
                    <a:p>
                      <a:pPr algn="l"/>
                      <a:r>
                        <a:rPr sz="1100" b="0">
                          <a:solidFill>
                            <a:srgbClr val="17212B"/>
                          </a:solidFill>
                          <a:latin typeface="Arial"/>
                        </a:rPr>
                        <a:t>birds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11/11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0.9565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65760">
                <a:tc>
                  <a:txBody>
                    <a:bodyPr/>
                    <a:lstStyle/>
                    <a:p>
                      <a:pPr algn="l"/>
                      <a:r>
                        <a:rPr sz="1100" b="0">
                          <a:solidFill>
                            <a:srgbClr val="17212B"/>
                          </a:solidFill>
                          <a:latin typeface="Arial"/>
                        </a:rPr>
                        <a:t>cat_fights_and_moans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5/7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 (n &lt; 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65760">
                <a:tc>
                  <a:txBody>
                    <a:bodyPr/>
                    <a:lstStyle/>
                    <a:p>
                      <a:pPr algn="l"/>
                      <a:r>
                        <a:rPr sz="1100" b="0">
                          <a:solidFill>
                            <a:srgbClr val="17212B"/>
                          </a:solidFill>
                          <a:latin typeface="Arial"/>
                        </a:rPr>
                        <a:t>chicken_coop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9/9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 (n &lt; 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65760">
                <a:tc>
                  <a:txBody>
                    <a:bodyPr/>
                    <a:lstStyle/>
                    <a:p>
                      <a:pPr algn="l"/>
                      <a:r>
                        <a:rPr sz="1100" b="0">
                          <a:solidFill>
                            <a:srgbClr val="17212B"/>
                          </a:solidFill>
                          <a:latin typeface="Arial"/>
                        </a:rPr>
                        <a:t>cicadas_and_crickets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11/11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65760">
                <a:tc>
                  <a:txBody>
                    <a:bodyPr/>
                    <a:lstStyle/>
                    <a:p>
                      <a:pPr algn="l"/>
                      <a:r>
                        <a:rPr sz="1100" b="0">
                          <a:solidFill>
                            <a:srgbClr val="17212B"/>
                          </a:solidFill>
                          <a:latin typeface="Arial"/>
                        </a:rPr>
                        <a:t>crows_seagulls_magpies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16/16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0.9697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65760">
                <a:tc>
                  <a:txBody>
                    <a:bodyPr/>
                    <a:lstStyle/>
                    <a:p>
                      <a:pPr algn="l"/>
                      <a:r>
                        <a:rPr sz="1100" b="0">
                          <a:solidFill>
                            <a:srgbClr val="17212B"/>
                          </a:solidFill>
                          <a:latin typeface="Arial"/>
                        </a:rPr>
                        <a:t>dog_barkings_and_howlings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9/10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0.9474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65760">
                <a:tc>
                  <a:txBody>
                    <a:bodyPr/>
                    <a:lstStyle/>
                    <a:p>
                      <a:pPr algn="l"/>
                      <a:r>
                        <a:rPr sz="1100" b="0">
                          <a:solidFill>
                            <a:srgbClr val="17212B"/>
                          </a:solidFill>
                          <a:latin typeface="Arial"/>
                        </a:rPr>
                        <a:t>glass_breaking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12/13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0.8276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365760">
                <a:tc>
                  <a:txBody>
                    <a:bodyPr/>
                    <a:lstStyle/>
                    <a:p>
                      <a:pPr algn="l"/>
                      <a:r>
                        <a:rPr sz="1100" b="0">
                          <a:solidFill>
                            <a:srgbClr val="17212B"/>
                          </a:solidFill>
                          <a:latin typeface="Arial"/>
                        </a:rPr>
                        <a:t>horn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7/8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 (n &lt; 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365760">
                <a:tc>
                  <a:txBody>
                    <a:bodyPr/>
                    <a:lstStyle/>
                    <a:p>
                      <a:pPr algn="l"/>
                      <a:r>
                        <a:rPr sz="1100" b="0">
                          <a:solidFill>
                            <a:srgbClr val="17212B"/>
                          </a:solidFill>
                          <a:latin typeface="Arial"/>
                        </a:rPr>
                        <a:t>jet_aircrafts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14/15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0.8750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r h="365760">
                <a:tc>
                  <a:txBody>
                    <a:bodyPr/>
                    <a:lstStyle/>
                    <a:p>
                      <a:pPr algn="l"/>
                      <a:r>
                        <a:rPr sz="1100" b="0">
                          <a:solidFill>
                            <a:srgbClr val="17212B"/>
                          </a:solidFill>
                          <a:latin typeface="Arial"/>
                        </a:rPr>
                        <a:t>lawn_mower_brush_cutter_olive_shaker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11/14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0.7097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nvGraphicFramePr>
        <p:xfrm>
          <a:off x="6217920" y="1280160"/>
          <a:ext cx="5513831" cy="4389120"/>
        </p:xfrm>
        <a:graphic>
          <a:graphicData uri="http://schemas.openxmlformats.org/drawingml/2006/table">
            <a:tbl>
              <a:tblPr firstRow="1">
                <a:tableStyleId>{5C22544A-7EE6-4342-B048-85BDC9FD1C3A}</a:tableStyleId>
              </a:tblPr>
              <a:tblGrid>
                <a:gridCol w="3308299">
                  <a:extLst>
                    <a:ext uri="{9D8B030D-6E8A-4147-A177-3AD203B41FA5}">
                      <a16:colId xmlns:a16="http://schemas.microsoft.com/office/drawing/2014/main" val="20000"/>
                    </a:ext>
                  </a:extLst>
                </a:gridCol>
                <a:gridCol w="1102766">
                  <a:extLst>
                    <a:ext uri="{9D8B030D-6E8A-4147-A177-3AD203B41FA5}">
                      <a16:colId xmlns:a16="http://schemas.microsoft.com/office/drawing/2014/main" val="20001"/>
                    </a:ext>
                  </a:extLst>
                </a:gridCol>
                <a:gridCol w="1102766">
                  <a:extLst>
                    <a:ext uri="{9D8B030D-6E8A-4147-A177-3AD203B41FA5}">
                      <a16:colId xmlns:a16="http://schemas.microsoft.com/office/drawing/2014/main" val="20002"/>
                    </a:ext>
                  </a:extLst>
                </a:gridCol>
              </a:tblGrid>
              <a:tr h="365760">
                <a:tc>
                  <a:txBody>
                    <a:bodyPr/>
                    <a:lstStyle/>
                    <a:p>
                      <a:pPr algn="ctr"/>
                      <a:r>
                        <a:rPr sz="1100" b="1">
                          <a:solidFill>
                            <a:srgbClr val="FFFFFF"/>
                          </a:solidFill>
                          <a:latin typeface="Arial"/>
                        </a:rPr>
                        <a:t>Loại âm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Đúng / tổng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00" b="1">
                          <a:solidFill>
                            <a:srgbClr val="FFFFFF"/>
                          </a:solidFill>
                          <a:latin typeface="Arial"/>
                        </a:rPr>
                        <a:t>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65760">
                <a:tc>
                  <a:txBody>
                    <a:bodyPr/>
                    <a:lstStyle/>
                    <a:p>
                      <a:pPr algn="l"/>
                      <a:r>
                        <a:rPr sz="1100" b="0">
                          <a:solidFill>
                            <a:srgbClr val="17212B"/>
                          </a:solidFill>
                          <a:latin typeface="Arial"/>
                        </a:rPr>
                        <a:t>music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135/145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0.9507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65760">
                <a:tc>
                  <a:txBody>
                    <a:bodyPr/>
                    <a:lstStyle/>
                    <a:p>
                      <a:pPr algn="l"/>
                      <a:r>
                        <a:rPr sz="1100" b="0">
                          <a:solidFill>
                            <a:srgbClr val="17212B"/>
                          </a:solidFill>
                          <a:latin typeface="Arial"/>
                        </a:rPr>
                        <a:t>propeller_aircrafts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15/16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0.8824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65760">
                <a:tc>
                  <a:txBody>
                    <a:bodyPr/>
                    <a:lstStyle/>
                    <a:p>
                      <a:pPr algn="l"/>
                      <a:r>
                        <a:rPr sz="1100" b="0">
                          <a:solidFill>
                            <a:srgbClr val="17212B"/>
                          </a:solidFill>
                          <a:latin typeface="Arial"/>
                        </a:rPr>
                        <a:t>sirens_and_alarms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14/15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0.9333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65760">
                <a:tc>
                  <a:txBody>
                    <a:bodyPr/>
                    <a:lstStyle/>
                    <a:p>
                      <a:pPr algn="l"/>
                      <a:r>
                        <a:rPr sz="1100" b="0">
                          <a:solidFill>
                            <a:srgbClr val="17212B"/>
                          </a:solidFill>
                          <a:latin typeface="Arial"/>
                        </a:rPr>
                        <a:t>thunder_fireworks_gunshot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32/35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0.9014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65760">
                <a:tc>
                  <a:txBody>
                    <a:bodyPr/>
                    <a:lstStyle/>
                    <a:p>
                      <a:pPr algn="l"/>
                      <a:r>
                        <a:rPr sz="1100" b="0">
                          <a:solidFill>
                            <a:srgbClr val="17212B"/>
                          </a:solidFill>
                          <a:latin typeface="Arial"/>
                        </a:rPr>
                        <a:t>train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8/9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00" b="0">
                          <a:solidFill>
                            <a:srgbClr val="17212B"/>
                          </a:solidFill>
                          <a:latin typeface="Arial"/>
                        </a:rPr>
                        <a:t>— (n &lt; 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65760">
                <a:tc>
                  <a:txBody>
                    <a:bodyPr/>
                    <a:lstStyle/>
                    <a:p>
                      <a:pPr algn="l"/>
                      <a:r>
                        <a:rPr sz="1100" b="0">
                          <a:solidFill>
                            <a:srgbClr val="17212B"/>
                          </a:solidFill>
                          <a:latin typeface="Arial"/>
                        </a:rPr>
                        <a:t>vacuum_cleaner_fan_hairdryer</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8/14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0.6957</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65760">
                <a:tc>
                  <a:txBody>
                    <a:bodyPr/>
                    <a:lstStyle/>
                    <a:p>
                      <a:pPr algn="l"/>
                      <a:r>
                        <a:rPr sz="1100" b="0">
                          <a:solidFill>
                            <a:srgbClr val="17212B"/>
                          </a:solidFill>
                          <a:latin typeface="Arial"/>
                        </a:rPr>
                        <a:t>vehicle_idling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12/16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0.6154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65760">
                <a:tc>
                  <a:txBody>
                    <a:bodyPr/>
                    <a:lstStyle/>
                    <a:p>
                      <a:pPr algn="l"/>
                      <a:r>
                        <a:rPr sz="1100" b="0">
                          <a:solidFill>
                            <a:srgbClr val="17212B"/>
                          </a:solidFill>
                          <a:latin typeface="Arial"/>
                        </a:rPr>
                        <a:t>vehicle_pass_by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17/33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0.6538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365760">
                <a:tc>
                  <a:txBody>
                    <a:bodyPr/>
                    <a:lstStyle/>
                    <a:p>
                      <a:pPr algn="l"/>
                      <a:r>
                        <a:rPr sz="1100" b="0">
                          <a:solidFill>
                            <a:srgbClr val="17212B"/>
                          </a:solidFill>
                          <a:latin typeface="Arial"/>
                        </a:rPr>
                        <a:t>voices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277/285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0.9840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365760">
                <a:tc>
                  <a:txBody>
                    <a:bodyPr/>
                    <a:lstStyle/>
                    <a:p>
                      <a:pPr algn="l"/>
                      <a:r>
                        <a:rPr sz="1100" b="0">
                          <a:solidFill>
                            <a:srgbClr val="17212B"/>
                          </a:solidFill>
                          <a:latin typeface="Arial"/>
                        </a:rPr>
                        <a:t>wind_turbine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15/15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1.0000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r h="365760">
                <a:tc>
                  <a:txBody>
                    <a:bodyPr/>
                    <a:lstStyle/>
                    <a:p>
                      <a:pPr algn="l"/>
                      <a:r>
                        <a:rPr sz="1100" b="0">
                          <a:solidFill>
                            <a:srgbClr val="17212B"/>
                          </a:solidFill>
                          <a:latin typeface="Arial"/>
                        </a:rPr>
                        <a:t>workshop</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29/33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00" b="0">
                          <a:solidFill>
                            <a:srgbClr val="17212B"/>
                          </a:solidFill>
                          <a:latin typeface="Arial"/>
                        </a:rPr>
                        <a:t>0.8923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1"/>
                  </a:ext>
                </a:extLst>
              </a:tr>
            </a:tbl>
          </a:graphicData>
        </a:graphic>
      </p:graphicFrame>
      <p:sp>
        <p:nvSpPr>
          <p:cNvPr id="7" name="TextBox 6"/>
          <p:cNvSpPr txBox="1"/>
          <p:nvPr/>
        </p:nvSpPr>
        <p:spPr>
          <a:xfrm>
            <a:off x="457200" y="5806440"/>
            <a:ext cx="1127455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docs/measurements/per_class_metrics_datasec_20260923.md.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PL</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Phụ lục 6 — Ablation v2 (dev) và sổ ghi các lần chạm tập test</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Phụ lục 6 · không trình bày, dùng khi được hỏi</a:t>
            </a:r>
          </a:p>
        </p:txBody>
      </p:sp>
      <p:graphicFrame>
        <p:nvGraphicFramePr>
          <p:cNvPr id="5" name="Table 4"/>
          <p:cNvGraphicFramePr>
            <a:graphicFrameLocks noGrp="1"/>
          </p:cNvGraphicFramePr>
          <p:nvPr/>
        </p:nvGraphicFramePr>
        <p:xfrm>
          <a:off x="457200" y="1280160"/>
          <a:ext cx="6766560" cy="3084576"/>
        </p:xfrm>
        <a:graphic>
          <a:graphicData uri="http://schemas.openxmlformats.org/drawingml/2006/table">
            <a:tbl>
              <a:tblPr firstRow="1">
                <a:tableStyleId>{5C22544A-7EE6-4342-B048-85BDC9FD1C3A}</a:tableStyleId>
              </a:tblPr>
              <a:tblGrid>
                <a:gridCol w="1005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84048">
                <a:tc>
                  <a:txBody>
                    <a:bodyPr/>
                    <a:lstStyle/>
                    <a:p>
                      <a:pPr algn="ctr"/>
                      <a:r>
                        <a:rPr sz="1150" b="1">
                          <a:solidFill>
                            <a:srgbClr val="FFFFFF"/>
                          </a:solidFill>
                          <a:latin typeface="Arial"/>
                        </a:rPr>
                        <a:t>Nhóm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Cấu hình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Micro-F1 (dev)</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Dao động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Chênh so với v2 lần 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84048">
                <a:tc>
                  <a:txBody>
                    <a:bodyPr/>
                    <a:lstStyle/>
                    <a:p>
                      <a:pPr algn="l"/>
                      <a:r>
                        <a:rPr sz="1150" b="0">
                          <a:solidFill>
                            <a:srgbClr val="17212B"/>
                          </a:solidFill>
                          <a:latin typeface="Arial"/>
                        </a:rPr>
                        <a:t>Đầy đủ</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v2 đủ (seed 1/3)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0.1900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0.0523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0.0000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84048">
                <a:tc>
                  <a:txBody>
                    <a:bodyPr/>
                    <a:lstStyle/>
                    <a:p>
                      <a:pPr algn="l"/>
                      <a:r>
                        <a:rPr sz="1150" b="0">
                          <a:solidFill>
                            <a:srgbClr val="17212B"/>
                          </a:solidFill>
                          <a:latin typeface="Arial"/>
                        </a:rPr>
                        <a:t>Đầy đủ</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v2 đủ (seed 2/3)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0.2096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0.0510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0.0196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84048">
                <a:tc>
                  <a:txBody>
                    <a:bodyPr/>
                    <a:lstStyle/>
                    <a:p>
                      <a:pPr algn="l"/>
                      <a:r>
                        <a:rPr sz="1150" b="0">
                          <a:solidFill>
                            <a:srgbClr val="17212B"/>
                          </a:solidFill>
                          <a:latin typeface="Arial"/>
                        </a:rPr>
                        <a:t>Đầy đủ</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v2 đủ (seed 3/3)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0.2169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0.0465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0.0270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84048">
                <a:tc>
                  <a:txBody>
                    <a:bodyPr/>
                    <a:lstStyle/>
                    <a:p>
                      <a:pPr algn="l"/>
                      <a:r>
                        <a:rPr sz="1150" b="0">
                          <a:solidFill>
                            <a:srgbClr val="17212B"/>
                          </a:solidFill>
                          <a:latin typeface="Arial"/>
                        </a:rPr>
                        <a:t>Ablation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không độ phân giải (pool /64)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0.1060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0.0202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-0.0840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84048">
                <a:tc>
                  <a:txBody>
                    <a:bodyPr/>
                    <a:lstStyle/>
                    <a:p>
                      <a:pPr algn="l"/>
                      <a:r>
                        <a:rPr sz="1150" b="0">
                          <a:solidFill>
                            <a:srgbClr val="17212B"/>
                          </a:solidFill>
                          <a:latin typeface="Arial"/>
                        </a:rPr>
                        <a:t>Ablation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trần pos_weight 50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0.1773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0.0552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-0.0126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84048">
                <a:tc>
                  <a:txBody>
                    <a:bodyPr/>
                    <a:lstStyle/>
                    <a:p>
                      <a:pPr algn="l"/>
                      <a:r>
                        <a:rPr sz="1150" b="0">
                          <a:solidFill>
                            <a:srgbClr val="17212B"/>
                          </a:solidFill>
                          <a:latin typeface="Arial"/>
                        </a:rPr>
                        <a:t>Ablation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không augmentation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0.1968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0.0509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0.0068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84048">
                <a:tc>
                  <a:txBody>
                    <a:bodyPr/>
                    <a:lstStyle/>
                    <a:p>
                      <a:pPr algn="l"/>
                      <a:r>
                        <a:rPr sz="1150" b="0">
                          <a:solidFill>
                            <a:srgbClr val="17212B"/>
                          </a:solidFill>
                          <a:latin typeface="Arial"/>
                        </a:rPr>
                        <a:t>Tham chiếu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ensemble C v1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0.1538</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0.0214</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-0.0362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457200" y="4434840"/>
            <a:ext cx="6766560"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docs/measurements/sed_v2_ablation_20260926.json.</a:t>
            </a:r>
          </a:p>
        </p:txBody>
      </p:sp>
      <p:graphicFrame>
        <p:nvGraphicFramePr>
          <p:cNvPr id="7" name="Table 6"/>
          <p:cNvGraphicFramePr>
            <a:graphicFrameLocks noGrp="1"/>
          </p:cNvGraphicFramePr>
          <p:nvPr/>
        </p:nvGraphicFramePr>
        <p:xfrm>
          <a:off x="7452360" y="1280160"/>
          <a:ext cx="4279391" cy="3456432"/>
        </p:xfrm>
        <a:graphic>
          <a:graphicData uri="http://schemas.openxmlformats.org/drawingml/2006/table">
            <a:tbl>
              <a:tblPr firstRow="1">
                <a:tableStyleId>{5C22544A-7EE6-4342-B048-85BDC9FD1C3A}</a:tableStyleId>
              </a:tblPr>
              <a:tblGrid>
                <a:gridCol w="3306802">
                  <a:extLst>
                    <a:ext uri="{9D8B030D-6E8A-4147-A177-3AD203B41FA5}">
                      <a16:colId xmlns:a16="http://schemas.microsoft.com/office/drawing/2014/main" val="20000"/>
                    </a:ext>
                  </a:extLst>
                </a:gridCol>
                <a:gridCol w="972589">
                  <a:extLst>
                    <a:ext uri="{9D8B030D-6E8A-4147-A177-3AD203B41FA5}">
                      <a16:colId xmlns:a16="http://schemas.microsoft.com/office/drawing/2014/main" val="20001"/>
                    </a:ext>
                  </a:extLst>
                </a:gridCol>
              </a:tblGrid>
              <a:tr h="384048">
                <a:tc>
                  <a:txBody>
                    <a:bodyPr/>
                    <a:lstStyle/>
                    <a:p>
                      <a:pPr algn="ctr"/>
                      <a:r>
                        <a:rPr sz="1150" b="1">
                          <a:solidFill>
                            <a:srgbClr val="FFFFFF"/>
                          </a:solidFill>
                          <a:latin typeface="Arial"/>
                        </a:rPr>
                        <a:t>Nhóm lần chạm test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Số mục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384048">
                <a:tc>
                  <a:txBody>
                    <a:bodyPr/>
                    <a:lstStyle/>
                    <a:p>
                      <a:pPr algn="l"/>
                      <a:r>
                        <a:rPr sz="1150" b="0">
                          <a:solidFill>
                            <a:srgbClr val="17212B"/>
                          </a:solidFill>
                          <a:latin typeface="Arial"/>
                        </a:rPr>
                        <a:t>Đánh giá SED trên test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40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384048">
                <a:tc>
                  <a:txBody>
                    <a:bodyPr/>
                    <a:lstStyle/>
                    <a:p>
                      <a:pPr algn="l"/>
                      <a:r>
                        <a:rPr sz="1150" b="0">
                          <a:solidFill>
                            <a:srgbClr val="17212B"/>
                          </a:solidFill>
                          <a:latin typeface="Arial"/>
                        </a:rPr>
                        <a:t>Caption (RQ2)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384048">
                <a:tc>
                  <a:txBody>
                    <a:bodyPr/>
                    <a:lstStyle/>
                    <a:p>
                      <a:pPr algn="l"/>
                      <a:r>
                        <a:rPr sz="1150" b="0">
                          <a:solidFill>
                            <a:srgbClr val="17212B"/>
                          </a:solidFill>
                          <a:latin typeface="Arial"/>
                        </a:rPr>
                        <a:t>Caption: lớp gộp / wiring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384048">
                <a:tc>
                  <a:txBody>
                    <a:bodyPr/>
                    <a:lstStyle/>
                    <a:p>
                      <a:pPr algn="l"/>
                      <a:r>
                        <a:rPr sz="1150" b="0">
                          <a:solidFill>
                            <a:srgbClr val="17212B"/>
                          </a:solidFill>
                          <a:latin typeface="Arial"/>
                        </a:rPr>
                        <a:t>Retrieval (RQ3) / câu trả lời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384048">
                <a:tc>
                  <a:txBody>
                    <a:bodyPr/>
                    <a:lstStyle/>
                    <a:p>
                      <a:pPr algn="l"/>
                      <a:r>
                        <a:rPr sz="1150" b="0">
                          <a:solidFill>
                            <a:srgbClr val="17212B"/>
                          </a:solidFill>
                          <a:latin typeface="Arial"/>
                        </a:rPr>
                        <a:t>Ablation / chẩn đoán SED trên test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384048">
                <a:tc>
                  <a:txBody>
                    <a:bodyPr/>
                    <a:lstStyle/>
                    <a:p>
                      <a:pPr algn="l"/>
                      <a:r>
                        <a:rPr sz="1150" b="0">
                          <a:solidFill>
                            <a:srgbClr val="17212B"/>
                          </a:solidFill>
                          <a:latin typeface="Arial"/>
                        </a:rPr>
                        <a:t>Classifier DataSEC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2</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384048">
                <a:tc>
                  <a:txBody>
                    <a:bodyPr/>
                    <a:lstStyle/>
                    <a:p>
                      <a:pPr algn="l"/>
                      <a:r>
                        <a:rPr sz="1150" b="0">
                          <a:solidFill>
                            <a:srgbClr val="17212B"/>
                          </a:solidFill>
                          <a:latin typeface="Arial"/>
                        </a:rPr>
                        <a:t>Parity phục vụ (so với output đóng băng)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6</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384048">
                <a:tc>
                  <a:txBody>
                    <a:bodyPr/>
                    <a:lstStyle/>
                    <a:p>
                      <a:pPr algn="l"/>
                      <a:r>
                        <a:rPr sz="1150" b="0">
                          <a:solidFill>
                            <a:srgbClr val="17212B"/>
                          </a:solidFill>
                          <a:latin typeface="Arial"/>
                        </a:rPr>
                        <a:t>Đánh giá SED ghi git dirty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r"/>
                      <a:r>
                        <a:rPr sz="1150" b="0">
                          <a:solidFill>
                            <a:srgbClr val="17212B"/>
                          </a:solidFill>
                          <a:latin typeface="Arial"/>
                        </a:rPr>
                        <a:t>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bl>
          </a:graphicData>
        </a:graphic>
      </p:graphicFrame>
      <p:sp>
        <p:nvSpPr>
          <p:cNvPr id="8" name="TextBox 7"/>
          <p:cNvSpPr txBox="1"/>
          <p:nvPr/>
        </p:nvSpPr>
        <p:spPr>
          <a:xfrm>
            <a:off x="7452360" y="4846320"/>
            <a:ext cx="4279392" cy="274320"/>
          </a:xfrm>
          <a:prstGeom prst="rect">
            <a:avLst/>
          </a:prstGeom>
          <a:noFill/>
        </p:spPr>
        <p:txBody>
          <a:bodyPr wrap="square" lIns="0" tIns="0" rIns="0" bIns="0" anchor="t">
            <a:spAutoFit/>
          </a:bodyPr>
          <a:lstStyle/>
          <a:p>
            <a:pPr algn="l">
              <a:spcAft>
                <a:spcPts val="400"/>
              </a:spcAft>
            </a:pPr>
            <a:r>
              <a:rPr sz="950" b="0" i="1">
                <a:solidFill>
                  <a:srgbClr val="667085"/>
                </a:solidFill>
                <a:latin typeface="Arial"/>
              </a:rPr>
              <a:t>Nguồn: docs/measurements/test_ledger_20261002.json.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84048"/>
            <a:ext cx="512064" cy="512064"/>
          </a:xfrm>
          <a:prstGeom prst="roundRect">
            <a:avLst>
              <a:gd name="adj" fmla="val 18000"/>
            </a:avLst>
          </a:prstGeom>
          <a:solidFill>
            <a:srgbClr val="F4B3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62F5C"/>
                </a:solidFill>
                <a:latin typeface="Arial"/>
              </a:rPr>
              <a:t>PL</a:t>
            </a:r>
          </a:p>
        </p:txBody>
      </p:sp>
      <p:sp>
        <p:nvSpPr>
          <p:cNvPr id="3" name="Title"/>
          <p:cNvSpPr txBox="1"/>
          <p:nvPr/>
        </p:nvSpPr>
        <p:spPr>
          <a:xfrm>
            <a:off x="1115568" y="274320"/>
            <a:ext cx="10607040" cy="749808"/>
          </a:xfrm>
          <a:prstGeom prst="rect">
            <a:avLst/>
          </a:prstGeom>
          <a:noFill/>
        </p:spPr>
        <p:txBody>
          <a:bodyPr wrap="square" lIns="0" tIns="0" rIns="0" bIns="0" anchor="ctr">
            <a:spAutoFit/>
          </a:bodyPr>
          <a:lstStyle/>
          <a:p>
            <a:pPr algn="l">
              <a:spcAft>
                <a:spcPts val="400"/>
              </a:spcAft>
            </a:pPr>
            <a:r>
              <a:rPr sz="2400" b="1" i="0">
                <a:solidFill>
                  <a:srgbClr val="062F5C"/>
                </a:solidFill>
                <a:latin typeface="Arial"/>
              </a:rPr>
              <a:t>Phụ lục 7 — Từ điển thuật ngữ</a:t>
            </a:r>
          </a:p>
        </p:txBody>
      </p:sp>
      <p:sp>
        <p:nvSpPr>
          <p:cNvPr id="4" name="TextBox 3"/>
          <p:cNvSpPr txBox="1"/>
          <p:nvPr/>
        </p:nvSpPr>
        <p:spPr>
          <a:xfrm>
            <a:off x="6675120" y="6446520"/>
            <a:ext cx="5056632" cy="256032"/>
          </a:xfrm>
          <a:prstGeom prst="rect">
            <a:avLst/>
          </a:prstGeom>
          <a:noFill/>
        </p:spPr>
        <p:txBody>
          <a:bodyPr wrap="square" lIns="0" tIns="0" rIns="0" bIns="0" anchor="t">
            <a:spAutoFit/>
          </a:bodyPr>
          <a:lstStyle/>
          <a:p>
            <a:pPr algn="r">
              <a:spcAft>
                <a:spcPts val="400"/>
              </a:spcAft>
            </a:pPr>
            <a:r>
              <a:rPr sz="1000" b="0" i="0">
                <a:solidFill>
                  <a:srgbClr val="667085"/>
                </a:solidFill>
                <a:latin typeface="Arial"/>
              </a:rPr>
              <a:t>Phụ lục 7 · không trình bày, dùng khi được hỏi</a:t>
            </a:r>
          </a:p>
        </p:txBody>
      </p:sp>
      <p:graphicFrame>
        <p:nvGraphicFramePr>
          <p:cNvPr id="5" name="Table 4"/>
          <p:cNvGraphicFramePr>
            <a:graphicFrameLocks noGrp="1"/>
          </p:cNvGraphicFramePr>
          <p:nvPr/>
        </p:nvGraphicFramePr>
        <p:xfrm>
          <a:off x="457200" y="1280160"/>
          <a:ext cx="5513831" cy="5029200"/>
        </p:xfrm>
        <a:graphic>
          <a:graphicData uri="http://schemas.openxmlformats.org/drawingml/2006/table">
            <a:tbl>
              <a:tblPr firstRow="1">
                <a:tableStyleId>{5C22544A-7EE6-4342-B048-85BDC9FD1C3A}</a:tableStyleId>
              </a:tblPr>
              <a:tblGrid>
                <a:gridCol w="1746046">
                  <a:extLst>
                    <a:ext uri="{9D8B030D-6E8A-4147-A177-3AD203B41FA5}">
                      <a16:colId xmlns:a16="http://schemas.microsoft.com/office/drawing/2014/main" val="20000"/>
                    </a:ext>
                  </a:extLst>
                </a:gridCol>
                <a:gridCol w="3767785">
                  <a:extLst>
                    <a:ext uri="{9D8B030D-6E8A-4147-A177-3AD203B41FA5}">
                      <a16:colId xmlns:a16="http://schemas.microsoft.com/office/drawing/2014/main" val="20001"/>
                    </a:ext>
                  </a:extLst>
                </a:gridCol>
              </a:tblGrid>
              <a:tr h="457200">
                <a:tc>
                  <a:txBody>
                    <a:bodyPr/>
                    <a:lstStyle/>
                    <a:p>
                      <a:pPr algn="ctr"/>
                      <a:r>
                        <a:rPr sz="1150" b="1">
                          <a:solidFill>
                            <a:srgbClr val="FFFFFF"/>
                          </a:solidFill>
                          <a:latin typeface="Arial"/>
                        </a:rPr>
                        <a:t>Thuật ngữ</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Nghĩa</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457200">
                <a:tc>
                  <a:txBody>
                    <a:bodyPr/>
                    <a:lstStyle/>
                    <a:p>
                      <a:pPr algn="l"/>
                      <a:r>
                        <a:rPr sz="1150" b="0">
                          <a:solidFill>
                            <a:srgbClr val="17212B"/>
                          </a:solidFill>
                          <a:latin typeface="Arial"/>
                        </a:rPr>
                        <a:t>SED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Phát hiện sự kiện âm thanh: tìm loại âm và thời điểm bắt đầu, kết thúc</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457200">
                <a:tc>
                  <a:txBody>
                    <a:bodyPr/>
                    <a:lstStyle/>
                    <a:p>
                      <a:pPr algn="l"/>
                      <a:r>
                        <a:rPr sz="1150" b="0">
                          <a:solidFill>
                            <a:srgbClr val="17212B"/>
                          </a:solidFill>
                          <a:latin typeface="Arial"/>
                        </a:rPr>
                        <a:t>Event-F1</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Điểm 0–1; sự kiện đúng khi đúng loại và lệch bắt đầu ≤ 0,2 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457200">
                <a:tc>
                  <a:txBody>
                    <a:bodyPr/>
                    <a:lstStyle/>
                    <a:p>
                      <a:pPr algn="l"/>
                      <a:r>
                        <a:rPr sz="1150" b="0">
                          <a:solidFill>
                            <a:srgbClr val="17212B"/>
                          </a:solidFill>
                          <a:latin typeface="Arial"/>
                        </a:rPr>
                        <a:t>Precision / Recall</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Trong cái máy báo bao nhiêu đúng / tìm ra bao nhiêu sự kiện thật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457200">
                <a:tc>
                  <a:txBody>
                    <a:bodyPr/>
                    <a:lstStyle/>
                    <a:p>
                      <a:pPr algn="l"/>
                      <a:r>
                        <a:rPr sz="1150" b="0">
                          <a:solidFill>
                            <a:srgbClr val="17212B"/>
                          </a:solidFill>
                          <a:latin typeface="Arial"/>
                        </a:rPr>
                        <a:t>Micro / Macro</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Gộp mọi sự kiện rồi tính / tính từng loại rồi lấy trung bình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457200">
                <a:tc>
                  <a:txBody>
                    <a:bodyPr/>
                    <a:lstStyle/>
                    <a:p>
                      <a:pPr algn="l"/>
                      <a:r>
                        <a:rPr sz="1150" b="0">
                          <a:solidFill>
                            <a:srgbClr val="17212B"/>
                          </a:solidFill>
                          <a:latin typeface="Arial"/>
                        </a:rPr>
                        <a:t>PSDS</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Điểm chấm trên mọi mức nhạy (mọi ngưỡng), không chỉ một ngưỡng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457200">
                <a:tc>
                  <a:txBody>
                    <a:bodyPr/>
                    <a:lstStyle/>
                    <a:p>
                      <a:pPr algn="l"/>
                      <a:r>
                        <a:rPr sz="1150" b="0">
                          <a:solidFill>
                            <a:srgbClr val="17212B"/>
                          </a:solidFill>
                          <a:latin typeface="Arial"/>
                        </a:rPr>
                        <a:t>KTC 95%</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Khoảng tin cậy: điểm thật có thể nằm trong khoảng này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457200">
                <a:tc>
                  <a:txBody>
                    <a:bodyPr/>
                    <a:lstStyle/>
                    <a:p>
                      <a:pPr algn="l"/>
                      <a:r>
                        <a:rPr sz="1150" b="0">
                          <a:solidFill>
                            <a:srgbClr val="17212B"/>
                          </a:solidFill>
                          <a:latin typeface="Arial"/>
                        </a:rPr>
                        <a:t>Welch t-test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Kiểm định xem chênh lệch hai nhóm có lớn hơn dao động bình thường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457200">
                <a:tc>
                  <a:txBody>
                    <a:bodyPr/>
                    <a:lstStyle/>
                    <a:p>
                      <a:pPr algn="l"/>
                      <a:r>
                        <a:rPr sz="1150" b="0">
                          <a:solidFill>
                            <a:srgbClr val="17212B"/>
                          </a:solidFill>
                          <a:latin typeface="Arial"/>
                        </a:rPr>
                        <a:t>Dev / Test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Tập để thử và chọn / tập thi, chỉ chấm một lần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457200">
                <a:tc>
                  <a:txBody>
                    <a:bodyPr/>
                    <a:lstStyle/>
                    <a:p>
                      <a:pPr algn="l"/>
                      <a:r>
                        <a:rPr sz="1150" b="0">
                          <a:solidFill>
                            <a:srgbClr val="17212B"/>
                          </a:solidFill>
                          <a:latin typeface="Arial"/>
                        </a:rPr>
                        <a:t>Kiểm chứng chéo 5 phần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Chia dev làm 5, lần lượt chọn trên 4 phần, chấm phần còn lại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457200">
                <a:tc>
                  <a:txBody>
                    <a:bodyPr/>
                    <a:lstStyle/>
                    <a:p>
                      <a:pPr algn="l"/>
                      <a:r>
                        <a:rPr sz="1150" b="0">
                          <a:solidFill>
                            <a:srgbClr val="17212B"/>
                          </a:solidFill>
                          <a:latin typeface="Arial"/>
                        </a:rPr>
                        <a:t>annotated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Tập chấm chỉ gồm bản ghi có nhãn đa âm (dev 134, test 139)</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bl>
          </a:graphicData>
        </a:graphic>
      </p:graphicFrame>
      <p:graphicFrame>
        <p:nvGraphicFramePr>
          <p:cNvPr id="6" name="Table 5"/>
          <p:cNvGraphicFramePr>
            <a:graphicFrameLocks noGrp="1"/>
          </p:cNvGraphicFramePr>
          <p:nvPr/>
        </p:nvGraphicFramePr>
        <p:xfrm>
          <a:off x="6217920" y="1280160"/>
          <a:ext cx="5513831" cy="5029200"/>
        </p:xfrm>
        <a:graphic>
          <a:graphicData uri="http://schemas.openxmlformats.org/drawingml/2006/table">
            <a:tbl>
              <a:tblPr firstRow="1">
                <a:tableStyleId>{5C22544A-7EE6-4342-B048-85BDC9FD1C3A}</a:tableStyleId>
              </a:tblPr>
              <a:tblGrid>
                <a:gridCol w="1746046">
                  <a:extLst>
                    <a:ext uri="{9D8B030D-6E8A-4147-A177-3AD203B41FA5}">
                      <a16:colId xmlns:a16="http://schemas.microsoft.com/office/drawing/2014/main" val="20000"/>
                    </a:ext>
                  </a:extLst>
                </a:gridCol>
                <a:gridCol w="3767785">
                  <a:extLst>
                    <a:ext uri="{9D8B030D-6E8A-4147-A177-3AD203B41FA5}">
                      <a16:colId xmlns:a16="http://schemas.microsoft.com/office/drawing/2014/main" val="20001"/>
                    </a:ext>
                  </a:extLst>
                </a:gridCol>
              </a:tblGrid>
              <a:tr h="457200">
                <a:tc>
                  <a:txBody>
                    <a:bodyPr/>
                    <a:lstStyle/>
                    <a:p>
                      <a:pPr algn="ctr"/>
                      <a:r>
                        <a:rPr sz="1150" b="1">
                          <a:solidFill>
                            <a:srgbClr val="FFFFFF"/>
                          </a:solidFill>
                          <a:latin typeface="Arial"/>
                        </a:rPr>
                        <a:t>Thuật ngữ</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tc>
                  <a:txBody>
                    <a:bodyPr/>
                    <a:lstStyle/>
                    <a:p>
                      <a:pPr algn="ctr"/>
                      <a:r>
                        <a:rPr sz="1150" b="1">
                          <a:solidFill>
                            <a:srgbClr val="FFFFFF"/>
                          </a:solidFill>
                          <a:latin typeface="Arial"/>
                        </a:rPr>
                        <a:t>Nghĩa</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062F5C"/>
                    </a:solidFill>
                  </a:tcPr>
                </a:tc>
                <a:extLst>
                  <a:ext uri="{0D108BD9-81ED-4DB2-BD59-A6C34878D82A}">
                    <a16:rowId xmlns:a16="http://schemas.microsoft.com/office/drawing/2014/main" val="10000"/>
                  </a:ext>
                </a:extLst>
              </a:tr>
              <a:tr h="457200">
                <a:tc>
                  <a:txBody>
                    <a:bodyPr/>
                    <a:lstStyle/>
                    <a:p>
                      <a:pPr algn="l"/>
                      <a:r>
                        <a:rPr sz="1150" b="0">
                          <a:solidFill>
                            <a:srgbClr val="17212B"/>
                          </a:solidFill>
                          <a:latin typeface="Arial"/>
                        </a:rPr>
                        <a:t>Ensemble</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Gộp nhiều mô hình bằng cách lấy trung bình xác suất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1"/>
                  </a:ext>
                </a:extLst>
              </a:tr>
              <a:tr h="457200">
                <a:tc>
                  <a:txBody>
                    <a:bodyPr/>
                    <a:lstStyle/>
                    <a:p>
                      <a:pPr algn="l"/>
                      <a:r>
                        <a:rPr sz="1150" b="0">
                          <a:solidFill>
                            <a:srgbClr val="17212B"/>
                          </a:solidFill>
                          <a:latin typeface="Arial"/>
                        </a:rPr>
                        <a:t>Seed</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Số khởi tạo ngẫu nhiên; mỗi seed là một lần chạy</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2"/>
                  </a:ext>
                </a:extLst>
              </a:tr>
              <a:tr h="457200">
                <a:tc>
                  <a:txBody>
                    <a:bodyPr/>
                    <a:lstStyle/>
                    <a:p>
                      <a:pPr algn="l"/>
                      <a:r>
                        <a:rPr sz="1150" b="0">
                          <a:solidFill>
                            <a:srgbClr val="17212B"/>
                          </a:solidFill>
                          <a:latin typeface="Arial"/>
                        </a:rPr>
                        <a:t>Ablation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Bỏ từng thành phần để xem thành phần nào có tác dụng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3"/>
                  </a:ext>
                </a:extLst>
              </a:tr>
              <a:tr h="457200">
                <a:tc>
                  <a:txBody>
                    <a:bodyPr/>
                    <a:lstStyle/>
                    <a:p>
                      <a:pPr algn="l"/>
                      <a:r>
                        <a:rPr sz="1150" b="0">
                          <a:solidFill>
                            <a:srgbClr val="17212B"/>
                          </a:solidFill>
                          <a:latin typeface="Arial"/>
                        </a:rPr>
                        <a:t>cSEBB</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Cách ghép sự kiện: lấy biên ở chỗ xác suất tăng/giảm mạnh nhất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4"/>
                  </a:ext>
                </a:extLst>
              </a:tr>
              <a:tr h="457200">
                <a:tc>
                  <a:txBody>
                    <a:bodyPr/>
                    <a:lstStyle/>
                    <a:p>
                      <a:pPr algn="l"/>
                      <a:r>
                        <a:rPr sz="1150" b="0">
                          <a:solidFill>
                            <a:srgbClr val="17212B"/>
                          </a:solidFill>
                          <a:latin typeface="Arial"/>
                        </a:rPr>
                        <a:t>CNN / CRNN / BiGRU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Mạng tích chập / tích chập + đọc chuỗi / lớp đọc chuỗi hai chiều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5"/>
                  </a:ext>
                </a:extLst>
              </a:tr>
              <a:tr h="457200">
                <a:tc>
                  <a:txBody>
                    <a:bodyPr/>
                    <a:lstStyle/>
                    <a:p>
                      <a:pPr algn="l"/>
                      <a:r>
                        <a:rPr sz="1150" b="0">
                          <a:solidFill>
                            <a:srgbClr val="17212B"/>
                          </a:solidFill>
                          <a:latin typeface="Arial"/>
                        </a:rPr>
                        <a:t>AudioSet</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Kho âm thanh lớn (527 loại) dùng để học sẵn mô hình</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6"/>
                  </a:ext>
                </a:extLst>
              </a:tr>
              <a:tr h="457200">
                <a:tc>
                  <a:txBody>
                    <a:bodyPr/>
                    <a:lstStyle/>
                    <a:p>
                      <a:pPr algn="l"/>
                      <a:r>
                        <a:rPr sz="1150" b="0">
                          <a:solidFill>
                            <a:srgbClr val="17212B"/>
                          </a:solidFill>
                          <a:latin typeface="Arial"/>
                        </a:rPr>
                        <a:t>Oracle / Đầu–cuối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Chấm với danh sách sự kiện đúng / với danh sách máy đoán</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7"/>
                  </a:ext>
                </a:extLst>
              </a:tr>
              <a:tr h="457200">
                <a:tc>
                  <a:txBody>
                    <a:bodyPr/>
                    <a:lstStyle/>
                    <a:p>
                      <a:pPr algn="l"/>
                      <a:r>
                        <a:rPr sz="1150" b="0">
                          <a:solidFill>
                            <a:srgbClr val="17212B"/>
                          </a:solidFill>
                          <a:latin typeface="Arial"/>
                        </a:rPr>
                        <a:t>G1 – G3</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Ba luật của câu mô tả: có trong danh sách, có bằng chứng, không từ cấm</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8"/>
                  </a:ext>
                </a:extLst>
              </a:tr>
              <a:tr h="457200">
                <a:tc>
                  <a:txBody>
                    <a:bodyPr/>
                    <a:lstStyle/>
                    <a:p>
                      <a:pPr algn="l"/>
                      <a:r>
                        <a:rPr sz="1150" b="0">
                          <a:solidFill>
                            <a:srgbClr val="17212B"/>
                          </a:solidFill>
                          <a:latin typeface="Arial"/>
                        </a:rPr>
                        <a:t>RAG</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Tra cứu kho dữ liệu trước rồi mới trả lời</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09"/>
                  </a:ext>
                </a:extLst>
              </a:tr>
              <a:tr h="457200">
                <a:tc>
                  <a:txBody>
                    <a:bodyPr/>
                    <a:lstStyle/>
                    <a:p>
                      <a:pPr algn="l"/>
                      <a:r>
                        <a:rPr sz="1150" b="0">
                          <a:solidFill>
                            <a:srgbClr val="17212B"/>
                          </a:solidFill>
                          <a:latin typeface="Arial"/>
                        </a:rPr>
                        <a:t>nDCG@10</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tc>
                  <a:txBody>
                    <a:bodyPr/>
                    <a:lstStyle/>
                    <a:p>
                      <a:pPr algn="l"/>
                      <a:r>
                        <a:rPr sz="1150" b="0">
                          <a:solidFill>
                            <a:srgbClr val="17212B"/>
                          </a:solidFill>
                          <a:latin typeface="Arial"/>
                        </a:rPr>
                        <a:t>Điểm 0–1: đáp án đúng có nằm ở vị trí cao trong 10 kết quả đầu</a:t>
                      </a:r>
                    </a:p>
                  </a:txBody>
                  <a:tcPr marL="54864" marR="54864" marT="22860" marB="22860" anchor="ctr">
                    <a:lnL w="9525">
                      <a:solidFill>
                        <a:srgbClr val="C9D2DD"/>
                      </a:solidFill>
                    </a:lnL>
                    <a:lnR w="9525">
                      <a:solidFill>
                        <a:srgbClr val="C9D2DD"/>
                      </a:solidFill>
                    </a:lnR>
                    <a:lnT w="9525">
                      <a:solidFill>
                        <a:srgbClr val="C9D2DD"/>
                      </a:solidFill>
                    </a:lnT>
                    <a:lnB w="9525">
                      <a:solidFill>
                        <a:srgbClr val="C9D2DD"/>
                      </a:solidFill>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theme/theme1.xml><?xml version="1.0" encoding="utf-8"?>
<a:theme xmlns:a="http://schemas.openxmlformats.org/drawingml/2006/main" name="IUH – Tương tác Người–Máy 2026 [1790516287737]">
  <a:themeElements>
    <a:clrScheme name="IUH HCI 2026">
      <a:dk1>
        <a:srgbClr val="17212B"/>
      </a:dk1>
      <a:lt1>
        <a:srgbClr val="FFFFFF"/>
      </a:lt1>
      <a:dk2>
        <a:srgbClr val="062F5C"/>
      </a:dk2>
      <a:lt2>
        <a:srgbClr val="F5F7FA"/>
      </a:lt2>
      <a:accent1>
        <a:srgbClr val="073B6F"/>
      </a:accent1>
      <a:accent2>
        <a:srgbClr val="1677B8"/>
      </a:accent2>
      <a:accent3>
        <a:srgbClr val="F4B336"/>
      </a:accent3>
      <a:accent4>
        <a:srgbClr val="2E9B67"/>
      </a:accent4>
      <a:accent5>
        <a:srgbClr val="667085"/>
      </a:accent5>
      <a:accent6>
        <a:srgbClr val="DFE5EC"/>
      </a:accent6>
      <a:hlink>
        <a:srgbClr val="1677B8"/>
      </a:hlink>
      <a:folHlink>
        <a:srgbClr val="073B6F"/>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6EBB14-53BE-4A47-B6F7-6BF6D2A87C74}">
  <we:reference id="wa200010001" version="1.0.0.1" store="en-US" storeType="OMEX"/>
  <we:alternateReferences>
    <we:reference id="wa200010001" version="1.0.0.1" store="wa200010001" storeType="OMEX"/>
  </we:alternateReferences>
  <we:properties>
    <we:property name="claude.fileId" value="&quot;ddddeb99-123e-4075-9f17-5ee3d85e110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511</TotalTime>
  <Words>11652</Words>
  <Application>Microsoft Office PowerPoint</Application>
  <PresentationFormat>Widescreen</PresentationFormat>
  <Paragraphs>1833</Paragraphs>
  <Slides>36</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Aptos</vt:lpstr>
      <vt:lpstr>Arial</vt:lpstr>
      <vt:lpstr>IUH – Tương tác Người–Máy 2026 [1790516287737]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Các khía cạnh nhận thức – Chương 3</dc:title>
  <dc:subject>PptxGenJS Presentation</dc:subject>
  <dc:creator>Nhóm [số nhóm]</dc:creator>
  <cp:lastModifiedBy>Phạm Hoàng Phát</cp:lastModifiedBy>
  <cp:revision>9</cp:revision>
  <dcterms:created xsi:type="dcterms:W3CDTF">2026-09-27T12:14:14Z</dcterms:created>
  <dcterms:modified xsi:type="dcterms:W3CDTF">2026-10-04T06:21:26Z</dcterms:modified>
</cp:coreProperties>
</file>